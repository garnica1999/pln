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71" r:id="rId11"/>
    <p:sldId id="265" r:id="rId12"/>
    <p:sldId id="266" r:id="rId13"/>
    <p:sldId id="267" r:id="rId14"/>
    <p:sldId id="273" r:id="rId1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760" autoAdjust="0"/>
  </p:normalViewPr>
  <p:slideViewPr>
    <p:cSldViewPr snapToGrid="0">
      <p:cViewPr varScale="1">
        <p:scale>
          <a:sx n="76" d="100"/>
          <a:sy n="76" d="100"/>
        </p:scale>
        <p:origin x="177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lineChart>
        <c:grouping val="standard"/>
        <c:varyColors val="0"/>
        <c:ser>
          <c:idx val="0"/>
          <c:order val="0"/>
          <c:tx>
            <c:v>Sin destilación</c:v>
          </c:tx>
          <c:spPr>
            <a:ln w="28575">
              <a:solidFill>
                <a:srgbClr val="102D40"/>
              </a:solidFill>
            </a:ln>
          </c:spPr>
          <c:marker>
            <c:symbol val="circle"/>
            <c:size val="8"/>
            <c:spPr>
              <a:solidFill>
                <a:srgbClr val="102D40"/>
              </a:solidFill>
            </c:spPr>
          </c:marker>
          <c:cat>
            <c:strRef>
              <c:f>'Chart Data'!$A$2:$A$5</c:f>
              <c:strCache>
                <c:ptCount val="4"/>
                <c:pt idx="0">
                  <c:v>10 %</c:v>
                </c:pt>
                <c:pt idx="1">
                  <c:v>25 %</c:v>
                </c:pt>
                <c:pt idx="2">
                  <c:v>50 %</c:v>
                </c:pt>
                <c:pt idx="3">
                  <c:v>100 %</c:v>
                </c:pt>
              </c:strCache>
            </c:strRef>
          </c:cat>
          <c:val>
            <c:numRef>
              <c:f>'Chart Data'!$B$2:$B$5</c:f>
              <c:numCache>
                <c:formatCode>General</c:formatCode>
                <c:ptCount val="4"/>
                <c:pt idx="0">
                  <c:v>73.459999999999994</c:v>
                </c:pt>
                <c:pt idx="1">
                  <c:v>80.459999999999994</c:v>
                </c:pt>
                <c:pt idx="2">
                  <c:v>86.85</c:v>
                </c:pt>
                <c:pt idx="3">
                  <c:v>90.24</c:v>
                </c:pt>
              </c:numCache>
            </c:numRef>
          </c:val>
          <c:smooth val="0"/>
          <c:extLst>
            <c:ext xmlns:c16="http://schemas.microsoft.com/office/drawing/2014/chart" uri="{C3380CC4-5D6E-409C-BE32-E72D297353CC}">
              <c16:uniqueId val="{00000000-3C3B-4D75-BD80-D7121323BE18}"/>
            </c:ext>
          </c:extLst>
        </c:ser>
        <c:ser>
          <c:idx val="1"/>
          <c:order val="1"/>
          <c:tx>
            <c:v>Profesor mBft</c:v>
          </c:tx>
          <c:spPr>
            <a:ln w="28575">
              <a:solidFill>
                <a:srgbClr val="087F8C"/>
              </a:solidFill>
            </a:ln>
          </c:spPr>
          <c:marker>
            <c:symbol val="circle"/>
            <c:size val="8"/>
            <c:spPr>
              <a:solidFill>
                <a:srgbClr val="087F8C"/>
              </a:solidFill>
            </c:spPr>
          </c:marker>
          <c:cat>
            <c:strRef>
              <c:f>'Chart Data'!$C$2:$C$5</c:f>
              <c:strCache>
                <c:ptCount val="4"/>
                <c:pt idx="0">
                  <c:v>10 %</c:v>
                </c:pt>
                <c:pt idx="1">
                  <c:v>25 %</c:v>
                </c:pt>
                <c:pt idx="2">
                  <c:v>50 %</c:v>
                </c:pt>
                <c:pt idx="3">
                  <c:v>100 %</c:v>
                </c:pt>
              </c:strCache>
            </c:strRef>
          </c:cat>
          <c:val>
            <c:numRef>
              <c:f>'Chart Data'!$D$2:$D$5</c:f>
              <c:numCache>
                <c:formatCode>General</c:formatCode>
                <c:ptCount val="4"/>
                <c:pt idx="0">
                  <c:v>78.11</c:v>
                </c:pt>
                <c:pt idx="1">
                  <c:v>81.03</c:v>
                </c:pt>
                <c:pt idx="2">
                  <c:v>88.3</c:v>
                </c:pt>
                <c:pt idx="3">
                  <c:v>88.47</c:v>
                </c:pt>
              </c:numCache>
            </c:numRef>
          </c:val>
          <c:smooth val="0"/>
          <c:extLst>
            <c:ext xmlns:c16="http://schemas.microsoft.com/office/drawing/2014/chart" uri="{C3380CC4-5D6E-409C-BE32-E72D297353CC}">
              <c16:uniqueId val="{00000001-3C3B-4D75-BD80-D7121323BE1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lang="es-ES"/>
                  <a:t>Datos de ajuste en español</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500">
                <a:solidFill>
                  <a:srgbClr val="666666"/>
                </a:solidFill>
              </a:defRPr>
            </a:pPr>
            <a:endParaRPr lang="es-CO"/>
          </a:p>
        </c:txPr>
        <c:crossAx val="48672768"/>
        <c:crosses val="autoZero"/>
        <c:auto val="1"/>
        <c:lblAlgn val="ctr"/>
        <c:lblOffset val="100"/>
        <c:noMultiLvlLbl val="1"/>
      </c:catAx>
      <c:valAx>
        <c:axId val="48672768"/>
        <c:scaling>
          <c:orientation val="minMax"/>
          <c:max val="95"/>
          <c:min val="60"/>
        </c:scaling>
        <c:delete val="0"/>
        <c:axPos val="l"/>
        <c:majorGridlines>
          <c:spPr>
            <a:ln w="9525">
              <a:solidFill>
                <a:srgbClr val="D4DFE5"/>
              </a:solidFill>
            </a:ln>
          </c:spPr>
        </c:majorGridlines>
        <c:title>
          <c:tx>
            <c:rich>
              <a:bodyPr/>
              <a:lstStyle/>
              <a:p>
                <a:r>
                  <a:rPr lang="es-CO" sz="1500"/>
                  <a:t>F1 (escala 0–100)</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defRPr>
            </a:pPr>
            <a:endParaRPr lang="es-CO"/>
          </a:p>
        </c:txPr>
        <c:crossAx val="48650112"/>
        <c:crosses val="autoZero"/>
        <c:crossBetween val="between"/>
        <c:majorUnit val="5"/>
      </c:valAx>
      <c:spPr>
        <a:solidFill>
          <a:srgbClr val="FAFBFC"/>
        </a:solidFill>
      </c:spPr>
    </c:plotArea>
    <c:legend>
      <c:legendPos val="b"/>
      <c:overlay val="0"/>
      <c:txPr>
        <a:bodyPr anchorCtr="1"/>
        <a:lstStyle/>
        <a:p>
          <a:pPr>
            <a:defRPr sz="1500"/>
          </a:pPr>
          <a:endParaRPr lang="es-CO"/>
        </a:p>
      </c:txPr>
    </c:legend>
    <c:plotVisOnly val="1"/>
    <c:dispBlanksAs val="zero"/>
    <c:showDLblsOverMax val="1"/>
  </c:chart>
  <c:spPr>
    <a:solidFill>
      <a:srgbClr val="FAFBFC"/>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20 segundos. ¿Cómo aprovechar un modelo biomédico en inglés con pocos ejemplos etiquetados en español? El estudio evalúa encoders BERT, traducción automática y destilación de representaciones para clasificar textos por tema médico. Separaremos los hallazgos del artículo de nuestra valoración. Publicado en 2025, cumple el criterio temporal del seminario.</a:t>
            </a:r>
          </a:p>
          <a:p>
            <a:r>
              <a:t>Fuente: Piperno et al. (2025). Cross-lingual distillation for domain knowledge transfer with sentence transformers. Knowledge-Based Systems 311, 113079. https://doi.org/10.1016/j.knosys.2025.113079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40 segundos. El problema combina diferencias de lengua y dominio. Conocer varias lenguas no garantiza dominio de terminología biomédica. BioBERT se especializa con textos biomédicos en inglés. Se busca aprovechar su conocimiento con pocos ejemplos etiquetados en otras lenguas. Pocos recursos describe aquí los datos disponibles para la tarea, no una condición absoluta del español, francés o alemán. El corpus son manuales para pacientes y profesionales. El trabajo no evalúa generación médica ni agentes. Ejemplo didáctico: asignar un texto sobre arritmias a cardiovascular.</a:t>
            </a:r>
          </a:p>
          <a:p>
            <a:endParaRPr/>
          </a:p>
          <a:p>
            <a:r>
              <a:t>Fuente: Piperno et al. (2025). Cross-lingual distillation for domain knowledge transfer with sentence transformers. Knowledge-Based Systems 311, 113079. https://doi.org/10.1016/j.knosys.2025.113079</a:t>
            </a:r>
          </a:p>
          <a:p>
            <a:r>
              <a:t>Localización: Artículo, introducción y §3.1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45 segundos. BERT es un encoder bidireccional que representa el texto usando el contexto. BioBERT prolonga su preentrenamiento con PubMed y PMC. mBERT usa Wikipedia en 104 lenguas. Sentence Transformers es un marco para aprender representaciones comparables de textos. Reimers y Gurevych (2020) es el antecedente directo de destilación multilingüe. Los autores aplican esa idea al dominio biomédico, comparan profesores y sustituyen MSE por MNRL. MNRL existía antes: el estudio no inventa la pérdida ni una nueva teoría de destilación. Aquí destilar tampoco significa necesariamente comprimir el modelo.</a:t>
            </a:r>
          </a:p>
          <a:p>
            <a:endParaRPr/>
          </a:p>
          <a:p>
            <a:r>
              <a:t>Fuente: Piperno et al. (2025). Cross-lingual distillation for domain knowledge transfer with sentence transformers. Knowledge-Based Systems 311, 113079. https://doi.org/10.1016/j.knosys.2025.113079</a:t>
            </a:r>
          </a:p>
          <a:p>
            <a:r>
              <a:t>Localización: Artículo, §1–2 y §3.3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40 segundos. RQ1 estudia dominio desde BioBERT preentrenado. RQ2 utiliza profesores ajustados a clasificación. RQ3 pregunta si mBERT ajustado puede suplir al profesor especializado. RQ4 varía los datos del ajuste final y RQ5 examina cambios internos. RQ1 plantea ausencia de datos en inglés, pero el método utiliza textos ingleses para destilar. La lectura compatible con el diseño es ausencia de datos ingleses etiquetados para ajustar al profesor. Esta precisión es nuestra interpretación crítica.</a:t>
            </a:r>
          </a:p>
          <a:p>
            <a:endParaRPr/>
          </a:p>
          <a:p>
            <a:r>
              <a:t>Fuente: Piperno et al. (2025). Cross-lingual distillation for domain knowledge transfer with sentence transformers. Knowledge-Based Systems 311, 113079. https://doi.org/10.1016/j.knosys.2025.113079</a:t>
            </a:r>
          </a:p>
          <a:p>
            <a:r>
              <a:t>Localización: Artículo, §1: RQ1–RQ5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55 segundos. El corpus MSD manual topics user base contiene textos para pacientes y profesionales. Se conservan categorías con al menos 400 ejemplos y comunes a las cuatro lenguas: quedan 18 clases. Promedian aproximadamente 1.420 caracteres y se limita la entrada a 512 tokens. Un token es una unidad de procesamiento, a menudo parte de palabra. El 10 % del entrenamiento restante se reserva para validación. En español la prueba pasa de 4.519 a 1.842 ejemplos, en francés de 4.308 a 1.947 y en alemán de 4.368 a 2.317. Las traducciones para destilación y los textos destino del ajuste son fuentes diferentes. No se caracterizan variedades regionales del español. Algunas etiquetas combinan tema y audiencia.</a:t>
            </a:r>
          </a:p>
          <a:p>
            <a:endParaRPr/>
          </a:p>
          <a:p>
            <a:r>
              <a:t>Fuente: Piperno et al. (2025). Cross-lingual distillation for domain knowledge transfer with sentence transformers. Knowledge-Based Systems 311, 113079. https://doi.org/10.1016/j.knosys.2025.113079</a:t>
            </a:r>
          </a:p>
          <a:p>
            <a:r>
              <a:t>Localización: Artículo, §3.1, tabla 2 y apéndice 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70 segundos. Primero, mBART traduce entrenamiento inglés y genera pares equivalentes. Segundo, el profesor codifica inglés y el estudiante mBERT procesa inglés y traducción. MNRL compara al profesor con ambas ramas del estudiante. El profesor proporciona representaciones objetivo durante la destilación. Tercero, el estudiante se ajusta a clasificación con etiquetas destino. La destilación precede al ajuste supervisado, no es una evaluación zero-shot. Profesores: BioBERT preentrenado, BioBERT ajustado a clasificación inglesa y mBERT ajustado a esa tarea. Se filtra prueba retirando ejemplos con máximo BLEU mayor que 0,3 frente al entrenamiento traducido. Aunque la figura dice unbiased, el filtro no prueba ausencia de todos los sesgos.</a:t>
            </a:r>
          </a:p>
          <a:p>
            <a:endParaRPr/>
          </a:p>
          <a:p>
            <a:r>
              <a:t>Fuente: Piperno et al. (2025). Cross-lingual distillation for domain knowledge transfer with sentence transformers. Knowledge-Based Systems 311, 113079. https://doi.org/10.1016/j.knosys.2025.113079</a:t>
            </a:r>
          </a:p>
          <a:p>
            <a:r>
              <a:t>Localización: Artículo, figura 3 y §3.2–3.4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55 segundos. Un embedding es un vector que representa aspectos del contenido. Multiple Negatives Ranking Loss usa el par inglés-traducción como positivo y los demás textos del lote como negativos. Busca que el par correcto tenga mayor similitud que los otros. El ejemplo mostrado es didáctico, no pertenece al corpus. MSE, error cuadrático medio, busca cercanía numérica entre vectores. MNRL optimiza comparaciones relativas. Los autores informan que MNRL supera MSE en 32 de 36 configuraciones y lo atribuyen a robustez frente al ruido de traducción. Sin embargo, no aíslan causalmente ese ruido mediante un experimento controlado. Otros textos del lote pueden ser semánticamente próximos y constituir falsos negativos.</a:t>
            </a:r>
          </a:p>
          <a:p>
            <a:endParaRPr/>
          </a:p>
          <a:p>
            <a:r>
              <a:t>Fuente: Piperno et al. (2025). Cross-lingual distillation for domain knowledge transfer with sentence transformers. Knowledge-Based Systems 311, 113079. https://doi.org/10.1016/j.knosys.2025.113079</a:t>
            </a:r>
          </a:p>
          <a:p>
            <a:r>
              <a:t>Localización: Artículo, ecuación 1 y comparación con MSE, figura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50 segundos. Cada estudiante parte de mBERT, con o sin destilación. Bp significa BioBERT preentrenado, Bft BioBERT ajustado a clasificación inglesa y mBft mBERT ajustado a esa tarea. noKD se ajusta directamente sin destilación. Tres profesores, tres lenguas y cuatro tamaños producen 36 configuraciones por pérdida. F1 combina precisión y exhaustividad. Precisión: proporción de predicciones de una clase correctas. Exhaustividad: proporción de ejemplos reales de esa clase recuperados. El artículo no precisa claramente si F1 es macro, micro o ponderado. La escasez se simula reduciendo el ajuste final, no eliminando los textos ingleses de destilación. No se presentan intervalos de confianza ni un protocolo claro de múltiples semillas para valorar significancia.</a:t>
            </a:r>
          </a:p>
          <a:p>
            <a:endParaRPr/>
          </a:p>
          <a:p>
            <a:r>
              <a:t>Fuente: Piperno et al. (2025). Cross-lingual distillation for domain knowledge transfer with sentence transformers. Knowledge-Based Systems 311, 113079. https://doi.org/10.1016/j.knosys.2025.113079</a:t>
            </a:r>
          </a:p>
          <a:p>
            <a:r>
              <a:t>Localización: Artículo, §3.4, tabla 3 y figura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70 segundos. El gráfico muestra español, noKD y destilación con mBERT ajustado como profesor. Los valores destilados suman la diferencia de tabla 3 al F1 base: 78,11; 81,03; 88,30 y 88,47. Con 10 %: 73,46 frente a 78,11, diferencia de 4,65 puntos en escala de 0 a 100. Con 100 %: 90,24 frente a 88,47, diferencia de -1,77. Los signos se interpretan como diferencias aditivas, no porcentajes relativos. La mayor mejora publicada es +12,89 en francés al 10 %. En alemán al 10 % la mejor es +8,81. En español al 100 %, Bp sí mejora 0,63: no toda destilación empeora con más datos. Depende de profesor, lengua y cantidad. La serie conserva el mismo profesor para evitar seleccionar el mejor en cada punto.</a:t>
            </a:r>
          </a:p>
          <a:p>
            <a:endParaRPr/>
          </a:p>
          <a:p>
            <a:r>
              <a:t>Fuente: Piperno et al. (2025). Cross-lingual distillation for domain knowledge transfer with sentence transformers. Knowledge-Based Systems 311, 113079. https://doi.org/10.1016/j.knosys.2025.113079</a:t>
            </a:r>
          </a:p>
          <a:p>
            <a:r>
              <a:t>Localización: Artículo, tabla 3. Gráfico reconstruido con valores publicados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Respaldo. Se extrae CLS, se calculan matrices de similitud coseno entre ejemplos y se correlacionan mediante Pearson sus triángulos superiores. Se compara la estructura de relaciones, no la igualdad exacta entre vectores. El texto indica N=4.300 ejemplos ingleses y la tabla 2 reporta 4.295: discrepancia por aclarar para reproducibilidad. La figura 6 muestra mayor correlación tras destilar y sus paneles tienen escalas verticales distintas. No comparar alturas sin revisar ejes. La figura 7 mide distancias euclidianas entre matrices de confusión de estudiantes: los destilados se parecen más entre sí que al control. Eso describe patrones agregados y no demuestra errores sobre los mismos documentos. La explicación de olvido catastrófico es una interpretación de los autores, no una prueba específica de ese fenómeno.</a:t>
            </a:r>
          </a:p>
          <a:p>
            <a:endParaRPr/>
          </a:p>
          <a:p>
            <a:r>
              <a:t>Fuente: Piperno et al. (2025). Cross-lingual distillation for domain knowledge transfer with sentence transformers. Knowledge-Based Systems 311, 113079. https://doi.org/10.1016/j.knosys.2025.113079</a:t>
            </a:r>
          </a:p>
          <a:p>
            <a:r>
              <a:t>Localización: Artículo, §3.4.1, §4.1 y figuras 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50 segundos. Las conexiones son propuestas conceptuales: no afirman que cada tema esté en el programa efectivo porque no se recibió el temario. Las representaciones contextuales de BERT ayudan a codificar terminología según su contexto. La transferencia reutiliza aprendizaje de otra fuente. La adaptación de dominio trata del paso de textos generales a biomedicina. La transferencia entre lenguas aprovecha inglés para español, francés o alemán. MNRL se entiende mediante aprendizaje contrastivo. La destilación de características transfiere representaciones, a diferencia de transferir únicamente probabilidades de etiquetas. El ajuste supervisado aprende clasificación con etiquetas. Estos conceptos explican el valor de un encoder especializado. El artículo no evalúa prompting ni agentes.</a:t>
            </a:r>
          </a:p>
          <a:p>
            <a:endParaRPr/>
          </a:p>
          <a:p>
            <a:r>
              <a:t>Fuente: Piperno et al. (2025). Cross-lingual distillation for domain knowledge transfer with sentence transformers. Knowledge-Based Systems 311, 113079. https://doi.org/10.1016/j.knosys.2025.113079</a:t>
            </a:r>
          </a:p>
          <a:p>
            <a:r>
              <a:t>Localización: Síntesis conceptual basada en el artículo, §2–3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65 segundos. La fortaleza es comparar profesores, lenguas y cantidades con un control sin destilación. BLEU mide coincidencia de secuencias: no garantiza independencia semántica. El filtro cambia la prueba y en español conserva 1.842/4.519, aproximadamente 40,8 %. No se presenta una auditoría humana de traducciones que cuantifique errores médicos. Faltan detalles de semillas, dispersión, hiperparámetros y agregación de F1 para valorar robustez y reproducibilidad. RSA indica alineación, no comprensión clínica ni seguridad. El costo debería incluir traducción, destilación y ajuste. Los manuales no representan por sí solos historias clínicas ni variedades regionales. Comparar TF-IDF con regresión logística o SVM, ajuste directo y entrenamiento con traducciones sin destilación bajo igual presupuesto ayudaría a aislar el valor añadido.</a:t>
            </a:r>
          </a:p>
          <a:p>
            <a:endParaRPr/>
          </a:p>
          <a:p>
            <a:r>
              <a:t>Fuente: Piperno et al. (2025). Cross-lingual distillation for domain knowledge transfer with sentence transformers. Knowledge-Based Systems 311, 113079. https://doi.org/10.1016/j.knosys.2025.113079</a:t>
            </a:r>
          </a:p>
          <a:p>
            <a:r>
              <a:t>Localización: Valoración propia a partir de §3–4 y tablas 2–3</a:t>
            </a:r>
          </a:p>
          <a:p>
            <a:br/>
            <a:r>
              <a:t>TF-IDF representa palabras por su frecuencia y rareza entre documentos. SVM es una máquina de vectores de soporte, un clasificador que aprende una frontera de separación. BLEU compara coincidencias de secuencias de palabras y se usa habitualmente para evaluar traducción.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Tiempo: 40 segundos. La conclusión es condicional: destilar resulta prometedor con pocos datos etiquetados destino y un profesor útil. Se debe comparar con ajuste directo, porque algunos escenarios empeoran. El estudio no demuestra utilidad clínica. Para el foro de 10 a 15 minutos, discutir primero elección metodológica, después calidad lingüística y finalmente validación externa. Pedir que las intervenciones conecten con resultados o decisiones del estudio. Las alternativas de evaluación están en el respaldo. El guion principal suma 600 segundos.</a:t>
            </a:r>
          </a:p>
          <a:p>
            <a:endParaRPr/>
          </a:p>
          <a:p>
            <a:r>
              <a:t>Fuente: Piperno et al. (2025). Cross-lingual distillation for domain knowledge transfer with sentence transformers. Knowledge-Based Systems 311, 113079. https://doi.org/10.1016/j.knosys.2025.113079</a:t>
            </a:r>
          </a:p>
          <a:p>
            <a:r>
              <a:t>Localización: Conclusión propia sustentada en tabla 3 y §4–5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Artículo central: Piperno et al. (2025). Cross-lingual distillation for domain knowledge transfer with sentence transformers. Knowledge-Based Systems 311, 113079. https://doi.org/10.1016/j.knosys.2025.113079. Antecedente: Reimers, N. y Gurevych, I. (2020). Making Monolingual Sentence Embeddings Multilingual using Knowledge Distillation. EMNLP, 4512–4525. https://doi.org/10.18653/v1/2020.emnlp-main.365. Sentence-BERT: Reimers y Gurevych (2019). https://doi.org/10.18653/v1/D19-1410. BioBERT: Lee et al. (2020). Bioinformatics 36(4), 1234–1240. https://doi.org/10.1093/bioinformatics/btz682. Lineamientos: Moreno Sandoval, L. G. Más allá del modelo: Seminario de frontera sobre modelos de lenguaje, especialmente secciones 2 y 3 del documento suministrado. Corpus señalado por el artículo: https://huggingface.co/datasets/nuvocare/MSD_manual_topics_user_base. Las referencias adicionales son antecedentes citados por el artículo, no una revisión externa exhaustiva. Diapositivas 1–12: exposición de 10 minutos. Diapositivas 13–18: respaldo.</a:t>
            </a:r>
          </a:p>
          <a:p>
            <a:endParaRPr/>
          </a:p>
          <a:p>
            <a:r>
              <a:t>Fuente: Piperno et al. (2025). Cross-lingual distillation for domain knowledge transfer with sentence transformers. Knowledge-Based Systems 311, 113079. https://doi.org/10.1016/j.knosys.2025.113079</a:t>
            </a:r>
          </a:p>
          <a:p>
            <a:r>
              <a:t>Localización: Fuentes citadas en el artículo y lineamientos suministrados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6AFF7263-A429-4E72-B0C6-F56F35F0A30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FEF2F7F-7FFD-46C3-BDCD-0F00C2056F42}"/>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79C226C-CD2D-4E27-A50A-11DE3423729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C8651F4-1672-4C4C-A2AC-6A6F3FF40D3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35718B9-2D31-417F-82B4-E70E7F2D8D7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74EB7C5-9B27-4ECE-B105-7F8216B1413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165A28DB-9E29-4498-B863-750F1DF2635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2DF606B8-1D5F-4F35-B0BC-1C1A7A4B575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5C779E5-7308-48ED-ABEF-A3CB130CDD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3574EB27-301A-4E86-925E-122B00435B0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D40"/>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FCDFA5D-1913-404B-B1AA-A2D4A47B80EE}"/>
              </a:ext>
            </a:extLst>
          </p:cNvPr>
          <p:cNvSpPr>
            <a:spLocks noGrp="1"/>
          </p:cNvSpPr>
          <p:nvPr/>
        </p:nvSpPr>
        <p:spPr>
          <a:xfrm>
            <a:off x="609600" y="457200"/>
            <a:ext cx="10858500" cy="333375"/>
          </a:xfrm>
          <a:prstGeom prst="rect">
            <a:avLst/>
          </a:prstGeom>
          <a:noFill/>
          <a:ln w="0">
            <a:noFill/>
          </a:ln>
        </p:spPr>
        <p:txBody>
          <a:bodyPr/>
          <a:lstStyle>
            <a:defPPr>
              <a:defRPr sz="1500" b="1">
                <a:solidFill>
                  <a:srgbClr val="75D0D3"/>
                </a:solidFill>
              </a:defRPr>
            </a:defPPr>
            <a:lvl1pPr>
              <a:defRPr sz="1500" b="1">
                <a:solidFill>
                  <a:srgbClr val="75D0D3"/>
                </a:solidFill>
              </a:defRPr>
            </a:lvl1pPr>
            <a:lvl2pPr>
              <a:defRPr sz="1500" b="1">
                <a:solidFill>
                  <a:srgbClr val="75D0D3"/>
                </a:solidFill>
              </a:defRPr>
            </a:lvl2pPr>
            <a:lvl3pPr>
              <a:defRPr sz="1500" b="1">
                <a:solidFill>
                  <a:srgbClr val="75D0D3"/>
                </a:solidFill>
              </a:defRPr>
            </a:lvl3pPr>
            <a:lvl4pPr>
              <a:defRPr sz="1500" b="1">
                <a:solidFill>
                  <a:srgbClr val="75D0D3"/>
                </a:solidFill>
              </a:defRPr>
            </a:lvl4pPr>
            <a:lvl5pPr>
              <a:defRPr sz="1500" b="1">
                <a:solidFill>
                  <a:srgbClr val="75D0D3"/>
                </a:solidFill>
              </a:defRPr>
            </a:lvl5pPr>
            <a:lvl6pPr>
              <a:defRPr sz="1500" b="1">
                <a:solidFill>
                  <a:srgbClr val="75D0D3"/>
                </a:solidFill>
              </a:defRPr>
            </a:lvl6pPr>
            <a:lvl7pPr>
              <a:defRPr sz="1500" b="1">
                <a:solidFill>
                  <a:srgbClr val="75D0D3"/>
                </a:solidFill>
              </a:defRPr>
            </a:lvl7pPr>
            <a:lvl8pPr>
              <a:defRPr sz="1500" b="1">
                <a:solidFill>
                  <a:srgbClr val="75D0D3"/>
                </a:solidFill>
              </a:defRPr>
            </a:lvl8pPr>
            <a:lvl9pPr>
              <a:defRPr sz="1500" b="1">
                <a:solidFill>
                  <a:srgbClr val="75D0D3"/>
                </a:solidFill>
              </a:defRPr>
            </a:lvl9pPr>
          </a:lstStyle>
          <a:p>
            <a:pPr>
              <a:defRPr sz="1500" b="1">
                <a:solidFill>
                  <a:srgbClr val="75D0D3"/>
                </a:solidFill>
              </a:defRPr>
            </a:pPr>
            <a:r>
              <a:rPr sz="1500" b="1">
                <a:solidFill>
                  <a:srgbClr val="75D0D3"/>
                </a:solidFill>
              </a:rPr>
              <a:t>SEMINARIO DE FRONTERA · MODELOS DEL LENGUAJE</a:t>
            </a:r>
          </a:p>
        </p:txBody>
      </p:sp>
      <p:sp>
        <p:nvSpPr>
          <p:cNvPr id="3" name="Rectángulo 2">
            <a:extLst>
              <a:ext uri="{FF2B5EF4-FFF2-40B4-BE49-F238E27FC236}">
                <a16:creationId xmlns:a16="http://schemas.microsoft.com/office/drawing/2014/main" id="{EC590262-4D6A-4C84-ADCB-7767AA291C23}"/>
              </a:ext>
            </a:extLst>
          </p:cNvPr>
          <p:cNvSpPr>
            <a:spLocks noGrp="1"/>
          </p:cNvSpPr>
          <p:nvPr/>
        </p:nvSpPr>
        <p:spPr>
          <a:xfrm>
            <a:off x="609600" y="1581150"/>
            <a:ext cx="10858500" cy="1619250"/>
          </a:xfrm>
          <a:prstGeom prst="rect">
            <a:avLst/>
          </a:prstGeom>
          <a:noFill/>
          <a:ln w="0">
            <a:noFill/>
          </a:ln>
        </p:spPr>
        <p:txBody>
          <a:bodyPr/>
          <a:lstStyle>
            <a:defPPr>
              <a:defRPr sz="4350" b="1">
                <a:solidFill>
                  <a:srgbClr val="FFFFFF"/>
                </a:solidFill>
              </a:defRPr>
            </a:defPPr>
            <a:lvl1pPr>
              <a:defRPr sz="4350" b="1">
                <a:solidFill>
                  <a:srgbClr val="FFFFFF"/>
                </a:solidFill>
              </a:defRPr>
            </a:lvl1pPr>
            <a:lvl2pPr>
              <a:defRPr sz="4350" b="1">
                <a:solidFill>
                  <a:srgbClr val="FFFFFF"/>
                </a:solidFill>
              </a:defRPr>
            </a:lvl2pPr>
            <a:lvl3pPr>
              <a:defRPr sz="4350" b="1">
                <a:solidFill>
                  <a:srgbClr val="FFFFFF"/>
                </a:solidFill>
              </a:defRPr>
            </a:lvl3pPr>
            <a:lvl4pPr>
              <a:defRPr sz="4350" b="1">
                <a:solidFill>
                  <a:srgbClr val="FFFFFF"/>
                </a:solidFill>
              </a:defRPr>
            </a:lvl4pPr>
            <a:lvl5pPr>
              <a:defRPr sz="4350" b="1">
                <a:solidFill>
                  <a:srgbClr val="FFFFFF"/>
                </a:solidFill>
              </a:defRPr>
            </a:lvl5pPr>
            <a:lvl6pPr>
              <a:defRPr sz="4350" b="1">
                <a:solidFill>
                  <a:srgbClr val="FFFFFF"/>
                </a:solidFill>
              </a:defRPr>
            </a:lvl6pPr>
            <a:lvl7pPr>
              <a:defRPr sz="4350" b="1">
                <a:solidFill>
                  <a:srgbClr val="FFFFFF"/>
                </a:solidFill>
              </a:defRPr>
            </a:lvl7pPr>
            <a:lvl8pPr>
              <a:defRPr sz="4350" b="1">
                <a:solidFill>
                  <a:srgbClr val="FFFFFF"/>
                </a:solidFill>
              </a:defRPr>
            </a:lvl8pPr>
            <a:lvl9pPr>
              <a:defRPr sz="4350" b="1">
                <a:solidFill>
                  <a:srgbClr val="FFFFFF"/>
                </a:solidFill>
              </a:defRPr>
            </a:lvl9pPr>
          </a:lstStyle>
          <a:p>
            <a:pPr>
              <a:defRPr sz="4350" b="1">
                <a:solidFill>
                  <a:srgbClr val="FFFFFF"/>
                </a:solidFill>
              </a:defRPr>
            </a:pPr>
            <a:r>
              <a:rPr sz="4350" b="1">
                <a:solidFill>
                  <a:srgbClr val="FFFFFF"/>
                </a:solidFill>
              </a:rPr>
              <a:t>Transferencia de conocimiento</a:t>
            </a:r>
          </a:p>
          <a:p>
            <a:pPr>
              <a:defRPr sz="4350" b="1">
                <a:solidFill>
                  <a:srgbClr val="FFFFFF"/>
                </a:solidFill>
              </a:defRPr>
            </a:pPr>
            <a:r>
              <a:rPr sz="4350" b="1">
                <a:solidFill>
                  <a:srgbClr val="FFFFFF"/>
                </a:solidFill>
              </a:rPr>
              <a:t>biomédico entre lenguas</a:t>
            </a:r>
          </a:p>
        </p:txBody>
      </p:sp>
      <p:sp>
        <p:nvSpPr>
          <p:cNvPr id="4" name="Rectángulo 3">
            <a:extLst>
              <a:ext uri="{FF2B5EF4-FFF2-40B4-BE49-F238E27FC236}">
                <a16:creationId xmlns:a16="http://schemas.microsoft.com/office/drawing/2014/main" id="{824A23AD-35F5-4B0D-8503-A1671A6629F7}"/>
              </a:ext>
            </a:extLst>
          </p:cNvPr>
          <p:cNvSpPr>
            <a:spLocks noGrp="1"/>
          </p:cNvSpPr>
          <p:nvPr/>
        </p:nvSpPr>
        <p:spPr>
          <a:xfrm>
            <a:off x="609600" y="3429000"/>
            <a:ext cx="10668000" cy="571500"/>
          </a:xfrm>
          <a:prstGeom prst="rect">
            <a:avLst/>
          </a:prstGeom>
          <a:noFill/>
          <a:ln w="0">
            <a:noFill/>
          </a:ln>
        </p:spPr>
        <p:txBody>
          <a:bodyPr/>
          <a:lstStyle>
            <a:defPPr>
              <a:defRPr sz="2550" b="0">
                <a:solidFill>
                  <a:srgbClr val="75D0D3"/>
                </a:solidFill>
              </a:defRPr>
            </a:defPPr>
            <a:lvl1pPr>
              <a:defRPr sz="2550" b="0">
                <a:solidFill>
                  <a:srgbClr val="75D0D3"/>
                </a:solidFill>
              </a:defRPr>
            </a:lvl1pPr>
            <a:lvl2pPr>
              <a:defRPr sz="2550" b="0">
                <a:solidFill>
                  <a:srgbClr val="75D0D3"/>
                </a:solidFill>
              </a:defRPr>
            </a:lvl2pPr>
            <a:lvl3pPr>
              <a:defRPr sz="2550" b="0">
                <a:solidFill>
                  <a:srgbClr val="75D0D3"/>
                </a:solidFill>
              </a:defRPr>
            </a:lvl3pPr>
            <a:lvl4pPr>
              <a:defRPr sz="2550" b="0">
                <a:solidFill>
                  <a:srgbClr val="75D0D3"/>
                </a:solidFill>
              </a:defRPr>
            </a:lvl4pPr>
            <a:lvl5pPr>
              <a:defRPr sz="2550" b="0">
                <a:solidFill>
                  <a:srgbClr val="75D0D3"/>
                </a:solidFill>
              </a:defRPr>
            </a:lvl5pPr>
            <a:lvl6pPr>
              <a:defRPr sz="2550" b="0">
                <a:solidFill>
                  <a:srgbClr val="75D0D3"/>
                </a:solidFill>
              </a:defRPr>
            </a:lvl6pPr>
            <a:lvl7pPr>
              <a:defRPr sz="2550" b="0">
                <a:solidFill>
                  <a:srgbClr val="75D0D3"/>
                </a:solidFill>
              </a:defRPr>
            </a:lvl7pPr>
            <a:lvl8pPr>
              <a:defRPr sz="2550" b="0">
                <a:solidFill>
                  <a:srgbClr val="75D0D3"/>
                </a:solidFill>
              </a:defRPr>
            </a:lvl8pPr>
            <a:lvl9pPr>
              <a:defRPr sz="2550" b="0">
                <a:solidFill>
                  <a:srgbClr val="75D0D3"/>
                </a:solidFill>
              </a:defRPr>
            </a:lvl9pPr>
          </a:lstStyle>
          <a:p>
            <a:pPr>
              <a:defRPr sz="2550" b="0">
                <a:solidFill>
                  <a:srgbClr val="75D0D3"/>
                </a:solidFill>
              </a:defRPr>
            </a:pPr>
            <a:r>
              <a:rPr sz="2550" b="0">
                <a:solidFill>
                  <a:srgbClr val="75D0D3"/>
                </a:solidFill>
              </a:rPr>
              <a:t>Destilación con Sentence Transformers</a:t>
            </a:r>
          </a:p>
        </p:txBody>
      </p:sp>
      <p:sp>
        <p:nvSpPr>
          <p:cNvPr id="5" name="Rectángulo 4">
            <a:extLst>
              <a:ext uri="{FF2B5EF4-FFF2-40B4-BE49-F238E27FC236}">
                <a16:creationId xmlns:a16="http://schemas.microsoft.com/office/drawing/2014/main" id="{A9857974-8F63-4E67-B991-54E476C38717}"/>
              </a:ext>
            </a:extLst>
          </p:cNvPr>
          <p:cNvSpPr>
            <a:spLocks noGrp="1"/>
          </p:cNvSpPr>
          <p:nvPr/>
        </p:nvSpPr>
        <p:spPr>
          <a:xfrm>
            <a:off x="609600" y="4000500"/>
            <a:ext cx="10668000" cy="1276350"/>
          </a:xfrm>
          <a:prstGeom prst="rect">
            <a:avLst/>
          </a:prstGeom>
          <a:noFill/>
          <a:ln w="0">
            <a:noFill/>
          </a:ln>
        </p:spPr>
        <p:txBody>
          <a:bodyPr/>
          <a:lstStyle>
            <a:defPPr>
              <a:defRPr sz="1875" b="0">
                <a:solidFill>
                  <a:srgbClr val="FFFFFF"/>
                </a:solidFill>
              </a:defRPr>
            </a:defPPr>
            <a:lvl1pPr>
              <a:defRPr sz="1875" b="0">
                <a:solidFill>
                  <a:srgbClr val="FFFFFF"/>
                </a:solidFill>
              </a:defRPr>
            </a:lvl1pPr>
            <a:lvl2pPr>
              <a:defRPr sz="1875" b="0">
                <a:solidFill>
                  <a:srgbClr val="FFFFFF"/>
                </a:solidFill>
              </a:defRPr>
            </a:lvl2pPr>
            <a:lvl3pPr>
              <a:defRPr sz="1875" b="0">
                <a:solidFill>
                  <a:srgbClr val="FFFFFF"/>
                </a:solidFill>
              </a:defRPr>
            </a:lvl3pPr>
            <a:lvl4pPr>
              <a:defRPr sz="1875" b="0">
                <a:solidFill>
                  <a:srgbClr val="FFFFFF"/>
                </a:solidFill>
              </a:defRPr>
            </a:lvl4pPr>
            <a:lvl5pPr>
              <a:defRPr sz="1875" b="0">
                <a:solidFill>
                  <a:srgbClr val="FFFFFF"/>
                </a:solidFill>
              </a:defRPr>
            </a:lvl5pPr>
            <a:lvl6pPr>
              <a:defRPr sz="1875" b="0">
                <a:solidFill>
                  <a:srgbClr val="FFFFFF"/>
                </a:solidFill>
              </a:defRPr>
            </a:lvl6pPr>
            <a:lvl7pPr>
              <a:defRPr sz="1875" b="0">
                <a:solidFill>
                  <a:srgbClr val="FFFFFF"/>
                </a:solidFill>
              </a:defRPr>
            </a:lvl7pPr>
            <a:lvl8pPr>
              <a:defRPr sz="1875" b="0">
                <a:solidFill>
                  <a:srgbClr val="FFFFFF"/>
                </a:solidFill>
              </a:defRPr>
            </a:lvl8pPr>
            <a:lvl9pPr>
              <a:defRPr sz="1875" b="0">
                <a:solidFill>
                  <a:srgbClr val="FFFFFF"/>
                </a:solidFill>
              </a:defRPr>
            </a:lvl9pPr>
          </a:lstStyle>
          <a:p>
            <a:pPr marL="342900" indent="-342900">
              <a:buFont typeface="Arial" panose="020B0604020202020204" pitchFamily="34" charset="0"/>
              <a:buChar char="•"/>
              <a:defRPr sz="1875" b="0">
                <a:solidFill>
                  <a:srgbClr val="FFFFFF"/>
                </a:solidFill>
              </a:defRPr>
            </a:pPr>
            <a:r>
              <a:rPr lang="es-CO" sz="1875" b="0" dirty="0">
                <a:solidFill>
                  <a:srgbClr val="FFFFFF"/>
                </a:solidFill>
              </a:rPr>
              <a:t>Erika Valeria</a:t>
            </a:r>
          </a:p>
          <a:p>
            <a:pPr marL="342900" indent="-342900">
              <a:buFont typeface="Arial" panose="020B0604020202020204" pitchFamily="34" charset="0"/>
              <a:buChar char="•"/>
              <a:defRPr sz="1875" b="0">
                <a:solidFill>
                  <a:srgbClr val="FFFFFF"/>
                </a:solidFill>
              </a:defRPr>
            </a:pPr>
            <a:r>
              <a:rPr lang="es-CO" sz="1875" b="0" dirty="0">
                <a:solidFill>
                  <a:srgbClr val="FFFFFF"/>
                </a:solidFill>
              </a:rPr>
              <a:t>Oscar Prieto</a:t>
            </a:r>
          </a:p>
          <a:p>
            <a:pPr marL="342900" indent="-342900">
              <a:buFont typeface="Arial" panose="020B0604020202020204" pitchFamily="34" charset="0"/>
              <a:buChar char="•"/>
              <a:defRPr sz="1875" b="0">
                <a:solidFill>
                  <a:srgbClr val="FFFFFF"/>
                </a:solidFill>
              </a:defRPr>
            </a:pPr>
            <a:r>
              <a:rPr lang="es-CO" dirty="0"/>
              <a:t>Carlos Garnica</a:t>
            </a:r>
          </a:p>
          <a:p>
            <a:pPr marL="342900" indent="-342900">
              <a:buFont typeface="Arial" panose="020B0604020202020204" pitchFamily="34" charset="0"/>
              <a:buChar char="•"/>
              <a:defRPr sz="1875" b="0">
                <a:solidFill>
                  <a:srgbClr val="FFFFFF"/>
                </a:solidFill>
              </a:defRPr>
            </a:pPr>
            <a:r>
              <a:rPr lang="es-CO" sz="1875" b="0" dirty="0">
                <a:solidFill>
                  <a:srgbClr val="FFFFFF"/>
                </a:solidFill>
              </a:rPr>
              <a:t>Julian Carrillo</a:t>
            </a:r>
            <a:endParaRPr sz="1875" b="0" dirty="0">
              <a:solidFill>
                <a:srgbClr val="FFFFFF"/>
              </a:solidFill>
            </a:endParaRPr>
          </a:p>
        </p:txBody>
      </p:sp>
      <p:sp>
        <p:nvSpPr>
          <p:cNvPr id="6" name="Rectángulo 5">
            <a:extLst>
              <a:ext uri="{FF2B5EF4-FFF2-40B4-BE49-F238E27FC236}">
                <a16:creationId xmlns:a16="http://schemas.microsoft.com/office/drawing/2014/main" id="{B1569C16-DA0F-4452-97E8-CD90BB7C5076}"/>
              </a:ext>
            </a:extLst>
          </p:cNvPr>
          <p:cNvSpPr>
            <a:spLocks noGrp="1"/>
          </p:cNvSpPr>
          <p:nvPr/>
        </p:nvSpPr>
        <p:spPr>
          <a:xfrm>
            <a:off x="609600" y="5553075"/>
            <a:ext cx="10477500" cy="666750"/>
          </a:xfrm>
          <a:prstGeom prst="rect">
            <a:avLst/>
          </a:prstGeom>
          <a:noFill/>
          <a:ln w="0">
            <a:noFill/>
          </a:ln>
        </p:spPr>
        <p:txBody>
          <a:bodyPr/>
          <a:lstStyle>
            <a:defPPr>
              <a:defRPr sz="1650" b="0">
                <a:solidFill>
                  <a:srgbClr val="C9DFE8"/>
                </a:solidFill>
              </a:defRPr>
            </a:defPPr>
            <a:lvl1pPr>
              <a:defRPr sz="1650" b="0">
                <a:solidFill>
                  <a:srgbClr val="C9DFE8"/>
                </a:solidFill>
              </a:defRPr>
            </a:lvl1pPr>
            <a:lvl2pPr>
              <a:defRPr sz="1650" b="0">
                <a:solidFill>
                  <a:srgbClr val="C9DFE8"/>
                </a:solidFill>
              </a:defRPr>
            </a:lvl2pPr>
            <a:lvl3pPr>
              <a:defRPr sz="1650" b="0">
                <a:solidFill>
                  <a:srgbClr val="C9DFE8"/>
                </a:solidFill>
              </a:defRPr>
            </a:lvl3pPr>
            <a:lvl4pPr>
              <a:defRPr sz="1650" b="0">
                <a:solidFill>
                  <a:srgbClr val="C9DFE8"/>
                </a:solidFill>
              </a:defRPr>
            </a:lvl4pPr>
            <a:lvl5pPr>
              <a:defRPr sz="1650" b="0">
                <a:solidFill>
                  <a:srgbClr val="C9DFE8"/>
                </a:solidFill>
              </a:defRPr>
            </a:lvl5pPr>
            <a:lvl6pPr>
              <a:defRPr sz="1650" b="0">
                <a:solidFill>
                  <a:srgbClr val="C9DFE8"/>
                </a:solidFill>
              </a:defRPr>
            </a:lvl6pPr>
            <a:lvl7pPr>
              <a:defRPr sz="1650" b="0">
                <a:solidFill>
                  <a:srgbClr val="C9DFE8"/>
                </a:solidFill>
              </a:defRPr>
            </a:lvl7pPr>
            <a:lvl8pPr>
              <a:defRPr sz="1650" b="0">
                <a:solidFill>
                  <a:srgbClr val="C9DFE8"/>
                </a:solidFill>
              </a:defRPr>
            </a:lvl8pPr>
            <a:lvl9pPr>
              <a:defRPr sz="1650" b="0">
                <a:solidFill>
                  <a:srgbClr val="C9DFE8"/>
                </a:solidFill>
              </a:defRPr>
            </a:lvl9pPr>
          </a:lstStyle>
          <a:p>
            <a:pPr>
              <a:defRPr sz="1650" b="0">
                <a:solidFill>
                  <a:srgbClr val="C9DFE8"/>
                </a:solidFill>
              </a:defRPr>
            </a:pPr>
            <a:r>
              <a:rPr sz="1650" b="0">
                <a:solidFill>
                  <a:srgbClr val="C9DFE8"/>
                </a:solidFill>
              </a:rPr>
              <a:t>Knowledge-Based Systems 311 (2025), 113079</a:t>
            </a:r>
          </a:p>
          <a:p>
            <a:pPr>
              <a:defRPr sz="1650" b="0">
                <a:solidFill>
                  <a:srgbClr val="C9DFE8"/>
                </a:solidFill>
              </a:defRPr>
            </a:pPr>
            <a:r>
              <a:rPr sz="1650" b="0">
                <a:solidFill>
                  <a:srgbClr val="C9DFE8"/>
                </a:solidFill>
              </a:rPr>
              <a:t>doi:10.1016/j.knosys.2025.113079</a:t>
            </a:r>
          </a:p>
        </p:txBody>
      </p:sp>
    </p:spTree>
    <p:extLst>
      <p:ext uri="{BB962C8B-B14F-4D97-AF65-F5344CB8AC3E}">
        <p14:creationId xmlns:p14="http://schemas.microsoft.com/office/powerpoint/2010/main" val="1201034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79D84194-E350-44B5-B29B-EA593F4D1767}"/>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A6BC7C26-FF5D-43F9-A898-F4E40724D1F0}"/>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El problema: pocos datos especializados</a:t>
            </a:r>
          </a:p>
        </p:txBody>
      </p:sp>
      <p:sp>
        <p:nvSpPr>
          <p:cNvPr id="4" name="Rectángulo 3">
            <a:extLst>
              <a:ext uri="{FF2B5EF4-FFF2-40B4-BE49-F238E27FC236}">
                <a16:creationId xmlns:a16="http://schemas.microsoft.com/office/drawing/2014/main" id="{03BE3D88-5EDF-4D87-8DBF-5290219B73F8}"/>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introducción y §3.1</a:t>
            </a:r>
          </a:p>
        </p:txBody>
      </p:sp>
      <p:sp>
        <p:nvSpPr>
          <p:cNvPr id="5" name="Rectángulo 4">
            <a:extLst>
              <a:ext uri="{FF2B5EF4-FFF2-40B4-BE49-F238E27FC236}">
                <a16:creationId xmlns:a16="http://schemas.microsoft.com/office/drawing/2014/main" id="{563A2F06-7158-4272-A28F-57CE8E5261CA}"/>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02</a:t>
            </a:r>
          </a:p>
        </p:txBody>
      </p:sp>
      <p:sp>
        <p:nvSpPr>
          <p:cNvPr id="6" name="Rectángulo 5">
            <a:extLst>
              <a:ext uri="{FF2B5EF4-FFF2-40B4-BE49-F238E27FC236}">
                <a16:creationId xmlns:a16="http://schemas.microsoft.com/office/drawing/2014/main" id="{586BA4A2-1FFA-40F1-B7A8-DD0E6A1FBE87}"/>
              </a:ext>
            </a:extLst>
          </p:cNvPr>
          <p:cNvSpPr>
            <a:spLocks noGrp="1"/>
          </p:cNvSpPr>
          <p:nvPr/>
        </p:nvSpPr>
        <p:spPr>
          <a:xfrm>
            <a:off x="609600" y="1905000"/>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Brecha lingüística</a:t>
            </a:r>
          </a:p>
        </p:txBody>
      </p:sp>
      <p:sp>
        <p:nvSpPr>
          <p:cNvPr id="7" name="Rectángulo 6">
            <a:extLst>
              <a:ext uri="{FF2B5EF4-FFF2-40B4-BE49-F238E27FC236}">
                <a16:creationId xmlns:a16="http://schemas.microsoft.com/office/drawing/2014/main" id="{FD3B9DEF-06D9-4330-9BE8-CD316A22734B}"/>
              </a:ext>
            </a:extLst>
          </p:cNvPr>
          <p:cNvSpPr>
            <a:spLocks noGrp="1"/>
          </p:cNvSpPr>
          <p:nvPr/>
        </p:nvSpPr>
        <p:spPr>
          <a:xfrm>
            <a:off x="609600" y="2305050"/>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Los recursos biomédicos y los modelos especializados se concentran en inglés.</a:t>
            </a:r>
          </a:p>
        </p:txBody>
      </p:sp>
      <p:sp>
        <p:nvSpPr>
          <p:cNvPr id="8" name="Rectángulo 7">
            <a:extLst>
              <a:ext uri="{FF2B5EF4-FFF2-40B4-BE49-F238E27FC236}">
                <a16:creationId xmlns:a16="http://schemas.microsoft.com/office/drawing/2014/main" id="{E3AFAB48-1D40-4DA6-B9A7-10001B45BDDE}"/>
              </a:ext>
            </a:extLst>
          </p:cNvPr>
          <p:cNvSpPr>
            <a:spLocks noGrp="1"/>
          </p:cNvSpPr>
          <p:nvPr/>
        </p:nvSpPr>
        <p:spPr>
          <a:xfrm>
            <a:off x="609600" y="3286125"/>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Brecha de dominio</a:t>
            </a:r>
          </a:p>
        </p:txBody>
      </p:sp>
      <p:sp>
        <p:nvSpPr>
          <p:cNvPr id="9" name="Rectángulo 8">
            <a:extLst>
              <a:ext uri="{FF2B5EF4-FFF2-40B4-BE49-F238E27FC236}">
                <a16:creationId xmlns:a16="http://schemas.microsoft.com/office/drawing/2014/main" id="{2B732472-B200-4307-AA4F-9EC8FD06F6DE}"/>
              </a:ext>
            </a:extLst>
          </p:cNvPr>
          <p:cNvSpPr>
            <a:spLocks noGrp="1"/>
          </p:cNvSpPr>
          <p:nvPr/>
        </p:nvSpPr>
        <p:spPr>
          <a:xfrm>
            <a:off x="609600" y="3686175"/>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Un modelo multilingüe general puede reconocer la lengua y fallar en terminología médica.</a:t>
            </a:r>
          </a:p>
        </p:txBody>
      </p:sp>
      <p:sp>
        <p:nvSpPr>
          <p:cNvPr id="10" name="Rectángulo 9">
            <a:extLst>
              <a:ext uri="{FF2B5EF4-FFF2-40B4-BE49-F238E27FC236}">
                <a16:creationId xmlns:a16="http://schemas.microsoft.com/office/drawing/2014/main" id="{65CE3436-9B64-4544-9E68-0BB49B7EA678}"/>
              </a:ext>
            </a:extLst>
          </p:cNvPr>
          <p:cNvSpPr>
            <a:spLocks noGrp="1"/>
          </p:cNvSpPr>
          <p:nvPr/>
        </p:nvSpPr>
        <p:spPr>
          <a:xfrm>
            <a:off x="609600" y="4667250"/>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Objetivo del estudio</a:t>
            </a:r>
          </a:p>
        </p:txBody>
      </p:sp>
      <p:sp>
        <p:nvSpPr>
          <p:cNvPr id="11" name="Rectángulo 10">
            <a:extLst>
              <a:ext uri="{FF2B5EF4-FFF2-40B4-BE49-F238E27FC236}">
                <a16:creationId xmlns:a16="http://schemas.microsoft.com/office/drawing/2014/main" id="{3D5FE46E-6D71-4808-8514-04253B4B8706}"/>
              </a:ext>
            </a:extLst>
          </p:cNvPr>
          <p:cNvSpPr>
            <a:spLocks noGrp="1"/>
          </p:cNvSpPr>
          <p:nvPr/>
        </p:nvSpPr>
        <p:spPr>
          <a:xfrm>
            <a:off x="609600" y="5067300"/>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Mejorar la clasificación temática en español, francés y alemán con pocos datos etiquetados.</a:t>
            </a:r>
          </a:p>
        </p:txBody>
      </p:sp>
    </p:spTree>
    <p:extLst>
      <p:ext uri="{BB962C8B-B14F-4D97-AF65-F5344CB8AC3E}">
        <p14:creationId xmlns:p14="http://schemas.microsoft.com/office/powerpoint/2010/main" val="8093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BCBC97C-623C-4313-B89E-76DBC72E4D57}"/>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9A9EC65E-5D29-4611-BEC5-289787B1D9FB}"/>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Antecedentes y aporte del artículo</a:t>
            </a:r>
          </a:p>
        </p:txBody>
      </p:sp>
      <p:sp>
        <p:nvSpPr>
          <p:cNvPr id="4" name="Rectángulo 3">
            <a:extLst>
              <a:ext uri="{FF2B5EF4-FFF2-40B4-BE49-F238E27FC236}">
                <a16:creationId xmlns:a16="http://schemas.microsoft.com/office/drawing/2014/main" id="{1B1A7FC6-251D-4DB1-AB6B-9E5C2CD72D6E}"/>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§1–2 y §3.3</a:t>
            </a:r>
          </a:p>
        </p:txBody>
      </p:sp>
      <p:sp>
        <p:nvSpPr>
          <p:cNvPr id="5" name="Rectángulo 4">
            <a:extLst>
              <a:ext uri="{FF2B5EF4-FFF2-40B4-BE49-F238E27FC236}">
                <a16:creationId xmlns:a16="http://schemas.microsoft.com/office/drawing/2014/main" id="{6F3AA6F6-7186-4422-976F-0ADCF142164C}"/>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03</a:t>
            </a:r>
          </a:p>
        </p:txBody>
      </p:sp>
      <p:graphicFrame>
        <p:nvGraphicFramePr>
          <p:cNvPr id="6" name="Tabla 5">
            <a:extLst>
              <a:ext uri="{FF2B5EF4-FFF2-40B4-BE49-F238E27FC236}">
                <a16:creationId xmlns:a16="http://schemas.microsoft.com/office/drawing/2014/main" id="{00C53572-F149-4811-87D6-0E8C979D5683}"/>
              </a:ext>
            </a:extLst>
          </p:cNvPr>
          <p:cNvGraphicFramePr/>
          <p:nvPr/>
        </p:nvGraphicFramePr>
        <p:xfrm>
          <a:off x="609600" y="1905000"/>
          <a:ext cx="10953750" cy="2800350"/>
        </p:xfrm>
        <a:graphic>
          <a:graphicData uri="http://schemas.openxmlformats.org/drawingml/2006/table">
            <a:tbl>
              <a:tblPr/>
              <a:tblGrid>
                <a:gridCol w="3429000">
                  <a:extLst>
                    <a:ext uri="{9D8B030D-6E8A-4147-A177-3AD203B41FA5}">
                      <a16:colId xmlns:a16="http://schemas.microsoft.com/office/drawing/2014/main" val="20000"/>
                    </a:ext>
                  </a:extLst>
                </a:gridCol>
                <a:gridCol w="7524750">
                  <a:extLst>
                    <a:ext uri="{9D8B030D-6E8A-4147-A177-3AD203B41FA5}">
                      <a16:colId xmlns:a16="http://schemas.microsoft.com/office/drawing/2014/main" val="20001"/>
                    </a:ext>
                  </a:extLst>
                </a:gridCol>
              </a:tblGrid>
              <a:tr h="560070">
                <a:tc>
                  <a:txBody>
                    <a:bodyPr/>
                    <a:lstStyle/>
                    <a:p>
                      <a:r>
                        <a:rPr sz="1875" b="1">
                          <a:solidFill>
                            <a:srgbClr val="FFFFFF"/>
                          </a:solidFill>
                        </a:rPr>
                        <a:t>Componente</a:t>
                      </a:r>
                    </a:p>
                  </a:txBody>
                  <a:tcPr>
                    <a:lnL w="9525">
                      <a:solidFill>
                        <a:srgbClr val="D4DFE5"/>
                      </a:solidFill>
                      <a:prstDash val="soli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tc>
                  <a:txBody>
                    <a:bodyPr/>
                    <a:lstStyle/>
                    <a:p>
                      <a:r>
                        <a:rPr sz="1875" b="1">
                          <a:solidFill>
                            <a:srgbClr val="FFFFFF"/>
                          </a:solidFill>
                        </a:rPr>
                        <a:t>Qué aporta</a:t>
                      </a:r>
                    </a:p>
                  </a:txBody>
                  <a:tcPr>
                    <a:lnL w="9525" cap="flat" cmpd="sng" algn="ctr">
                      <a:solidFill>
                        <a:srgbClr val="D4DFE5"/>
                      </a:solidFill>
                      <a:prstDash val="solid"/>
                      <a:round/>
                      <a:headEnd type="none" w="med" len="med"/>
                      <a:tailEnd type="none" w="med" len="me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extLst>
                  <a:ext uri="{0D108BD9-81ED-4DB2-BD59-A6C34878D82A}">
                    <a16:rowId xmlns:a16="http://schemas.microsoft.com/office/drawing/2014/main" val="10000"/>
                  </a:ext>
                </a:extLst>
              </a:tr>
              <a:tr h="560070">
                <a:tc>
                  <a:txBody>
                    <a:bodyPr/>
                    <a:lstStyle/>
                    <a:p>
                      <a:r>
                        <a:rPr sz="1875" b="0">
                          <a:solidFill>
                            <a:srgbClr val="16384A"/>
                          </a:solidFill>
                        </a:rPr>
                        <a:t>BioBERT</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Conocimiento biomédico adquirido en inglés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1"/>
                  </a:ext>
                </a:extLst>
              </a:tr>
              <a:tr h="560070">
                <a:tc>
                  <a:txBody>
                    <a:bodyPr/>
                    <a:lstStyle/>
                    <a:p>
                      <a:r>
                        <a:rPr sz="1875" b="0">
                          <a:solidFill>
                            <a:srgbClr val="16384A"/>
                          </a:solidFill>
                        </a:rPr>
                        <a:t>mBERT</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Capacidad de codificar múltiples lenguas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2"/>
                  </a:ext>
                </a:extLst>
              </a:tr>
              <a:tr h="560070">
                <a:tc>
                  <a:txBody>
                    <a:bodyPr/>
                    <a:lstStyle/>
                    <a:p>
                      <a:r>
                        <a:rPr sz="1875" b="0">
                          <a:solidFill>
                            <a:srgbClr val="16384A"/>
                          </a:solidFill>
                        </a:rPr>
                        <a:t>Sentence Transformers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Representaciones comparables de textos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3"/>
                  </a:ext>
                </a:extLst>
              </a:tr>
              <a:tr h="560070">
                <a:tc>
                  <a:txBody>
                    <a:bodyPr/>
                    <a:lstStyle/>
                    <a:p>
                      <a:r>
                        <a:rPr sz="1875" b="0">
                          <a:solidFill>
                            <a:srgbClr val="16384A"/>
                          </a:solidFill>
                        </a:rPr>
                        <a:t>Destilación previa (2020)</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Antecedente de alineación entre lenguas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4"/>
                  </a:ext>
                </a:extLst>
              </a:tr>
            </a:tbl>
          </a:graphicData>
        </a:graphic>
      </p:graphicFrame>
      <p:sp>
        <p:nvSpPr>
          <p:cNvPr id="7" name="Rectángulo 6">
            <a:extLst>
              <a:ext uri="{FF2B5EF4-FFF2-40B4-BE49-F238E27FC236}">
                <a16:creationId xmlns:a16="http://schemas.microsoft.com/office/drawing/2014/main" id="{BC9C3F5B-4B7B-485E-A279-B42D09B415D2}"/>
              </a:ext>
            </a:extLst>
          </p:cNvPr>
          <p:cNvSpPr>
            <a:spLocks noGrp="1"/>
          </p:cNvSpPr>
          <p:nvPr/>
        </p:nvSpPr>
        <p:spPr>
          <a:xfrm>
            <a:off x="609600" y="5048250"/>
            <a:ext cx="10810875" cy="1000125"/>
          </a:xfrm>
          <a:prstGeom prst="rect">
            <a:avLst/>
          </a:prstGeom>
          <a:noFill/>
          <a:ln w="0">
            <a:noFill/>
          </a:ln>
        </p:spPr>
        <p:txBody>
          <a:bodyPr/>
          <a:lstStyle>
            <a:defPPr>
              <a:defRPr sz="2250" b="1">
                <a:solidFill>
                  <a:srgbClr val="087F8C"/>
                </a:solidFill>
              </a:defRPr>
            </a:defPPr>
            <a:lvl1pPr>
              <a:defRPr sz="2250" b="1">
                <a:solidFill>
                  <a:srgbClr val="087F8C"/>
                </a:solidFill>
              </a:defRPr>
            </a:lvl1pPr>
            <a:lvl2pPr>
              <a:defRPr sz="2250" b="1">
                <a:solidFill>
                  <a:srgbClr val="087F8C"/>
                </a:solidFill>
              </a:defRPr>
            </a:lvl2pPr>
            <a:lvl3pPr>
              <a:defRPr sz="2250" b="1">
                <a:solidFill>
                  <a:srgbClr val="087F8C"/>
                </a:solidFill>
              </a:defRPr>
            </a:lvl3pPr>
            <a:lvl4pPr>
              <a:defRPr sz="2250" b="1">
                <a:solidFill>
                  <a:srgbClr val="087F8C"/>
                </a:solidFill>
              </a:defRPr>
            </a:lvl4pPr>
            <a:lvl5pPr>
              <a:defRPr sz="2250" b="1">
                <a:solidFill>
                  <a:srgbClr val="087F8C"/>
                </a:solidFill>
              </a:defRPr>
            </a:lvl5pPr>
            <a:lvl6pPr>
              <a:defRPr sz="2250" b="1">
                <a:solidFill>
                  <a:srgbClr val="087F8C"/>
                </a:solidFill>
              </a:defRPr>
            </a:lvl6pPr>
            <a:lvl7pPr>
              <a:defRPr sz="2250" b="1">
                <a:solidFill>
                  <a:srgbClr val="087F8C"/>
                </a:solidFill>
              </a:defRPr>
            </a:lvl7pPr>
            <a:lvl8pPr>
              <a:defRPr sz="2250" b="1">
                <a:solidFill>
                  <a:srgbClr val="087F8C"/>
                </a:solidFill>
              </a:defRPr>
            </a:lvl8pPr>
            <a:lvl9pPr>
              <a:defRPr sz="2250" b="1">
                <a:solidFill>
                  <a:srgbClr val="087F8C"/>
                </a:solidFill>
              </a:defRPr>
            </a:lvl9pPr>
          </a:lstStyle>
          <a:p>
            <a:pPr>
              <a:defRPr sz="2250" b="1">
                <a:solidFill>
                  <a:srgbClr val="087F8C"/>
                </a:solidFill>
              </a:defRPr>
            </a:pPr>
            <a:r>
              <a:rPr sz="2250" b="1">
                <a:solidFill>
                  <a:srgbClr val="087F8C"/>
                </a:solidFill>
              </a:rPr>
              <a:t>Aporte: evaluar transferencia de dominio y tarea con MNRL, distintos profesores y cantidades de datos.</a:t>
            </a:r>
          </a:p>
        </p:txBody>
      </p:sp>
    </p:spTree>
    <p:extLst>
      <p:ext uri="{BB962C8B-B14F-4D97-AF65-F5344CB8AC3E}">
        <p14:creationId xmlns:p14="http://schemas.microsoft.com/office/powerpoint/2010/main" val="2045360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8E863A2-BA4A-444E-8BD0-4860D17535A2}"/>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2DB7A249-D300-45CA-920B-EDC7FEEE15D5}"/>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Preguntas que organizan la investigación</a:t>
            </a:r>
          </a:p>
        </p:txBody>
      </p:sp>
      <p:sp>
        <p:nvSpPr>
          <p:cNvPr id="4" name="Rectángulo 3">
            <a:extLst>
              <a:ext uri="{FF2B5EF4-FFF2-40B4-BE49-F238E27FC236}">
                <a16:creationId xmlns:a16="http://schemas.microsoft.com/office/drawing/2014/main" id="{66F6EA9E-72DE-4406-B91F-6FE7BDB660CD}"/>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§1: RQ1–RQ5</a:t>
            </a:r>
          </a:p>
        </p:txBody>
      </p:sp>
      <p:sp>
        <p:nvSpPr>
          <p:cNvPr id="5" name="Rectángulo 4">
            <a:extLst>
              <a:ext uri="{FF2B5EF4-FFF2-40B4-BE49-F238E27FC236}">
                <a16:creationId xmlns:a16="http://schemas.microsoft.com/office/drawing/2014/main" id="{C3B7879F-5E13-476F-BBBB-BCB6C7E47C40}"/>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04</a:t>
            </a:r>
          </a:p>
        </p:txBody>
      </p:sp>
      <p:sp>
        <p:nvSpPr>
          <p:cNvPr id="6" name="Rectángulo 5">
            <a:extLst>
              <a:ext uri="{FF2B5EF4-FFF2-40B4-BE49-F238E27FC236}">
                <a16:creationId xmlns:a16="http://schemas.microsoft.com/office/drawing/2014/main" id="{FCF77B09-577A-4996-A5D6-10A5BE76F711}"/>
              </a:ext>
            </a:extLst>
          </p:cNvPr>
          <p:cNvSpPr>
            <a:spLocks noGrp="1"/>
          </p:cNvSpPr>
          <p:nvPr/>
        </p:nvSpPr>
        <p:spPr>
          <a:xfrm>
            <a:off x="609600" y="1952625"/>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Transferencia de conocimiento · RQ1–RQ3</a:t>
            </a:r>
          </a:p>
        </p:txBody>
      </p:sp>
      <p:sp>
        <p:nvSpPr>
          <p:cNvPr id="7" name="Rectángulo 6">
            <a:extLst>
              <a:ext uri="{FF2B5EF4-FFF2-40B4-BE49-F238E27FC236}">
                <a16:creationId xmlns:a16="http://schemas.microsoft.com/office/drawing/2014/main" id="{0CAC14BB-CDD4-46BE-B2FE-339280DC7D4C}"/>
              </a:ext>
            </a:extLst>
          </p:cNvPr>
          <p:cNvSpPr>
            <a:spLocks noGrp="1"/>
          </p:cNvSpPr>
          <p:nvPr/>
        </p:nvSpPr>
        <p:spPr>
          <a:xfrm>
            <a:off x="609600" y="2352675"/>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¿Basta un profesor biomédico preentrenado? ¿Ayuda ajustarlo a la tarea? ¿Puede servir un profesor general?</a:t>
            </a:r>
          </a:p>
        </p:txBody>
      </p:sp>
      <p:sp>
        <p:nvSpPr>
          <p:cNvPr id="8" name="Rectángulo 7">
            <a:extLst>
              <a:ext uri="{FF2B5EF4-FFF2-40B4-BE49-F238E27FC236}">
                <a16:creationId xmlns:a16="http://schemas.microsoft.com/office/drawing/2014/main" id="{8DA0D48E-8D89-4B02-BF08-5FA33EE37ADC}"/>
              </a:ext>
            </a:extLst>
          </p:cNvPr>
          <p:cNvSpPr>
            <a:spLocks noGrp="1"/>
          </p:cNvSpPr>
          <p:nvPr/>
        </p:nvSpPr>
        <p:spPr>
          <a:xfrm>
            <a:off x="609600" y="3381375"/>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Dependencia de los datos · RQ4</a:t>
            </a:r>
          </a:p>
        </p:txBody>
      </p:sp>
      <p:sp>
        <p:nvSpPr>
          <p:cNvPr id="9" name="Rectángulo 8">
            <a:extLst>
              <a:ext uri="{FF2B5EF4-FFF2-40B4-BE49-F238E27FC236}">
                <a16:creationId xmlns:a16="http://schemas.microsoft.com/office/drawing/2014/main" id="{C48DF7E5-27FD-4BE2-9759-5136359E1173}"/>
              </a:ext>
            </a:extLst>
          </p:cNvPr>
          <p:cNvSpPr>
            <a:spLocks noGrp="1"/>
          </p:cNvSpPr>
          <p:nvPr/>
        </p:nvSpPr>
        <p:spPr>
          <a:xfrm>
            <a:off x="609600" y="3781425"/>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¿Cuánto cambia la utilidad de la destilación al aumentar los datos del ajuste final?</a:t>
            </a:r>
          </a:p>
        </p:txBody>
      </p:sp>
      <p:sp>
        <p:nvSpPr>
          <p:cNvPr id="10" name="Rectángulo 9">
            <a:extLst>
              <a:ext uri="{FF2B5EF4-FFF2-40B4-BE49-F238E27FC236}">
                <a16:creationId xmlns:a16="http://schemas.microsoft.com/office/drawing/2014/main" id="{F12018C5-9A79-4D07-92EE-04D03143A102}"/>
              </a:ext>
            </a:extLst>
          </p:cNvPr>
          <p:cNvSpPr>
            <a:spLocks noGrp="1"/>
          </p:cNvSpPr>
          <p:nvPr/>
        </p:nvSpPr>
        <p:spPr>
          <a:xfrm>
            <a:off x="609600" y="4810125"/>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Cambios internos · RQ5</a:t>
            </a:r>
          </a:p>
        </p:txBody>
      </p:sp>
      <p:sp>
        <p:nvSpPr>
          <p:cNvPr id="11" name="Rectángulo 10">
            <a:extLst>
              <a:ext uri="{FF2B5EF4-FFF2-40B4-BE49-F238E27FC236}">
                <a16:creationId xmlns:a16="http://schemas.microsoft.com/office/drawing/2014/main" id="{4C323008-46CB-4E29-906C-22DDE0D34BBD}"/>
              </a:ext>
            </a:extLst>
          </p:cNvPr>
          <p:cNvSpPr>
            <a:spLocks noGrp="1"/>
          </p:cNvSpPr>
          <p:nvPr/>
        </p:nvSpPr>
        <p:spPr>
          <a:xfrm>
            <a:off x="609600" y="5210175"/>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¿Las representaciones del estudiante se parecen más a las del profesor después de destilar?</a:t>
            </a:r>
          </a:p>
        </p:txBody>
      </p:sp>
    </p:spTree>
    <p:extLst>
      <p:ext uri="{BB962C8B-B14F-4D97-AF65-F5344CB8AC3E}">
        <p14:creationId xmlns:p14="http://schemas.microsoft.com/office/powerpoint/2010/main" val="1872098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33BD4590-64B4-4D87-A91E-16B3AC271EA5}"/>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D183CF3E-B9E0-4B8C-A9B6-35F878A69AFE}"/>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Corpus, lenguas y tarea de clasificación</a:t>
            </a:r>
          </a:p>
        </p:txBody>
      </p:sp>
      <p:sp>
        <p:nvSpPr>
          <p:cNvPr id="4" name="Rectángulo 3">
            <a:extLst>
              <a:ext uri="{FF2B5EF4-FFF2-40B4-BE49-F238E27FC236}">
                <a16:creationId xmlns:a16="http://schemas.microsoft.com/office/drawing/2014/main" id="{AB9C241D-FD5E-4D84-982A-3AD405810FBE}"/>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§3.1, tabla 2 y apéndice A</a:t>
            </a:r>
          </a:p>
        </p:txBody>
      </p:sp>
      <p:sp>
        <p:nvSpPr>
          <p:cNvPr id="5" name="Rectángulo 4">
            <a:extLst>
              <a:ext uri="{FF2B5EF4-FFF2-40B4-BE49-F238E27FC236}">
                <a16:creationId xmlns:a16="http://schemas.microsoft.com/office/drawing/2014/main" id="{697BFE96-7D41-451C-B7F3-29C94537680E}"/>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05</a:t>
            </a:r>
          </a:p>
        </p:txBody>
      </p:sp>
      <p:sp>
        <p:nvSpPr>
          <p:cNvPr id="6" name="Rectángulo 5">
            <a:extLst>
              <a:ext uri="{FF2B5EF4-FFF2-40B4-BE49-F238E27FC236}">
                <a16:creationId xmlns:a16="http://schemas.microsoft.com/office/drawing/2014/main" id="{82BC0FBA-6A19-4AF5-B4CD-550E60DEBB75}"/>
              </a:ext>
            </a:extLst>
          </p:cNvPr>
          <p:cNvSpPr>
            <a:spLocks noGrp="1"/>
          </p:cNvSpPr>
          <p:nvPr/>
        </p:nvSpPr>
        <p:spPr>
          <a:xfrm>
            <a:off x="609600" y="1809750"/>
            <a:ext cx="10858500" cy="857250"/>
          </a:xfrm>
          <a:prstGeom prst="rect">
            <a:avLst/>
          </a:prstGeom>
          <a:noFill/>
          <a:ln w="0">
            <a:noFill/>
          </a:ln>
        </p:spPr>
        <p:txBody>
          <a:bodyPr/>
          <a:lstStyle>
            <a:defPPr>
              <a:defRPr sz="2100" b="0">
                <a:solidFill>
                  <a:srgbClr val="16384A"/>
                </a:solidFill>
              </a:defRPr>
            </a:defPPr>
            <a:lvl1pPr>
              <a:defRPr sz="2100" b="0">
                <a:solidFill>
                  <a:srgbClr val="16384A"/>
                </a:solidFill>
              </a:defRPr>
            </a:lvl1pPr>
            <a:lvl2pPr>
              <a:defRPr sz="2100" b="0">
                <a:solidFill>
                  <a:srgbClr val="16384A"/>
                </a:solidFill>
              </a:defRPr>
            </a:lvl2pPr>
            <a:lvl3pPr>
              <a:defRPr sz="2100" b="0">
                <a:solidFill>
                  <a:srgbClr val="16384A"/>
                </a:solidFill>
              </a:defRPr>
            </a:lvl3pPr>
            <a:lvl4pPr>
              <a:defRPr sz="2100" b="0">
                <a:solidFill>
                  <a:srgbClr val="16384A"/>
                </a:solidFill>
              </a:defRPr>
            </a:lvl4pPr>
            <a:lvl5pPr>
              <a:defRPr sz="2100" b="0">
                <a:solidFill>
                  <a:srgbClr val="16384A"/>
                </a:solidFill>
              </a:defRPr>
            </a:lvl5pPr>
            <a:lvl6pPr>
              <a:defRPr sz="2100" b="0">
                <a:solidFill>
                  <a:srgbClr val="16384A"/>
                </a:solidFill>
              </a:defRPr>
            </a:lvl6pPr>
            <a:lvl7pPr>
              <a:defRPr sz="2100" b="0">
                <a:solidFill>
                  <a:srgbClr val="16384A"/>
                </a:solidFill>
              </a:defRPr>
            </a:lvl7pPr>
            <a:lvl8pPr>
              <a:defRPr sz="2100" b="0">
                <a:solidFill>
                  <a:srgbClr val="16384A"/>
                </a:solidFill>
              </a:defRPr>
            </a:lvl8pPr>
            <a:lvl9pPr>
              <a:defRPr sz="2100" b="0">
                <a:solidFill>
                  <a:srgbClr val="16384A"/>
                </a:solidFill>
              </a:defRPr>
            </a:lvl9pPr>
          </a:lstStyle>
          <a:p>
            <a:pPr>
              <a:defRPr sz="2100" b="0">
                <a:solidFill>
                  <a:srgbClr val="16384A"/>
                </a:solidFill>
              </a:defRPr>
            </a:pPr>
            <a:r>
              <a:rPr sz="2100" b="0">
                <a:solidFill>
                  <a:srgbClr val="16384A"/>
                </a:solidFill>
              </a:rPr>
              <a:t>Textos de los manuales MSD para pacientes y profesionales</a:t>
            </a:r>
          </a:p>
          <a:p>
            <a:pPr>
              <a:defRPr sz="2100" b="0">
                <a:solidFill>
                  <a:srgbClr val="16384A"/>
                </a:solidFill>
              </a:defRPr>
            </a:pPr>
            <a:r>
              <a:rPr sz="2100" b="0">
                <a:solidFill>
                  <a:srgbClr val="16384A"/>
                </a:solidFill>
              </a:rPr>
              <a:t>18 categorías comunes · Máximo de 512 tokens por texto</a:t>
            </a:r>
          </a:p>
        </p:txBody>
      </p:sp>
      <p:graphicFrame>
        <p:nvGraphicFramePr>
          <p:cNvPr id="7" name="Tabla 6">
            <a:extLst>
              <a:ext uri="{FF2B5EF4-FFF2-40B4-BE49-F238E27FC236}">
                <a16:creationId xmlns:a16="http://schemas.microsoft.com/office/drawing/2014/main" id="{B3BD147A-6A10-4760-A4C4-83E23926D9F7}"/>
              </a:ext>
            </a:extLst>
          </p:cNvPr>
          <p:cNvGraphicFramePr/>
          <p:nvPr/>
        </p:nvGraphicFramePr>
        <p:xfrm>
          <a:off x="609600" y="2914650"/>
          <a:ext cx="10953750" cy="2476500"/>
        </p:xfrm>
        <a:graphic>
          <a:graphicData uri="http://schemas.openxmlformats.org/drawingml/2006/table">
            <a:tbl>
              <a:tblPr/>
              <a:tblGrid>
                <a:gridCol w="37147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495300">
                <a:tc>
                  <a:txBody>
                    <a:bodyPr/>
                    <a:lstStyle/>
                    <a:p>
                      <a:r>
                        <a:rPr sz="1875" b="1">
                          <a:solidFill>
                            <a:srgbClr val="FFFFFF"/>
                          </a:solidFill>
                        </a:rPr>
                        <a:t>Lengua</a:t>
                      </a:r>
                    </a:p>
                  </a:txBody>
                  <a:tcPr>
                    <a:lnL w="9525">
                      <a:solidFill>
                        <a:srgbClr val="D4DFE5"/>
                      </a:solidFill>
                      <a:prstDash val="soli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tc>
                  <a:txBody>
                    <a:bodyPr/>
                    <a:lstStyle/>
                    <a:p>
                      <a:r>
                        <a:rPr sz="1875" b="1">
                          <a:solidFill>
                            <a:srgbClr val="FFFFFF"/>
                          </a:solidFill>
                        </a:rPr>
                        <a:t>Entrenamiento</a:t>
                      </a:r>
                    </a:p>
                  </a:txBody>
                  <a:tcPr>
                    <a:lnL w="9525" cap="flat" cmpd="sng" algn="ctr">
                      <a:solidFill>
                        <a:srgbClr val="D4DFE5"/>
                      </a:solidFill>
                      <a:prstDash val="solid"/>
                      <a:round/>
                      <a:headEnd type="none" w="med" len="med"/>
                      <a:tailEnd type="none" w="med" len="me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tc>
                  <a:txBody>
                    <a:bodyPr/>
                    <a:lstStyle/>
                    <a:p>
                      <a:r>
                        <a:rPr sz="1875" b="1">
                          <a:solidFill>
                            <a:srgbClr val="FFFFFF"/>
                          </a:solidFill>
                        </a:rPr>
                        <a:t>Prueba final</a:t>
                      </a:r>
                    </a:p>
                  </a:txBody>
                  <a:tcPr>
                    <a:lnL w="9525" cap="flat" cmpd="sng" algn="ctr">
                      <a:solidFill>
                        <a:srgbClr val="D4DFE5"/>
                      </a:solidFill>
                      <a:prstDash val="solid"/>
                      <a:round/>
                      <a:headEnd type="none" w="med" len="med"/>
                      <a:tailEnd type="none" w="med" len="me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extLst>
                  <a:ext uri="{0D108BD9-81ED-4DB2-BD59-A6C34878D82A}">
                    <a16:rowId xmlns:a16="http://schemas.microsoft.com/office/drawing/2014/main" val="10000"/>
                  </a:ext>
                </a:extLst>
              </a:tr>
              <a:tr h="495300">
                <a:tc>
                  <a:txBody>
                    <a:bodyPr/>
                    <a:lstStyle/>
                    <a:p>
                      <a:r>
                        <a:rPr sz="1875" b="0">
                          <a:solidFill>
                            <a:srgbClr val="16384A"/>
                          </a:solidFill>
                        </a:rPr>
                        <a:t>Inglés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11.860</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4.295</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1"/>
                  </a:ext>
                </a:extLst>
              </a:tr>
              <a:tr h="495300">
                <a:tc>
                  <a:txBody>
                    <a:bodyPr/>
                    <a:lstStyle/>
                    <a:p>
                      <a:r>
                        <a:rPr sz="1875" b="0">
                          <a:solidFill>
                            <a:srgbClr val="16384A"/>
                          </a:solidFill>
                        </a:rPr>
                        <a:t>Español</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12.171</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1.842</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2"/>
                  </a:ext>
                </a:extLst>
              </a:tr>
              <a:tr h="495300">
                <a:tc>
                  <a:txBody>
                    <a:bodyPr/>
                    <a:lstStyle/>
                    <a:p>
                      <a:r>
                        <a:rPr sz="1875" b="0">
                          <a:solidFill>
                            <a:srgbClr val="16384A"/>
                          </a:solidFill>
                        </a:rPr>
                        <a:t>Francés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11.748</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1.947</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3"/>
                  </a:ext>
                </a:extLst>
              </a:tr>
              <a:tr h="495300">
                <a:tc>
                  <a:txBody>
                    <a:bodyPr/>
                    <a:lstStyle/>
                    <a:p>
                      <a:r>
                        <a:rPr sz="1875" b="0">
                          <a:solidFill>
                            <a:srgbClr val="16384A"/>
                          </a:solidFill>
                        </a:rPr>
                        <a:t>Alemán</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11.603</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2.317</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4"/>
                  </a:ext>
                </a:extLst>
              </a:tr>
            </a:tbl>
          </a:graphicData>
        </a:graphic>
      </p:graphicFrame>
      <p:sp>
        <p:nvSpPr>
          <p:cNvPr id="8" name="Rectángulo 7">
            <a:extLst>
              <a:ext uri="{FF2B5EF4-FFF2-40B4-BE49-F238E27FC236}">
                <a16:creationId xmlns:a16="http://schemas.microsoft.com/office/drawing/2014/main" id="{3954CB81-846D-4CA6-A900-2CC540258A33}"/>
              </a:ext>
            </a:extLst>
          </p:cNvPr>
          <p:cNvSpPr>
            <a:spLocks noGrp="1"/>
          </p:cNvSpPr>
          <p:nvPr/>
        </p:nvSpPr>
        <p:spPr>
          <a:xfrm>
            <a:off x="609600" y="5629275"/>
            <a:ext cx="10763250" cy="542925"/>
          </a:xfrm>
          <a:prstGeom prst="rect">
            <a:avLst/>
          </a:prstGeom>
          <a:noFill/>
          <a:ln w="0">
            <a:noFill/>
          </a:ln>
        </p:spPr>
        <p:txBody>
          <a:bodyPr/>
          <a:lstStyle>
            <a:defPPr>
              <a:defRPr sz="1800" b="1">
                <a:solidFill>
                  <a:srgbClr val="087F8C"/>
                </a:solidFill>
              </a:defRPr>
            </a:defPPr>
            <a:lvl1pPr>
              <a:defRPr sz="1800" b="1">
                <a:solidFill>
                  <a:srgbClr val="087F8C"/>
                </a:solidFill>
              </a:defRPr>
            </a:lvl1pPr>
            <a:lvl2pPr>
              <a:defRPr sz="1800" b="1">
                <a:solidFill>
                  <a:srgbClr val="087F8C"/>
                </a:solidFill>
              </a:defRPr>
            </a:lvl2pPr>
            <a:lvl3pPr>
              <a:defRPr sz="1800" b="1">
                <a:solidFill>
                  <a:srgbClr val="087F8C"/>
                </a:solidFill>
              </a:defRPr>
            </a:lvl3pPr>
            <a:lvl4pPr>
              <a:defRPr sz="1800" b="1">
                <a:solidFill>
                  <a:srgbClr val="087F8C"/>
                </a:solidFill>
              </a:defRPr>
            </a:lvl4pPr>
            <a:lvl5pPr>
              <a:defRPr sz="1800" b="1">
                <a:solidFill>
                  <a:srgbClr val="087F8C"/>
                </a:solidFill>
              </a:defRPr>
            </a:lvl5pPr>
            <a:lvl6pPr>
              <a:defRPr sz="1800" b="1">
                <a:solidFill>
                  <a:srgbClr val="087F8C"/>
                </a:solidFill>
              </a:defRPr>
            </a:lvl6pPr>
            <a:lvl7pPr>
              <a:defRPr sz="1800" b="1">
                <a:solidFill>
                  <a:srgbClr val="087F8C"/>
                </a:solidFill>
              </a:defRPr>
            </a:lvl7pPr>
            <a:lvl8pPr>
              <a:defRPr sz="1800" b="1">
                <a:solidFill>
                  <a:srgbClr val="087F8C"/>
                </a:solidFill>
              </a:defRPr>
            </a:lvl8pPr>
            <a:lvl9pPr>
              <a:defRPr sz="1800" b="1">
                <a:solidFill>
                  <a:srgbClr val="087F8C"/>
                </a:solidFill>
              </a:defRPr>
            </a:lvl9pPr>
          </a:lstStyle>
          <a:p>
            <a:pPr>
              <a:defRPr sz="1800" b="1">
                <a:solidFill>
                  <a:srgbClr val="087F8C"/>
                </a:solidFill>
              </a:defRPr>
            </a:pPr>
            <a:r>
              <a:rPr sz="1800" b="1">
                <a:solidFill>
                  <a:srgbClr val="087F8C"/>
                </a:solidFill>
              </a:rPr>
              <a:t>La prueba destino se filtra para retirar textos semejantes al entrenamiento traducido.</a:t>
            </a:r>
          </a:p>
        </p:txBody>
      </p:sp>
    </p:spTree>
    <p:extLst>
      <p:ext uri="{BB962C8B-B14F-4D97-AF65-F5344CB8AC3E}">
        <p14:creationId xmlns:p14="http://schemas.microsoft.com/office/powerpoint/2010/main" val="1246051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283135D-7A2D-49AF-BEAD-A9E305200F12}"/>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E6A080C9-16A3-4F04-AC8B-F7CDC8A4BAB1}"/>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Método: traducción, destilación y ajuste</a:t>
            </a:r>
          </a:p>
        </p:txBody>
      </p:sp>
      <p:sp>
        <p:nvSpPr>
          <p:cNvPr id="4" name="Rectángulo 3">
            <a:extLst>
              <a:ext uri="{FF2B5EF4-FFF2-40B4-BE49-F238E27FC236}">
                <a16:creationId xmlns:a16="http://schemas.microsoft.com/office/drawing/2014/main" id="{D1F91B03-B5AB-4BAB-94BB-17B2C387ACF2}"/>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figura 3 y §3.2–3.4</a:t>
            </a:r>
          </a:p>
        </p:txBody>
      </p:sp>
      <p:sp>
        <p:nvSpPr>
          <p:cNvPr id="5" name="Rectángulo 4">
            <a:extLst>
              <a:ext uri="{FF2B5EF4-FFF2-40B4-BE49-F238E27FC236}">
                <a16:creationId xmlns:a16="http://schemas.microsoft.com/office/drawing/2014/main" id="{2A0F4CFC-AE08-49D6-B72E-99585818A038}"/>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06</a:t>
            </a:r>
          </a:p>
        </p:txBody>
      </p:sp>
      <p:pic>
        <p:nvPicPr>
          <p:cNvPr id="6" name="Imagen 5">
            <a:extLst>
              <a:ext uri="{FF2B5EF4-FFF2-40B4-BE49-F238E27FC236}">
                <a16:creationId xmlns:a16="http://schemas.microsoft.com/office/drawing/2014/main" id="{2BF45435-4395-4173-88B0-E173D63E8A61}"/>
              </a:ext>
            </a:extLst>
          </p:cNvPr>
          <p:cNvPicPr>
            <a:picLocks noChangeAspect="1"/>
          </p:cNvPicPr>
          <p:nvPr/>
        </p:nvPicPr>
        <p:blipFill>
          <a:blip r:embed="rId3"/>
          <a:stretch/>
        </p:blipFill>
        <p:spPr>
          <a:xfrm>
            <a:off x="680669" y="1838325"/>
            <a:ext cx="6430112" cy="4238625"/>
          </a:xfrm>
          <a:prstGeom prst="rect">
            <a:avLst/>
          </a:prstGeom>
        </p:spPr>
      </p:pic>
      <p:sp>
        <p:nvSpPr>
          <p:cNvPr id="7" name="Rectángulo 6">
            <a:extLst>
              <a:ext uri="{FF2B5EF4-FFF2-40B4-BE49-F238E27FC236}">
                <a16:creationId xmlns:a16="http://schemas.microsoft.com/office/drawing/2014/main" id="{0E962E4F-B254-4989-B81C-0FFCB6A3FB9B}"/>
              </a:ext>
            </a:extLst>
          </p:cNvPr>
          <p:cNvSpPr>
            <a:spLocks noGrp="1"/>
          </p:cNvSpPr>
          <p:nvPr/>
        </p:nvSpPr>
        <p:spPr>
          <a:xfrm>
            <a:off x="7524750" y="1933575"/>
            <a:ext cx="3905250" cy="762000"/>
          </a:xfrm>
          <a:prstGeom prst="rect">
            <a:avLst/>
          </a:prstGeom>
          <a:noFill/>
          <a:ln w="0">
            <a:noFill/>
          </a:ln>
        </p:spPr>
        <p:txBody>
          <a:bodyPr/>
          <a:lstStyle>
            <a:defPPr>
              <a:defRPr sz="2025" b="1">
                <a:solidFill>
                  <a:srgbClr val="087F8C"/>
                </a:solidFill>
              </a:defRPr>
            </a:defPPr>
            <a:lvl1pPr>
              <a:defRPr sz="2025" b="1">
                <a:solidFill>
                  <a:srgbClr val="087F8C"/>
                </a:solidFill>
              </a:defRPr>
            </a:lvl1pPr>
            <a:lvl2pPr>
              <a:defRPr sz="2025" b="1">
                <a:solidFill>
                  <a:srgbClr val="087F8C"/>
                </a:solidFill>
              </a:defRPr>
            </a:lvl2pPr>
            <a:lvl3pPr>
              <a:defRPr sz="2025" b="1">
                <a:solidFill>
                  <a:srgbClr val="087F8C"/>
                </a:solidFill>
              </a:defRPr>
            </a:lvl3pPr>
            <a:lvl4pPr>
              <a:defRPr sz="2025" b="1">
                <a:solidFill>
                  <a:srgbClr val="087F8C"/>
                </a:solidFill>
              </a:defRPr>
            </a:lvl4pPr>
            <a:lvl5pPr>
              <a:defRPr sz="2025" b="1">
                <a:solidFill>
                  <a:srgbClr val="087F8C"/>
                </a:solidFill>
              </a:defRPr>
            </a:lvl5pPr>
            <a:lvl6pPr>
              <a:defRPr sz="2025" b="1">
                <a:solidFill>
                  <a:srgbClr val="087F8C"/>
                </a:solidFill>
              </a:defRPr>
            </a:lvl6pPr>
            <a:lvl7pPr>
              <a:defRPr sz="2025" b="1">
                <a:solidFill>
                  <a:srgbClr val="087F8C"/>
                </a:solidFill>
              </a:defRPr>
            </a:lvl7pPr>
            <a:lvl8pPr>
              <a:defRPr sz="2025" b="1">
                <a:solidFill>
                  <a:srgbClr val="087F8C"/>
                </a:solidFill>
              </a:defRPr>
            </a:lvl8pPr>
            <a:lvl9pPr>
              <a:defRPr sz="2025" b="1">
                <a:solidFill>
                  <a:srgbClr val="087F8C"/>
                </a:solidFill>
              </a:defRPr>
            </a:lvl9pPr>
          </a:lstStyle>
          <a:p>
            <a:pPr>
              <a:defRPr sz="2025" b="1">
                <a:solidFill>
                  <a:srgbClr val="087F8C"/>
                </a:solidFill>
              </a:defRPr>
            </a:pPr>
            <a:r>
              <a:rPr sz="2025" b="1">
                <a:solidFill>
                  <a:srgbClr val="087F8C"/>
                </a:solidFill>
              </a:rPr>
              <a:t>1  mBART crea pares de traducción</a:t>
            </a:r>
          </a:p>
        </p:txBody>
      </p:sp>
      <p:sp>
        <p:nvSpPr>
          <p:cNvPr id="8" name="Rectángulo 7">
            <a:extLst>
              <a:ext uri="{FF2B5EF4-FFF2-40B4-BE49-F238E27FC236}">
                <a16:creationId xmlns:a16="http://schemas.microsoft.com/office/drawing/2014/main" id="{AA1BD18D-5CF8-4897-BD2C-A25E58BD51AF}"/>
              </a:ext>
            </a:extLst>
          </p:cNvPr>
          <p:cNvSpPr>
            <a:spLocks noGrp="1"/>
          </p:cNvSpPr>
          <p:nvPr/>
        </p:nvSpPr>
        <p:spPr>
          <a:xfrm>
            <a:off x="7524750" y="3000375"/>
            <a:ext cx="3905250" cy="1143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2  El estudiante alinea sus representaciones con el profesor</a:t>
            </a:r>
          </a:p>
        </p:txBody>
      </p:sp>
      <p:sp>
        <p:nvSpPr>
          <p:cNvPr id="9" name="Rectángulo 8">
            <a:extLst>
              <a:ext uri="{FF2B5EF4-FFF2-40B4-BE49-F238E27FC236}">
                <a16:creationId xmlns:a16="http://schemas.microsoft.com/office/drawing/2014/main" id="{DD846B7B-EF8F-42DE-B833-E785816CE5EB}"/>
              </a:ext>
            </a:extLst>
          </p:cNvPr>
          <p:cNvSpPr>
            <a:spLocks noGrp="1"/>
          </p:cNvSpPr>
          <p:nvPr/>
        </p:nvSpPr>
        <p:spPr>
          <a:xfrm>
            <a:off x="7524750" y="4581525"/>
            <a:ext cx="3905250" cy="11049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3  El estudiante se ajusta con etiquetas de la lengua destino</a:t>
            </a:r>
          </a:p>
        </p:txBody>
      </p:sp>
    </p:spTree>
    <p:extLst>
      <p:ext uri="{BB962C8B-B14F-4D97-AF65-F5344CB8AC3E}">
        <p14:creationId xmlns:p14="http://schemas.microsoft.com/office/powerpoint/2010/main" val="196391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2909132-08F0-49F4-8398-00BE4ACD765E}"/>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CC87D170-389B-4E0F-8EE6-66B7FACCD0D8}"/>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MNRL: reconocer la traducción correcta</a:t>
            </a:r>
          </a:p>
        </p:txBody>
      </p:sp>
      <p:sp>
        <p:nvSpPr>
          <p:cNvPr id="4" name="Rectángulo 3">
            <a:extLst>
              <a:ext uri="{FF2B5EF4-FFF2-40B4-BE49-F238E27FC236}">
                <a16:creationId xmlns:a16="http://schemas.microsoft.com/office/drawing/2014/main" id="{B91158B2-3DBF-424C-AD6C-644BB2C5AF77}"/>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ecuación 1 y comparación con MSE, figura 5</a:t>
            </a:r>
          </a:p>
        </p:txBody>
      </p:sp>
      <p:sp>
        <p:nvSpPr>
          <p:cNvPr id="5" name="Rectángulo 4">
            <a:extLst>
              <a:ext uri="{FF2B5EF4-FFF2-40B4-BE49-F238E27FC236}">
                <a16:creationId xmlns:a16="http://schemas.microsoft.com/office/drawing/2014/main" id="{120AE5F7-012A-4C9D-B087-802837409A57}"/>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07</a:t>
            </a:r>
          </a:p>
        </p:txBody>
      </p:sp>
      <p:sp>
        <p:nvSpPr>
          <p:cNvPr id="6" name="Rectángulo 5">
            <a:extLst>
              <a:ext uri="{FF2B5EF4-FFF2-40B4-BE49-F238E27FC236}">
                <a16:creationId xmlns:a16="http://schemas.microsoft.com/office/drawing/2014/main" id="{76246635-6DD9-4CFA-8D22-0E8E91E06484}"/>
              </a:ext>
            </a:extLst>
          </p:cNvPr>
          <p:cNvSpPr>
            <a:spLocks noGrp="1"/>
          </p:cNvSpPr>
          <p:nvPr/>
        </p:nvSpPr>
        <p:spPr>
          <a:xfrm>
            <a:off x="609600" y="1962150"/>
            <a:ext cx="10763250" cy="619125"/>
          </a:xfrm>
          <a:prstGeom prst="rect">
            <a:avLst/>
          </a:prstGeom>
          <a:noFill/>
          <a:ln w="0">
            <a:noFill/>
          </a:ln>
        </p:spPr>
        <p:txBody>
          <a:bodyPr/>
          <a:lstStyle>
            <a:defPPr>
              <a:defRPr sz="2325" b="1">
                <a:solidFill>
                  <a:srgbClr val="102D40"/>
                </a:solidFill>
              </a:defRPr>
            </a:defPPr>
            <a:lvl1pPr>
              <a:defRPr sz="2325" b="1">
                <a:solidFill>
                  <a:srgbClr val="102D40"/>
                </a:solidFill>
              </a:defRPr>
            </a:lvl1pPr>
            <a:lvl2pPr>
              <a:defRPr sz="2325" b="1">
                <a:solidFill>
                  <a:srgbClr val="102D40"/>
                </a:solidFill>
              </a:defRPr>
            </a:lvl2pPr>
            <a:lvl3pPr>
              <a:defRPr sz="2325" b="1">
                <a:solidFill>
                  <a:srgbClr val="102D40"/>
                </a:solidFill>
              </a:defRPr>
            </a:lvl3pPr>
            <a:lvl4pPr>
              <a:defRPr sz="2325" b="1">
                <a:solidFill>
                  <a:srgbClr val="102D40"/>
                </a:solidFill>
              </a:defRPr>
            </a:lvl4pPr>
            <a:lvl5pPr>
              <a:defRPr sz="2325" b="1">
                <a:solidFill>
                  <a:srgbClr val="102D40"/>
                </a:solidFill>
              </a:defRPr>
            </a:lvl5pPr>
            <a:lvl6pPr>
              <a:defRPr sz="2325" b="1">
                <a:solidFill>
                  <a:srgbClr val="102D40"/>
                </a:solidFill>
              </a:defRPr>
            </a:lvl6pPr>
            <a:lvl7pPr>
              <a:defRPr sz="2325" b="1">
                <a:solidFill>
                  <a:srgbClr val="102D40"/>
                </a:solidFill>
              </a:defRPr>
            </a:lvl7pPr>
            <a:lvl8pPr>
              <a:defRPr sz="2325" b="1">
                <a:solidFill>
                  <a:srgbClr val="102D40"/>
                </a:solidFill>
              </a:defRPr>
            </a:lvl8pPr>
            <a:lvl9pPr>
              <a:defRPr sz="2325" b="1">
                <a:solidFill>
                  <a:srgbClr val="102D40"/>
                </a:solidFill>
              </a:defRPr>
            </a:lvl9pPr>
          </a:lstStyle>
          <a:p>
            <a:pPr>
              <a:defRPr sz="2325" b="1">
                <a:solidFill>
                  <a:srgbClr val="102D40"/>
                </a:solidFill>
              </a:defRPr>
            </a:pPr>
            <a:r>
              <a:rPr sz="2325" b="1">
                <a:solidFill>
                  <a:srgbClr val="102D40"/>
                </a:solidFill>
              </a:rPr>
              <a:t>Inglés: “The patient has a cardiac arrhythmia.”</a:t>
            </a:r>
          </a:p>
        </p:txBody>
      </p:sp>
      <p:sp>
        <p:nvSpPr>
          <p:cNvPr id="7" name="Rectángulo 6">
            <a:extLst>
              <a:ext uri="{FF2B5EF4-FFF2-40B4-BE49-F238E27FC236}">
                <a16:creationId xmlns:a16="http://schemas.microsoft.com/office/drawing/2014/main" id="{21914A07-66DE-4962-A2C6-089A83AA68A5}"/>
              </a:ext>
            </a:extLst>
          </p:cNvPr>
          <p:cNvSpPr>
            <a:spLocks noGrp="1"/>
          </p:cNvSpPr>
          <p:nvPr/>
        </p:nvSpPr>
        <p:spPr>
          <a:xfrm>
            <a:off x="609600" y="2857500"/>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Par positivo</a:t>
            </a:r>
          </a:p>
        </p:txBody>
      </p:sp>
      <p:sp>
        <p:nvSpPr>
          <p:cNvPr id="8" name="Rectángulo 7">
            <a:extLst>
              <a:ext uri="{FF2B5EF4-FFF2-40B4-BE49-F238E27FC236}">
                <a16:creationId xmlns:a16="http://schemas.microsoft.com/office/drawing/2014/main" id="{C25EE337-1ACA-4DC6-89AA-21E449EBA2BA}"/>
              </a:ext>
            </a:extLst>
          </p:cNvPr>
          <p:cNvSpPr>
            <a:spLocks noGrp="1"/>
          </p:cNvSpPr>
          <p:nvPr/>
        </p:nvSpPr>
        <p:spPr>
          <a:xfrm>
            <a:off x="609600" y="3257550"/>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Español: «El paciente tiene una arritmia cardíaca».</a:t>
            </a:r>
          </a:p>
        </p:txBody>
      </p:sp>
      <p:sp>
        <p:nvSpPr>
          <p:cNvPr id="9" name="Rectángulo 8">
            <a:extLst>
              <a:ext uri="{FF2B5EF4-FFF2-40B4-BE49-F238E27FC236}">
                <a16:creationId xmlns:a16="http://schemas.microsoft.com/office/drawing/2014/main" id="{A8221CCF-68CF-42D4-8315-E5ADC974A415}"/>
              </a:ext>
            </a:extLst>
          </p:cNvPr>
          <p:cNvSpPr>
            <a:spLocks noGrp="1"/>
          </p:cNvSpPr>
          <p:nvPr/>
        </p:nvSpPr>
        <p:spPr>
          <a:xfrm>
            <a:off x="609600" y="4095750"/>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Negativo del lote</a:t>
            </a:r>
          </a:p>
        </p:txBody>
      </p:sp>
      <p:sp>
        <p:nvSpPr>
          <p:cNvPr id="10" name="Rectángulo 9">
            <a:extLst>
              <a:ext uri="{FF2B5EF4-FFF2-40B4-BE49-F238E27FC236}">
                <a16:creationId xmlns:a16="http://schemas.microsoft.com/office/drawing/2014/main" id="{78F6C73A-758E-46C5-AA29-DA44C7D51D2F}"/>
              </a:ext>
            </a:extLst>
          </p:cNvPr>
          <p:cNvSpPr>
            <a:spLocks noGrp="1"/>
          </p:cNvSpPr>
          <p:nvPr/>
        </p:nvSpPr>
        <p:spPr>
          <a:xfrm>
            <a:off x="609600" y="4495800"/>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Otro texto: «La fractura requiere inmovilización».</a:t>
            </a:r>
          </a:p>
        </p:txBody>
      </p:sp>
      <p:sp>
        <p:nvSpPr>
          <p:cNvPr id="11" name="Rectángulo 10">
            <a:extLst>
              <a:ext uri="{FF2B5EF4-FFF2-40B4-BE49-F238E27FC236}">
                <a16:creationId xmlns:a16="http://schemas.microsoft.com/office/drawing/2014/main" id="{2705FE5D-9FB5-470C-B034-78F3197B990E}"/>
              </a:ext>
            </a:extLst>
          </p:cNvPr>
          <p:cNvSpPr>
            <a:spLocks noGrp="1"/>
          </p:cNvSpPr>
          <p:nvPr/>
        </p:nvSpPr>
        <p:spPr>
          <a:xfrm>
            <a:off x="609600" y="5391150"/>
            <a:ext cx="10858500" cy="695325"/>
          </a:xfrm>
          <a:prstGeom prst="rect">
            <a:avLst/>
          </a:prstGeom>
          <a:noFill/>
          <a:ln w="0">
            <a:noFill/>
          </a:ln>
        </p:spPr>
        <p:txBody>
          <a:bodyPr/>
          <a:lstStyle>
            <a:defPPr>
              <a:defRPr sz="2025" b="1">
                <a:solidFill>
                  <a:srgbClr val="087F8C"/>
                </a:solidFill>
              </a:defRPr>
            </a:defPPr>
            <a:lvl1pPr>
              <a:defRPr sz="2025" b="1">
                <a:solidFill>
                  <a:srgbClr val="087F8C"/>
                </a:solidFill>
              </a:defRPr>
            </a:lvl1pPr>
            <a:lvl2pPr>
              <a:defRPr sz="2025" b="1">
                <a:solidFill>
                  <a:srgbClr val="087F8C"/>
                </a:solidFill>
              </a:defRPr>
            </a:lvl2pPr>
            <a:lvl3pPr>
              <a:defRPr sz="2025" b="1">
                <a:solidFill>
                  <a:srgbClr val="087F8C"/>
                </a:solidFill>
              </a:defRPr>
            </a:lvl3pPr>
            <a:lvl4pPr>
              <a:defRPr sz="2025" b="1">
                <a:solidFill>
                  <a:srgbClr val="087F8C"/>
                </a:solidFill>
              </a:defRPr>
            </a:lvl4pPr>
            <a:lvl5pPr>
              <a:defRPr sz="2025" b="1">
                <a:solidFill>
                  <a:srgbClr val="087F8C"/>
                </a:solidFill>
              </a:defRPr>
            </a:lvl5pPr>
            <a:lvl6pPr>
              <a:defRPr sz="2025" b="1">
                <a:solidFill>
                  <a:srgbClr val="087F8C"/>
                </a:solidFill>
              </a:defRPr>
            </a:lvl6pPr>
            <a:lvl7pPr>
              <a:defRPr sz="2025" b="1">
                <a:solidFill>
                  <a:srgbClr val="087F8C"/>
                </a:solidFill>
              </a:defRPr>
            </a:lvl7pPr>
            <a:lvl8pPr>
              <a:defRPr sz="2025" b="1">
                <a:solidFill>
                  <a:srgbClr val="087F8C"/>
                </a:solidFill>
              </a:defRPr>
            </a:lvl8pPr>
            <a:lvl9pPr>
              <a:defRPr sz="2025" b="1">
                <a:solidFill>
                  <a:srgbClr val="087F8C"/>
                </a:solidFill>
              </a:defRPr>
            </a:lvl9pPr>
          </a:lstStyle>
          <a:p>
            <a:pPr>
              <a:defRPr sz="2025" b="1">
                <a:solidFill>
                  <a:srgbClr val="087F8C"/>
                </a:solidFill>
              </a:defRPr>
            </a:pPr>
            <a:r>
              <a:rPr sz="2025" b="1">
                <a:solidFill>
                  <a:srgbClr val="087F8C"/>
                </a:solidFill>
              </a:rPr>
              <a:t>MNRL prioriza el par correcto frente a otros pares.</a:t>
            </a:r>
          </a:p>
          <a:p>
            <a:pPr>
              <a:defRPr sz="2025" b="1">
                <a:solidFill>
                  <a:srgbClr val="087F8C"/>
                </a:solidFill>
              </a:defRPr>
            </a:pPr>
            <a:r>
              <a:rPr sz="2025" b="1">
                <a:solidFill>
                  <a:srgbClr val="087F8C"/>
                </a:solidFill>
              </a:rPr>
              <a:t>MSE busca cercanía numérica entre representaciones.</a:t>
            </a:r>
          </a:p>
        </p:txBody>
      </p:sp>
    </p:spTree>
    <p:extLst>
      <p:ext uri="{BB962C8B-B14F-4D97-AF65-F5344CB8AC3E}">
        <p14:creationId xmlns:p14="http://schemas.microsoft.com/office/powerpoint/2010/main" val="1076472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8A37AC14-72D9-424C-BCAC-8795C0C30C84}"/>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EECB21C0-D9F2-4D07-85B2-193736AFA711}"/>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Evaluación: qué se compara</a:t>
            </a:r>
          </a:p>
        </p:txBody>
      </p:sp>
      <p:sp>
        <p:nvSpPr>
          <p:cNvPr id="4" name="Rectángulo 3">
            <a:extLst>
              <a:ext uri="{FF2B5EF4-FFF2-40B4-BE49-F238E27FC236}">
                <a16:creationId xmlns:a16="http://schemas.microsoft.com/office/drawing/2014/main" id="{26BD772F-F51A-4C8F-94F1-D1297EC66317}"/>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§3.4, tabla 3 y figura 5</a:t>
            </a:r>
          </a:p>
        </p:txBody>
      </p:sp>
      <p:sp>
        <p:nvSpPr>
          <p:cNvPr id="5" name="Rectángulo 4">
            <a:extLst>
              <a:ext uri="{FF2B5EF4-FFF2-40B4-BE49-F238E27FC236}">
                <a16:creationId xmlns:a16="http://schemas.microsoft.com/office/drawing/2014/main" id="{473BB277-4FC7-4CD3-8B97-C728F90843F1}"/>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08</a:t>
            </a:r>
          </a:p>
        </p:txBody>
      </p:sp>
      <p:graphicFrame>
        <p:nvGraphicFramePr>
          <p:cNvPr id="6" name="Tabla 5">
            <a:extLst>
              <a:ext uri="{FF2B5EF4-FFF2-40B4-BE49-F238E27FC236}">
                <a16:creationId xmlns:a16="http://schemas.microsoft.com/office/drawing/2014/main" id="{43A3DB12-0A94-46FA-86F7-D7008266C7EE}"/>
              </a:ext>
            </a:extLst>
          </p:cNvPr>
          <p:cNvGraphicFramePr/>
          <p:nvPr/>
        </p:nvGraphicFramePr>
        <p:xfrm>
          <a:off x="609600" y="1885950"/>
          <a:ext cx="10953750" cy="2647950"/>
        </p:xfrm>
        <a:graphic>
          <a:graphicData uri="http://schemas.openxmlformats.org/drawingml/2006/table">
            <a:tbl>
              <a:tblPr/>
              <a:tblGrid>
                <a:gridCol w="304800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529590">
                <a:tc>
                  <a:txBody>
                    <a:bodyPr/>
                    <a:lstStyle/>
                    <a:p>
                      <a:r>
                        <a:rPr sz="1875" b="1">
                          <a:solidFill>
                            <a:srgbClr val="FFFFFF"/>
                          </a:solidFill>
                        </a:rPr>
                        <a:t>Configuración</a:t>
                      </a:r>
                    </a:p>
                  </a:txBody>
                  <a:tcPr>
                    <a:lnL w="9525">
                      <a:solidFill>
                        <a:srgbClr val="D4DFE5"/>
                      </a:solidFill>
                      <a:prstDash val="soli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tc>
                  <a:txBody>
                    <a:bodyPr/>
                    <a:lstStyle/>
                    <a:p>
                      <a:r>
                        <a:rPr sz="1875" b="1">
                          <a:solidFill>
                            <a:srgbClr val="FFFFFF"/>
                          </a:solidFill>
                        </a:rPr>
                        <a:t>Profesor del estudiante mBERT</a:t>
                      </a:r>
                    </a:p>
                  </a:txBody>
                  <a:tcPr>
                    <a:lnL w="9525" cap="flat" cmpd="sng" algn="ctr">
                      <a:solidFill>
                        <a:srgbClr val="D4DFE5"/>
                      </a:solidFill>
                      <a:prstDash val="solid"/>
                      <a:round/>
                      <a:headEnd type="none" w="med" len="med"/>
                      <a:tailEnd type="none" w="med" len="me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extLst>
                  <a:ext uri="{0D108BD9-81ED-4DB2-BD59-A6C34878D82A}">
                    <a16:rowId xmlns:a16="http://schemas.microsoft.com/office/drawing/2014/main" val="10000"/>
                  </a:ext>
                </a:extLst>
              </a:tr>
              <a:tr h="529590">
                <a:tc>
                  <a:txBody>
                    <a:bodyPr/>
                    <a:lstStyle/>
                    <a:p>
                      <a:r>
                        <a:rPr sz="1875" b="0">
                          <a:solidFill>
                            <a:srgbClr val="16384A"/>
                          </a:solidFill>
                        </a:rPr>
                        <a:t>noKD</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Sin destilación: ajuste directo</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1"/>
                  </a:ext>
                </a:extLst>
              </a:tr>
              <a:tr h="529590">
                <a:tc>
                  <a:txBody>
                    <a:bodyPr/>
                    <a:lstStyle/>
                    <a:p>
                      <a:r>
                        <a:rPr sz="1875" b="0">
                          <a:solidFill>
                            <a:srgbClr val="16384A"/>
                          </a:solidFill>
                        </a:rPr>
                        <a:t>Bp</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BioBERT preentrenado en biomedicina</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2"/>
                  </a:ext>
                </a:extLst>
              </a:tr>
              <a:tr h="529590">
                <a:tc>
                  <a:txBody>
                    <a:bodyPr/>
                    <a:lstStyle/>
                    <a:p>
                      <a:r>
                        <a:rPr sz="1875" b="0">
                          <a:solidFill>
                            <a:srgbClr val="16384A"/>
                          </a:solidFill>
                        </a:rPr>
                        <a:t>Bft</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75" b="0">
                          <a:solidFill>
                            <a:srgbClr val="16384A"/>
                          </a:solidFill>
                        </a:rPr>
                        <a:t>BioBERT ajustado a la tarea en inglés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3"/>
                  </a:ext>
                </a:extLst>
              </a:tr>
              <a:tr h="529590">
                <a:tc>
                  <a:txBody>
                    <a:bodyPr/>
                    <a:lstStyle/>
                    <a:p>
                      <a:r>
                        <a:rPr sz="1875" b="0">
                          <a:solidFill>
                            <a:srgbClr val="16384A"/>
                          </a:solidFill>
                        </a:rPr>
                        <a:t>mBft</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75" b="0">
                          <a:solidFill>
                            <a:srgbClr val="16384A"/>
                          </a:solidFill>
                        </a:rPr>
                        <a:t>mBERT ajustado a la tarea en inglés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4"/>
                  </a:ext>
                </a:extLst>
              </a:tr>
            </a:tbl>
          </a:graphicData>
        </a:graphic>
      </p:graphicFrame>
      <p:sp>
        <p:nvSpPr>
          <p:cNvPr id="7" name="Rectángulo 6">
            <a:extLst>
              <a:ext uri="{FF2B5EF4-FFF2-40B4-BE49-F238E27FC236}">
                <a16:creationId xmlns:a16="http://schemas.microsoft.com/office/drawing/2014/main" id="{F926F166-5766-48F7-A731-9F2CCC919268}"/>
              </a:ext>
            </a:extLst>
          </p:cNvPr>
          <p:cNvSpPr>
            <a:spLocks noGrp="1"/>
          </p:cNvSpPr>
          <p:nvPr/>
        </p:nvSpPr>
        <p:spPr>
          <a:xfrm>
            <a:off x="609600" y="4905375"/>
            <a:ext cx="10858500" cy="571500"/>
          </a:xfrm>
          <a:prstGeom prst="rect">
            <a:avLst/>
          </a:prstGeom>
          <a:noFill/>
          <a:ln w="0">
            <a:noFill/>
          </a:ln>
        </p:spPr>
        <p:txBody>
          <a:bodyPr/>
          <a:lstStyle>
            <a:defPPr>
              <a:defRPr sz="2100" b="1">
                <a:solidFill>
                  <a:srgbClr val="087F8C"/>
                </a:solidFill>
              </a:defRPr>
            </a:defPPr>
            <a:lvl1pPr>
              <a:defRPr sz="2100" b="1">
                <a:solidFill>
                  <a:srgbClr val="087F8C"/>
                </a:solidFill>
              </a:defRPr>
            </a:lvl1pPr>
            <a:lvl2pPr>
              <a:defRPr sz="2100" b="1">
                <a:solidFill>
                  <a:srgbClr val="087F8C"/>
                </a:solidFill>
              </a:defRPr>
            </a:lvl2pPr>
            <a:lvl3pPr>
              <a:defRPr sz="2100" b="1">
                <a:solidFill>
                  <a:srgbClr val="087F8C"/>
                </a:solidFill>
              </a:defRPr>
            </a:lvl3pPr>
            <a:lvl4pPr>
              <a:defRPr sz="2100" b="1">
                <a:solidFill>
                  <a:srgbClr val="087F8C"/>
                </a:solidFill>
              </a:defRPr>
            </a:lvl4pPr>
            <a:lvl5pPr>
              <a:defRPr sz="2100" b="1">
                <a:solidFill>
                  <a:srgbClr val="087F8C"/>
                </a:solidFill>
              </a:defRPr>
            </a:lvl5pPr>
            <a:lvl6pPr>
              <a:defRPr sz="2100" b="1">
                <a:solidFill>
                  <a:srgbClr val="087F8C"/>
                </a:solidFill>
              </a:defRPr>
            </a:lvl6pPr>
            <a:lvl7pPr>
              <a:defRPr sz="2100" b="1">
                <a:solidFill>
                  <a:srgbClr val="087F8C"/>
                </a:solidFill>
              </a:defRPr>
            </a:lvl7pPr>
            <a:lvl8pPr>
              <a:defRPr sz="2100" b="1">
                <a:solidFill>
                  <a:srgbClr val="087F8C"/>
                </a:solidFill>
              </a:defRPr>
            </a:lvl8pPr>
            <a:lvl9pPr>
              <a:defRPr sz="2100" b="1">
                <a:solidFill>
                  <a:srgbClr val="087F8C"/>
                </a:solidFill>
              </a:defRPr>
            </a:lvl9pPr>
          </a:lstStyle>
          <a:p>
            <a:pPr>
              <a:defRPr sz="2100" b="1">
                <a:solidFill>
                  <a:srgbClr val="087F8C"/>
                </a:solidFill>
              </a:defRPr>
            </a:pPr>
            <a:r>
              <a:rPr sz="2100" b="1">
                <a:solidFill>
                  <a:srgbClr val="087F8C"/>
                </a:solidFill>
              </a:rPr>
              <a:t>3 lenguas destino × 4 tamaños de ajuste: 10 %, 25 %, 50 % y 100 %</a:t>
            </a:r>
          </a:p>
        </p:txBody>
      </p:sp>
      <p:sp>
        <p:nvSpPr>
          <p:cNvPr id="8" name="Rectángulo 7">
            <a:extLst>
              <a:ext uri="{FF2B5EF4-FFF2-40B4-BE49-F238E27FC236}">
                <a16:creationId xmlns:a16="http://schemas.microsoft.com/office/drawing/2014/main" id="{13C0452D-7E28-4183-B3F6-DF8808ADA73D}"/>
              </a:ext>
            </a:extLst>
          </p:cNvPr>
          <p:cNvSpPr>
            <a:spLocks noGrp="1"/>
          </p:cNvSpPr>
          <p:nvPr/>
        </p:nvSpPr>
        <p:spPr>
          <a:xfrm>
            <a:off x="609600" y="5638800"/>
            <a:ext cx="10810875" cy="523875"/>
          </a:xfrm>
          <a:prstGeom prst="rect">
            <a:avLst/>
          </a:prstGeom>
          <a:noFill/>
          <a:ln w="0">
            <a:noFill/>
          </a:ln>
        </p:spPr>
        <p:txBody>
          <a:bodyPr/>
          <a:lstStyle>
            <a:defPPr>
              <a:defRPr sz="1800" b="0">
                <a:solidFill>
                  <a:srgbClr val="16384A"/>
                </a:solidFill>
              </a:defRPr>
            </a:defPPr>
            <a:lvl1pPr>
              <a:defRPr sz="1800" b="0">
                <a:solidFill>
                  <a:srgbClr val="16384A"/>
                </a:solidFill>
              </a:defRPr>
            </a:lvl1pPr>
            <a:lvl2pPr>
              <a:defRPr sz="1800" b="0">
                <a:solidFill>
                  <a:srgbClr val="16384A"/>
                </a:solidFill>
              </a:defRPr>
            </a:lvl2pPr>
            <a:lvl3pPr>
              <a:defRPr sz="1800" b="0">
                <a:solidFill>
                  <a:srgbClr val="16384A"/>
                </a:solidFill>
              </a:defRPr>
            </a:lvl3pPr>
            <a:lvl4pPr>
              <a:defRPr sz="1800" b="0">
                <a:solidFill>
                  <a:srgbClr val="16384A"/>
                </a:solidFill>
              </a:defRPr>
            </a:lvl4pPr>
            <a:lvl5pPr>
              <a:defRPr sz="1800" b="0">
                <a:solidFill>
                  <a:srgbClr val="16384A"/>
                </a:solidFill>
              </a:defRPr>
            </a:lvl5pPr>
            <a:lvl6pPr>
              <a:defRPr sz="1800" b="0">
                <a:solidFill>
                  <a:srgbClr val="16384A"/>
                </a:solidFill>
              </a:defRPr>
            </a:lvl6pPr>
            <a:lvl7pPr>
              <a:defRPr sz="1800" b="0">
                <a:solidFill>
                  <a:srgbClr val="16384A"/>
                </a:solidFill>
              </a:defRPr>
            </a:lvl7pPr>
            <a:lvl8pPr>
              <a:defRPr sz="1800" b="0">
                <a:solidFill>
                  <a:srgbClr val="16384A"/>
                </a:solidFill>
              </a:defRPr>
            </a:lvl8pPr>
            <a:lvl9pPr>
              <a:defRPr sz="1800" b="0">
                <a:solidFill>
                  <a:srgbClr val="16384A"/>
                </a:solidFill>
              </a:defRPr>
            </a:lvl9pPr>
          </a:lstStyle>
          <a:p>
            <a:pPr>
              <a:defRPr sz="1800" b="0">
                <a:solidFill>
                  <a:srgbClr val="16384A"/>
                </a:solidFill>
              </a:defRPr>
            </a:pPr>
            <a:r>
              <a:rPr sz="1800" b="0">
                <a:solidFill>
                  <a:srgbClr val="16384A"/>
                </a:solidFill>
              </a:rPr>
              <a:t>Métrica: F1. El artículo no precisa claramente su forma de agregación.</a:t>
            </a:r>
          </a:p>
        </p:txBody>
      </p:sp>
    </p:spTree>
    <p:extLst>
      <p:ext uri="{BB962C8B-B14F-4D97-AF65-F5344CB8AC3E}">
        <p14:creationId xmlns:p14="http://schemas.microsoft.com/office/powerpoint/2010/main" val="1705755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0DE360ED-AE5B-498C-87AB-E9DB3F319F88}"/>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24784559-05F2-4835-A87C-7B3AAA481ECF}"/>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La ventaja disminuye cuando hay más datos</a:t>
            </a:r>
          </a:p>
        </p:txBody>
      </p:sp>
      <p:sp>
        <p:nvSpPr>
          <p:cNvPr id="4" name="Rectángulo 3">
            <a:extLst>
              <a:ext uri="{FF2B5EF4-FFF2-40B4-BE49-F238E27FC236}">
                <a16:creationId xmlns:a16="http://schemas.microsoft.com/office/drawing/2014/main" id="{91FD8BF4-BB7A-4A03-8678-C6A067BAC1E0}"/>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tabla 3. Gráfico reconstruido con valores publicados</a:t>
            </a:r>
          </a:p>
        </p:txBody>
      </p:sp>
      <p:sp>
        <p:nvSpPr>
          <p:cNvPr id="5" name="Rectángulo 4">
            <a:extLst>
              <a:ext uri="{FF2B5EF4-FFF2-40B4-BE49-F238E27FC236}">
                <a16:creationId xmlns:a16="http://schemas.microsoft.com/office/drawing/2014/main" id="{F7C30839-7322-4020-A3A8-B0EB8A57001B}"/>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09</a:t>
            </a:r>
          </a:p>
        </p:txBody>
      </p:sp>
      <p:graphicFrame>
        <p:nvGraphicFramePr>
          <p:cNvPr id="6" name="Chart">
            <a:extLst>
              <a:ext uri="{FF2B5EF4-FFF2-40B4-BE49-F238E27FC236}">
                <a16:creationId xmlns:a16="http://schemas.microsoft.com/office/drawing/2014/main" id="{136682F8-B3B3-4E60-A76C-3DBAD2C409DB}"/>
              </a:ext>
            </a:extLst>
          </p:cNvPr>
          <p:cNvGraphicFramePr/>
          <p:nvPr/>
        </p:nvGraphicFramePr>
        <p:xfrm>
          <a:off x="609600" y="1924050"/>
          <a:ext cx="7143750" cy="3905250"/>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ángulo 6">
            <a:extLst>
              <a:ext uri="{FF2B5EF4-FFF2-40B4-BE49-F238E27FC236}">
                <a16:creationId xmlns:a16="http://schemas.microsoft.com/office/drawing/2014/main" id="{3047425B-8AE7-4F31-B74F-A8EB7CAFAC0B}"/>
              </a:ext>
            </a:extLst>
          </p:cNvPr>
          <p:cNvSpPr>
            <a:spLocks noGrp="1"/>
          </p:cNvSpPr>
          <p:nvPr/>
        </p:nvSpPr>
        <p:spPr>
          <a:xfrm>
            <a:off x="8153400" y="2057400"/>
            <a:ext cx="3333750" cy="333375"/>
          </a:xfrm>
          <a:prstGeom prst="rect">
            <a:avLst/>
          </a:prstGeom>
          <a:noFill/>
          <a:ln w="0">
            <a:noFill/>
          </a:ln>
        </p:spPr>
        <p:txBody>
          <a:bodyPr/>
          <a:lstStyle>
            <a:defPPr>
              <a:defRPr sz="1500" b="1">
                <a:solidFill>
                  <a:srgbClr val="087F8C"/>
                </a:solidFill>
              </a:defRPr>
            </a:defPPr>
            <a:lvl1pPr>
              <a:defRPr sz="1500" b="1">
                <a:solidFill>
                  <a:srgbClr val="087F8C"/>
                </a:solidFill>
              </a:defRPr>
            </a:lvl1pPr>
            <a:lvl2pPr>
              <a:defRPr sz="1500" b="1">
                <a:solidFill>
                  <a:srgbClr val="087F8C"/>
                </a:solidFill>
              </a:defRPr>
            </a:lvl2pPr>
            <a:lvl3pPr>
              <a:defRPr sz="1500" b="1">
                <a:solidFill>
                  <a:srgbClr val="087F8C"/>
                </a:solidFill>
              </a:defRPr>
            </a:lvl3pPr>
            <a:lvl4pPr>
              <a:defRPr sz="1500" b="1">
                <a:solidFill>
                  <a:srgbClr val="087F8C"/>
                </a:solidFill>
              </a:defRPr>
            </a:lvl4pPr>
            <a:lvl5pPr>
              <a:defRPr sz="1500" b="1">
                <a:solidFill>
                  <a:srgbClr val="087F8C"/>
                </a:solidFill>
              </a:defRPr>
            </a:lvl5pPr>
            <a:lvl6pPr>
              <a:defRPr sz="1500" b="1">
                <a:solidFill>
                  <a:srgbClr val="087F8C"/>
                </a:solidFill>
              </a:defRPr>
            </a:lvl6pPr>
            <a:lvl7pPr>
              <a:defRPr sz="1500" b="1">
                <a:solidFill>
                  <a:srgbClr val="087F8C"/>
                </a:solidFill>
              </a:defRPr>
            </a:lvl7pPr>
            <a:lvl8pPr>
              <a:defRPr sz="1500" b="1">
                <a:solidFill>
                  <a:srgbClr val="087F8C"/>
                </a:solidFill>
              </a:defRPr>
            </a:lvl8pPr>
            <a:lvl9pPr>
              <a:defRPr sz="1500" b="1">
                <a:solidFill>
                  <a:srgbClr val="087F8C"/>
                </a:solidFill>
              </a:defRPr>
            </a:lvl9pPr>
          </a:lstStyle>
          <a:p>
            <a:pPr>
              <a:defRPr sz="1500" b="1">
                <a:solidFill>
                  <a:srgbClr val="087F8C"/>
                </a:solidFill>
              </a:defRPr>
            </a:pPr>
            <a:r>
              <a:rPr sz="1500" b="1">
                <a:solidFill>
                  <a:srgbClr val="087F8C"/>
                </a:solidFill>
              </a:rPr>
              <a:t>ESPAÑOL</a:t>
            </a:r>
          </a:p>
        </p:txBody>
      </p:sp>
      <p:sp>
        <p:nvSpPr>
          <p:cNvPr id="8" name="Rectángulo 7">
            <a:extLst>
              <a:ext uri="{FF2B5EF4-FFF2-40B4-BE49-F238E27FC236}">
                <a16:creationId xmlns:a16="http://schemas.microsoft.com/office/drawing/2014/main" id="{07E809E1-0C21-4401-9F8B-33AA5B04FFD3}"/>
              </a:ext>
            </a:extLst>
          </p:cNvPr>
          <p:cNvSpPr>
            <a:spLocks noGrp="1"/>
          </p:cNvSpPr>
          <p:nvPr/>
        </p:nvSpPr>
        <p:spPr>
          <a:xfrm>
            <a:off x="8153400" y="2571750"/>
            <a:ext cx="3333750" cy="695325"/>
          </a:xfrm>
          <a:prstGeom prst="rect">
            <a:avLst/>
          </a:prstGeom>
          <a:noFill/>
          <a:ln w="0">
            <a:noFill/>
          </a:ln>
        </p:spPr>
        <p:txBody>
          <a:bodyPr/>
          <a:lstStyle>
            <a:defPPr>
              <a:defRPr sz="4200" b="1">
                <a:solidFill>
                  <a:srgbClr val="087F8C"/>
                </a:solidFill>
              </a:defRPr>
            </a:defPPr>
            <a:lvl1pPr>
              <a:defRPr sz="4200" b="1">
                <a:solidFill>
                  <a:srgbClr val="087F8C"/>
                </a:solidFill>
              </a:defRPr>
            </a:lvl1pPr>
            <a:lvl2pPr>
              <a:defRPr sz="4200" b="1">
                <a:solidFill>
                  <a:srgbClr val="087F8C"/>
                </a:solidFill>
              </a:defRPr>
            </a:lvl2pPr>
            <a:lvl3pPr>
              <a:defRPr sz="4200" b="1">
                <a:solidFill>
                  <a:srgbClr val="087F8C"/>
                </a:solidFill>
              </a:defRPr>
            </a:lvl3pPr>
            <a:lvl4pPr>
              <a:defRPr sz="4200" b="1">
                <a:solidFill>
                  <a:srgbClr val="087F8C"/>
                </a:solidFill>
              </a:defRPr>
            </a:lvl4pPr>
            <a:lvl5pPr>
              <a:defRPr sz="4200" b="1">
                <a:solidFill>
                  <a:srgbClr val="087F8C"/>
                </a:solidFill>
              </a:defRPr>
            </a:lvl5pPr>
            <a:lvl6pPr>
              <a:defRPr sz="4200" b="1">
                <a:solidFill>
                  <a:srgbClr val="087F8C"/>
                </a:solidFill>
              </a:defRPr>
            </a:lvl6pPr>
            <a:lvl7pPr>
              <a:defRPr sz="4200" b="1">
                <a:solidFill>
                  <a:srgbClr val="087F8C"/>
                </a:solidFill>
              </a:defRPr>
            </a:lvl7pPr>
            <a:lvl8pPr>
              <a:defRPr sz="4200" b="1">
                <a:solidFill>
                  <a:srgbClr val="087F8C"/>
                </a:solidFill>
              </a:defRPr>
            </a:lvl8pPr>
            <a:lvl9pPr>
              <a:defRPr sz="4200" b="1">
                <a:solidFill>
                  <a:srgbClr val="087F8C"/>
                </a:solidFill>
              </a:defRPr>
            </a:lvl9pPr>
          </a:lstStyle>
          <a:p>
            <a:pPr>
              <a:defRPr sz="4200" b="1">
                <a:solidFill>
                  <a:srgbClr val="087F8C"/>
                </a:solidFill>
              </a:defRPr>
            </a:pPr>
            <a:r>
              <a:rPr sz="4200" b="1">
                <a:solidFill>
                  <a:srgbClr val="087F8C"/>
                </a:solidFill>
              </a:rPr>
              <a:t>+4,65</a:t>
            </a:r>
          </a:p>
        </p:txBody>
      </p:sp>
      <p:sp>
        <p:nvSpPr>
          <p:cNvPr id="9" name="Rectángulo 8">
            <a:extLst>
              <a:ext uri="{FF2B5EF4-FFF2-40B4-BE49-F238E27FC236}">
                <a16:creationId xmlns:a16="http://schemas.microsoft.com/office/drawing/2014/main" id="{7A34508D-AD54-4CC0-A702-5691BAB173C0}"/>
              </a:ext>
            </a:extLst>
          </p:cNvPr>
          <p:cNvSpPr>
            <a:spLocks noGrp="1"/>
          </p:cNvSpPr>
          <p:nvPr/>
        </p:nvSpPr>
        <p:spPr>
          <a:xfrm>
            <a:off x="8153400" y="3333750"/>
            <a:ext cx="3333750" cy="78105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puntos de F1 con</a:t>
            </a:r>
          </a:p>
          <a:p>
            <a:pPr>
              <a:defRPr sz="2025" b="0">
                <a:solidFill>
                  <a:srgbClr val="16384A"/>
                </a:solidFill>
              </a:defRPr>
            </a:pPr>
            <a:r>
              <a:rPr sz="2025" b="0">
                <a:solidFill>
                  <a:srgbClr val="16384A"/>
                </a:solidFill>
              </a:rPr>
              <a:t>10 % de los datos</a:t>
            </a:r>
          </a:p>
        </p:txBody>
      </p:sp>
      <p:sp>
        <p:nvSpPr>
          <p:cNvPr id="10" name="Rectángulo 9">
            <a:extLst>
              <a:ext uri="{FF2B5EF4-FFF2-40B4-BE49-F238E27FC236}">
                <a16:creationId xmlns:a16="http://schemas.microsoft.com/office/drawing/2014/main" id="{1D83A2FE-C1D3-4305-9F40-846360F585D7}"/>
              </a:ext>
            </a:extLst>
          </p:cNvPr>
          <p:cNvSpPr>
            <a:spLocks noGrp="1"/>
          </p:cNvSpPr>
          <p:nvPr/>
        </p:nvSpPr>
        <p:spPr>
          <a:xfrm>
            <a:off x="8153400" y="4419600"/>
            <a:ext cx="3333750" cy="619125"/>
          </a:xfrm>
          <a:prstGeom prst="rect">
            <a:avLst/>
          </a:prstGeom>
          <a:noFill/>
          <a:ln w="0">
            <a:noFill/>
          </a:ln>
        </p:spPr>
        <p:txBody>
          <a:bodyPr/>
          <a:lstStyle>
            <a:defPPr>
              <a:defRPr sz="3450" b="1">
                <a:solidFill>
                  <a:srgbClr val="AE3B3B"/>
                </a:solidFill>
              </a:defRPr>
            </a:defPPr>
            <a:lvl1pPr>
              <a:defRPr sz="3450" b="1">
                <a:solidFill>
                  <a:srgbClr val="AE3B3B"/>
                </a:solidFill>
              </a:defRPr>
            </a:lvl1pPr>
            <a:lvl2pPr>
              <a:defRPr sz="3450" b="1">
                <a:solidFill>
                  <a:srgbClr val="AE3B3B"/>
                </a:solidFill>
              </a:defRPr>
            </a:lvl2pPr>
            <a:lvl3pPr>
              <a:defRPr sz="3450" b="1">
                <a:solidFill>
                  <a:srgbClr val="AE3B3B"/>
                </a:solidFill>
              </a:defRPr>
            </a:lvl3pPr>
            <a:lvl4pPr>
              <a:defRPr sz="3450" b="1">
                <a:solidFill>
                  <a:srgbClr val="AE3B3B"/>
                </a:solidFill>
              </a:defRPr>
            </a:lvl4pPr>
            <a:lvl5pPr>
              <a:defRPr sz="3450" b="1">
                <a:solidFill>
                  <a:srgbClr val="AE3B3B"/>
                </a:solidFill>
              </a:defRPr>
            </a:lvl5pPr>
            <a:lvl6pPr>
              <a:defRPr sz="3450" b="1">
                <a:solidFill>
                  <a:srgbClr val="AE3B3B"/>
                </a:solidFill>
              </a:defRPr>
            </a:lvl6pPr>
            <a:lvl7pPr>
              <a:defRPr sz="3450" b="1">
                <a:solidFill>
                  <a:srgbClr val="AE3B3B"/>
                </a:solidFill>
              </a:defRPr>
            </a:lvl7pPr>
            <a:lvl8pPr>
              <a:defRPr sz="3450" b="1">
                <a:solidFill>
                  <a:srgbClr val="AE3B3B"/>
                </a:solidFill>
              </a:defRPr>
            </a:lvl8pPr>
            <a:lvl9pPr>
              <a:defRPr sz="3450" b="1">
                <a:solidFill>
                  <a:srgbClr val="AE3B3B"/>
                </a:solidFill>
              </a:defRPr>
            </a:lvl9pPr>
          </a:lstStyle>
          <a:p>
            <a:pPr>
              <a:defRPr sz="3450" b="1">
                <a:solidFill>
                  <a:srgbClr val="AE3B3B"/>
                </a:solidFill>
              </a:defRPr>
            </a:pPr>
            <a:r>
              <a:rPr sz="3450" b="1">
                <a:solidFill>
                  <a:srgbClr val="AE3B3B"/>
                </a:solidFill>
              </a:rPr>
              <a:t>−1,77</a:t>
            </a:r>
          </a:p>
        </p:txBody>
      </p:sp>
      <p:sp>
        <p:nvSpPr>
          <p:cNvPr id="11" name="Rectángulo 10">
            <a:extLst>
              <a:ext uri="{FF2B5EF4-FFF2-40B4-BE49-F238E27FC236}">
                <a16:creationId xmlns:a16="http://schemas.microsoft.com/office/drawing/2014/main" id="{15AEBAFC-8503-4D9E-A19F-CED8DBAF63F6}"/>
              </a:ext>
            </a:extLst>
          </p:cNvPr>
          <p:cNvSpPr>
            <a:spLocks noGrp="1"/>
          </p:cNvSpPr>
          <p:nvPr/>
        </p:nvSpPr>
        <p:spPr>
          <a:xfrm>
            <a:off x="8153400" y="5143500"/>
            <a:ext cx="3333750" cy="781050"/>
          </a:xfrm>
          <a:prstGeom prst="rect">
            <a:avLst/>
          </a:prstGeom>
          <a:noFill/>
          <a:ln w="0">
            <a:noFill/>
          </a:ln>
        </p:spPr>
        <p:txBody>
          <a:bodyPr/>
          <a:lstStyle>
            <a:defPPr>
              <a:defRPr sz="1875" b="0">
                <a:solidFill>
                  <a:srgbClr val="16384A"/>
                </a:solidFill>
              </a:defRPr>
            </a:defPPr>
            <a:lvl1pPr>
              <a:defRPr sz="1875" b="0">
                <a:solidFill>
                  <a:srgbClr val="16384A"/>
                </a:solidFill>
              </a:defRPr>
            </a:lvl1pPr>
            <a:lvl2pPr>
              <a:defRPr sz="1875" b="0">
                <a:solidFill>
                  <a:srgbClr val="16384A"/>
                </a:solidFill>
              </a:defRPr>
            </a:lvl2pPr>
            <a:lvl3pPr>
              <a:defRPr sz="1875" b="0">
                <a:solidFill>
                  <a:srgbClr val="16384A"/>
                </a:solidFill>
              </a:defRPr>
            </a:lvl3pPr>
            <a:lvl4pPr>
              <a:defRPr sz="1875" b="0">
                <a:solidFill>
                  <a:srgbClr val="16384A"/>
                </a:solidFill>
              </a:defRPr>
            </a:lvl4pPr>
            <a:lvl5pPr>
              <a:defRPr sz="1875" b="0">
                <a:solidFill>
                  <a:srgbClr val="16384A"/>
                </a:solidFill>
              </a:defRPr>
            </a:lvl5pPr>
            <a:lvl6pPr>
              <a:defRPr sz="1875" b="0">
                <a:solidFill>
                  <a:srgbClr val="16384A"/>
                </a:solidFill>
              </a:defRPr>
            </a:lvl6pPr>
            <a:lvl7pPr>
              <a:defRPr sz="1875" b="0">
                <a:solidFill>
                  <a:srgbClr val="16384A"/>
                </a:solidFill>
              </a:defRPr>
            </a:lvl7pPr>
            <a:lvl8pPr>
              <a:defRPr sz="1875" b="0">
                <a:solidFill>
                  <a:srgbClr val="16384A"/>
                </a:solidFill>
              </a:defRPr>
            </a:lvl8pPr>
            <a:lvl9pPr>
              <a:defRPr sz="1875" b="0">
                <a:solidFill>
                  <a:srgbClr val="16384A"/>
                </a:solidFill>
              </a:defRPr>
            </a:lvl9pPr>
          </a:lstStyle>
          <a:p>
            <a:pPr>
              <a:defRPr sz="1875" b="0">
                <a:solidFill>
                  <a:srgbClr val="16384A"/>
                </a:solidFill>
              </a:defRPr>
            </a:pPr>
            <a:r>
              <a:rPr sz="1875" b="0">
                <a:solidFill>
                  <a:srgbClr val="16384A"/>
                </a:solidFill>
              </a:rPr>
              <a:t>puntos con 100 %</a:t>
            </a:r>
          </a:p>
          <a:p>
            <a:pPr>
              <a:defRPr sz="1875" b="0">
                <a:solidFill>
                  <a:srgbClr val="16384A"/>
                </a:solidFill>
              </a:defRPr>
            </a:pPr>
            <a:r>
              <a:rPr sz="1875" b="0">
                <a:solidFill>
                  <a:srgbClr val="16384A"/>
                </a:solidFill>
              </a:rPr>
              <a:t>y el mismo profesor</a:t>
            </a:r>
          </a:p>
        </p:txBody>
      </p:sp>
    </p:spTree>
    <p:extLst>
      <p:ext uri="{BB962C8B-B14F-4D97-AF65-F5344CB8AC3E}">
        <p14:creationId xmlns:p14="http://schemas.microsoft.com/office/powerpoint/2010/main" val="848428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E3E738B7-AFCB-4C1F-85A3-E217DD9018EB}"/>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RESPALDO · REPRESENTACIONES</a:t>
            </a:r>
          </a:p>
        </p:txBody>
      </p:sp>
      <p:sp>
        <p:nvSpPr>
          <p:cNvPr id="3" name="Rectángulo 2">
            <a:extLst>
              <a:ext uri="{FF2B5EF4-FFF2-40B4-BE49-F238E27FC236}">
                <a16:creationId xmlns:a16="http://schemas.microsoft.com/office/drawing/2014/main" id="{56534335-7A1C-49EE-9F1D-C048248CD9D4}"/>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RSA: mayor parecido entre representaciones</a:t>
            </a:r>
          </a:p>
        </p:txBody>
      </p:sp>
      <p:sp>
        <p:nvSpPr>
          <p:cNvPr id="4" name="Rectángulo 3">
            <a:extLst>
              <a:ext uri="{FF2B5EF4-FFF2-40B4-BE49-F238E27FC236}">
                <a16:creationId xmlns:a16="http://schemas.microsoft.com/office/drawing/2014/main" id="{4EA717AE-A1CE-4EF9-A6AB-886EC339D1DB}"/>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Artículo, §3.4.1, §4.1 y figuras 6–7</a:t>
            </a:r>
          </a:p>
        </p:txBody>
      </p:sp>
      <p:sp>
        <p:nvSpPr>
          <p:cNvPr id="5" name="Rectángulo 4">
            <a:extLst>
              <a:ext uri="{FF2B5EF4-FFF2-40B4-BE49-F238E27FC236}">
                <a16:creationId xmlns:a16="http://schemas.microsoft.com/office/drawing/2014/main" id="{DFE92CF9-5D35-4D5F-9203-013C49487C3D}"/>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16</a:t>
            </a:r>
          </a:p>
        </p:txBody>
      </p:sp>
      <p:pic>
        <p:nvPicPr>
          <p:cNvPr id="6" name="Imagen 5">
            <a:extLst>
              <a:ext uri="{FF2B5EF4-FFF2-40B4-BE49-F238E27FC236}">
                <a16:creationId xmlns:a16="http://schemas.microsoft.com/office/drawing/2014/main" id="{E0FCDC1C-67A8-4EB2-9B34-75DA3FABAA2A}"/>
              </a:ext>
            </a:extLst>
          </p:cNvPr>
          <p:cNvPicPr>
            <a:picLocks noChangeAspect="1"/>
          </p:cNvPicPr>
          <p:nvPr/>
        </p:nvPicPr>
        <p:blipFill>
          <a:blip r:embed="rId3"/>
          <a:stretch/>
        </p:blipFill>
        <p:spPr>
          <a:xfrm>
            <a:off x="738868" y="1809750"/>
            <a:ext cx="10695214" cy="2857500"/>
          </a:xfrm>
          <a:prstGeom prst="rect">
            <a:avLst/>
          </a:prstGeom>
        </p:spPr>
      </p:pic>
      <p:sp>
        <p:nvSpPr>
          <p:cNvPr id="7" name="Rectángulo 6">
            <a:extLst>
              <a:ext uri="{FF2B5EF4-FFF2-40B4-BE49-F238E27FC236}">
                <a16:creationId xmlns:a16="http://schemas.microsoft.com/office/drawing/2014/main" id="{A7E9E18E-E934-4111-98CA-5E7E916375A9}"/>
              </a:ext>
            </a:extLst>
          </p:cNvPr>
          <p:cNvSpPr>
            <a:spLocks noGrp="1"/>
          </p:cNvSpPr>
          <p:nvPr/>
        </p:nvSpPr>
        <p:spPr>
          <a:xfrm>
            <a:off x="609600" y="4695825"/>
            <a:ext cx="10858500" cy="790575"/>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Procedimiento: similitudes entre ejemplos, matriz por modelo</a:t>
            </a:r>
          </a:p>
          <a:p>
            <a:pPr>
              <a:defRPr sz="2025" b="0">
                <a:solidFill>
                  <a:srgbClr val="16384A"/>
                </a:solidFill>
              </a:defRPr>
            </a:pPr>
            <a:r>
              <a:rPr sz="2025" b="0">
                <a:solidFill>
                  <a:srgbClr val="16384A"/>
                </a:solidFill>
              </a:rPr>
              <a:t>y correlación entre matrices de profesor y estudiante.</a:t>
            </a:r>
          </a:p>
        </p:txBody>
      </p:sp>
      <p:sp>
        <p:nvSpPr>
          <p:cNvPr id="8" name="Rectángulo 7">
            <a:extLst>
              <a:ext uri="{FF2B5EF4-FFF2-40B4-BE49-F238E27FC236}">
                <a16:creationId xmlns:a16="http://schemas.microsoft.com/office/drawing/2014/main" id="{85EE5A9F-3E7A-4ED4-A2DE-6A0C46234F71}"/>
              </a:ext>
            </a:extLst>
          </p:cNvPr>
          <p:cNvSpPr>
            <a:spLocks noGrp="1"/>
          </p:cNvSpPr>
          <p:nvPr/>
        </p:nvSpPr>
        <p:spPr>
          <a:xfrm>
            <a:off x="609600" y="5572125"/>
            <a:ext cx="10858500" cy="600075"/>
          </a:xfrm>
          <a:prstGeom prst="rect">
            <a:avLst/>
          </a:prstGeom>
          <a:noFill/>
          <a:ln w="0">
            <a:noFill/>
          </a:ln>
        </p:spPr>
        <p:txBody>
          <a:bodyPr/>
          <a:lstStyle>
            <a:defPPr>
              <a:defRPr sz="1800" b="1">
                <a:solidFill>
                  <a:srgbClr val="AE3B3B"/>
                </a:solidFill>
              </a:defRPr>
            </a:defPPr>
            <a:lvl1pPr>
              <a:defRPr sz="1800" b="1">
                <a:solidFill>
                  <a:srgbClr val="AE3B3B"/>
                </a:solidFill>
              </a:defRPr>
            </a:lvl1pPr>
            <a:lvl2pPr>
              <a:defRPr sz="1800" b="1">
                <a:solidFill>
                  <a:srgbClr val="AE3B3B"/>
                </a:solidFill>
              </a:defRPr>
            </a:lvl2pPr>
            <a:lvl3pPr>
              <a:defRPr sz="1800" b="1">
                <a:solidFill>
                  <a:srgbClr val="AE3B3B"/>
                </a:solidFill>
              </a:defRPr>
            </a:lvl3pPr>
            <a:lvl4pPr>
              <a:defRPr sz="1800" b="1">
                <a:solidFill>
                  <a:srgbClr val="AE3B3B"/>
                </a:solidFill>
              </a:defRPr>
            </a:lvl4pPr>
            <a:lvl5pPr>
              <a:defRPr sz="1800" b="1">
                <a:solidFill>
                  <a:srgbClr val="AE3B3B"/>
                </a:solidFill>
              </a:defRPr>
            </a:lvl5pPr>
            <a:lvl6pPr>
              <a:defRPr sz="1800" b="1">
                <a:solidFill>
                  <a:srgbClr val="AE3B3B"/>
                </a:solidFill>
              </a:defRPr>
            </a:lvl6pPr>
            <a:lvl7pPr>
              <a:defRPr sz="1800" b="1">
                <a:solidFill>
                  <a:srgbClr val="AE3B3B"/>
                </a:solidFill>
              </a:defRPr>
            </a:lvl7pPr>
            <a:lvl8pPr>
              <a:defRPr sz="1800" b="1">
                <a:solidFill>
                  <a:srgbClr val="AE3B3B"/>
                </a:solidFill>
              </a:defRPr>
            </a:lvl8pPr>
            <a:lvl9pPr>
              <a:defRPr sz="1800" b="1">
                <a:solidFill>
                  <a:srgbClr val="AE3B3B"/>
                </a:solidFill>
              </a:defRPr>
            </a:lvl9pPr>
          </a:lstStyle>
          <a:p>
            <a:pPr>
              <a:defRPr sz="1800" b="1">
                <a:solidFill>
                  <a:srgbClr val="AE3B3B"/>
                </a:solidFill>
              </a:defRPr>
            </a:pPr>
            <a:r>
              <a:rPr sz="1800" b="1">
                <a:solidFill>
                  <a:srgbClr val="AE3B3B"/>
                </a:solidFill>
              </a:rPr>
              <a:t>Límite: alineación geométrica no demuestra comprensión clínica.</a:t>
            </a:r>
          </a:p>
          <a:p>
            <a:pPr>
              <a:defRPr sz="1800" b="1">
                <a:solidFill>
                  <a:srgbClr val="AE3B3B"/>
                </a:solidFill>
              </a:defRPr>
            </a:pPr>
            <a:r>
              <a:rPr sz="1800" b="1">
                <a:solidFill>
                  <a:srgbClr val="AE3B3B"/>
                </a:solidFill>
              </a:rPr>
              <a:t>Reproducibilidad: N = 4.300 en RSA frente a 4.295 en la tabla 2.</a:t>
            </a:r>
          </a:p>
        </p:txBody>
      </p:sp>
    </p:spTree>
    <p:extLst>
      <p:ext uri="{BB962C8B-B14F-4D97-AF65-F5344CB8AC3E}">
        <p14:creationId xmlns:p14="http://schemas.microsoft.com/office/powerpoint/2010/main" val="984273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4CC3D9D-A721-4EB6-BC1E-D3D0878528A9}"/>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5F1A450F-FB7A-4874-9676-5039E4F4C64C}"/>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Conexión conceptual con el curso</a:t>
            </a:r>
          </a:p>
        </p:txBody>
      </p:sp>
      <p:sp>
        <p:nvSpPr>
          <p:cNvPr id="4" name="Rectángulo 3">
            <a:extLst>
              <a:ext uri="{FF2B5EF4-FFF2-40B4-BE49-F238E27FC236}">
                <a16:creationId xmlns:a16="http://schemas.microsoft.com/office/drawing/2014/main" id="{BDBC3DDA-6FD9-4CAB-9F20-88E514C33004}"/>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Síntesis conceptual basada en el artículo, §2–3</a:t>
            </a:r>
          </a:p>
        </p:txBody>
      </p:sp>
      <p:sp>
        <p:nvSpPr>
          <p:cNvPr id="5" name="Rectángulo 4">
            <a:extLst>
              <a:ext uri="{FF2B5EF4-FFF2-40B4-BE49-F238E27FC236}">
                <a16:creationId xmlns:a16="http://schemas.microsoft.com/office/drawing/2014/main" id="{F4BE2304-2E27-4CB3-9A6E-8AA17A1FFFA9}"/>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10</a:t>
            </a:r>
          </a:p>
        </p:txBody>
      </p:sp>
      <p:graphicFrame>
        <p:nvGraphicFramePr>
          <p:cNvPr id="6" name="Tabla 5">
            <a:extLst>
              <a:ext uri="{FF2B5EF4-FFF2-40B4-BE49-F238E27FC236}">
                <a16:creationId xmlns:a16="http://schemas.microsoft.com/office/drawing/2014/main" id="{DBC10C7E-1277-4229-B78C-9B05FDE2353B}"/>
              </a:ext>
            </a:extLst>
          </p:cNvPr>
          <p:cNvGraphicFramePr/>
          <p:nvPr/>
        </p:nvGraphicFramePr>
        <p:xfrm>
          <a:off x="609600" y="1924050"/>
          <a:ext cx="10953750" cy="3714750"/>
        </p:xfrm>
        <a:graphic>
          <a:graphicData uri="http://schemas.openxmlformats.org/drawingml/2006/table">
            <a:tbl>
              <a:tblPr/>
              <a:tblGrid>
                <a:gridCol w="419100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tblGrid>
              <a:tr h="619125">
                <a:tc>
                  <a:txBody>
                    <a:bodyPr/>
                    <a:lstStyle/>
                    <a:p>
                      <a:r>
                        <a:rPr sz="1800" b="1">
                          <a:solidFill>
                            <a:srgbClr val="FFFFFF"/>
                          </a:solidFill>
                        </a:rPr>
                        <a:t>Concepto</a:t>
                      </a:r>
                    </a:p>
                  </a:txBody>
                  <a:tcPr>
                    <a:lnL w="9525">
                      <a:solidFill>
                        <a:srgbClr val="D4DFE5"/>
                      </a:solidFill>
                      <a:prstDash val="soli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tc>
                  <a:txBody>
                    <a:bodyPr/>
                    <a:lstStyle/>
                    <a:p>
                      <a:r>
                        <a:rPr sz="1800" b="1">
                          <a:solidFill>
                            <a:srgbClr val="FFFFFF"/>
                          </a:solidFill>
                        </a:rPr>
                        <a:t>Cómo aparece en el estudio</a:t>
                      </a:r>
                    </a:p>
                  </a:txBody>
                  <a:tcPr>
                    <a:lnL w="9525" cap="flat" cmpd="sng" algn="ctr">
                      <a:solidFill>
                        <a:srgbClr val="D4DFE5"/>
                      </a:solidFill>
                      <a:prstDash val="solid"/>
                      <a:round/>
                      <a:headEnd type="none" w="med" len="med"/>
                      <a:tailEnd type="none" w="med" len="me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extLst>
                  <a:ext uri="{0D108BD9-81ED-4DB2-BD59-A6C34878D82A}">
                    <a16:rowId xmlns:a16="http://schemas.microsoft.com/office/drawing/2014/main" val="10000"/>
                  </a:ext>
                </a:extLst>
              </a:tr>
              <a:tr h="619125">
                <a:tc>
                  <a:txBody>
                    <a:bodyPr/>
                    <a:lstStyle/>
                    <a:p>
                      <a:r>
                        <a:rPr sz="1800" b="0">
                          <a:solidFill>
                            <a:srgbClr val="16384A"/>
                          </a:solidFill>
                        </a:rPr>
                        <a:t>Representaciones contextuales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00" b="0">
                          <a:solidFill>
                            <a:srgbClr val="16384A"/>
                          </a:solidFill>
                        </a:rPr>
                        <a:t>BERT codifica el texto según su contexto</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1"/>
                  </a:ext>
                </a:extLst>
              </a:tr>
              <a:tr h="619125">
                <a:tc>
                  <a:txBody>
                    <a:bodyPr/>
                    <a:lstStyle/>
                    <a:p>
                      <a:r>
                        <a:rPr sz="1800" b="0">
                          <a:solidFill>
                            <a:srgbClr val="16384A"/>
                          </a:solidFill>
                        </a:rPr>
                        <a:t>Transferencia y adaptación</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00" b="0">
                          <a:solidFill>
                            <a:srgbClr val="16384A"/>
                          </a:solidFill>
                        </a:rPr>
                        <a:t>Del inglés biomédico a otras lenguas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2"/>
                  </a:ext>
                </a:extLst>
              </a:tr>
              <a:tr h="619125">
                <a:tc>
                  <a:txBody>
                    <a:bodyPr/>
                    <a:lstStyle/>
                    <a:p>
                      <a:r>
                        <a:rPr sz="1800" b="0">
                          <a:solidFill>
                            <a:srgbClr val="16384A"/>
                          </a:solidFill>
                        </a:rPr>
                        <a:t>Destilación de características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00" b="0">
                          <a:solidFill>
                            <a:srgbClr val="16384A"/>
                          </a:solidFill>
                        </a:rPr>
                        <a:t>Aprendizaje del espacio del profesor</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3"/>
                  </a:ext>
                </a:extLst>
              </a:tr>
              <a:tr h="619125">
                <a:tc>
                  <a:txBody>
                    <a:bodyPr/>
                    <a:lstStyle/>
                    <a:p>
                      <a:r>
                        <a:rPr sz="1800" b="0">
                          <a:solidFill>
                            <a:srgbClr val="16384A"/>
                          </a:solidFill>
                        </a:rPr>
                        <a:t>Aprendizaje contrastivo</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00" b="0">
                          <a:solidFill>
                            <a:srgbClr val="16384A"/>
                          </a:solidFill>
                        </a:rPr>
                        <a:t>MNRL compara pares correctos y negativos</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4"/>
                  </a:ext>
                </a:extLst>
              </a:tr>
              <a:tr h="619125">
                <a:tc>
                  <a:txBody>
                    <a:bodyPr/>
                    <a:lstStyle/>
                    <a:p>
                      <a:r>
                        <a:rPr sz="1800" b="0">
                          <a:solidFill>
                            <a:srgbClr val="16384A"/>
                          </a:solidFill>
                        </a:rPr>
                        <a:t>Ajuste supervisado</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00" b="0">
                          <a:solidFill>
                            <a:srgbClr val="16384A"/>
                          </a:solidFill>
                        </a:rPr>
                        <a:t>Etiquetas para clasificar los textos destino</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7" name="Rectángulo 6">
            <a:extLst>
              <a:ext uri="{FF2B5EF4-FFF2-40B4-BE49-F238E27FC236}">
                <a16:creationId xmlns:a16="http://schemas.microsoft.com/office/drawing/2014/main" id="{9B35FE01-1B36-4792-A602-B63E93E8C3F2}"/>
              </a:ext>
            </a:extLst>
          </p:cNvPr>
          <p:cNvSpPr>
            <a:spLocks noGrp="1"/>
          </p:cNvSpPr>
          <p:nvPr/>
        </p:nvSpPr>
        <p:spPr>
          <a:xfrm>
            <a:off x="609600" y="5810250"/>
            <a:ext cx="10858500" cy="381000"/>
          </a:xfrm>
          <a:prstGeom prst="rect">
            <a:avLst/>
          </a:prstGeom>
          <a:noFill/>
          <a:ln w="0">
            <a:noFill/>
          </a:ln>
        </p:spPr>
        <p:txBody>
          <a:bodyPr/>
          <a:lstStyle>
            <a:defPPr>
              <a:defRPr sz="1500" b="0">
                <a:solidFill>
                  <a:srgbClr val="526775"/>
                </a:solidFill>
              </a:defRPr>
            </a:defPPr>
            <a:lvl1pPr>
              <a:defRPr sz="1500" b="0">
                <a:solidFill>
                  <a:srgbClr val="526775"/>
                </a:solidFill>
              </a:defRPr>
            </a:lvl1pPr>
            <a:lvl2pPr>
              <a:defRPr sz="1500" b="0">
                <a:solidFill>
                  <a:srgbClr val="526775"/>
                </a:solidFill>
              </a:defRPr>
            </a:lvl2pPr>
            <a:lvl3pPr>
              <a:defRPr sz="1500" b="0">
                <a:solidFill>
                  <a:srgbClr val="526775"/>
                </a:solidFill>
              </a:defRPr>
            </a:lvl3pPr>
            <a:lvl4pPr>
              <a:defRPr sz="1500" b="0">
                <a:solidFill>
                  <a:srgbClr val="526775"/>
                </a:solidFill>
              </a:defRPr>
            </a:lvl4pPr>
            <a:lvl5pPr>
              <a:defRPr sz="1500" b="0">
                <a:solidFill>
                  <a:srgbClr val="526775"/>
                </a:solidFill>
              </a:defRPr>
            </a:lvl5pPr>
            <a:lvl6pPr>
              <a:defRPr sz="1500" b="0">
                <a:solidFill>
                  <a:srgbClr val="526775"/>
                </a:solidFill>
              </a:defRPr>
            </a:lvl6pPr>
            <a:lvl7pPr>
              <a:defRPr sz="1500" b="0">
                <a:solidFill>
                  <a:srgbClr val="526775"/>
                </a:solidFill>
              </a:defRPr>
            </a:lvl7pPr>
            <a:lvl8pPr>
              <a:defRPr sz="1500" b="0">
                <a:solidFill>
                  <a:srgbClr val="526775"/>
                </a:solidFill>
              </a:defRPr>
            </a:lvl8pPr>
            <a:lvl9pPr>
              <a:defRPr sz="1500" b="0">
                <a:solidFill>
                  <a:srgbClr val="526775"/>
                </a:solidFill>
              </a:defRPr>
            </a:lvl9pPr>
          </a:lstStyle>
          <a:p>
            <a:pPr>
              <a:defRPr sz="1500" b="0">
                <a:solidFill>
                  <a:srgbClr val="526775"/>
                </a:solidFill>
              </a:defRPr>
            </a:pPr>
            <a:r>
              <a:rPr sz="1500" b="0">
                <a:solidFill>
                  <a:srgbClr val="526775"/>
                </a:solidFill>
              </a:rPr>
              <a:t>Encoders y clasificación supervisada, sin generación de respuestas ni agentes.</a:t>
            </a:r>
          </a:p>
        </p:txBody>
      </p:sp>
    </p:spTree>
    <p:extLst>
      <p:ext uri="{BB962C8B-B14F-4D97-AF65-F5344CB8AC3E}">
        <p14:creationId xmlns:p14="http://schemas.microsoft.com/office/powerpoint/2010/main" val="49524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D825A92-6B79-4165-8A45-5A01C71B546F}"/>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INVESTIGACIÓN</a:t>
            </a:r>
          </a:p>
        </p:txBody>
      </p:sp>
      <p:sp>
        <p:nvSpPr>
          <p:cNvPr id="3" name="Rectángulo 2">
            <a:extLst>
              <a:ext uri="{FF2B5EF4-FFF2-40B4-BE49-F238E27FC236}">
                <a16:creationId xmlns:a16="http://schemas.microsoft.com/office/drawing/2014/main" id="{DB409927-F564-400A-8A36-217A86957B2F}"/>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Análisis crítico: evidencia y límites</a:t>
            </a:r>
          </a:p>
        </p:txBody>
      </p:sp>
      <p:sp>
        <p:nvSpPr>
          <p:cNvPr id="4" name="Rectángulo 3">
            <a:extLst>
              <a:ext uri="{FF2B5EF4-FFF2-40B4-BE49-F238E27FC236}">
                <a16:creationId xmlns:a16="http://schemas.microsoft.com/office/drawing/2014/main" id="{952C3A15-4F68-417A-8A2C-605803E75C96}"/>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Valoración propia a partir de §3–4 y tablas 2–3</a:t>
            </a:r>
          </a:p>
        </p:txBody>
      </p:sp>
      <p:sp>
        <p:nvSpPr>
          <p:cNvPr id="5" name="Rectángulo 4">
            <a:extLst>
              <a:ext uri="{FF2B5EF4-FFF2-40B4-BE49-F238E27FC236}">
                <a16:creationId xmlns:a16="http://schemas.microsoft.com/office/drawing/2014/main" id="{364ADEF1-0CB4-4DAE-92B8-2614683CC822}"/>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11</a:t>
            </a:r>
          </a:p>
        </p:txBody>
      </p:sp>
      <p:graphicFrame>
        <p:nvGraphicFramePr>
          <p:cNvPr id="6" name="Tabla 5">
            <a:extLst>
              <a:ext uri="{FF2B5EF4-FFF2-40B4-BE49-F238E27FC236}">
                <a16:creationId xmlns:a16="http://schemas.microsoft.com/office/drawing/2014/main" id="{D7758691-55D0-4FBF-977C-E99F3691C617}"/>
              </a:ext>
            </a:extLst>
          </p:cNvPr>
          <p:cNvGraphicFramePr/>
          <p:nvPr/>
        </p:nvGraphicFramePr>
        <p:xfrm>
          <a:off x="609600" y="1933575"/>
          <a:ext cx="10953750" cy="3143250"/>
        </p:xfrm>
        <a:graphic>
          <a:graphicData uri="http://schemas.openxmlformats.org/drawingml/2006/table">
            <a:tbl>
              <a:tblPr/>
              <a:tblGrid>
                <a:gridCol w="447675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628650">
                <a:tc>
                  <a:txBody>
                    <a:bodyPr/>
                    <a:lstStyle/>
                    <a:p>
                      <a:r>
                        <a:rPr sz="1800" b="1">
                          <a:solidFill>
                            <a:srgbClr val="FFFFFF"/>
                          </a:solidFill>
                        </a:rPr>
                        <a:t>Lo que aporta</a:t>
                      </a:r>
                    </a:p>
                  </a:txBody>
                  <a:tcPr>
                    <a:lnL w="9525">
                      <a:solidFill>
                        <a:srgbClr val="D4DFE5"/>
                      </a:solidFill>
                      <a:prstDash val="soli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tc>
                  <a:txBody>
                    <a:bodyPr/>
                    <a:lstStyle/>
                    <a:p>
                      <a:r>
                        <a:rPr sz="1800" b="1">
                          <a:solidFill>
                            <a:srgbClr val="FFFFFF"/>
                          </a:solidFill>
                        </a:rPr>
                        <a:t>Lo que falta para ampliar la conclusión</a:t>
                      </a:r>
                    </a:p>
                  </a:txBody>
                  <a:tcPr>
                    <a:lnL w="9525" cap="flat" cmpd="sng" algn="ctr">
                      <a:solidFill>
                        <a:srgbClr val="D4DFE5"/>
                      </a:solidFill>
                      <a:prstDash val="solid"/>
                      <a:round/>
                      <a:headEnd type="none" w="med" len="med"/>
                      <a:tailEnd type="none" w="med" len="med"/>
                    </a:lnL>
                    <a:lnR w="9525">
                      <a:solidFill>
                        <a:srgbClr val="D4DFE5"/>
                      </a:solidFill>
                      <a:prstDash val="solid"/>
                    </a:lnR>
                    <a:lnT w="9525">
                      <a:solidFill>
                        <a:srgbClr val="D4DFE5"/>
                      </a:solidFill>
                      <a:prstDash val="solid"/>
                    </a:lnT>
                    <a:lnB w="9525">
                      <a:solidFill>
                        <a:srgbClr val="D4DFE5"/>
                      </a:solidFill>
                      <a:prstDash val="solid"/>
                    </a:lnB>
                    <a:solidFill>
                      <a:srgbClr val="102D40"/>
                    </a:solidFill>
                  </a:tcPr>
                </a:tc>
                <a:extLst>
                  <a:ext uri="{0D108BD9-81ED-4DB2-BD59-A6C34878D82A}">
                    <a16:rowId xmlns:a16="http://schemas.microsoft.com/office/drawing/2014/main" val="10000"/>
                  </a:ext>
                </a:extLst>
              </a:tr>
              <a:tr h="628650">
                <a:tc>
                  <a:txBody>
                    <a:bodyPr/>
                    <a:lstStyle/>
                    <a:p>
                      <a:r>
                        <a:rPr sz="1800" b="0">
                          <a:solidFill>
                            <a:srgbClr val="16384A"/>
                          </a:solidFill>
                        </a:rPr>
                        <a:t>Control y varios escenarios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00" b="0">
                          <a:solidFill>
                            <a:srgbClr val="16384A"/>
                          </a:solidFill>
                        </a:rPr>
                        <a:t>Variabilidad, semillas y agregación de F1</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1"/>
                  </a:ext>
                </a:extLst>
              </a:tr>
              <a:tr h="628650">
                <a:tc>
                  <a:txBody>
                    <a:bodyPr/>
                    <a:lstStyle/>
                    <a:p>
                      <a:r>
                        <a:rPr sz="1800" b="0">
                          <a:solidFill>
                            <a:srgbClr val="16384A"/>
                          </a:solidFill>
                        </a:rPr>
                        <a:t>Filtro de semejanza mediante BLEU</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00" b="0">
                          <a:solidFill>
                            <a:srgbClr val="16384A"/>
                          </a:solidFill>
                        </a:rPr>
                        <a:t>Independencia semántica y sesgo del filtro</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2"/>
                  </a:ext>
                </a:extLst>
              </a:tr>
              <a:tr h="628650">
                <a:tc>
                  <a:txBody>
                    <a:bodyPr/>
                    <a:lstStyle/>
                    <a:p>
                      <a:r>
                        <a:rPr sz="1800" b="0">
                          <a:solidFill>
                            <a:srgbClr val="16384A"/>
                          </a:solidFill>
                        </a:rPr>
                        <a:t>Transferencia a textos en español</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tc>
                  <a:txBody>
                    <a:bodyPr/>
                    <a:lstStyle/>
                    <a:p>
                      <a:r>
                        <a:rPr sz="1800" b="0">
                          <a:solidFill>
                            <a:srgbClr val="16384A"/>
                          </a:solidFill>
                        </a:rPr>
                        <a:t>Prueba regional y en otros tipos de texto</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FFFFFF"/>
                    </a:solidFill>
                  </a:tcPr>
                </a:tc>
                <a:extLst>
                  <a:ext uri="{0D108BD9-81ED-4DB2-BD59-A6C34878D82A}">
                    <a16:rowId xmlns:a16="http://schemas.microsoft.com/office/drawing/2014/main" val="10003"/>
                  </a:ext>
                </a:extLst>
              </a:tr>
              <a:tr h="628650">
                <a:tc>
                  <a:txBody>
                    <a:bodyPr/>
                    <a:lstStyle/>
                    <a:p>
                      <a:r>
                        <a:rPr sz="1800" b="0">
                          <a:solidFill>
                            <a:srgbClr val="16384A"/>
                          </a:solidFill>
                        </a:rPr>
                        <a:t>MNRL supera MSE en 32 de 36 casos</a:t>
                      </a:r>
                    </a:p>
                  </a:txBody>
                  <a:tcPr>
                    <a:lnL w="9525">
                      <a:solidFill>
                        <a:srgbClr val="D4DFE5"/>
                      </a:solidFill>
                      <a:prstDash val="soli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tc>
                  <a:txBody>
                    <a:bodyPr/>
                    <a:lstStyle/>
                    <a:p>
                      <a:r>
                        <a:rPr sz="1800" b="0">
                          <a:solidFill>
                            <a:srgbClr val="16384A"/>
                          </a:solidFill>
                        </a:rPr>
                        <a:t>Aislar el efecto del ruido de traducción</a:t>
                      </a:r>
                    </a:p>
                  </a:txBody>
                  <a:tcPr>
                    <a:lnL w="9525" cap="flat" cmpd="sng" algn="ctr">
                      <a:solidFill>
                        <a:srgbClr val="D4DFE5"/>
                      </a:solidFill>
                      <a:prstDash val="solid"/>
                      <a:round/>
                      <a:headEnd type="none" w="med" len="med"/>
                      <a:tailEnd type="none" w="med" len="med"/>
                    </a:lnL>
                    <a:lnR w="9525">
                      <a:solidFill>
                        <a:srgbClr val="D4DFE5"/>
                      </a:solidFill>
                      <a:prstDash val="solid"/>
                    </a:lnR>
                    <a:lnT w="9525" cap="flat" cmpd="sng" algn="ctr">
                      <a:solidFill>
                        <a:srgbClr val="D4DFE5"/>
                      </a:solidFill>
                      <a:prstDash val="solid"/>
                      <a:round/>
                      <a:headEnd type="none" w="med" len="med"/>
                      <a:tailEnd type="none" w="med" len="med"/>
                    </a:lnT>
                    <a:lnB w="9525">
                      <a:solidFill>
                        <a:srgbClr val="D4DFE5"/>
                      </a:solidFill>
                      <a:prstDash val="solid"/>
                    </a:lnB>
                    <a:solidFill>
                      <a:srgbClr val="EEF4F6"/>
                    </a:solidFill>
                  </a:tcPr>
                </a:tc>
                <a:extLst>
                  <a:ext uri="{0D108BD9-81ED-4DB2-BD59-A6C34878D82A}">
                    <a16:rowId xmlns:a16="http://schemas.microsoft.com/office/drawing/2014/main" val="10004"/>
                  </a:ext>
                </a:extLst>
              </a:tr>
            </a:tbl>
          </a:graphicData>
        </a:graphic>
      </p:graphicFrame>
      <p:sp>
        <p:nvSpPr>
          <p:cNvPr id="7" name="Rectángulo 6">
            <a:extLst>
              <a:ext uri="{FF2B5EF4-FFF2-40B4-BE49-F238E27FC236}">
                <a16:creationId xmlns:a16="http://schemas.microsoft.com/office/drawing/2014/main" id="{32B97DFC-DD3D-4157-8C3C-02F42E89E7FA}"/>
              </a:ext>
            </a:extLst>
          </p:cNvPr>
          <p:cNvSpPr>
            <a:spLocks noGrp="1"/>
          </p:cNvSpPr>
          <p:nvPr/>
        </p:nvSpPr>
        <p:spPr>
          <a:xfrm>
            <a:off x="609600" y="5400675"/>
            <a:ext cx="10810875" cy="790575"/>
          </a:xfrm>
          <a:prstGeom prst="rect">
            <a:avLst/>
          </a:prstGeom>
          <a:noFill/>
          <a:ln w="0">
            <a:noFill/>
          </a:ln>
        </p:spPr>
        <p:txBody>
          <a:bodyPr/>
          <a:lstStyle>
            <a:defPPr>
              <a:defRPr sz="2025" b="1">
                <a:solidFill>
                  <a:srgbClr val="087F8C"/>
                </a:solidFill>
              </a:defRPr>
            </a:defPPr>
            <a:lvl1pPr>
              <a:defRPr sz="2025" b="1">
                <a:solidFill>
                  <a:srgbClr val="087F8C"/>
                </a:solidFill>
              </a:defRPr>
            </a:lvl1pPr>
            <a:lvl2pPr>
              <a:defRPr sz="2025" b="1">
                <a:solidFill>
                  <a:srgbClr val="087F8C"/>
                </a:solidFill>
              </a:defRPr>
            </a:lvl2pPr>
            <a:lvl3pPr>
              <a:defRPr sz="2025" b="1">
                <a:solidFill>
                  <a:srgbClr val="087F8C"/>
                </a:solidFill>
              </a:defRPr>
            </a:lvl3pPr>
            <a:lvl4pPr>
              <a:defRPr sz="2025" b="1">
                <a:solidFill>
                  <a:srgbClr val="087F8C"/>
                </a:solidFill>
              </a:defRPr>
            </a:lvl4pPr>
            <a:lvl5pPr>
              <a:defRPr sz="2025" b="1">
                <a:solidFill>
                  <a:srgbClr val="087F8C"/>
                </a:solidFill>
              </a:defRPr>
            </a:lvl5pPr>
            <a:lvl6pPr>
              <a:defRPr sz="2025" b="1">
                <a:solidFill>
                  <a:srgbClr val="087F8C"/>
                </a:solidFill>
              </a:defRPr>
            </a:lvl6pPr>
            <a:lvl7pPr>
              <a:defRPr sz="2025" b="1">
                <a:solidFill>
                  <a:srgbClr val="087F8C"/>
                </a:solidFill>
              </a:defRPr>
            </a:lvl7pPr>
            <a:lvl8pPr>
              <a:defRPr sz="2025" b="1">
                <a:solidFill>
                  <a:srgbClr val="087F8C"/>
                </a:solidFill>
              </a:defRPr>
            </a:lvl8pPr>
            <a:lvl9pPr>
              <a:defRPr sz="2025" b="1">
                <a:solidFill>
                  <a:srgbClr val="087F8C"/>
                </a:solidFill>
              </a:defRPr>
            </a:lvl9pPr>
          </a:lstStyle>
          <a:p>
            <a:pPr>
              <a:defRPr sz="2025" b="1">
                <a:solidFill>
                  <a:srgbClr val="087F8C"/>
                </a:solidFill>
              </a:defRPr>
            </a:pPr>
            <a:r>
              <a:rPr sz="2025" b="1">
                <a:solidFill>
                  <a:srgbClr val="087F8C"/>
                </a:solidFill>
              </a:rPr>
              <a:t>Alternativas: TF-IDF + clasificador lineal, ajuste directo y entrenamiento con traducciones sin destilar.</a:t>
            </a:r>
          </a:p>
        </p:txBody>
      </p:sp>
    </p:spTree>
    <p:extLst>
      <p:ext uri="{BB962C8B-B14F-4D97-AF65-F5344CB8AC3E}">
        <p14:creationId xmlns:p14="http://schemas.microsoft.com/office/powerpoint/2010/main" val="1166666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9FB86D54-473C-4B8A-BCBE-30161B00EB20}"/>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CONCLUSIÓN Y DISCUSIÓN</a:t>
            </a:r>
          </a:p>
        </p:txBody>
      </p:sp>
      <p:sp>
        <p:nvSpPr>
          <p:cNvPr id="3" name="Rectángulo 2">
            <a:extLst>
              <a:ext uri="{FF2B5EF4-FFF2-40B4-BE49-F238E27FC236}">
                <a16:creationId xmlns:a16="http://schemas.microsoft.com/office/drawing/2014/main" id="{5972268E-D99E-4E08-8414-E2AE8574FA27}"/>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Conclusión y preguntas para el foro</a:t>
            </a:r>
          </a:p>
        </p:txBody>
      </p:sp>
      <p:sp>
        <p:nvSpPr>
          <p:cNvPr id="4" name="Rectángulo 3">
            <a:extLst>
              <a:ext uri="{FF2B5EF4-FFF2-40B4-BE49-F238E27FC236}">
                <a16:creationId xmlns:a16="http://schemas.microsoft.com/office/drawing/2014/main" id="{7B676705-3594-4760-B387-307BBFACD5B2}"/>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Conclusión propia sustentada en tabla 3 y §4–5</a:t>
            </a:r>
          </a:p>
        </p:txBody>
      </p:sp>
      <p:sp>
        <p:nvSpPr>
          <p:cNvPr id="5" name="Rectángulo 4">
            <a:extLst>
              <a:ext uri="{FF2B5EF4-FFF2-40B4-BE49-F238E27FC236}">
                <a16:creationId xmlns:a16="http://schemas.microsoft.com/office/drawing/2014/main" id="{810E493D-E763-405D-AC0E-E3AC76E89EFF}"/>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12</a:t>
            </a:r>
          </a:p>
        </p:txBody>
      </p:sp>
      <p:sp>
        <p:nvSpPr>
          <p:cNvPr id="6" name="Rectángulo 5">
            <a:extLst>
              <a:ext uri="{FF2B5EF4-FFF2-40B4-BE49-F238E27FC236}">
                <a16:creationId xmlns:a16="http://schemas.microsoft.com/office/drawing/2014/main" id="{D6CC626D-1105-419D-BF43-9E14F76E031E}"/>
              </a:ext>
            </a:extLst>
          </p:cNvPr>
          <p:cNvSpPr>
            <a:spLocks noGrp="1"/>
          </p:cNvSpPr>
          <p:nvPr/>
        </p:nvSpPr>
        <p:spPr>
          <a:xfrm>
            <a:off x="609600" y="1943100"/>
            <a:ext cx="10858500" cy="1143000"/>
          </a:xfrm>
          <a:prstGeom prst="rect">
            <a:avLst/>
          </a:prstGeom>
          <a:noFill/>
          <a:ln w="0">
            <a:noFill/>
          </a:ln>
        </p:spPr>
        <p:txBody>
          <a:bodyPr/>
          <a:lstStyle>
            <a:defPPr>
              <a:defRPr sz="2775" b="1">
                <a:solidFill>
                  <a:srgbClr val="087F8C"/>
                </a:solidFill>
              </a:defRPr>
            </a:defPPr>
            <a:lvl1pPr>
              <a:defRPr sz="2775" b="1">
                <a:solidFill>
                  <a:srgbClr val="087F8C"/>
                </a:solidFill>
              </a:defRPr>
            </a:lvl1pPr>
            <a:lvl2pPr>
              <a:defRPr sz="2775" b="1">
                <a:solidFill>
                  <a:srgbClr val="087F8C"/>
                </a:solidFill>
              </a:defRPr>
            </a:lvl2pPr>
            <a:lvl3pPr>
              <a:defRPr sz="2775" b="1">
                <a:solidFill>
                  <a:srgbClr val="087F8C"/>
                </a:solidFill>
              </a:defRPr>
            </a:lvl3pPr>
            <a:lvl4pPr>
              <a:defRPr sz="2775" b="1">
                <a:solidFill>
                  <a:srgbClr val="087F8C"/>
                </a:solidFill>
              </a:defRPr>
            </a:lvl4pPr>
            <a:lvl5pPr>
              <a:defRPr sz="2775" b="1">
                <a:solidFill>
                  <a:srgbClr val="087F8C"/>
                </a:solidFill>
              </a:defRPr>
            </a:lvl5pPr>
            <a:lvl6pPr>
              <a:defRPr sz="2775" b="1">
                <a:solidFill>
                  <a:srgbClr val="087F8C"/>
                </a:solidFill>
              </a:defRPr>
            </a:lvl6pPr>
            <a:lvl7pPr>
              <a:defRPr sz="2775" b="1">
                <a:solidFill>
                  <a:srgbClr val="087F8C"/>
                </a:solidFill>
              </a:defRPr>
            </a:lvl7pPr>
            <a:lvl8pPr>
              <a:defRPr sz="2775" b="1">
                <a:solidFill>
                  <a:srgbClr val="087F8C"/>
                </a:solidFill>
              </a:defRPr>
            </a:lvl8pPr>
            <a:lvl9pPr>
              <a:defRPr sz="2775" b="1">
                <a:solidFill>
                  <a:srgbClr val="087F8C"/>
                </a:solidFill>
              </a:defRPr>
            </a:lvl9pPr>
          </a:lstStyle>
          <a:p>
            <a:pPr>
              <a:defRPr sz="2775" b="1">
                <a:solidFill>
                  <a:srgbClr val="087F8C"/>
                </a:solidFill>
              </a:defRPr>
            </a:pPr>
            <a:r>
              <a:rPr sz="2775" b="1">
                <a:solidFill>
                  <a:srgbClr val="087F8C"/>
                </a:solidFill>
              </a:rPr>
              <a:t>La destilación resulta prometedora con pocos datos.</a:t>
            </a:r>
          </a:p>
          <a:p>
            <a:pPr>
              <a:defRPr sz="2775" b="1">
                <a:solidFill>
                  <a:srgbClr val="087F8C"/>
                </a:solidFill>
              </a:defRPr>
            </a:pPr>
            <a:r>
              <a:rPr sz="2775" b="1">
                <a:solidFill>
                  <a:srgbClr val="087F8C"/>
                </a:solidFill>
              </a:rPr>
              <a:t>Su utilidad depende de la lengua, el profesor y el ajuste final.</a:t>
            </a:r>
          </a:p>
        </p:txBody>
      </p:sp>
      <p:sp>
        <p:nvSpPr>
          <p:cNvPr id="7" name="Rectángulo 6">
            <a:extLst>
              <a:ext uri="{FF2B5EF4-FFF2-40B4-BE49-F238E27FC236}">
                <a16:creationId xmlns:a16="http://schemas.microsoft.com/office/drawing/2014/main" id="{C61793C6-1EB1-44AC-BF48-CE0C9F18065E}"/>
              </a:ext>
            </a:extLst>
          </p:cNvPr>
          <p:cNvSpPr>
            <a:spLocks noGrp="1"/>
          </p:cNvSpPr>
          <p:nvPr/>
        </p:nvSpPr>
        <p:spPr>
          <a:xfrm>
            <a:off x="609600" y="3438525"/>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Elección metodológica</a:t>
            </a:r>
          </a:p>
        </p:txBody>
      </p:sp>
      <p:sp>
        <p:nvSpPr>
          <p:cNvPr id="8" name="Rectángulo 7">
            <a:extLst>
              <a:ext uri="{FF2B5EF4-FFF2-40B4-BE49-F238E27FC236}">
                <a16:creationId xmlns:a16="http://schemas.microsoft.com/office/drawing/2014/main" id="{42B84C40-4CCC-4E72-B63D-6FE7858DA88B}"/>
              </a:ext>
            </a:extLst>
          </p:cNvPr>
          <p:cNvSpPr>
            <a:spLocks noGrp="1"/>
          </p:cNvSpPr>
          <p:nvPr/>
        </p:nvSpPr>
        <p:spPr>
          <a:xfrm>
            <a:off x="609600" y="3838575"/>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¿Cuándo justifica la mejora añadir traducción y destilación al entrenamiento?</a:t>
            </a:r>
          </a:p>
        </p:txBody>
      </p:sp>
      <p:sp>
        <p:nvSpPr>
          <p:cNvPr id="9" name="Rectángulo 8">
            <a:extLst>
              <a:ext uri="{FF2B5EF4-FFF2-40B4-BE49-F238E27FC236}">
                <a16:creationId xmlns:a16="http://schemas.microsoft.com/office/drawing/2014/main" id="{44528F74-FA8E-4421-990D-FFACCFD4C3C7}"/>
              </a:ext>
            </a:extLst>
          </p:cNvPr>
          <p:cNvSpPr>
            <a:spLocks noGrp="1"/>
          </p:cNvSpPr>
          <p:nvPr/>
        </p:nvSpPr>
        <p:spPr>
          <a:xfrm>
            <a:off x="609600" y="4829175"/>
            <a:ext cx="10763250" cy="342900"/>
          </a:xfrm>
          <a:prstGeom prst="rect">
            <a:avLst/>
          </a:prstGeom>
          <a:noFill/>
          <a:ln w="0">
            <a:noFill/>
          </a:ln>
        </p:spPr>
        <p:txBody>
          <a:bodyPr/>
          <a:lstStyle>
            <a:defPPr>
              <a:defRPr sz="1875" b="1">
                <a:solidFill>
                  <a:srgbClr val="087F8C"/>
                </a:solidFill>
              </a:defRPr>
            </a:defPPr>
            <a:lvl1pPr>
              <a:defRPr sz="1875" b="1">
                <a:solidFill>
                  <a:srgbClr val="087F8C"/>
                </a:solidFill>
              </a:defRPr>
            </a:lvl1pPr>
            <a:lvl2pPr>
              <a:defRPr sz="1875" b="1">
                <a:solidFill>
                  <a:srgbClr val="087F8C"/>
                </a:solidFill>
              </a:defRPr>
            </a:lvl2pPr>
            <a:lvl3pPr>
              <a:defRPr sz="1875" b="1">
                <a:solidFill>
                  <a:srgbClr val="087F8C"/>
                </a:solidFill>
              </a:defRPr>
            </a:lvl3pPr>
            <a:lvl4pPr>
              <a:defRPr sz="1875" b="1">
                <a:solidFill>
                  <a:srgbClr val="087F8C"/>
                </a:solidFill>
              </a:defRPr>
            </a:lvl4pPr>
            <a:lvl5pPr>
              <a:defRPr sz="1875" b="1">
                <a:solidFill>
                  <a:srgbClr val="087F8C"/>
                </a:solidFill>
              </a:defRPr>
            </a:lvl5pPr>
            <a:lvl6pPr>
              <a:defRPr sz="1875" b="1">
                <a:solidFill>
                  <a:srgbClr val="087F8C"/>
                </a:solidFill>
              </a:defRPr>
            </a:lvl6pPr>
            <a:lvl7pPr>
              <a:defRPr sz="1875" b="1">
                <a:solidFill>
                  <a:srgbClr val="087F8C"/>
                </a:solidFill>
              </a:defRPr>
            </a:lvl7pPr>
            <a:lvl8pPr>
              <a:defRPr sz="1875" b="1">
                <a:solidFill>
                  <a:srgbClr val="087F8C"/>
                </a:solidFill>
              </a:defRPr>
            </a:lvl8pPr>
            <a:lvl9pPr>
              <a:defRPr sz="1875" b="1">
                <a:solidFill>
                  <a:srgbClr val="087F8C"/>
                </a:solidFill>
              </a:defRPr>
            </a:lvl9pPr>
          </a:lstStyle>
          <a:p>
            <a:pPr>
              <a:defRPr sz="1875" b="1">
                <a:solidFill>
                  <a:srgbClr val="087F8C"/>
                </a:solidFill>
              </a:defRPr>
            </a:pPr>
            <a:r>
              <a:rPr sz="1875" b="1">
                <a:solidFill>
                  <a:srgbClr val="087F8C"/>
                </a:solidFill>
              </a:rPr>
              <a:t>Validez y generalización</a:t>
            </a:r>
          </a:p>
        </p:txBody>
      </p:sp>
      <p:sp>
        <p:nvSpPr>
          <p:cNvPr id="10" name="Rectángulo 9">
            <a:extLst>
              <a:ext uri="{FF2B5EF4-FFF2-40B4-BE49-F238E27FC236}">
                <a16:creationId xmlns:a16="http://schemas.microsoft.com/office/drawing/2014/main" id="{520763A7-F8B4-4F54-9631-BF77C7DBAD2F}"/>
              </a:ext>
            </a:extLst>
          </p:cNvPr>
          <p:cNvSpPr>
            <a:spLocks noGrp="1"/>
          </p:cNvSpPr>
          <p:nvPr/>
        </p:nvSpPr>
        <p:spPr>
          <a:xfrm>
            <a:off x="609600" y="5229225"/>
            <a:ext cx="10763250" cy="762000"/>
          </a:xfrm>
          <a:prstGeom prst="rect">
            <a:avLst/>
          </a:prstGeom>
          <a:noFill/>
          <a:ln w="0">
            <a:noFill/>
          </a:ln>
        </p:spPr>
        <p:txBody>
          <a:bodyPr/>
          <a:lstStyle>
            <a:defPPr>
              <a:defRPr sz="2025" b="0">
                <a:solidFill>
                  <a:srgbClr val="16384A"/>
                </a:solidFill>
              </a:defRPr>
            </a:defPPr>
            <a:lvl1pPr>
              <a:defRPr sz="2025" b="0">
                <a:solidFill>
                  <a:srgbClr val="16384A"/>
                </a:solidFill>
              </a:defRPr>
            </a:lvl1pPr>
            <a:lvl2pPr>
              <a:defRPr sz="2025" b="0">
                <a:solidFill>
                  <a:srgbClr val="16384A"/>
                </a:solidFill>
              </a:defRPr>
            </a:lvl2pPr>
            <a:lvl3pPr>
              <a:defRPr sz="2025" b="0">
                <a:solidFill>
                  <a:srgbClr val="16384A"/>
                </a:solidFill>
              </a:defRPr>
            </a:lvl3pPr>
            <a:lvl4pPr>
              <a:defRPr sz="2025" b="0">
                <a:solidFill>
                  <a:srgbClr val="16384A"/>
                </a:solidFill>
              </a:defRPr>
            </a:lvl4pPr>
            <a:lvl5pPr>
              <a:defRPr sz="2025" b="0">
                <a:solidFill>
                  <a:srgbClr val="16384A"/>
                </a:solidFill>
              </a:defRPr>
            </a:lvl5pPr>
            <a:lvl6pPr>
              <a:defRPr sz="2025" b="0">
                <a:solidFill>
                  <a:srgbClr val="16384A"/>
                </a:solidFill>
              </a:defRPr>
            </a:lvl6pPr>
            <a:lvl7pPr>
              <a:defRPr sz="2025" b="0">
                <a:solidFill>
                  <a:srgbClr val="16384A"/>
                </a:solidFill>
              </a:defRPr>
            </a:lvl7pPr>
            <a:lvl8pPr>
              <a:defRPr sz="2025" b="0">
                <a:solidFill>
                  <a:srgbClr val="16384A"/>
                </a:solidFill>
              </a:defRPr>
            </a:lvl8pPr>
            <a:lvl9pPr>
              <a:defRPr sz="2025" b="0">
                <a:solidFill>
                  <a:srgbClr val="16384A"/>
                </a:solidFill>
              </a:defRPr>
            </a:lvl9pPr>
          </a:lstStyle>
          <a:p>
            <a:pPr>
              <a:defRPr sz="2025" b="0">
                <a:solidFill>
                  <a:srgbClr val="16384A"/>
                </a:solidFill>
              </a:defRPr>
            </a:pPr>
            <a:r>
              <a:rPr sz="2025" b="0">
                <a:solidFill>
                  <a:srgbClr val="16384A"/>
                </a:solidFill>
              </a:rPr>
              <a:t>¿Qué evidencia exigiríamos para transferir este resultado a textos médicos de Colombia?</a:t>
            </a:r>
          </a:p>
        </p:txBody>
      </p:sp>
    </p:spTree>
    <p:extLst>
      <p:ext uri="{BB962C8B-B14F-4D97-AF65-F5344CB8AC3E}">
        <p14:creationId xmlns:p14="http://schemas.microsoft.com/office/powerpoint/2010/main" val="110911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C406422-539C-4DC8-B6C0-F1A8C34303B6}"/>
              </a:ext>
            </a:extLst>
          </p:cNvPr>
          <p:cNvSpPr>
            <a:spLocks noGrp="1"/>
          </p:cNvSpPr>
          <p:nvPr/>
        </p:nvSpPr>
        <p:spPr>
          <a:xfrm>
            <a:off x="609600" y="285750"/>
            <a:ext cx="10477500" cy="266700"/>
          </a:xfrm>
          <a:prstGeom prst="rect">
            <a:avLst/>
          </a:prstGeom>
          <a:noFill/>
          <a:ln w="0">
            <a:noFill/>
          </a:ln>
        </p:spPr>
        <p:txBody>
          <a:bodyPr/>
          <a:lstStyle>
            <a:defPPr>
              <a:defRPr sz="1200" b="1">
                <a:solidFill>
                  <a:srgbClr val="087F8C"/>
                </a:solidFill>
              </a:defRPr>
            </a:defPPr>
            <a:lvl1pPr>
              <a:defRPr sz="1200" b="1">
                <a:solidFill>
                  <a:srgbClr val="087F8C"/>
                </a:solidFill>
              </a:defRPr>
            </a:lvl1pPr>
            <a:lvl2pPr>
              <a:defRPr sz="1200" b="1">
                <a:solidFill>
                  <a:srgbClr val="087F8C"/>
                </a:solidFill>
              </a:defRPr>
            </a:lvl2pPr>
            <a:lvl3pPr>
              <a:defRPr sz="1200" b="1">
                <a:solidFill>
                  <a:srgbClr val="087F8C"/>
                </a:solidFill>
              </a:defRPr>
            </a:lvl3pPr>
            <a:lvl4pPr>
              <a:defRPr sz="1200" b="1">
                <a:solidFill>
                  <a:srgbClr val="087F8C"/>
                </a:solidFill>
              </a:defRPr>
            </a:lvl4pPr>
            <a:lvl5pPr>
              <a:defRPr sz="1200" b="1">
                <a:solidFill>
                  <a:srgbClr val="087F8C"/>
                </a:solidFill>
              </a:defRPr>
            </a:lvl5pPr>
            <a:lvl6pPr>
              <a:defRPr sz="1200" b="1">
                <a:solidFill>
                  <a:srgbClr val="087F8C"/>
                </a:solidFill>
              </a:defRPr>
            </a:lvl6pPr>
            <a:lvl7pPr>
              <a:defRPr sz="1200" b="1">
                <a:solidFill>
                  <a:srgbClr val="087F8C"/>
                </a:solidFill>
              </a:defRPr>
            </a:lvl7pPr>
            <a:lvl8pPr>
              <a:defRPr sz="1200" b="1">
                <a:solidFill>
                  <a:srgbClr val="087F8C"/>
                </a:solidFill>
              </a:defRPr>
            </a:lvl8pPr>
            <a:lvl9pPr>
              <a:defRPr sz="1200" b="1">
                <a:solidFill>
                  <a:srgbClr val="087F8C"/>
                </a:solidFill>
              </a:defRPr>
            </a:lvl9pPr>
          </a:lstStyle>
          <a:p>
            <a:pPr>
              <a:defRPr sz="1200" b="1">
                <a:solidFill>
                  <a:srgbClr val="087F8C"/>
                </a:solidFill>
              </a:defRPr>
            </a:pPr>
            <a:r>
              <a:rPr sz="1200" b="1">
                <a:solidFill>
                  <a:srgbClr val="087F8C"/>
                </a:solidFill>
              </a:rPr>
              <a:t>RESPALDO · FUENTES</a:t>
            </a:r>
          </a:p>
        </p:txBody>
      </p:sp>
      <p:sp>
        <p:nvSpPr>
          <p:cNvPr id="3" name="Rectángulo 2">
            <a:extLst>
              <a:ext uri="{FF2B5EF4-FFF2-40B4-BE49-F238E27FC236}">
                <a16:creationId xmlns:a16="http://schemas.microsoft.com/office/drawing/2014/main" id="{9768324D-4571-4FCF-9FEE-11EBB5611D59}"/>
              </a:ext>
            </a:extLst>
          </p:cNvPr>
          <p:cNvSpPr>
            <a:spLocks noGrp="1"/>
          </p:cNvSpPr>
          <p:nvPr/>
        </p:nvSpPr>
        <p:spPr>
          <a:xfrm>
            <a:off x="609600" y="742950"/>
            <a:ext cx="10953750" cy="1009650"/>
          </a:xfrm>
          <a:prstGeom prst="rect">
            <a:avLst/>
          </a:prstGeom>
          <a:noFill/>
          <a:ln w="0">
            <a:noFill/>
          </a:ln>
        </p:spPr>
        <p:txBody>
          <a:bodyPr/>
          <a:lstStyle>
            <a:defPPr>
              <a:defRPr sz="3150" b="1">
                <a:solidFill>
                  <a:srgbClr val="102D40"/>
                </a:solidFill>
              </a:defRPr>
            </a:defPPr>
            <a:lvl1pPr>
              <a:defRPr sz="3150" b="1">
                <a:solidFill>
                  <a:srgbClr val="102D40"/>
                </a:solidFill>
              </a:defRPr>
            </a:lvl1pPr>
            <a:lvl2pPr>
              <a:defRPr sz="3150" b="1">
                <a:solidFill>
                  <a:srgbClr val="102D40"/>
                </a:solidFill>
              </a:defRPr>
            </a:lvl2pPr>
            <a:lvl3pPr>
              <a:defRPr sz="3150" b="1">
                <a:solidFill>
                  <a:srgbClr val="102D40"/>
                </a:solidFill>
              </a:defRPr>
            </a:lvl3pPr>
            <a:lvl4pPr>
              <a:defRPr sz="3150" b="1">
                <a:solidFill>
                  <a:srgbClr val="102D40"/>
                </a:solidFill>
              </a:defRPr>
            </a:lvl4pPr>
            <a:lvl5pPr>
              <a:defRPr sz="3150" b="1">
                <a:solidFill>
                  <a:srgbClr val="102D40"/>
                </a:solidFill>
              </a:defRPr>
            </a:lvl5pPr>
            <a:lvl6pPr>
              <a:defRPr sz="3150" b="1">
                <a:solidFill>
                  <a:srgbClr val="102D40"/>
                </a:solidFill>
              </a:defRPr>
            </a:lvl6pPr>
            <a:lvl7pPr>
              <a:defRPr sz="3150" b="1">
                <a:solidFill>
                  <a:srgbClr val="102D40"/>
                </a:solidFill>
              </a:defRPr>
            </a:lvl7pPr>
            <a:lvl8pPr>
              <a:defRPr sz="3150" b="1">
                <a:solidFill>
                  <a:srgbClr val="102D40"/>
                </a:solidFill>
              </a:defRPr>
            </a:lvl8pPr>
            <a:lvl9pPr>
              <a:defRPr sz="3150" b="1">
                <a:solidFill>
                  <a:srgbClr val="102D40"/>
                </a:solidFill>
              </a:defRPr>
            </a:lvl9pPr>
          </a:lstStyle>
          <a:p>
            <a:pPr>
              <a:defRPr sz="3150" b="1">
                <a:solidFill>
                  <a:srgbClr val="102D40"/>
                </a:solidFill>
              </a:defRPr>
            </a:pPr>
            <a:r>
              <a:rPr sz="3150" b="1">
                <a:solidFill>
                  <a:srgbClr val="102D40"/>
                </a:solidFill>
              </a:rPr>
              <a:t>Referencias y glosario</a:t>
            </a:r>
          </a:p>
        </p:txBody>
      </p:sp>
      <p:sp>
        <p:nvSpPr>
          <p:cNvPr id="4" name="Rectángulo 3">
            <a:extLst>
              <a:ext uri="{FF2B5EF4-FFF2-40B4-BE49-F238E27FC236}">
                <a16:creationId xmlns:a16="http://schemas.microsoft.com/office/drawing/2014/main" id="{7970AE15-CA37-4BFE-8905-F507E33F5293}"/>
              </a:ext>
            </a:extLst>
          </p:cNvPr>
          <p:cNvSpPr>
            <a:spLocks noGrp="1"/>
          </p:cNvSpPr>
          <p:nvPr/>
        </p:nvSpPr>
        <p:spPr>
          <a:xfrm>
            <a:off x="609600" y="6334125"/>
            <a:ext cx="10477500" cy="285750"/>
          </a:xfrm>
          <a:prstGeom prst="rect">
            <a:avLst/>
          </a:prstGeom>
          <a:noFill/>
          <a:ln w="0">
            <a:noFill/>
          </a:ln>
        </p:spPr>
        <p:txBody>
          <a:bodyPr/>
          <a:lstStyle>
            <a:defPPr>
              <a:defRPr sz="1125" b="0">
                <a:solidFill>
                  <a:srgbClr val="526775"/>
                </a:solidFill>
              </a:defRPr>
            </a:defPPr>
            <a:lvl1pPr>
              <a:defRPr sz="1125" b="0">
                <a:solidFill>
                  <a:srgbClr val="526775"/>
                </a:solidFill>
              </a:defRPr>
            </a:lvl1pPr>
            <a:lvl2pPr>
              <a:defRPr sz="1125" b="0">
                <a:solidFill>
                  <a:srgbClr val="526775"/>
                </a:solidFill>
              </a:defRPr>
            </a:lvl2pPr>
            <a:lvl3pPr>
              <a:defRPr sz="1125" b="0">
                <a:solidFill>
                  <a:srgbClr val="526775"/>
                </a:solidFill>
              </a:defRPr>
            </a:lvl3pPr>
            <a:lvl4pPr>
              <a:defRPr sz="1125" b="0">
                <a:solidFill>
                  <a:srgbClr val="526775"/>
                </a:solidFill>
              </a:defRPr>
            </a:lvl4pPr>
            <a:lvl5pPr>
              <a:defRPr sz="1125" b="0">
                <a:solidFill>
                  <a:srgbClr val="526775"/>
                </a:solidFill>
              </a:defRPr>
            </a:lvl5pPr>
            <a:lvl6pPr>
              <a:defRPr sz="1125" b="0">
                <a:solidFill>
                  <a:srgbClr val="526775"/>
                </a:solidFill>
              </a:defRPr>
            </a:lvl6pPr>
            <a:lvl7pPr>
              <a:defRPr sz="1125" b="0">
                <a:solidFill>
                  <a:srgbClr val="526775"/>
                </a:solidFill>
              </a:defRPr>
            </a:lvl7pPr>
            <a:lvl8pPr>
              <a:defRPr sz="1125" b="0">
                <a:solidFill>
                  <a:srgbClr val="526775"/>
                </a:solidFill>
              </a:defRPr>
            </a:lvl8pPr>
            <a:lvl9pPr>
              <a:defRPr sz="1125" b="0">
                <a:solidFill>
                  <a:srgbClr val="526775"/>
                </a:solidFill>
              </a:defRPr>
            </a:lvl9pPr>
          </a:lstStyle>
          <a:p>
            <a:pPr>
              <a:defRPr sz="1125" b="0">
                <a:solidFill>
                  <a:srgbClr val="526775"/>
                </a:solidFill>
              </a:defRPr>
            </a:pPr>
            <a:r>
              <a:rPr sz="1125" b="0">
                <a:solidFill>
                  <a:srgbClr val="526775"/>
                </a:solidFill>
              </a:rPr>
              <a:t>Fuentes citadas en el artículo y lineamientos suministrados</a:t>
            </a:r>
          </a:p>
        </p:txBody>
      </p:sp>
      <p:sp>
        <p:nvSpPr>
          <p:cNvPr id="5" name="Rectángulo 4">
            <a:extLst>
              <a:ext uri="{FF2B5EF4-FFF2-40B4-BE49-F238E27FC236}">
                <a16:creationId xmlns:a16="http://schemas.microsoft.com/office/drawing/2014/main" id="{48A33433-1D17-4B9C-A0AF-F03A8A34CED8}"/>
              </a:ext>
            </a:extLst>
          </p:cNvPr>
          <p:cNvSpPr>
            <a:spLocks noGrp="1"/>
          </p:cNvSpPr>
          <p:nvPr/>
        </p:nvSpPr>
        <p:spPr>
          <a:xfrm>
            <a:off x="11239500" y="6334125"/>
            <a:ext cx="523875" cy="285750"/>
          </a:xfrm>
          <a:prstGeom prst="rect">
            <a:avLst/>
          </a:prstGeom>
          <a:noFill/>
          <a:ln w="0">
            <a:noFill/>
          </a:ln>
        </p:spPr>
        <p:txBody>
          <a:bodyPr/>
          <a:lstStyle>
            <a:defPPr>
              <a:defRPr sz="1275" b="0">
                <a:solidFill>
                  <a:srgbClr val="526775"/>
                </a:solidFill>
              </a:defRPr>
            </a:defPPr>
            <a:lvl1pPr>
              <a:defRPr sz="1275" b="0">
                <a:solidFill>
                  <a:srgbClr val="526775"/>
                </a:solidFill>
              </a:defRPr>
            </a:lvl1pPr>
            <a:lvl2pPr>
              <a:defRPr sz="1275" b="0">
                <a:solidFill>
                  <a:srgbClr val="526775"/>
                </a:solidFill>
              </a:defRPr>
            </a:lvl2pPr>
            <a:lvl3pPr>
              <a:defRPr sz="1275" b="0">
                <a:solidFill>
                  <a:srgbClr val="526775"/>
                </a:solidFill>
              </a:defRPr>
            </a:lvl3pPr>
            <a:lvl4pPr>
              <a:defRPr sz="1275" b="0">
                <a:solidFill>
                  <a:srgbClr val="526775"/>
                </a:solidFill>
              </a:defRPr>
            </a:lvl4pPr>
            <a:lvl5pPr>
              <a:defRPr sz="1275" b="0">
                <a:solidFill>
                  <a:srgbClr val="526775"/>
                </a:solidFill>
              </a:defRPr>
            </a:lvl5pPr>
            <a:lvl6pPr>
              <a:defRPr sz="1275" b="0">
                <a:solidFill>
                  <a:srgbClr val="526775"/>
                </a:solidFill>
              </a:defRPr>
            </a:lvl6pPr>
            <a:lvl7pPr>
              <a:defRPr sz="1275" b="0">
                <a:solidFill>
                  <a:srgbClr val="526775"/>
                </a:solidFill>
              </a:defRPr>
            </a:lvl7pPr>
            <a:lvl8pPr>
              <a:defRPr sz="1275" b="0">
                <a:solidFill>
                  <a:srgbClr val="526775"/>
                </a:solidFill>
              </a:defRPr>
            </a:lvl8pPr>
            <a:lvl9pPr>
              <a:defRPr sz="1275" b="0">
                <a:solidFill>
                  <a:srgbClr val="526775"/>
                </a:solidFill>
              </a:defRPr>
            </a:lvl9pPr>
          </a:lstStyle>
          <a:p>
            <a:pPr>
              <a:defRPr sz="1275" b="0">
                <a:solidFill>
                  <a:srgbClr val="526775"/>
                </a:solidFill>
              </a:defRPr>
            </a:pPr>
            <a:r>
              <a:rPr sz="1275" b="0">
                <a:solidFill>
                  <a:srgbClr val="526775"/>
                </a:solidFill>
              </a:rPr>
              <a:t>18</a:t>
            </a:r>
          </a:p>
        </p:txBody>
      </p:sp>
      <p:sp>
        <p:nvSpPr>
          <p:cNvPr id="6" name="Rectángulo 5">
            <a:extLst>
              <a:ext uri="{FF2B5EF4-FFF2-40B4-BE49-F238E27FC236}">
                <a16:creationId xmlns:a16="http://schemas.microsoft.com/office/drawing/2014/main" id="{FA14E67A-C9F9-4384-BBF9-279524A1A9C1}"/>
              </a:ext>
            </a:extLst>
          </p:cNvPr>
          <p:cNvSpPr>
            <a:spLocks noGrp="1"/>
          </p:cNvSpPr>
          <p:nvPr/>
        </p:nvSpPr>
        <p:spPr>
          <a:xfrm>
            <a:off x="609600" y="1838325"/>
            <a:ext cx="10953750" cy="762000"/>
          </a:xfrm>
          <a:prstGeom prst="rect">
            <a:avLst/>
          </a:prstGeom>
          <a:noFill/>
          <a:ln w="0">
            <a:noFill/>
          </a:ln>
        </p:spPr>
        <p:txBody>
          <a:bodyPr/>
          <a:lstStyle>
            <a:defPPr>
              <a:defRPr sz="1875" b="1">
                <a:solidFill>
                  <a:srgbClr val="102D40"/>
                </a:solidFill>
              </a:defRPr>
            </a:defPPr>
            <a:lvl1pPr>
              <a:defRPr sz="1875" b="1">
                <a:solidFill>
                  <a:srgbClr val="102D40"/>
                </a:solidFill>
              </a:defRPr>
            </a:lvl1pPr>
            <a:lvl2pPr>
              <a:defRPr sz="1875" b="1">
                <a:solidFill>
                  <a:srgbClr val="102D40"/>
                </a:solidFill>
              </a:defRPr>
            </a:lvl2pPr>
            <a:lvl3pPr>
              <a:defRPr sz="1875" b="1">
                <a:solidFill>
                  <a:srgbClr val="102D40"/>
                </a:solidFill>
              </a:defRPr>
            </a:lvl3pPr>
            <a:lvl4pPr>
              <a:defRPr sz="1875" b="1">
                <a:solidFill>
                  <a:srgbClr val="102D40"/>
                </a:solidFill>
              </a:defRPr>
            </a:lvl4pPr>
            <a:lvl5pPr>
              <a:defRPr sz="1875" b="1">
                <a:solidFill>
                  <a:srgbClr val="102D40"/>
                </a:solidFill>
              </a:defRPr>
            </a:lvl5pPr>
            <a:lvl6pPr>
              <a:defRPr sz="1875" b="1">
                <a:solidFill>
                  <a:srgbClr val="102D40"/>
                </a:solidFill>
              </a:defRPr>
            </a:lvl6pPr>
            <a:lvl7pPr>
              <a:defRPr sz="1875" b="1">
                <a:solidFill>
                  <a:srgbClr val="102D40"/>
                </a:solidFill>
              </a:defRPr>
            </a:lvl7pPr>
            <a:lvl8pPr>
              <a:defRPr sz="1875" b="1">
                <a:solidFill>
                  <a:srgbClr val="102D40"/>
                </a:solidFill>
              </a:defRPr>
            </a:lvl8pPr>
            <a:lvl9pPr>
              <a:defRPr sz="1875" b="1">
                <a:solidFill>
                  <a:srgbClr val="102D40"/>
                </a:solidFill>
              </a:defRPr>
            </a:lvl9pPr>
          </a:lstStyle>
          <a:p>
            <a:pPr>
              <a:defRPr sz="1875" b="1">
                <a:solidFill>
                  <a:srgbClr val="102D40"/>
                </a:solidFill>
              </a:defRPr>
            </a:pPr>
            <a:r>
              <a:rPr sz="1875" b="1">
                <a:solidFill>
                  <a:srgbClr val="102D40"/>
                </a:solidFill>
              </a:rPr>
              <a:t>Piperno et al. (2025). Knowledge-Based Systems, 311, 113079.</a:t>
            </a:r>
          </a:p>
          <a:p>
            <a:pPr>
              <a:defRPr sz="1875" b="1">
                <a:solidFill>
                  <a:srgbClr val="102D40"/>
                </a:solidFill>
              </a:defRPr>
            </a:pPr>
            <a:r>
              <a:rPr sz="1875" b="1">
                <a:solidFill>
                  <a:srgbClr val="102D40"/>
                </a:solidFill>
              </a:rPr>
              <a:t>doi:10.1016/j.knosys.2025.113079</a:t>
            </a:r>
          </a:p>
        </p:txBody>
      </p:sp>
      <p:sp>
        <p:nvSpPr>
          <p:cNvPr id="7" name="Rectángulo 6">
            <a:extLst>
              <a:ext uri="{FF2B5EF4-FFF2-40B4-BE49-F238E27FC236}">
                <a16:creationId xmlns:a16="http://schemas.microsoft.com/office/drawing/2014/main" id="{6AC034EB-35B6-4867-A24B-E5273BFC5FF5}"/>
              </a:ext>
            </a:extLst>
          </p:cNvPr>
          <p:cNvSpPr>
            <a:spLocks noGrp="1"/>
          </p:cNvSpPr>
          <p:nvPr/>
        </p:nvSpPr>
        <p:spPr>
          <a:xfrm>
            <a:off x="609600" y="2781300"/>
            <a:ext cx="10953750" cy="1685925"/>
          </a:xfrm>
          <a:prstGeom prst="rect">
            <a:avLst/>
          </a:prstGeom>
          <a:noFill/>
          <a:ln w="0">
            <a:noFill/>
          </a:ln>
        </p:spPr>
        <p:txBody>
          <a:bodyPr/>
          <a:lstStyle>
            <a:defPPr>
              <a:defRPr sz="1725" b="0">
                <a:solidFill>
                  <a:srgbClr val="16384A"/>
                </a:solidFill>
              </a:defRPr>
            </a:defPPr>
            <a:lvl1pPr>
              <a:defRPr sz="1725" b="0">
                <a:solidFill>
                  <a:srgbClr val="16384A"/>
                </a:solidFill>
              </a:defRPr>
            </a:lvl1pPr>
            <a:lvl2pPr>
              <a:defRPr sz="1725" b="0">
                <a:solidFill>
                  <a:srgbClr val="16384A"/>
                </a:solidFill>
              </a:defRPr>
            </a:lvl2pPr>
            <a:lvl3pPr>
              <a:defRPr sz="1725" b="0">
                <a:solidFill>
                  <a:srgbClr val="16384A"/>
                </a:solidFill>
              </a:defRPr>
            </a:lvl3pPr>
            <a:lvl4pPr>
              <a:defRPr sz="1725" b="0">
                <a:solidFill>
                  <a:srgbClr val="16384A"/>
                </a:solidFill>
              </a:defRPr>
            </a:lvl4pPr>
            <a:lvl5pPr>
              <a:defRPr sz="1725" b="0">
                <a:solidFill>
                  <a:srgbClr val="16384A"/>
                </a:solidFill>
              </a:defRPr>
            </a:lvl5pPr>
            <a:lvl6pPr>
              <a:defRPr sz="1725" b="0">
                <a:solidFill>
                  <a:srgbClr val="16384A"/>
                </a:solidFill>
              </a:defRPr>
            </a:lvl6pPr>
            <a:lvl7pPr>
              <a:defRPr sz="1725" b="0">
                <a:solidFill>
                  <a:srgbClr val="16384A"/>
                </a:solidFill>
              </a:defRPr>
            </a:lvl7pPr>
            <a:lvl8pPr>
              <a:defRPr sz="1725" b="0">
                <a:solidFill>
                  <a:srgbClr val="16384A"/>
                </a:solidFill>
              </a:defRPr>
            </a:lvl8pPr>
            <a:lvl9pPr>
              <a:defRPr sz="1725" b="0">
                <a:solidFill>
                  <a:srgbClr val="16384A"/>
                </a:solidFill>
              </a:defRPr>
            </a:lvl9pPr>
          </a:lstStyle>
          <a:p>
            <a:pPr>
              <a:defRPr sz="1725" b="0">
                <a:solidFill>
                  <a:srgbClr val="16384A"/>
                </a:solidFill>
              </a:defRPr>
            </a:pPr>
            <a:r>
              <a:rPr sz="1725" b="0">
                <a:solidFill>
                  <a:srgbClr val="16384A"/>
                </a:solidFill>
              </a:rPr>
              <a:t>Reimers y Gurevych (2020). Destilación multilingüe.</a:t>
            </a:r>
          </a:p>
          <a:p>
            <a:pPr>
              <a:defRPr sz="1725" b="0">
                <a:solidFill>
                  <a:srgbClr val="16384A"/>
                </a:solidFill>
              </a:defRPr>
            </a:pPr>
            <a:r>
              <a:rPr sz="1725" b="0">
                <a:solidFill>
                  <a:srgbClr val="16384A"/>
                </a:solidFill>
              </a:rPr>
              <a:t>doi:10.18653/v1/2020.emnlp-main.365</a:t>
            </a:r>
          </a:p>
          <a:p>
            <a:endParaRPr sz="1725" b="0">
              <a:solidFill>
                <a:srgbClr val="16384A"/>
              </a:solidFill>
            </a:endParaRPr>
          </a:p>
          <a:p>
            <a:pPr>
              <a:defRPr sz="1725" b="0">
                <a:solidFill>
                  <a:srgbClr val="16384A"/>
                </a:solidFill>
              </a:defRPr>
            </a:pPr>
            <a:r>
              <a:rPr sz="1725" b="0">
                <a:solidFill>
                  <a:srgbClr val="16384A"/>
                </a:solidFill>
              </a:rPr>
              <a:t>Reimers y Gurevych (2019). Sentence-BERT. doi:10.18653/v1/D19-1410</a:t>
            </a:r>
          </a:p>
          <a:p>
            <a:pPr>
              <a:defRPr sz="1725" b="0">
                <a:solidFill>
                  <a:srgbClr val="16384A"/>
                </a:solidFill>
              </a:defRPr>
            </a:pPr>
            <a:r>
              <a:rPr sz="1725" b="0">
                <a:solidFill>
                  <a:srgbClr val="16384A"/>
                </a:solidFill>
              </a:rPr>
              <a:t>Lee et al. (2020). BioBERT. doi:10.1093/bioinformatics/btz682</a:t>
            </a:r>
          </a:p>
        </p:txBody>
      </p:sp>
      <p:sp>
        <p:nvSpPr>
          <p:cNvPr id="8" name="Rectángulo 7">
            <a:extLst>
              <a:ext uri="{FF2B5EF4-FFF2-40B4-BE49-F238E27FC236}">
                <a16:creationId xmlns:a16="http://schemas.microsoft.com/office/drawing/2014/main" id="{251C292A-C46E-4408-8283-6350DAE0846F}"/>
              </a:ext>
            </a:extLst>
          </p:cNvPr>
          <p:cNvSpPr>
            <a:spLocks noGrp="1"/>
          </p:cNvSpPr>
          <p:nvPr/>
        </p:nvSpPr>
        <p:spPr>
          <a:xfrm>
            <a:off x="609600" y="4791075"/>
            <a:ext cx="10953750" cy="1133475"/>
          </a:xfrm>
          <a:prstGeom prst="rect">
            <a:avLst/>
          </a:prstGeom>
          <a:noFill/>
          <a:ln w="0">
            <a:noFill/>
          </a:ln>
        </p:spPr>
        <p:txBody>
          <a:bodyPr/>
          <a:lstStyle>
            <a:defPPr>
              <a:defRPr sz="1800" b="0">
                <a:solidFill>
                  <a:srgbClr val="087F8C"/>
                </a:solidFill>
              </a:defRPr>
            </a:defPPr>
            <a:lvl1pPr>
              <a:defRPr sz="1800" b="0">
                <a:solidFill>
                  <a:srgbClr val="087F8C"/>
                </a:solidFill>
              </a:defRPr>
            </a:lvl1pPr>
            <a:lvl2pPr>
              <a:defRPr sz="1800" b="0">
                <a:solidFill>
                  <a:srgbClr val="087F8C"/>
                </a:solidFill>
              </a:defRPr>
            </a:lvl2pPr>
            <a:lvl3pPr>
              <a:defRPr sz="1800" b="0">
                <a:solidFill>
                  <a:srgbClr val="087F8C"/>
                </a:solidFill>
              </a:defRPr>
            </a:lvl3pPr>
            <a:lvl4pPr>
              <a:defRPr sz="1800" b="0">
                <a:solidFill>
                  <a:srgbClr val="087F8C"/>
                </a:solidFill>
              </a:defRPr>
            </a:lvl4pPr>
            <a:lvl5pPr>
              <a:defRPr sz="1800" b="0">
                <a:solidFill>
                  <a:srgbClr val="087F8C"/>
                </a:solidFill>
              </a:defRPr>
            </a:lvl5pPr>
            <a:lvl6pPr>
              <a:defRPr sz="1800" b="0">
                <a:solidFill>
                  <a:srgbClr val="087F8C"/>
                </a:solidFill>
              </a:defRPr>
            </a:lvl6pPr>
            <a:lvl7pPr>
              <a:defRPr sz="1800" b="0">
                <a:solidFill>
                  <a:srgbClr val="087F8C"/>
                </a:solidFill>
              </a:defRPr>
            </a:lvl7pPr>
            <a:lvl8pPr>
              <a:defRPr sz="1800" b="0">
                <a:solidFill>
                  <a:srgbClr val="087F8C"/>
                </a:solidFill>
              </a:defRPr>
            </a:lvl8pPr>
            <a:lvl9pPr>
              <a:defRPr sz="1800" b="0">
                <a:solidFill>
                  <a:srgbClr val="087F8C"/>
                </a:solidFill>
              </a:defRPr>
            </a:lvl9pPr>
          </a:lstStyle>
          <a:p>
            <a:pPr>
              <a:defRPr sz="1800" b="0">
                <a:solidFill>
                  <a:srgbClr val="087F8C"/>
                </a:solidFill>
              </a:defRPr>
            </a:pPr>
            <a:r>
              <a:rPr sz="1800" b="0">
                <a:solidFill>
                  <a:srgbClr val="087F8C"/>
                </a:solidFill>
              </a:rPr>
              <a:t>Embedding: vector que representa un texto. KD: destilación de conocimiento.</a:t>
            </a:r>
          </a:p>
          <a:p>
            <a:pPr>
              <a:defRPr sz="1800" b="0">
                <a:solidFill>
                  <a:srgbClr val="087F8C"/>
                </a:solidFill>
              </a:defRPr>
            </a:pPr>
            <a:r>
              <a:rPr sz="1800" b="0">
                <a:solidFill>
                  <a:srgbClr val="087F8C"/>
                </a:solidFill>
              </a:rPr>
              <a:t>MNRL: pérdida de ranking con múltiples negativos. MSE: error cuadrático medio.</a:t>
            </a:r>
          </a:p>
          <a:p>
            <a:pPr>
              <a:defRPr sz="1800" b="0">
                <a:solidFill>
                  <a:srgbClr val="087F8C"/>
                </a:solidFill>
              </a:defRPr>
            </a:pPr>
            <a:r>
              <a:rPr sz="1800" b="0">
                <a:solidFill>
                  <a:srgbClr val="087F8C"/>
                </a:solidFill>
              </a:rPr>
              <a:t>RSA: análisis de similitud representacional. noKD: ajuste sin destilación.</a:t>
            </a:r>
          </a:p>
        </p:txBody>
      </p:sp>
    </p:spTree>
    <p:extLst>
      <p:ext uri="{BB962C8B-B14F-4D97-AF65-F5344CB8AC3E}">
        <p14:creationId xmlns:p14="http://schemas.microsoft.com/office/powerpoint/2010/main" val="27337544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371</TotalTime>
  <Words>3416</Words>
  <Application>Microsoft Office PowerPoint</Application>
  <DocSecurity>0</DocSecurity>
  <PresentationFormat>Panorámica</PresentationFormat>
  <Paragraphs>233</Paragraphs>
  <Slides>14</Slides>
  <Notes>14</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14</vt:i4>
      </vt:variant>
    </vt:vector>
  </HeadingPairs>
  <TitlesOfParts>
    <vt:vector size="16" baseType="lpstr">
      <vt:lpstr>Arial</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Óscar Andrés Prieto Moreno</cp:lastModifiedBy>
  <cp:revision>2</cp:revision>
  <dcterms:created xsi:type="dcterms:W3CDTF">2026-10-24T03:23:55Z</dcterms:created>
  <dcterms:modified xsi:type="dcterms:W3CDTF">2026-10-24T21:43:35Z</dcterms:modified>
</cp:coreProperties>
</file>