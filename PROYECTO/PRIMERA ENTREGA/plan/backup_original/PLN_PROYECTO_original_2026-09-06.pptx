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354" r:id="rId3"/>
    <p:sldId id="310" r:id="rId4"/>
    <p:sldId id="340" r:id="rId5"/>
    <p:sldId id="341" r:id="rId6"/>
    <p:sldId id="342" r:id="rId7"/>
    <p:sldId id="343" r:id="rId8"/>
    <p:sldId id="345" r:id="rId9"/>
    <p:sldId id="346" r:id="rId10"/>
    <p:sldId id="347" r:id="rId11"/>
    <p:sldId id="348" r:id="rId12"/>
    <p:sldId id="349" r:id="rId13"/>
    <p:sldId id="350" r:id="rId14"/>
    <p:sldId id="351" r:id="rId15"/>
    <p:sldId id="353" r:id="rId16"/>
    <p:sldId id="352" r:id="rId17"/>
    <p:sldId id="284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257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>
          <p15:clr>
            <a:srgbClr val="747775"/>
          </p15:clr>
        </p15:guide>
        <p15:guide id="4" pos="5443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6" roundtripDataSignature="AMtx7mg98kHgZzV27N0h6VEbnu3a7/bW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378" autoAdjust="0"/>
  </p:normalViewPr>
  <p:slideViewPr>
    <p:cSldViewPr snapToGrid="0">
      <p:cViewPr varScale="1">
        <p:scale>
          <a:sx n="98" d="100"/>
          <a:sy n="98" d="100"/>
        </p:scale>
        <p:origin x="1038" y="78"/>
      </p:cViewPr>
      <p:guideLst>
        <p:guide orient="horz" pos="2257"/>
        <p:guide pos="3840"/>
        <p:guide orient="horz"/>
        <p:guide pos="54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56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04C267B1-5F29-0C20-FA83-A4FA2928F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307EE224-0ECE-7416-F50A-86901687A0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5A66EB04-37B1-D68F-51FA-8D9CCD5311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B9299495-D00A-40E3-B18C-1F6F356154A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77304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6A8DD0D5-0A6C-CA12-262B-5F903951E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3f66bba02_1_6:notes">
            <a:extLst>
              <a:ext uri="{FF2B5EF4-FFF2-40B4-BE49-F238E27FC236}">
                <a16:creationId xmlns:a16="http://schemas.microsoft.com/office/drawing/2014/main" id="{638A3FEE-CE78-01E6-8627-42F288C579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g393f66bba02_1_6:notes">
            <a:extLst>
              <a:ext uri="{FF2B5EF4-FFF2-40B4-BE49-F238E27FC236}">
                <a16:creationId xmlns:a16="http://schemas.microsoft.com/office/drawing/2014/main" id="{8596C4D0-4191-40B5-6245-CF1C1792A7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246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FBBDA2E-FC28-3A1A-94D0-707C38E9B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3f66bba02_1_6:notes">
            <a:extLst>
              <a:ext uri="{FF2B5EF4-FFF2-40B4-BE49-F238E27FC236}">
                <a16:creationId xmlns:a16="http://schemas.microsoft.com/office/drawing/2014/main" id="{A9E70754-6792-1312-78DA-2247F379E0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g393f66bba02_1_6:notes">
            <a:extLst>
              <a:ext uri="{FF2B5EF4-FFF2-40B4-BE49-F238E27FC236}">
                <a16:creationId xmlns:a16="http://schemas.microsoft.com/office/drawing/2014/main" id="{8BB2F20C-5B98-0812-65C5-88BD42C1A5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7325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4FD18DCE-5005-BA97-F64E-02E719F90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98BE8465-C3FD-FC03-6314-2A3980F1D7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ED322770-75D2-77AA-6C53-04211FAFD7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123BE0B0-0A95-F1E7-12C3-F3226676EE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6322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1CE6857-C7EA-2170-66BE-72069B4D6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3f66bba02_1_6:notes">
            <a:extLst>
              <a:ext uri="{FF2B5EF4-FFF2-40B4-BE49-F238E27FC236}">
                <a16:creationId xmlns:a16="http://schemas.microsoft.com/office/drawing/2014/main" id="{E8F0814B-D50F-4D31-7253-69BD018203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g393f66bba02_1_6:notes">
            <a:extLst>
              <a:ext uri="{FF2B5EF4-FFF2-40B4-BE49-F238E27FC236}">
                <a16:creationId xmlns:a16="http://schemas.microsoft.com/office/drawing/2014/main" id="{14769398-3288-681B-F24C-89FC4F9430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00267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C524E04-B07C-2C84-B871-8F9574C34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3f66bba02_1_6:notes">
            <a:extLst>
              <a:ext uri="{FF2B5EF4-FFF2-40B4-BE49-F238E27FC236}">
                <a16:creationId xmlns:a16="http://schemas.microsoft.com/office/drawing/2014/main" id="{C07E6053-E17F-1C8D-616E-3D28A66185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g393f66bba02_1_6:notes">
            <a:extLst>
              <a:ext uri="{FF2B5EF4-FFF2-40B4-BE49-F238E27FC236}">
                <a16:creationId xmlns:a16="http://schemas.microsoft.com/office/drawing/2014/main" id="{F9DA81FF-3D8A-4F8F-CB2A-B8F5097DB0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084130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D30993F0-BE28-E811-2CBE-4ACD11751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5DCD030C-A2E8-CAF4-EE2F-A144514287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5134C542-1436-5093-424A-B9303F02B8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458CA141-EF2B-40F7-E3EB-3EB84C433E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212806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DFFB604-B89E-FF47-A4A9-DC50DE1CF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3f66bba02_1_6:notes">
            <a:extLst>
              <a:ext uri="{FF2B5EF4-FFF2-40B4-BE49-F238E27FC236}">
                <a16:creationId xmlns:a16="http://schemas.microsoft.com/office/drawing/2014/main" id="{89435889-151B-532C-7B01-7C94C7527D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g393f66bba02_1_6:notes">
            <a:extLst>
              <a:ext uri="{FF2B5EF4-FFF2-40B4-BE49-F238E27FC236}">
                <a16:creationId xmlns:a16="http://schemas.microsoft.com/office/drawing/2014/main" id="{55BBE94E-4DE8-A1BA-515C-7121E49AE2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410219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8EB09C5-1039-719C-6349-6015FBDC0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3f66bba02_1_6:notes">
            <a:extLst>
              <a:ext uri="{FF2B5EF4-FFF2-40B4-BE49-F238E27FC236}">
                <a16:creationId xmlns:a16="http://schemas.microsoft.com/office/drawing/2014/main" id="{3FEC2A7C-8E90-75F5-9587-C496EC2D55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g393f66bba02_1_6:notes">
            <a:extLst>
              <a:ext uri="{FF2B5EF4-FFF2-40B4-BE49-F238E27FC236}">
                <a16:creationId xmlns:a16="http://schemas.microsoft.com/office/drawing/2014/main" id="{63963C81-1A99-BD3F-C533-DA015B09F9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9046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B276144-9CC8-2E28-28B2-43B100D30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3f66bba02_1_6:notes">
            <a:extLst>
              <a:ext uri="{FF2B5EF4-FFF2-40B4-BE49-F238E27FC236}">
                <a16:creationId xmlns:a16="http://schemas.microsoft.com/office/drawing/2014/main" id="{8713843E-6FD9-56E9-18C4-C65BA48870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g393f66bba02_1_6:notes">
            <a:extLst>
              <a:ext uri="{FF2B5EF4-FFF2-40B4-BE49-F238E27FC236}">
                <a16:creationId xmlns:a16="http://schemas.microsoft.com/office/drawing/2014/main" id="{9EDC0D3E-4709-9EA4-B34E-222E79D030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92857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950B1BAA-BB37-23EA-E1DF-B14B95885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3f66bba02_1_6:notes">
            <a:extLst>
              <a:ext uri="{FF2B5EF4-FFF2-40B4-BE49-F238E27FC236}">
                <a16:creationId xmlns:a16="http://schemas.microsoft.com/office/drawing/2014/main" id="{A7842C0E-6A4F-1829-AF14-F426E9AEA2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g393f66bba02_1_6:notes">
            <a:extLst>
              <a:ext uri="{FF2B5EF4-FFF2-40B4-BE49-F238E27FC236}">
                <a16:creationId xmlns:a16="http://schemas.microsoft.com/office/drawing/2014/main" id="{897A81AD-30DB-7C1C-E7E1-17112689CF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99362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F44E48C-A5C5-253D-6866-6B020C354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3f66bba02_1_6:notes">
            <a:extLst>
              <a:ext uri="{FF2B5EF4-FFF2-40B4-BE49-F238E27FC236}">
                <a16:creationId xmlns:a16="http://schemas.microsoft.com/office/drawing/2014/main" id="{C70E20CF-31D5-F41E-EC29-D567E8581B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g393f66bba02_1_6:notes">
            <a:extLst>
              <a:ext uri="{FF2B5EF4-FFF2-40B4-BE49-F238E27FC236}">
                <a16:creationId xmlns:a16="http://schemas.microsoft.com/office/drawing/2014/main" id="{D87ABB6D-E395-E8C1-9540-AE096878E2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15640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E9DC6CE4-D232-F313-E8AE-AAD253CF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4CAD1930-CD85-F60D-4300-023F19E94B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575C16BC-D493-4C04-F5A9-E2F8AEF92F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CD03E723-634E-E879-F501-6E651DD1D7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79144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B586E94-FC6B-F4CE-54B9-1C2E9A54A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3f66bba02_1_6:notes">
            <a:extLst>
              <a:ext uri="{FF2B5EF4-FFF2-40B4-BE49-F238E27FC236}">
                <a16:creationId xmlns:a16="http://schemas.microsoft.com/office/drawing/2014/main" id="{FFEF56AB-39F9-9A78-9AF8-9E458968D5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g393f66bba02_1_6:notes">
            <a:extLst>
              <a:ext uri="{FF2B5EF4-FFF2-40B4-BE49-F238E27FC236}">
                <a16:creationId xmlns:a16="http://schemas.microsoft.com/office/drawing/2014/main" id="{15A5E3F0-7DE0-971F-D8ED-60F16EC3D9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38413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9411826e08_2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590" name="Google Shape;590;g39411826e08_2_1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g39411826e08_2_1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68" name="Google Shape;68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uggingface.co/datasets/Manuel/sentencias-corte-cons-colombia-1992-2021" TargetMode="Externa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95"/>
            <a:ext cx="12192000" cy="610554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3120836" y="2351525"/>
            <a:ext cx="8843623" cy="2605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s-CO" sz="4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Análisis de sentencias de la Corte Constitucional de Colombia (1992-2021)</a:t>
            </a:r>
          </a:p>
        </p:txBody>
      </p:sp>
      <p:sp>
        <p:nvSpPr>
          <p:cNvPr id="91" name="Google Shape;91;p1"/>
          <p:cNvSpPr txBox="1"/>
          <p:nvPr/>
        </p:nvSpPr>
        <p:spPr>
          <a:xfrm>
            <a:off x="5398379" y="5284794"/>
            <a:ext cx="4029086" cy="118001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CO" sz="1800" dirty="0">
                <a:solidFill>
                  <a:srgbClr val="00206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Erika Valeria Rivera Jiménez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CO" sz="1800" dirty="0">
                <a:solidFill>
                  <a:srgbClr val="00206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Julian Guillermo Carrillo Meneses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CO" sz="1800" dirty="0">
                <a:solidFill>
                  <a:srgbClr val="00206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Carlos Andrés Garnica Salazar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CO" sz="1800" dirty="0">
                <a:solidFill>
                  <a:srgbClr val="00206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Oscar Andrés Prieto Moreno</a:t>
            </a:r>
            <a:endParaRPr lang="en-US" sz="1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5" cy="162306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5;g393f66bba02_1_6">
            <a:extLst>
              <a:ext uri="{FF2B5EF4-FFF2-40B4-BE49-F238E27FC236}">
                <a16:creationId xmlns:a16="http://schemas.microsoft.com/office/drawing/2014/main" id="{CA6811AD-66B4-DD7B-83D4-EAFFD0C5313D}"/>
              </a:ext>
            </a:extLst>
          </p:cNvPr>
          <p:cNvSpPr/>
          <p:nvPr/>
        </p:nvSpPr>
        <p:spPr>
          <a:xfrm>
            <a:off x="1496965" y="324857"/>
            <a:ext cx="6824075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s-CO" sz="3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Contenido</a:t>
            </a:r>
            <a:endParaRPr lang="es-CO" sz="3200" b="1" i="0" u="none" strike="noStrike" cap="none" noProof="0" dirty="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51C1CA4-4288-4030-BE3A-08038B92CE05}"/>
              </a:ext>
            </a:extLst>
          </p:cNvPr>
          <p:cNvSpPr txBox="1"/>
          <p:nvPr/>
        </p:nvSpPr>
        <p:spPr>
          <a:xfrm>
            <a:off x="914400" y="19177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000" b="1">
                <a:solidFill>
                  <a:srgbClr val="2F75B5"/>
                </a:solidFill>
              </a:rPr>
              <a:t>RUTA DE LA PRESENTACIÓN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9088DC0-F5E5-4A0B-B885-8D5DF22C6ECE}"/>
              </a:ext>
            </a:extLst>
          </p:cNvPr>
          <p:cNvSpPr/>
          <p:nvPr/>
        </p:nvSpPr>
        <p:spPr>
          <a:xfrm>
            <a:off x="914400" y="2260600"/>
            <a:ext cx="10363200" cy="812800"/>
          </a:xfrm>
          <a:prstGeom prst="roundRect">
            <a:avLst/>
          </a:prstGeom>
          <a:solidFill>
            <a:srgbClr val="EAF2F8"/>
          </a:solidFill>
          <a:ln w="15240" cap="flat" cmpd="sng" algn="ctr">
            <a:solidFill>
              <a:srgbClr val="2F75B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7B5FA8A6-1A2E-41FC-9561-8A3DACE44FF8}"/>
              </a:ext>
            </a:extLst>
          </p:cNvPr>
          <p:cNvSpPr/>
          <p:nvPr/>
        </p:nvSpPr>
        <p:spPr>
          <a:xfrm>
            <a:off x="1066800" y="2387600"/>
            <a:ext cx="609600" cy="558800"/>
          </a:xfrm>
          <a:prstGeom prst="roundRect">
            <a:avLst/>
          </a:prstGeom>
          <a:solidFill>
            <a:srgbClr val="2F75B5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s-CO" sz="1700" b="1">
                <a:solidFill>
                  <a:srgbClr val="FFFFFF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3B49051-CB16-4F2F-966B-E99A32D0B859}"/>
              </a:ext>
            </a:extLst>
          </p:cNvPr>
          <p:cNvSpPr txBox="1"/>
          <p:nvPr/>
        </p:nvSpPr>
        <p:spPr>
          <a:xfrm>
            <a:off x="1905000" y="2362200"/>
            <a:ext cx="74930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800" b="1">
                <a:solidFill>
                  <a:srgbClr val="073654"/>
                </a:solidFill>
              </a:rPr>
              <a:t>Contextualización</a:t>
            </a:r>
            <a:r>
              <a:rPr lang="es-ES" sz="1200">
                <a:solidFill>
                  <a:srgbClr val="425466"/>
                </a:solidFill>
              </a:rPr>
              <a:t>
Reto, objetivo y preguntas de investigación</a:t>
            </a:r>
            <a:endParaRPr lang="es-CO" sz="1200">
              <a:solidFill>
                <a:srgbClr val="425466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3CF866F-DC8B-4097-9617-4D9E4CD82EDC}"/>
              </a:ext>
            </a:extLst>
          </p:cNvPr>
          <p:cNvSpPr txBox="1"/>
          <p:nvPr/>
        </p:nvSpPr>
        <p:spPr>
          <a:xfrm>
            <a:off x="9906000" y="2413000"/>
            <a:ext cx="10414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CO" sz="1500" b="1">
                <a:solidFill>
                  <a:srgbClr val="2F75B5"/>
                </a:solidFill>
              </a:rPr>
              <a:t>03–05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AF779889-907F-4DB7-9C38-25F5E77DCEA4}"/>
              </a:ext>
            </a:extLst>
          </p:cNvPr>
          <p:cNvSpPr/>
          <p:nvPr/>
        </p:nvSpPr>
        <p:spPr>
          <a:xfrm>
            <a:off x="914400" y="3251200"/>
            <a:ext cx="10363200" cy="812800"/>
          </a:xfrm>
          <a:prstGeom prst="roundRect">
            <a:avLst/>
          </a:prstGeom>
          <a:solidFill>
            <a:srgbClr val="FFF4D6"/>
          </a:solidFill>
          <a:ln w="15240" cap="flat" cmpd="sng" algn="ctr">
            <a:solidFill>
              <a:srgbClr val="D99A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B4D6A86B-3AFA-4C98-841F-16B166E8E032}"/>
              </a:ext>
            </a:extLst>
          </p:cNvPr>
          <p:cNvSpPr/>
          <p:nvPr/>
        </p:nvSpPr>
        <p:spPr>
          <a:xfrm>
            <a:off x="1066800" y="3378200"/>
            <a:ext cx="609600" cy="558800"/>
          </a:xfrm>
          <a:prstGeom prst="roundRect">
            <a:avLst/>
          </a:prstGeom>
          <a:solidFill>
            <a:srgbClr val="D99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s-CO" sz="1700" b="1">
                <a:solidFill>
                  <a:srgbClr val="FFFFFF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844C555-7F10-44D9-AEE7-7FAF49543E5E}"/>
              </a:ext>
            </a:extLst>
          </p:cNvPr>
          <p:cNvSpPr txBox="1"/>
          <p:nvPr/>
        </p:nvSpPr>
        <p:spPr>
          <a:xfrm>
            <a:off x="1905000" y="3352800"/>
            <a:ext cx="74930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800" b="1">
                <a:solidFill>
                  <a:srgbClr val="073654"/>
                </a:solidFill>
              </a:rPr>
              <a:t>Construcción del corpus</a:t>
            </a:r>
            <a:r>
              <a:rPr lang="es-ES" sz="1200">
                <a:solidFill>
                  <a:srgbClr val="425466"/>
                </a:solidFill>
              </a:rPr>
              <a:t>
Fuente, depuración, enriquecimiento y validación</a:t>
            </a:r>
            <a:endParaRPr lang="es-CO" sz="1200">
              <a:solidFill>
                <a:srgbClr val="425466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91C239B-B235-4830-BA2E-880279BDED20}"/>
              </a:ext>
            </a:extLst>
          </p:cNvPr>
          <p:cNvSpPr txBox="1"/>
          <p:nvPr/>
        </p:nvSpPr>
        <p:spPr>
          <a:xfrm>
            <a:off x="9906000" y="3403600"/>
            <a:ext cx="10414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CO" sz="1500" b="1">
                <a:solidFill>
                  <a:srgbClr val="D99A00"/>
                </a:solidFill>
              </a:rPr>
              <a:t>06–08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D71652E1-3B0E-4E90-986E-2E96ACD211BA}"/>
              </a:ext>
            </a:extLst>
          </p:cNvPr>
          <p:cNvSpPr/>
          <p:nvPr/>
        </p:nvSpPr>
        <p:spPr>
          <a:xfrm>
            <a:off x="914400" y="4241800"/>
            <a:ext cx="10363200" cy="812800"/>
          </a:xfrm>
          <a:prstGeom prst="roundRect">
            <a:avLst/>
          </a:prstGeom>
          <a:solidFill>
            <a:srgbClr val="E8F5EE"/>
          </a:solidFill>
          <a:ln w="15240" cap="flat" cmpd="sng" algn="ctr">
            <a:solidFill>
              <a:srgbClr val="2E8B5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962A7A0A-DC6F-4BA8-91DF-54E837636725}"/>
              </a:ext>
            </a:extLst>
          </p:cNvPr>
          <p:cNvSpPr/>
          <p:nvPr/>
        </p:nvSpPr>
        <p:spPr>
          <a:xfrm>
            <a:off x="1066800" y="4368800"/>
            <a:ext cx="609600" cy="558800"/>
          </a:xfrm>
          <a:prstGeom prst="roundRect">
            <a:avLst/>
          </a:prstGeom>
          <a:solidFill>
            <a:srgbClr val="2E8B5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s-CO" sz="1700" b="1">
                <a:solidFill>
                  <a:srgbClr val="FFFFFF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F4F668C-E656-4417-B848-70EC30B60171}"/>
              </a:ext>
            </a:extLst>
          </p:cNvPr>
          <p:cNvSpPr txBox="1"/>
          <p:nvPr/>
        </p:nvSpPr>
        <p:spPr>
          <a:xfrm>
            <a:off x="1905000" y="4343400"/>
            <a:ext cx="74930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800" b="1">
                <a:solidFill>
                  <a:srgbClr val="073654"/>
                </a:solidFill>
              </a:rPr>
              <a:t>Textometría</a:t>
            </a:r>
            <a:r>
              <a:rPr lang="es-ES" sz="1200">
                <a:solidFill>
                  <a:srgbClr val="425466"/>
                </a:solidFill>
              </a:rPr>
              <a:t>
Procesamiento textual, dimensiones y resultados léxicos</a:t>
            </a:r>
            <a:endParaRPr lang="es-CO" sz="1200">
              <a:solidFill>
                <a:srgbClr val="425466"/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981FBCF-0AC6-4CBB-9A07-E7914C9FD92E}"/>
              </a:ext>
            </a:extLst>
          </p:cNvPr>
          <p:cNvSpPr txBox="1"/>
          <p:nvPr/>
        </p:nvSpPr>
        <p:spPr>
          <a:xfrm>
            <a:off x="9906000" y="4394200"/>
            <a:ext cx="10414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CO" sz="1500" b="1">
                <a:solidFill>
                  <a:srgbClr val="2E8B57"/>
                </a:solidFill>
              </a:rPr>
              <a:t>09–14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A1B6D949-104D-4DFD-ADAE-23BC7D3970F8}"/>
              </a:ext>
            </a:extLst>
          </p:cNvPr>
          <p:cNvSpPr/>
          <p:nvPr/>
        </p:nvSpPr>
        <p:spPr>
          <a:xfrm>
            <a:off x="914400" y="5232400"/>
            <a:ext cx="10363200" cy="812800"/>
          </a:xfrm>
          <a:prstGeom prst="roundRect">
            <a:avLst/>
          </a:prstGeom>
          <a:solidFill>
            <a:srgbClr val="EEEAF8"/>
          </a:solidFill>
          <a:ln w="15240" cap="flat" cmpd="sng" algn="ctr">
            <a:solidFill>
              <a:srgbClr val="6554A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FF92D0A3-7337-45D7-BC60-A788624087A8}"/>
              </a:ext>
            </a:extLst>
          </p:cNvPr>
          <p:cNvSpPr/>
          <p:nvPr/>
        </p:nvSpPr>
        <p:spPr>
          <a:xfrm>
            <a:off x="1066800" y="5359400"/>
            <a:ext cx="609600" cy="558800"/>
          </a:xfrm>
          <a:prstGeom prst="roundRect">
            <a:avLst/>
          </a:prstGeom>
          <a:solidFill>
            <a:srgbClr val="6554A4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s-CO" sz="1700" b="1">
                <a:solidFill>
                  <a:srgbClr val="FFFFFF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DBBFCAB-4B28-4E02-B67D-CD9BF586D483}"/>
              </a:ext>
            </a:extLst>
          </p:cNvPr>
          <p:cNvSpPr txBox="1"/>
          <p:nvPr/>
        </p:nvSpPr>
        <p:spPr>
          <a:xfrm>
            <a:off x="1905000" y="5334000"/>
            <a:ext cx="74930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800" b="1">
                <a:solidFill>
                  <a:srgbClr val="073654"/>
                </a:solidFill>
              </a:rPr>
              <a:t>Conclusiones</a:t>
            </a:r>
            <a:r>
              <a:rPr lang="es-ES" sz="1200">
                <a:solidFill>
                  <a:srgbClr val="425466"/>
                </a:solidFill>
              </a:rPr>
              <a:t>
Hallazgos principales y siguientes etapas</a:t>
            </a:r>
            <a:endParaRPr lang="es-CO" sz="1200">
              <a:solidFill>
                <a:srgbClr val="425466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B0BADF9-89DA-4DDD-B010-9E12EB2D1770}"/>
              </a:ext>
            </a:extLst>
          </p:cNvPr>
          <p:cNvSpPr txBox="1"/>
          <p:nvPr/>
        </p:nvSpPr>
        <p:spPr>
          <a:xfrm>
            <a:off x="9906000" y="5384800"/>
            <a:ext cx="10414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CO" sz="1500" b="1">
                <a:solidFill>
                  <a:srgbClr val="6554A4"/>
                </a:solidFill>
              </a:rPr>
              <a:t>15–16</a:t>
            </a:r>
          </a:p>
        </p:txBody>
      </p:sp>
    </p:spTree>
    <p:extLst>
      <p:ext uri="{BB962C8B-B14F-4D97-AF65-F5344CB8AC3E}">
        <p14:creationId xmlns:p14="http://schemas.microsoft.com/office/powerpoint/2010/main" val="2462624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882255DD-A6D0-F0F1-1C84-911B229D5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>
            <a:extLst>
              <a:ext uri="{FF2B5EF4-FFF2-40B4-BE49-F238E27FC236}">
                <a16:creationId xmlns:a16="http://schemas.microsoft.com/office/drawing/2014/main" id="{94FA5AF1-9018-CDEB-DE81-1C47630AD0D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95"/>
            <a:ext cx="12192000" cy="610554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>
            <a:extLst>
              <a:ext uri="{FF2B5EF4-FFF2-40B4-BE49-F238E27FC236}">
                <a16:creationId xmlns:a16="http://schemas.microsoft.com/office/drawing/2014/main" id="{934B5520-184A-53F2-B41D-62A95F7D61F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221420" y="2826829"/>
            <a:ext cx="8843623" cy="1204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s-CO" sz="4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Contextualización</a:t>
            </a:r>
            <a:endParaRPr lang="es-CO" sz="4800" b="1" noProof="0" dirty="0">
              <a:solidFill>
                <a:schemeClr val="accent4">
                  <a:lumMod val="60000"/>
                  <a:lumOff val="40000"/>
                </a:schemeClr>
              </a:solidFill>
              <a:latin typeface="Arial"/>
              <a:cs typeface="Arial"/>
            </a:endParaRPr>
          </a:p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endParaRPr lang="es-CO" sz="4800" b="1" noProof="0" dirty="0">
              <a:solidFill>
                <a:schemeClr val="lt1"/>
              </a:solidFill>
              <a:cs typeface="Arial"/>
            </a:endParaRPr>
          </a:p>
          <a:p>
            <a:pPr marL="0" indent="0">
              <a:buClr>
                <a:srgbClr val="FFC000"/>
              </a:buClr>
              <a:buSzPts val="2800"/>
            </a:pPr>
            <a:endParaRPr lang="es-CO" sz="2800" b="1" dirty="0">
              <a:solidFill>
                <a:srgbClr val="FFC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54219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C80A1A8A-FBF6-BB80-1C81-75E586636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g393f66bba02_1_6">
            <a:extLst>
              <a:ext uri="{FF2B5EF4-FFF2-40B4-BE49-F238E27FC236}">
                <a16:creationId xmlns:a16="http://schemas.microsoft.com/office/drawing/2014/main" id="{47DEAAB1-AA50-8027-5184-A33E1CF9A92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2004" cy="162306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93f66bba02_1_6">
            <a:extLst>
              <a:ext uri="{FF2B5EF4-FFF2-40B4-BE49-F238E27FC236}">
                <a16:creationId xmlns:a16="http://schemas.microsoft.com/office/drawing/2014/main" id="{B7FEFDC6-45FC-AC6B-F8C6-55D9D3A93811}"/>
              </a:ext>
            </a:extLst>
          </p:cNvPr>
          <p:cNvSpPr/>
          <p:nvPr/>
        </p:nvSpPr>
        <p:spPr>
          <a:xfrm>
            <a:off x="1496965" y="324857"/>
            <a:ext cx="6824075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s-CO" sz="3200" b="1" noProof="0" dirty="0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Contextualización</a:t>
            </a:r>
            <a:r>
              <a:rPr lang="es-CO" sz="3200" b="1" noProof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s-CO" sz="3200" b="1" i="0" u="none" strike="noStrike" cap="none" noProof="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A38EB0B-5636-9104-7BF0-DD3655357CF4}"/>
              </a:ext>
            </a:extLst>
          </p:cNvPr>
          <p:cNvSpPr txBox="1"/>
          <p:nvPr/>
        </p:nvSpPr>
        <p:spPr>
          <a:xfrm>
            <a:off x="686006" y="2462988"/>
            <a:ext cx="10442242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lvl="1"/>
            <a:r>
              <a:rPr lang="es-ES" sz="1800" dirty="0"/>
              <a:t>Aplicar PLN para transformar jurisprudencia extensa en información analizable, comparable y potencialmente clasificable.</a:t>
            </a:r>
          </a:p>
          <a:p>
            <a:pPr marL="742950" lvl="1" indent="-285750">
              <a:buFont typeface="Courier New"/>
              <a:buChar char="o"/>
            </a:pPr>
            <a:endParaRPr lang="es-ES" sz="1800" dirty="0"/>
          </a:p>
          <a:p>
            <a:pPr marL="742950" lvl="1" indent="-285750">
              <a:buFont typeface="Courier New"/>
              <a:buChar char="o"/>
            </a:pPr>
            <a:r>
              <a:rPr lang="es-ES" sz="1800" dirty="0"/>
              <a:t>Las sentencias son documentos extensos, formales y altamente especializados.</a:t>
            </a:r>
          </a:p>
          <a:p>
            <a:pPr marL="742950" lvl="1" indent="-285750">
              <a:buFont typeface="Courier New"/>
              <a:buChar char="o"/>
            </a:pPr>
            <a:r>
              <a:rPr lang="es-ES" sz="1800" dirty="0"/>
              <a:t>La información relevante está distribuida entre hechos, argumentos, normas, jurisprudencia y decisiones.</a:t>
            </a:r>
          </a:p>
          <a:p>
            <a:pPr marL="742950" lvl="1" indent="-285750">
              <a:buFont typeface="Courier New"/>
              <a:buChar char="o"/>
            </a:pPr>
            <a:r>
              <a:rPr lang="es-ES" sz="1800" dirty="0"/>
              <a:t>El volumen documental dificulta la consulta, comparación y análisis manual.</a:t>
            </a:r>
          </a:p>
          <a:p>
            <a:pPr marL="742950" lvl="1" indent="-285750">
              <a:buFont typeface="Courier New"/>
              <a:buChar char="o"/>
            </a:pPr>
            <a:r>
              <a:rPr lang="es-ES" sz="1800" dirty="0"/>
              <a:t>El corpus no posee metadatos temáticos estructurados.</a:t>
            </a: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60BB4200-0432-7E26-EC65-ED732C64FAEF}"/>
              </a:ext>
            </a:extLst>
          </p:cNvPr>
          <p:cNvSpPr txBox="1"/>
          <p:nvPr/>
        </p:nvSpPr>
        <p:spPr>
          <a:xfrm>
            <a:off x="2127647" y="1609925"/>
            <a:ext cx="889690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2800" b="1" dirty="0">
                <a:solidFill>
                  <a:schemeClr val="accent4">
                    <a:lumMod val="60000"/>
                    <a:lumOff val="40000"/>
                  </a:schemeClr>
                </a:solidFill>
                <a:ea typeface="Calibri"/>
                <a:sym typeface="Calibri"/>
              </a:rPr>
              <a:t>Lenguaje jurídico como reto de PLN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ED7A6803-8C1E-6A41-E69E-91B609B5356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67447" y="1426521"/>
            <a:ext cx="9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228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25E6BB5-FA7E-EB92-1DAA-EB976FA00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g393f66bba02_1_6">
            <a:extLst>
              <a:ext uri="{FF2B5EF4-FFF2-40B4-BE49-F238E27FC236}">
                <a16:creationId xmlns:a16="http://schemas.microsoft.com/office/drawing/2014/main" id="{B2A6BCE2-6E28-6B56-1054-5BEF285E50B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2004" cy="162306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93f66bba02_1_6">
            <a:extLst>
              <a:ext uri="{FF2B5EF4-FFF2-40B4-BE49-F238E27FC236}">
                <a16:creationId xmlns:a16="http://schemas.microsoft.com/office/drawing/2014/main" id="{948F04C9-6A51-0BEF-1B13-A778758E068E}"/>
              </a:ext>
            </a:extLst>
          </p:cNvPr>
          <p:cNvSpPr/>
          <p:nvPr/>
        </p:nvSpPr>
        <p:spPr>
          <a:xfrm>
            <a:off x="1496965" y="324857"/>
            <a:ext cx="6824075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s-CO" sz="3200" b="1" noProof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Objetivo y pregunta de investigación </a:t>
            </a:r>
            <a:endParaRPr lang="es-CO" sz="3200" b="1" i="0" u="none" strike="noStrike" cap="none" noProof="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6E20DDD-421D-4927-6980-4ADC4C98852C}"/>
              </a:ext>
            </a:extLst>
          </p:cNvPr>
          <p:cNvSpPr txBox="1"/>
          <p:nvPr/>
        </p:nvSpPr>
        <p:spPr>
          <a:xfrm>
            <a:off x="686006" y="2462988"/>
            <a:ext cx="10442242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lvl="1"/>
            <a:r>
              <a:rPr lang="es-ES" sz="1800" dirty="0"/>
              <a:t>Caracterizar computacionalmente la jurisprudencia de la Corte Constitucional y establecer una línea base para tareas posteriores de PLN.</a:t>
            </a:r>
          </a:p>
          <a:p>
            <a:pPr marL="457200" lvl="1"/>
            <a:endParaRPr lang="es-ES" sz="1800" dirty="0"/>
          </a:p>
          <a:p>
            <a:pPr marL="457200" lvl="1"/>
            <a:r>
              <a:rPr lang="es-ES" sz="1800" b="1" dirty="0"/>
              <a:t>Preguntas guía:</a:t>
            </a:r>
          </a:p>
          <a:p>
            <a:pPr marL="742950" lvl="1" indent="-285750">
              <a:buFont typeface="Courier New"/>
              <a:buChar char="o"/>
            </a:pPr>
            <a:r>
              <a:rPr lang="es-ES" sz="1800" dirty="0"/>
              <a:t>¿Qué características léxicas distinguen las sentencias?</a:t>
            </a:r>
          </a:p>
          <a:p>
            <a:pPr marL="742950" lvl="1" indent="-285750">
              <a:buFont typeface="Courier New"/>
              <a:buChar char="o"/>
            </a:pPr>
            <a:r>
              <a:rPr lang="es-ES" sz="1800" dirty="0"/>
              <a:t>¿Cómo ha evolucionado el vocabulario entre 1992 y 2021?</a:t>
            </a:r>
          </a:p>
          <a:p>
            <a:pPr marL="742950" lvl="1" indent="-285750">
              <a:buFont typeface="Courier New"/>
              <a:buChar char="o"/>
            </a:pPr>
            <a:r>
              <a:rPr lang="es-ES" sz="1800" dirty="0"/>
              <a:t>¿Es posible clasificar automáticamente las providencias?</a:t>
            </a:r>
          </a:p>
          <a:p>
            <a:pPr marL="742950" lvl="1" indent="-285750">
              <a:buFont typeface="Courier New"/>
              <a:buChar char="o"/>
            </a:pPr>
            <a:r>
              <a:rPr lang="es-ES" sz="1800" dirty="0"/>
              <a:t>¿Puede el PLN facilitar la consulta de documentos jurídicos extensos?</a:t>
            </a: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A591AF32-1FAC-F577-5000-D81DC610711D}"/>
              </a:ext>
            </a:extLst>
          </p:cNvPr>
          <p:cNvSpPr txBox="1"/>
          <p:nvPr/>
        </p:nvSpPr>
        <p:spPr>
          <a:xfrm>
            <a:off x="2127647" y="1609925"/>
            <a:ext cx="889690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2800" b="1" dirty="0">
                <a:solidFill>
                  <a:schemeClr val="accent4">
                    <a:lumMod val="60000"/>
                    <a:lumOff val="40000"/>
                  </a:schemeClr>
                </a:solidFill>
                <a:ea typeface="Calibri"/>
                <a:sym typeface="Calibri"/>
              </a:rPr>
              <a:t>¿Qué queremos estudiar?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A94060F-11CB-E96E-F501-02DE30CA434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27647" y="1426521"/>
            <a:ext cx="9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220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18D6CA6C-1E90-4378-DFBD-4BC44FBBB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>
            <a:extLst>
              <a:ext uri="{FF2B5EF4-FFF2-40B4-BE49-F238E27FC236}">
                <a16:creationId xmlns:a16="http://schemas.microsoft.com/office/drawing/2014/main" id="{C2DA7B99-110B-BC86-5B12-32A2AE47C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95"/>
            <a:ext cx="12192000" cy="610554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>
            <a:extLst>
              <a:ext uri="{FF2B5EF4-FFF2-40B4-BE49-F238E27FC236}">
                <a16:creationId xmlns:a16="http://schemas.microsoft.com/office/drawing/2014/main" id="{5386A9CC-6700-39FC-7D91-82B14197F7E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221420" y="2826829"/>
            <a:ext cx="8843623" cy="1204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s-CO" sz="4800" b="1" noProof="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Construcción del corpus</a:t>
            </a:r>
          </a:p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endParaRPr lang="es-CO" sz="4800" b="1" noProof="0" dirty="0">
              <a:solidFill>
                <a:schemeClr val="lt1"/>
              </a:solidFill>
              <a:cs typeface="Arial"/>
            </a:endParaRPr>
          </a:p>
          <a:p>
            <a:pPr marL="0" indent="0">
              <a:buClr>
                <a:srgbClr val="FFC000"/>
              </a:buClr>
              <a:buSzPts val="2800"/>
            </a:pPr>
            <a:endParaRPr lang="es-CO" sz="2800" b="1" dirty="0">
              <a:solidFill>
                <a:srgbClr val="FFC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5808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BFF895-438D-EFEC-380A-1A7942952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g393f66bba02_1_6">
            <a:extLst>
              <a:ext uri="{FF2B5EF4-FFF2-40B4-BE49-F238E27FC236}">
                <a16:creationId xmlns:a16="http://schemas.microsoft.com/office/drawing/2014/main" id="{A798A495-8659-F628-094C-92BFC98DB83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2004" cy="162306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93f66bba02_1_6">
            <a:extLst>
              <a:ext uri="{FF2B5EF4-FFF2-40B4-BE49-F238E27FC236}">
                <a16:creationId xmlns:a16="http://schemas.microsoft.com/office/drawing/2014/main" id="{A12D3087-07BC-3BF5-7656-03433B159BBE}"/>
              </a:ext>
            </a:extLst>
          </p:cNvPr>
          <p:cNvSpPr/>
          <p:nvPr/>
        </p:nvSpPr>
        <p:spPr>
          <a:xfrm>
            <a:off x="1496965" y="324857"/>
            <a:ext cx="6824075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s-CO" sz="3200" b="1" noProof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Corpus</a:t>
            </a:r>
            <a:endParaRPr lang="es-CO" sz="3200" b="1" i="0" u="none" strike="noStrike" cap="none" noProof="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04725269-A24E-8941-A0DD-BC5128E69F9D}"/>
              </a:ext>
            </a:extLst>
          </p:cNvPr>
          <p:cNvSpPr txBox="1"/>
          <p:nvPr/>
        </p:nvSpPr>
        <p:spPr>
          <a:xfrm>
            <a:off x="2127647" y="1609925"/>
            <a:ext cx="889690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2800" b="1" dirty="0">
                <a:solidFill>
                  <a:schemeClr val="accent4">
                    <a:lumMod val="60000"/>
                    <a:lumOff val="40000"/>
                  </a:schemeClr>
                </a:solidFill>
                <a:ea typeface="Calibri"/>
                <a:sym typeface="Calibri"/>
              </a:rPr>
              <a:t>Características y dimensiones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5C30AB8-B82F-3937-B901-E1B9AC2BA727}"/>
              </a:ext>
            </a:extLst>
          </p:cNvPr>
          <p:cNvPicPr>
            <a:picLocks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27647" y="1426521"/>
            <a:ext cx="900000" cy="900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6E403EA-18EE-D9A3-5CC8-6CF43D40DD61}"/>
              </a:ext>
            </a:extLst>
          </p:cNvPr>
          <p:cNvSpPr txBox="1"/>
          <p:nvPr/>
        </p:nvSpPr>
        <p:spPr>
          <a:xfrm>
            <a:off x="687600" y="2462400"/>
            <a:ext cx="10419408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/>
            <a:r>
              <a:rPr lang="es-ES" sz="1800" b="1" dirty="0">
                <a:solidFill>
                  <a:srgbClr val="002060"/>
                </a:solidFill>
              </a:rPr>
              <a:t>Fuente: </a:t>
            </a:r>
          </a:p>
          <a:p>
            <a:pPr marL="457200" lvl="1"/>
            <a:r>
              <a:rPr lang="es-ES" sz="1800" dirty="0">
                <a:solidFill>
                  <a:srgbClr val="0070C0"/>
                </a:solidFill>
                <a:hlinkClick r:id="rId5"/>
              </a:rPr>
              <a:t>https://huggingface.co/datasets/Manuel/sentencias-corte-cons-colombia-1992-2021</a:t>
            </a:r>
            <a:endParaRPr lang="es-ES" sz="1800" dirty="0">
              <a:solidFill>
                <a:srgbClr val="0070C0"/>
              </a:solidFill>
            </a:endParaRPr>
          </a:p>
          <a:p>
            <a:pPr marL="457200" lvl="1"/>
            <a:endParaRPr lang="es-ES" sz="1800" dirty="0"/>
          </a:p>
          <a:p>
            <a:pPr marL="457200" lvl="1"/>
            <a:r>
              <a:rPr lang="es-ES" sz="1800" b="1" dirty="0">
                <a:solidFill>
                  <a:srgbClr val="002060"/>
                </a:solidFill>
              </a:rPr>
              <a:t>Ficha técnica: </a:t>
            </a:r>
            <a:endParaRPr lang="es-ES" sz="1800" dirty="0">
              <a:solidFill>
                <a:srgbClr val="002060"/>
              </a:solidFill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sz="1800" b="1" dirty="0"/>
              <a:t>Dominio: </a:t>
            </a:r>
            <a:r>
              <a:rPr lang="es-ES" sz="1800" dirty="0"/>
              <a:t>Jurisprudencia Constitucional Colombiana (1992–2021).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sz="1800" b="1" dirty="0"/>
              <a:t>Idioma: </a:t>
            </a:r>
            <a:r>
              <a:rPr lang="es-ES" sz="1800" dirty="0"/>
              <a:t>Español.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sz="1800" b="1" dirty="0"/>
              <a:t>Volumen Total: </a:t>
            </a:r>
            <a:r>
              <a:rPr lang="es-ES" sz="1800" dirty="0"/>
              <a:t>23.742 sentencias.</a:t>
            </a:r>
          </a:p>
          <a:p>
            <a:pPr marL="742950" lvl="2" indent="-285750">
              <a:buFont typeface="Courier New" panose="02070309020205020404" pitchFamily="49" charset="0"/>
              <a:buChar char="o"/>
            </a:pPr>
            <a:r>
              <a:rPr lang="es-ES" sz="1800" b="1" dirty="0"/>
              <a:t>Distribución por Tipo de Sentencia:</a:t>
            </a:r>
          </a:p>
          <a:p>
            <a:pPr marL="457200" lvl="7"/>
            <a:r>
              <a:rPr lang="es-ES" sz="1800" dirty="0"/>
              <a:t>	- Tutela (T): 17.099 (72,0 % )</a:t>
            </a:r>
          </a:p>
          <a:p>
            <a:pPr marL="457200" lvl="7"/>
            <a:r>
              <a:rPr lang="es-ES" sz="1800" dirty="0"/>
              <a:t>	- Constitucionalidad (C): 6.246 (26,3 % )</a:t>
            </a:r>
          </a:p>
          <a:p>
            <a:pPr marL="457200" lvl="7"/>
            <a:r>
              <a:rPr lang="es-ES" sz="1800" dirty="0"/>
              <a:t>	- Unificación (SU): 397 (1,7 % )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97245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50A2FC4-54F7-1C98-D056-AF7D96CED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g393f66bba02_1_6">
            <a:extLst>
              <a:ext uri="{FF2B5EF4-FFF2-40B4-BE49-F238E27FC236}">
                <a16:creationId xmlns:a16="http://schemas.microsoft.com/office/drawing/2014/main" id="{1BA93574-4904-163C-EE6A-00327D81A53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2004" cy="162306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93f66bba02_1_6">
            <a:extLst>
              <a:ext uri="{FF2B5EF4-FFF2-40B4-BE49-F238E27FC236}">
                <a16:creationId xmlns:a16="http://schemas.microsoft.com/office/drawing/2014/main" id="{6509BAB9-808D-6127-B3AC-A8CCF4295C74}"/>
              </a:ext>
            </a:extLst>
          </p:cNvPr>
          <p:cNvSpPr/>
          <p:nvPr/>
        </p:nvSpPr>
        <p:spPr>
          <a:xfrm>
            <a:off x="1496965" y="324857"/>
            <a:ext cx="6824075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s-ES" sz="3200" b="1" noProof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Depuración y enriquecimiento del corpus</a:t>
            </a:r>
            <a:endParaRPr lang="es-CO" sz="3200" b="1" i="0" u="none" strike="noStrike" cap="none" noProof="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10FF3438-83C4-2236-3E45-A178B35A8A73}"/>
              </a:ext>
            </a:extLst>
          </p:cNvPr>
          <p:cNvSpPr txBox="1"/>
          <p:nvPr/>
        </p:nvSpPr>
        <p:spPr>
          <a:xfrm>
            <a:off x="2127647" y="1609925"/>
            <a:ext cx="889690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2800" b="1" dirty="0">
                <a:solidFill>
                  <a:schemeClr val="accent4">
                    <a:lumMod val="60000"/>
                    <a:lumOff val="40000"/>
                  </a:schemeClr>
                </a:solidFill>
                <a:ea typeface="Calibri"/>
                <a:sym typeface="Calibri"/>
              </a:rPr>
              <a:t>Del dato crudo al corpus analizable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6248FAB2-D42F-4539-9A9B-1C9C09A35860}"/>
              </a:ext>
            </a:extLst>
          </p:cNvPr>
          <p:cNvSpPr/>
          <p:nvPr/>
        </p:nvSpPr>
        <p:spPr>
          <a:xfrm>
            <a:off x="533400" y="2730500"/>
            <a:ext cx="1905000" cy="1981200"/>
          </a:xfrm>
          <a:prstGeom prst="roundRect">
            <a:avLst/>
          </a:prstGeom>
          <a:solidFill>
            <a:srgbClr val="EAF2F8"/>
          </a:solidFill>
          <a:ln w="19050" cap="flat" cmpd="sng" algn="ctr">
            <a:solidFill>
              <a:srgbClr val="2F75B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s-CO" sz="1200" b="1" dirty="0">
                <a:solidFill>
                  <a:srgbClr val="2F75B5"/>
                </a:solidFill>
                <a:latin typeface="+mj-lt"/>
                <a:cs typeface="Arial"/>
              </a:rPr>
              <a:t>INGESTA</a:t>
            </a:r>
          </a:p>
          <a:p>
            <a:pPr algn="l"/>
            <a:r>
              <a:rPr lang="es-CO" sz="1200" dirty="0">
                <a:solidFill>
                  <a:srgbClr val="162536"/>
                </a:solidFill>
                <a:latin typeface="+mj-lt"/>
                <a:cs typeface="Arial"/>
              </a:rPr>
              <a:t>
</a:t>
            </a:r>
            <a:r>
              <a:rPr lang="es-CO" sz="1200" b="1" dirty="0">
                <a:solidFill>
                  <a:srgbClr val="162536"/>
                </a:solidFill>
                <a:latin typeface="+mj-lt"/>
                <a:cs typeface="Arial"/>
              </a:rPr>
              <a:t>23.750</a:t>
            </a:r>
            <a:r>
              <a:rPr lang="es-CO" sz="1200" dirty="0">
                <a:solidFill>
                  <a:srgbClr val="162536"/>
                </a:solidFill>
                <a:latin typeface="+mj-lt"/>
                <a:cs typeface="Arial"/>
              </a:rPr>
              <a:t> registros
Texto crudo no estructurado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84430993-B52F-4471-AC3C-E6672321BCA4}"/>
              </a:ext>
            </a:extLst>
          </p:cNvPr>
          <p:cNvSpPr/>
          <p:nvPr/>
        </p:nvSpPr>
        <p:spPr>
          <a:xfrm>
            <a:off x="2743200" y="2730500"/>
            <a:ext cx="1905000" cy="1981200"/>
          </a:xfrm>
          <a:prstGeom prst="roundRect">
            <a:avLst/>
          </a:prstGeom>
          <a:solidFill>
            <a:srgbClr val="FFF4D6"/>
          </a:solidFill>
          <a:ln w="19050" cap="flat" cmpd="sng" algn="ctr">
            <a:solidFill>
              <a:srgbClr val="F4B41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s-ES" sz="1200" b="1" dirty="0">
                <a:solidFill>
                  <a:srgbClr val="F4B41A"/>
                </a:solidFill>
                <a:latin typeface="+mj-lt"/>
                <a:cs typeface="Arial"/>
              </a:rPr>
              <a:t>EXTRACCIÓN</a:t>
            </a:r>
          </a:p>
          <a:p>
            <a:pPr algn="l"/>
            <a:r>
              <a:rPr lang="es-ES" sz="1200" dirty="0">
                <a:solidFill>
                  <a:srgbClr val="162536"/>
                </a:solidFill>
                <a:latin typeface="+mj-lt"/>
                <a:cs typeface="Arial"/>
              </a:rPr>
              <a:t>
Extracción mediante expresiones regulares:
- ID</a:t>
            </a:r>
          </a:p>
          <a:p>
            <a:pPr algn="l"/>
            <a:r>
              <a:rPr lang="es-ES" sz="1200" dirty="0">
                <a:solidFill>
                  <a:srgbClr val="162536"/>
                </a:solidFill>
                <a:latin typeface="+mj-lt"/>
                <a:cs typeface="Arial"/>
              </a:rPr>
              <a:t>- Tipo</a:t>
            </a:r>
          </a:p>
          <a:p>
            <a:pPr algn="l"/>
            <a:r>
              <a:rPr lang="es-ES" sz="1200" dirty="0">
                <a:solidFill>
                  <a:srgbClr val="162536"/>
                </a:solidFill>
                <a:latin typeface="+mj-lt"/>
                <a:cs typeface="Arial"/>
              </a:rPr>
              <a:t>- Año</a:t>
            </a:r>
          </a:p>
          <a:p>
            <a:pPr algn="ctr"/>
            <a:r>
              <a:rPr lang="es-ES" sz="1200" dirty="0">
                <a:solidFill>
                  <a:srgbClr val="162536"/>
                </a:solidFill>
                <a:latin typeface="+mj-lt"/>
                <a:cs typeface="Arial"/>
              </a:rPr>
              <a:t>
</a:t>
            </a:r>
            <a:r>
              <a:rPr lang="es-ES" sz="1200" dirty="0">
                <a:solidFill>
                  <a:srgbClr val="0070C0"/>
                </a:solidFill>
                <a:latin typeface="+mj-lt"/>
                <a:cs typeface="Arial"/>
              </a:rPr>
              <a:t>99,97 % eficacia</a:t>
            </a:r>
            <a:endParaRPr lang="es-CO" sz="1200" dirty="0">
              <a:solidFill>
                <a:srgbClr val="0070C0"/>
              </a:solidFill>
              <a:latin typeface="+mj-lt"/>
              <a:cs typeface="Arial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884CBCD4-19F2-408F-8164-63D7F5E3906A}"/>
              </a:ext>
            </a:extLst>
          </p:cNvPr>
          <p:cNvSpPr/>
          <p:nvPr/>
        </p:nvSpPr>
        <p:spPr>
          <a:xfrm>
            <a:off x="4953000" y="2730500"/>
            <a:ext cx="1905000" cy="1981200"/>
          </a:xfrm>
          <a:prstGeom prst="roundRect">
            <a:avLst/>
          </a:prstGeom>
          <a:solidFill>
            <a:srgbClr val="FDEBEC"/>
          </a:solidFill>
          <a:ln w="19050" cap="flat" cmpd="sng" algn="ctr">
            <a:solidFill>
              <a:srgbClr val="C94C4C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s-ES" sz="1200" b="1" dirty="0">
                <a:solidFill>
                  <a:srgbClr val="C94C4C"/>
                </a:solidFill>
                <a:latin typeface="+mj-lt"/>
                <a:cs typeface="Arial"/>
              </a:rPr>
              <a:t>DEPURACIÓN</a:t>
            </a:r>
          </a:p>
          <a:p>
            <a:pPr algn="l"/>
            <a:r>
              <a:rPr lang="es-ES" sz="1200" dirty="0">
                <a:solidFill>
                  <a:srgbClr val="162536"/>
                </a:solidFill>
                <a:latin typeface="+mj-lt"/>
                <a:cs typeface="Arial"/>
              </a:rPr>
              <a:t>
- 8 exclusiones (0,03 %)
- 6 autos + 2 HTML</a:t>
            </a:r>
            <a:endParaRPr lang="es-CO" sz="1200" dirty="0">
              <a:solidFill>
                <a:srgbClr val="162536"/>
              </a:solidFill>
              <a:latin typeface="+mj-lt"/>
              <a:cs typeface="Arial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E5EB4866-B729-4F2A-9119-44CD59874BDD}"/>
              </a:ext>
            </a:extLst>
          </p:cNvPr>
          <p:cNvSpPr/>
          <p:nvPr/>
        </p:nvSpPr>
        <p:spPr>
          <a:xfrm>
            <a:off x="7162800" y="2730500"/>
            <a:ext cx="1905000" cy="1981200"/>
          </a:xfrm>
          <a:prstGeom prst="roundRect">
            <a:avLst/>
          </a:prstGeom>
          <a:solidFill>
            <a:srgbClr val="E8F5EE"/>
          </a:solidFill>
          <a:ln w="19050" cap="flat" cmpd="sng" algn="ctr">
            <a:solidFill>
              <a:srgbClr val="2E8B5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s-ES" sz="1200" b="1" dirty="0">
                <a:solidFill>
                  <a:srgbClr val="2E8B57"/>
                </a:solidFill>
                <a:latin typeface="+mj-lt"/>
                <a:cs typeface="Arial"/>
              </a:rPr>
              <a:t>CONSOLIDACIÓN</a:t>
            </a:r>
          </a:p>
          <a:p>
            <a:pPr algn="l"/>
            <a:r>
              <a:rPr lang="es-ES" sz="1200" dirty="0">
                <a:solidFill>
                  <a:srgbClr val="162536"/>
                </a:solidFill>
                <a:latin typeface="+mj-lt"/>
                <a:cs typeface="Arial"/>
              </a:rPr>
              <a:t>
</a:t>
            </a:r>
            <a:r>
              <a:rPr lang="es-ES" sz="1200" b="1" dirty="0">
                <a:solidFill>
                  <a:srgbClr val="162536"/>
                </a:solidFill>
                <a:latin typeface="+mj-lt"/>
                <a:cs typeface="Arial"/>
              </a:rPr>
              <a:t>23.742 </a:t>
            </a:r>
            <a:r>
              <a:rPr lang="es-ES" sz="1200" dirty="0">
                <a:solidFill>
                  <a:srgbClr val="162536"/>
                </a:solidFill>
                <a:latin typeface="+mj-lt"/>
                <a:cs typeface="Arial"/>
              </a:rPr>
              <a:t>sentencias
Corpus limpio y estructurado</a:t>
            </a:r>
            <a:endParaRPr lang="es-CO" sz="1200" dirty="0">
              <a:solidFill>
                <a:srgbClr val="162536"/>
              </a:solidFill>
              <a:latin typeface="+mj-lt"/>
              <a:cs typeface="Arial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31D3422-8AD6-41E6-B0AB-20AE3D4485F8}"/>
              </a:ext>
            </a:extLst>
          </p:cNvPr>
          <p:cNvSpPr/>
          <p:nvPr/>
        </p:nvSpPr>
        <p:spPr>
          <a:xfrm>
            <a:off x="9372600" y="2730500"/>
            <a:ext cx="1905000" cy="1981200"/>
          </a:xfrm>
          <a:prstGeom prst="roundRect">
            <a:avLst/>
          </a:prstGeom>
          <a:solidFill>
            <a:srgbClr val="EEEAF8"/>
          </a:solidFill>
          <a:ln w="19050" cap="flat" cmpd="sng" algn="ctr">
            <a:solidFill>
              <a:srgbClr val="6554A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s-ES" sz="1200" b="1" dirty="0">
                <a:solidFill>
                  <a:srgbClr val="6554A4"/>
                </a:solidFill>
                <a:latin typeface="+mj-lt"/>
                <a:cs typeface="Arial"/>
              </a:rPr>
              <a:t>VALIDACIÓN</a:t>
            </a:r>
          </a:p>
          <a:p>
            <a:pPr algn="l"/>
            <a:r>
              <a:rPr lang="es-ES" sz="1200" dirty="0">
                <a:solidFill>
                  <a:srgbClr val="162536"/>
                </a:solidFill>
                <a:latin typeface="+mj-lt"/>
                <a:cs typeface="Arial"/>
              </a:rPr>
              <a:t>
Muestra estratificada de 25 documentos
para facilitar la inspección del corpus.</a:t>
            </a:r>
            <a:endParaRPr lang="es-CO" sz="1200" dirty="0">
              <a:solidFill>
                <a:srgbClr val="162536"/>
              </a:solidFill>
              <a:latin typeface="+mj-lt"/>
              <a:cs typeface="Arial"/>
            </a:endParaRPr>
          </a:p>
        </p:txBody>
      </p:sp>
      <p:sp>
        <p:nvSpPr>
          <p:cNvPr id="9" name="Flecha: cheurón 8">
            <a:extLst>
              <a:ext uri="{FF2B5EF4-FFF2-40B4-BE49-F238E27FC236}">
                <a16:creationId xmlns:a16="http://schemas.microsoft.com/office/drawing/2014/main" id="{80F209A5-26F5-4CE9-8935-4538E9AB1D2D}"/>
              </a:ext>
            </a:extLst>
          </p:cNvPr>
          <p:cNvSpPr/>
          <p:nvPr/>
        </p:nvSpPr>
        <p:spPr>
          <a:xfrm>
            <a:off x="2463800" y="3492500"/>
            <a:ext cx="228600" cy="431800"/>
          </a:xfrm>
          <a:prstGeom prst="chevron">
            <a:avLst/>
          </a:prstGeom>
          <a:solidFill>
            <a:srgbClr val="F4B41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 sz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" name="Flecha: cheurón 9">
            <a:extLst>
              <a:ext uri="{FF2B5EF4-FFF2-40B4-BE49-F238E27FC236}">
                <a16:creationId xmlns:a16="http://schemas.microsoft.com/office/drawing/2014/main" id="{DCF1310A-6E96-4A1A-AEE0-8ED203A5BCDD}"/>
              </a:ext>
            </a:extLst>
          </p:cNvPr>
          <p:cNvSpPr/>
          <p:nvPr/>
        </p:nvSpPr>
        <p:spPr>
          <a:xfrm>
            <a:off x="4673600" y="3492500"/>
            <a:ext cx="228600" cy="431800"/>
          </a:xfrm>
          <a:prstGeom prst="chevron">
            <a:avLst/>
          </a:prstGeom>
          <a:solidFill>
            <a:srgbClr val="F4B41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 sz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" name="Flecha: cheurón 10">
            <a:extLst>
              <a:ext uri="{FF2B5EF4-FFF2-40B4-BE49-F238E27FC236}">
                <a16:creationId xmlns:a16="http://schemas.microsoft.com/office/drawing/2014/main" id="{13607F2A-1A85-47D2-A578-CADBE849D193}"/>
              </a:ext>
            </a:extLst>
          </p:cNvPr>
          <p:cNvSpPr/>
          <p:nvPr/>
        </p:nvSpPr>
        <p:spPr>
          <a:xfrm>
            <a:off x="6883400" y="3492500"/>
            <a:ext cx="228600" cy="431800"/>
          </a:xfrm>
          <a:prstGeom prst="chevron">
            <a:avLst/>
          </a:prstGeom>
          <a:solidFill>
            <a:srgbClr val="F4B41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 sz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" name="Flecha: cheurón 11">
            <a:extLst>
              <a:ext uri="{FF2B5EF4-FFF2-40B4-BE49-F238E27FC236}">
                <a16:creationId xmlns:a16="http://schemas.microsoft.com/office/drawing/2014/main" id="{BE14E7C8-35E6-4696-BD98-0742A84707FE}"/>
              </a:ext>
            </a:extLst>
          </p:cNvPr>
          <p:cNvSpPr/>
          <p:nvPr/>
        </p:nvSpPr>
        <p:spPr>
          <a:xfrm>
            <a:off x="9093200" y="3492500"/>
            <a:ext cx="228600" cy="431800"/>
          </a:xfrm>
          <a:prstGeom prst="chevron">
            <a:avLst/>
          </a:prstGeom>
          <a:solidFill>
            <a:srgbClr val="F4B41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 sz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DC588F28-9763-4963-B9B5-5F3CDE1E5B25}"/>
              </a:ext>
            </a:extLst>
          </p:cNvPr>
          <p:cNvSpPr/>
          <p:nvPr/>
        </p:nvSpPr>
        <p:spPr>
          <a:xfrm>
            <a:off x="1905000" y="5041900"/>
            <a:ext cx="8382000" cy="609600"/>
          </a:xfrm>
          <a:prstGeom prst="roundRect">
            <a:avLst/>
          </a:prstGeom>
          <a:solidFill>
            <a:srgbClr val="073654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rmAutofit/>
          </a:bodyPr>
          <a:lstStyle/>
          <a:p>
            <a:pPr algn="l"/>
            <a:r>
              <a:rPr lang="es-ES" sz="1800" b="1">
                <a:solidFill>
                  <a:srgbClr val="FFFFFF"/>
                </a:solidFill>
                <a:latin typeface="Arial"/>
                <a:cs typeface="Arial"/>
              </a:rPr>
              <a:t>RESULTADO  →  corpus analizable, trazable y preparado para vectorización o modelado</a:t>
            </a:r>
            <a:endParaRPr lang="es-CO" sz="1800" b="1">
              <a:solidFill>
                <a:srgbClr val="FFFFFF"/>
              </a:solidFill>
              <a:latin typeface="Arial"/>
              <a:cs typeface="Arial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AF1BA379-3427-7AA7-5C37-68AE4FEBB22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30395" y="1426521"/>
            <a:ext cx="9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509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8BEFE9F5-D38C-89DF-3B15-A39D5C3D3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>
            <a:extLst>
              <a:ext uri="{FF2B5EF4-FFF2-40B4-BE49-F238E27FC236}">
                <a16:creationId xmlns:a16="http://schemas.microsoft.com/office/drawing/2014/main" id="{89E24FBE-A405-8CF5-A2FD-8238EE0CC13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95"/>
            <a:ext cx="12192000" cy="610554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>
            <a:extLst>
              <a:ext uri="{FF2B5EF4-FFF2-40B4-BE49-F238E27FC236}">
                <a16:creationId xmlns:a16="http://schemas.microsoft.com/office/drawing/2014/main" id="{0B2A7784-3AA1-8674-8685-1CE94EE56BC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221420" y="2826829"/>
            <a:ext cx="8843623" cy="1204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s-CO" sz="4800" b="1" noProof="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Textometría</a:t>
            </a:r>
            <a:endParaRPr lang="es-CO" sz="4800" b="1" noProof="0" dirty="0">
              <a:solidFill>
                <a:schemeClr val="accent4">
                  <a:lumMod val="60000"/>
                  <a:lumOff val="40000"/>
                </a:schemeClr>
              </a:solidFill>
              <a:latin typeface="Arial"/>
              <a:cs typeface="Arial"/>
            </a:endParaRPr>
          </a:p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endParaRPr lang="es-CO" sz="4800" b="1" noProof="0" dirty="0">
              <a:solidFill>
                <a:schemeClr val="lt1"/>
              </a:solidFill>
              <a:cs typeface="Arial"/>
            </a:endParaRPr>
          </a:p>
          <a:p>
            <a:pPr marL="0" indent="0">
              <a:buClr>
                <a:srgbClr val="FFC000"/>
              </a:buClr>
              <a:buSzPts val="2800"/>
            </a:pPr>
            <a:endParaRPr lang="es-CO" sz="2800" b="1" dirty="0">
              <a:solidFill>
                <a:srgbClr val="FFC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4499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E1575B94-F71B-658A-1BA1-1012D8A06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g393f66bba02_1_6">
            <a:extLst>
              <a:ext uri="{FF2B5EF4-FFF2-40B4-BE49-F238E27FC236}">
                <a16:creationId xmlns:a16="http://schemas.microsoft.com/office/drawing/2014/main" id="{63AFE540-C426-FE99-ED80-37FA59EF552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2004" cy="162306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93f66bba02_1_6">
            <a:extLst>
              <a:ext uri="{FF2B5EF4-FFF2-40B4-BE49-F238E27FC236}">
                <a16:creationId xmlns:a16="http://schemas.microsoft.com/office/drawing/2014/main" id="{627A695C-85AE-EDDA-AF72-0E0FB7FCCCB0}"/>
              </a:ext>
            </a:extLst>
          </p:cNvPr>
          <p:cNvSpPr/>
          <p:nvPr/>
        </p:nvSpPr>
        <p:spPr>
          <a:xfrm>
            <a:off x="1496965" y="324857"/>
            <a:ext cx="6824075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s-CO" sz="3200" b="1" noProof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Procesamiento</a:t>
            </a:r>
            <a:endParaRPr lang="es-CO" sz="3200" b="1" i="0" u="none" strike="noStrike" cap="none" noProof="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133DFD0A-C7BE-7615-D6BA-BFC81BDB5BC5}"/>
              </a:ext>
            </a:extLst>
          </p:cNvPr>
          <p:cNvSpPr txBox="1"/>
          <p:nvPr/>
        </p:nvSpPr>
        <p:spPr>
          <a:xfrm>
            <a:off x="2127647" y="1609925"/>
            <a:ext cx="889690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2800" b="1" dirty="0">
                <a:solidFill>
                  <a:schemeClr val="accent4">
                    <a:lumMod val="60000"/>
                    <a:lumOff val="40000"/>
                  </a:schemeClr>
                </a:solidFill>
                <a:ea typeface="Calibri"/>
                <a:sym typeface="Calibri"/>
              </a:rPr>
              <a:t>Procesamiento textual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1311EF03-6069-4AB0-878C-BC6259BE39F3}"/>
              </a:ext>
            </a:extLst>
          </p:cNvPr>
          <p:cNvSpPr/>
          <p:nvPr/>
        </p:nvSpPr>
        <p:spPr>
          <a:xfrm>
            <a:off x="825500" y="2603500"/>
            <a:ext cx="3048000" cy="914400"/>
          </a:xfrm>
          <a:prstGeom prst="roundRect">
            <a:avLst/>
          </a:prstGeom>
          <a:solidFill>
            <a:srgbClr val="EAF2F8"/>
          </a:solidFill>
          <a:ln w="17780" cap="flat" cmpd="sng" algn="ctr">
            <a:solidFill>
              <a:srgbClr val="2F75B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s-CO" b="1" dirty="0">
                <a:solidFill>
                  <a:srgbClr val="2F75B5"/>
                </a:solidFill>
                <a:latin typeface="Arial"/>
                <a:cs typeface="Arial"/>
              </a:rPr>
              <a:t>01  Texto original</a:t>
            </a:r>
            <a:r>
              <a:rPr lang="es-CO" sz="1200" dirty="0">
                <a:solidFill>
                  <a:srgbClr val="153047"/>
                </a:solidFill>
                <a:latin typeface="Arial"/>
                <a:cs typeface="Arial"/>
              </a:rPr>
              <a:t>
Entrada sin transformar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807B0BE3-68C7-49D7-846F-CCD1C3DFE3FF}"/>
              </a:ext>
            </a:extLst>
          </p:cNvPr>
          <p:cNvSpPr/>
          <p:nvPr/>
        </p:nvSpPr>
        <p:spPr>
          <a:xfrm>
            <a:off x="4572000" y="2603500"/>
            <a:ext cx="3048000" cy="914400"/>
          </a:xfrm>
          <a:prstGeom prst="roundRect">
            <a:avLst/>
          </a:prstGeom>
          <a:solidFill>
            <a:srgbClr val="EAF2F8"/>
          </a:solidFill>
          <a:ln w="17780" cap="flat" cmpd="sng" algn="ctr">
            <a:solidFill>
              <a:srgbClr val="2F75B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s-ES" b="1">
                <a:solidFill>
                  <a:srgbClr val="2F75B5"/>
                </a:solidFill>
                <a:latin typeface="Arial"/>
                <a:cs typeface="Arial"/>
              </a:rPr>
              <a:t>02  Minúsculas</a:t>
            </a:r>
            <a:r>
              <a:rPr lang="es-ES" sz="1200">
                <a:solidFill>
                  <a:srgbClr val="153047"/>
                </a:solidFill>
                <a:latin typeface="Arial"/>
                <a:cs typeface="Arial"/>
              </a:rPr>
              <a:t>
Unificación de caja</a:t>
            </a:r>
            <a:endParaRPr lang="es-CO" sz="1200">
              <a:solidFill>
                <a:srgbClr val="153047"/>
              </a:solidFill>
              <a:latin typeface="Arial"/>
              <a:cs typeface="Arial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EF7BC152-D6A5-40BD-8BBD-2774A98FBD50}"/>
              </a:ext>
            </a:extLst>
          </p:cNvPr>
          <p:cNvSpPr/>
          <p:nvPr/>
        </p:nvSpPr>
        <p:spPr>
          <a:xfrm>
            <a:off x="8318500" y="2603500"/>
            <a:ext cx="3048000" cy="914400"/>
          </a:xfrm>
          <a:prstGeom prst="roundRect">
            <a:avLst/>
          </a:prstGeom>
          <a:solidFill>
            <a:srgbClr val="EAF2F8"/>
          </a:solidFill>
          <a:ln w="17780" cap="flat" cmpd="sng" algn="ctr">
            <a:solidFill>
              <a:srgbClr val="2F75B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s-ES" b="1">
                <a:solidFill>
                  <a:srgbClr val="2F75B5"/>
                </a:solidFill>
                <a:latin typeface="Arial"/>
                <a:cs typeface="Arial"/>
              </a:rPr>
              <a:t>03  Normalización Unicode</a:t>
            </a:r>
            <a:r>
              <a:rPr lang="es-ES" sz="1200">
                <a:solidFill>
                  <a:srgbClr val="153047"/>
                </a:solidFill>
                <a:latin typeface="Arial"/>
                <a:cs typeface="Arial"/>
              </a:rPr>
              <a:t>
Codificación consistente</a:t>
            </a:r>
            <a:endParaRPr lang="es-CO" sz="1200">
              <a:solidFill>
                <a:srgbClr val="153047"/>
              </a:solidFill>
              <a:latin typeface="Arial"/>
              <a:cs typeface="Arial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352E3A0-C87F-434C-81EE-6385E1C30D47}"/>
              </a:ext>
            </a:extLst>
          </p:cNvPr>
          <p:cNvSpPr/>
          <p:nvPr/>
        </p:nvSpPr>
        <p:spPr>
          <a:xfrm>
            <a:off x="8318500" y="4000500"/>
            <a:ext cx="3048000" cy="914400"/>
          </a:xfrm>
          <a:prstGeom prst="roundRect">
            <a:avLst/>
          </a:prstGeom>
          <a:solidFill>
            <a:srgbClr val="FFF4D6"/>
          </a:solidFill>
          <a:ln w="17780" cap="flat" cmpd="sng" algn="ctr">
            <a:solidFill>
              <a:srgbClr val="E6A7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s-ES" b="1">
                <a:solidFill>
                  <a:srgbClr val="E6A700"/>
                </a:solidFill>
                <a:latin typeface="Arial"/>
                <a:cs typeface="Arial"/>
              </a:rPr>
              <a:t>04  Eliminar tildes</a:t>
            </a:r>
            <a:r>
              <a:rPr lang="es-ES" sz="1200">
                <a:solidFill>
                  <a:srgbClr val="153047"/>
                </a:solidFill>
                <a:latin typeface="Arial"/>
                <a:cs typeface="Arial"/>
              </a:rPr>
              <a:t>
Normalización diacrítica</a:t>
            </a:r>
            <a:endParaRPr lang="es-CO" sz="1200">
              <a:solidFill>
                <a:srgbClr val="153047"/>
              </a:solidFill>
              <a:latin typeface="Arial"/>
              <a:cs typeface="Arial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D464615-21FB-4C3B-AF02-04C5BFFF980D}"/>
              </a:ext>
            </a:extLst>
          </p:cNvPr>
          <p:cNvSpPr/>
          <p:nvPr/>
        </p:nvSpPr>
        <p:spPr>
          <a:xfrm>
            <a:off x="4572000" y="4000500"/>
            <a:ext cx="3048000" cy="914400"/>
          </a:xfrm>
          <a:prstGeom prst="roundRect">
            <a:avLst/>
          </a:prstGeom>
          <a:solidFill>
            <a:srgbClr val="FFF4D6"/>
          </a:solidFill>
          <a:ln w="17780" cap="flat" cmpd="sng" algn="ctr">
            <a:solidFill>
              <a:srgbClr val="E6A7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s-ES" b="1">
                <a:solidFill>
                  <a:srgbClr val="E6A700"/>
                </a:solidFill>
                <a:latin typeface="Arial"/>
                <a:cs typeface="Arial"/>
              </a:rPr>
              <a:t>05  Preservar la ñ</a:t>
            </a:r>
            <a:r>
              <a:rPr lang="es-ES" sz="1200">
                <a:solidFill>
                  <a:srgbClr val="153047"/>
                </a:solidFill>
                <a:latin typeface="Arial"/>
                <a:cs typeface="Arial"/>
              </a:rPr>
              <a:t>
Excepción lingüística</a:t>
            </a:r>
            <a:endParaRPr lang="es-CO" sz="1200">
              <a:solidFill>
                <a:srgbClr val="153047"/>
              </a:solidFill>
              <a:latin typeface="Arial"/>
              <a:cs typeface="Arial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DA911D6C-A307-4A4C-9DA6-EE42698A3A5F}"/>
              </a:ext>
            </a:extLst>
          </p:cNvPr>
          <p:cNvSpPr/>
          <p:nvPr/>
        </p:nvSpPr>
        <p:spPr>
          <a:xfrm>
            <a:off x="825500" y="4000500"/>
            <a:ext cx="3048000" cy="914400"/>
          </a:xfrm>
          <a:prstGeom prst="roundRect">
            <a:avLst/>
          </a:prstGeom>
          <a:solidFill>
            <a:srgbClr val="FFF4D6"/>
          </a:solidFill>
          <a:ln w="17780" cap="flat" cmpd="sng" algn="ctr">
            <a:solidFill>
              <a:srgbClr val="E6A7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s-ES" b="1">
                <a:solidFill>
                  <a:srgbClr val="E6A700"/>
                </a:solidFill>
                <a:latin typeface="Arial"/>
                <a:cs typeface="Arial"/>
              </a:rPr>
              <a:t>06  Eliminar ruido</a:t>
            </a:r>
            <a:r>
              <a:rPr lang="es-ES" sz="1200">
                <a:solidFill>
                  <a:srgbClr val="153047"/>
                </a:solidFill>
                <a:latin typeface="Arial"/>
                <a:cs typeface="Arial"/>
              </a:rPr>
              <a:t>
Números, símbolos y puntuación</a:t>
            </a:r>
            <a:endParaRPr lang="es-CO" sz="1200">
              <a:solidFill>
                <a:srgbClr val="153047"/>
              </a:solidFill>
              <a:latin typeface="Arial"/>
              <a:cs typeface="Arial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AC8911C-1F53-41AE-9517-BAA473D181D4}"/>
              </a:ext>
            </a:extLst>
          </p:cNvPr>
          <p:cNvSpPr/>
          <p:nvPr/>
        </p:nvSpPr>
        <p:spPr>
          <a:xfrm>
            <a:off x="825500" y="5397500"/>
            <a:ext cx="3048000" cy="914400"/>
          </a:xfrm>
          <a:prstGeom prst="roundRect">
            <a:avLst/>
          </a:prstGeom>
          <a:solidFill>
            <a:srgbClr val="E8F5EE"/>
          </a:solidFill>
          <a:ln w="17780" cap="flat" cmpd="sng" algn="ctr">
            <a:solidFill>
              <a:srgbClr val="2E8B5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s-ES" b="1">
                <a:solidFill>
                  <a:srgbClr val="2E8B57"/>
                </a:solidFill>
                <a:latin typeface="Arial"/>
                <a:cs typeface="Arial"/>
              </a:rPr>
              <a:t>07  Tokenización</a:t>
            </a:r>
            <a:r>
              <a:rPr lang="es-ES" sz="1200">
                <a:solidFill>
                  <a:srgbClr val="153047"/>
                </a:solidFill>
                <a:latin typeface="Arial"/>
                <a:cs typeface="Arial"/>
              </a:rPr>
              <a:t>
Separación en unidades</a:t>
            </a:r>
            <a:endParaRPr lang="es-CO" sz="1200">
              <a:solidFill>
                <a:srgbClr val="153047"/>
              </a:solidFill>
              <a:latin typeface="Arial"/>
              <a:cs typeface="Arial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6DAE4DB8-269E-43D0-A623-108B67FA9D33}"/>
              </a:ext>
            </a:extLst>
          </p:cNvPr>
          <p:cNvSpPr/>
          <p:nvPr/>
        </p:nvSpPr>
        <p:spPr>
          <a:xfrm>
            <a:off x="4572000" y="5397500"/>
            <a:ext cx="3048000" cy="914400"/>
          </a:xfrm>
          <a:prstGeom prst="roundRect">
            <a:avLst/>
          </a:prstGeom>
          <a:solidFill>
            <a:srgbClr val="E8F5EE"/>
          </a:solidFill>
          <a:ln w="17780" cap="flat" cmpd="sng" algn="ctr">
            <a:solidFill>
              <a:srgbClr val="2E8B5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s-ES" b="1">
                <a:solidFill>
                  <a:srgbClr val="2E8B57"/>
                </a:solidFill>
                <a:latin typeface="Arial"/>
                <a:cs typeface="Arial"/>
              </a:rPr>
              <a:t>08  Filtrar residuos</a:t>
            </a:r>
            <a:r>
              <a:rPr lang="es-ES" sz="1200">
                <a:solidFill>
                  <a:srgbClr val="153047"/>
                </a:solidFill>
                <a:latin typeface="Arial"/>
                <a:cs typeface="Arial"/>
              </a:rPr>
              <a:t>
Depuración de tokens</a:t>
            </a:r>
            <a:endParaRPr lang="es-CO" sz="1200">
              <a:solidFill>
                <a:srgbClr val="153047"/>
              </a:solidFill>
              <a:latin typeface="Arial"/>
              <a:cs typeface="Arial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51E796EB-6746-4D9E-9772-59CACBF45FA9}"/>
              </a:ext>
            </a:extLst>
          </p:cNvPr>
          <p:cNvSpPr/>
          <p:nvPr/>
        </p:nvSpPr>
        <p:spPr>
          <a:xfrm>
            <a:off x="8318500" y="5397500"/>
            <a:ext cx="3048000" cy="914400"/>
          </a:xfrm>
          <a:prstGeom prst="roundRect">
            <a:avLst/>
          </a:prstGeom>
          <a:solidFill>
            <a:srgbClr val="E8F5EE"/>
          </a:solidFill>
          <a:ln w="17780" cap="flat" cmpd="sng" algn="ctr">
            <a:solidFill>
              <a:srgbClr val="2E8B5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s-CO" b="1">
                <a:solidFill>
                  <a:srgbClr val="2E8B57"/>
                </a:solidFill>
                <a:latin typeface="Arial"/>
                <a:cs typeface="Arial"/>
              </a:rPr>
              <a:t>09  Eliminar stopwords</a:t>
            </a:r>
            <a:r>
              <a:rPr lang="es-CO" sz="1200">
                <a:solidFill>
                  <a:srgbClr val="153047"/>
                </a:solidFill>
                <a:latin typeface="Arial"/>
                <a:cs typeface="Arial"/>
              </a:rPr>
              <a:t>
Conservar términos informativos</a:t>
            </a:r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FCB675D6-E9D3-43E6-A97D-1CC23AEE847F}"/>
              </a:ext>
            </a:extLst>
          </p:cNvPr>
          <p:cNvSpPr/>
          <p:nvPr/>
        </p:nvSpPr>
        <p:spPr>
          <a:xfrm>
            <a:off x="3962400" y="2895600"/>
            <a:ext cx="508000" cy="304800"/>
          </a:xfrm>
          <a:prstGeom prst="rightArrow">
            <a:avLst/>
          </a:prstGeom>
          <a:solidFill>
            <a:srgbClr val="F4B41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09B47A85-B14D-4C29-9D77-125E16659E26}"/>
              </a:ext>
            </a:extLst>
          </p:cNvPr>
          <p:cNvSpPr/>
          <p:nvPr/>
        </p:nvSpPr>
        <p:spPr>
          <a:xfrm>
            <a:off x="7708900" y="2895600"/>
            <a:ext cx="508000" cy="304800"/>
          </a:xfrm>
          <a:prstGeom prst="rightArrow">
            <a:avLst/>
          </a:prstGeom>
          <a:solidFill>
            <a:srgbClr val="F4B41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5" name="Flecha: hacia abajo 14">
            <a:extLst>
              <a:ext uri="{FF2B5EF4-FFF2-40B4-BE49-F238E27FC236}">
                <a16:creationId xmlns:a16="http://schemas.microsoft.com/office/drawing/2014/main" id="{CF5C7702-880A-46BC-951A-9C8E69D05395}"/>
              </a:ext>
            </a:extLst>
          </p:cNvPr>
          <p:cNvSpPr/>
          <p:nvPr/>
        </p:nvSpPr>
        <p:spPr>
          <a:xfrm>
            <a:off x="9613900" y="3581400"/>
            <a:ext cx="304800" cy="330200"/>
          </a:xfrm>
          <a:prstGeom prst="downArrow">
            <a:avLst/>
          </a:prstGeom>
          <a:solidFill>
            <a:srgbClr val="F4B41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7" name="Flecha: hacia la izquierda 16">
            <a:extLst>
              <a:ext uri="{FF2B5EF4-FFF2-40B4-BE49-F238E27FC236}">
                <a16:creationId xmlns:a16="http://schemas.microsoft.com/office/drawing/2014/main" id="{0F77FE1F-F3F4-4665-9271-813542D0F4B3}"/>
              </a:ext>
            </a:extLst>
          </p:cNvPr>
          <p:cNvSpPr/>
          <p:nvPr/>
        </p:nvSpPr>
        <p:spPr>
          <a:xfrm>
            <a:off x="7708900" y="4292600"/>
            <a:ext cx="508000" cy="304800"/>
          </a:xfrm>
          <a:prstGeom prst="leftArrow">
            <a:avLst/>
          </a:prstGeom>
          <a:solidFill>
            <a:srgbClr val="F4B41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8" name="Flecha: hacia la izquierda 17">
            <a:extLst>
              <a:ext uri="{FF2B5EF4-FFF2-40B4-BE49-F238E27FC236}">
                <a16:creationId xmlns:a16="http://schemas.microsoft.com/office/drawing/2014/main" id="{E8CDFA4A-27F5-49DC-980E-410B1DD602DD}"/>
              </a:ext>
            </a:extLst>
          </p:cNvPr>
          <p:cNvSpPr/>
          <p:nvPr/>
        </p:nvSpPr>
        <p:spPr>
          <a:xfrm>
            <a:off x="3962400" y="4292600"/>
            <a:ext cx="508000" cy="304800"/>
          </a:xfrm>
          <a:prstGeom prst="leftArrow">
            <a:avLst/>
          </a:prstGeom>
          <a:solidFill>
            <a:srgbClr val="F4B41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9" name="Flecha: hacia abajo 18">
            <a:extLst>
              <a:ext uri="{FF2B5EF4-FFF2-40B4-BE49-F238E27FC236}">
                <a16:creationId xmlns:a16="http://schemas.microsoft.com/office/drawing/2014/main" id="{4AA1A1BC-C240-47D2-9CAE-75060DCE424B}"/>
              </a:ext>
            </a:extLst>
          </p:cNvPr>
          <p:cNvSpPr/>
          <p:nvPr/>
        </p:nvSpPr>
        <p:spPr>
          <a:xfrm>
            <a:off x="2120900" y="4978400"/>
            <a:ext cx="304800" cy="330200"/>
          </a:xfrm>
          <a:prstGeom prst="downArrow">
            <a:avLst/>
          </a:prstGeom>
          <a:solidFill>
            <a:srgbClr val="F4B41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A79EECCB-40AD-47E3-83B9-B8AD03677DBC}"/>
              </a:ext>
            </a:extLst>
          </p:cNvPr>
          <p:cNvSpPr/>
          <p:nvPr/>
        </p:nvSpPr>
        <p:spPr>
          <a:xfrm>
            <a:off x="3962400" y="5689600"/>
            <a:ext cx="508000" cy="304800"/>
          </a:xfrm>
          <a:prstGeom prst="rightArrow">
            <a:avLst/>
          </a:prstGeom>
          <a:solidFill>
            <a:srgbClr val="F4B41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9443039A-9295-4545-A4B7-3A1D372B998B}"/>
              </a:ext>
            </a:extLst>
          </p:cNvPr>
          <p:cNvSpPr/>
          <p:nvPr/>
        </p:nvSpPr>
        <p:spPr>
          <a:xfrm>
            <a:off x="7708900" y="5689600"/>
            <a:ext cx="508000" cy="304800"/>
          </a:xfrm>
          <a:prstGeom prst="rightArrow">
            <a:avLst/>
          </a:prstGeom>
          <a:solidFill>
            <a:srgbClr val="F4B41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A32273E-A771-45F2-B266-B29D9C55F8B4}"/>
              </a:ext>
            </a:extLst>
          </p:cNvPr>
          <p:cNvSpPr txBox="1"/>
          <p:nvPr/>
        </p:nvSpPr>
        <p:spPr>
          <a:xfrm>
            <a:off x="825500" y="23495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900" b="1">
                <a:solidFill>
                  <a:srgbClr val="2F75B5"/>
                </a:solidFill>
              </a:rPr>
              <a:t>PREPARACIÓN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45FDA25-E435-420D-9EC6-7BB600F15D8D}"/>
              </a:ext>
            </a:extLst>
          </p:cNvPr>
          <p:cNvSpPr txBox="1"/>
          <p:nvPr/>
        </p:nvSpPr>
        <p:spPr>
          <a:xfrm>
            <a:off x="825500" y="37465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900" b="1">
                <a:solidFill>
                  <a:srgbClr val="C58B00"/>
                </a:solidFill>
              </a:rPr>
              <a:t>NORMALIZACIÓN Y LIMPIEZA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C35CA70-5544-4A5D-88F5-9E1C57579D16}"/>
              </a:ext>
            </a:extLst>
          </p:cNvPr>
          <p:cNvSpPr txBox="1"/>
          <p:nvPr/>
        </p:nvSpPr>
        <p:spPr>
          <a:xfrm>
            <a:off x="4572000" y="51435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900" b="1">
                <a:solidFill>
                  <a:srgbClr val="2E8B57"/>
                </a:solidFill>
              </a:rPr>
              <a:t>TOKENIZACIÓN Y FILTRADO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44C7BCC6-52F2-69F8-727E-4DB61CB6811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27647" y="1420332"/>
            <a:ext cx="9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225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CE1376D9-1124-69D1-D236-8BCB7542E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g393f66bba02_1_6">
            <a:extLst>
              <a:ext uri="{FF2B5EF4-FFF2-40B4-BE49-F238E27FC236}">
                <a16:creationId xmlns:a16="http://schemas.microsoft.com/office/drawing/2014/main" id="{A3D9FF26-1541-F34D-43A0-5928F4D4D30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2004" cy="162306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93f66bba02_1_6">
            <a:extLst>
              <a:ext uri="{FF2B5EF4-FFF2-40B4-BE49-F238E27FC236}">
                <a16:creationId xmlns:a16="http://schemas.microsoft.com/office/drawing/2014/main" id="{A1271B2F-800C-E8C0-1F38-A825E8825B2F}"/>
              </a:ext>
            </a:extLst>
          </p:cNvPr>
          <p:cNvSpPr/>
          <p:nvPr/>
        </p:nvSpPr>
        <p:spPr>
          <a:xfrm>
            <a:off x="1496965" y="324857"/>
            <a:ext cx="6824075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s-CO" sz="3200" b="1" noProof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Procesamiento</a:t>
            </a:r>
            <a:endParaRPr lang="es-CO" sz="3200" b="1" i="0" u="none" strike="noStrike" cap="none" noProof="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7A35ED7E-FC40-B1CA-0522-3A66C7E97822}"/>
              </a:ext>
            </a:extLst>
          </p:cNvPr>
          <p:cNvSpPr txBox="1"/>
          <p:nvPr/>
        </p:nvSpPr>
        <p:spPr>
          <a:xfrm>
            <a:off x="2127647" y="1609925"/>
            <a:ext cx="889690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2800" b="1" dirty="0">
                <a:solidFill>
                  <a:schemeClr val="accent4">
                    <a:lumMod val="60000"/>
                    <a:lumOff val="40000"/>
                  </a:schemeClr>
                </a:solidFill>
                <a:ea typeface="Calibri"/>
                <a:sym typeface="Calibri"/>
              </a:rPr>
              <a:t>Dimensión del corpus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E5BA8501-5D1C-4ABC-80A5-E4F235154FC5}"/>
              </a:ext>
            </a:extLst>
          </p:cNvPr>
          <p:cNvSpPr/>
          <p:nvPr/>
        </p:nvSpPr>
        <p:spPr>
          <a:xfrm>
            <a:off x="787400" y="2603500"/>
            <a:ext cx="3111500" cy="990600"/>
          </a:xfrm>
          <a:prstGeom prst="roundRect">
            <a:avLst/>
          </a:prstGeom>
          <a:solidFill>
            <a:srgbClr val="073654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s-CO" sz="2600" b="1">
                <a:solidFill>
                  <a:srgbClr val="F4B41A"/>
                </a:solidFill>
                <a:latin typeface="Arial"/>
                <a:cs typeface="Arial"/>
              </a:rPr>
              <a:t>23.742</a:t>
            </a:r>
            <a:r>
              <a:rPr lang="es-CO" sz="1600" b="1">
                <a:solidFill>
                  <a:srgbClr val="FFFFFF"/>
                </a:solidFill>
                <a:latin typeface="Arial"/>
                <a:cs typeface="Arial"/>
              </a:rPr>
              <a:t>
SENTENCIAS</a:t>
            </a:r>
            <a:endParaRPr lang="es-CO" sz="16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DB842BE5-E615-4018-B21E-B0C78A6C0FC3}"/>
              </a:ext>
            </a:extLst>
          </p:cNvPr>
          <p:cNvSpPr/>
          <p:nvPr/>
        </p:nvSpPr>
        <p:spPr>
          <a:xfrm>
            <a:off x="4140200" y="2603500"/>
            <a:ext cx="3111500" cy="990600"/>
          </a:xfrm>
          <a:prstGeom prst="roundRect">
            <a:avLst/>
          </a:prstGeom>
          <a:solidFill>
            <a:srgbClr val="EAF2F8"/>
          </a:solidFill>
          <a:ln w="19050" cap="flat" cmpd="sng" algn="ctr">
            <a:solidFill>
              <a:srgbClr val="2F75B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s-CO" sz="2400" b="1">
                <a:solidFill>
                  <a:srgbClr val="2F75B5"/>
                </a:solidFill>
                <a:latin typeface="Arial"/>
                <a:cs typeface="Arial"/>
              </a:rPr>
              <a:t>≈ 10.993</a:t>
            </a:r>
            <a:r>
              <a:rPr lang="es-CO" sz="1200" b="1">
                <a:solidFill>
                  <a:srgbClr val="17395C"/>
                </a:solidFill>
                <a:latin typeface="Arial"/>
                <a:cs typeface="Arial"/>
              </a:rPr>
              <a:t>
PALABRAS POR SENTENCIA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95665D40-3C6B-4109-BBB1-CBA1A9848598}"/>
              </a:ext>
            </a:extLst>
          </p:cNvPr>
          <p:cNvSpPr/>
          <p:nvPr/>
        </p:nvSpPr>
        <p:spPr>
          <a:xfrm>
            <a:off x="7493000" y="2603500"/>
            <a:ext cx="3873500" cy="990600"/>
          </a:xfrm>
          <a:prstGeom prst="roundRect">
            <a:avLst/>
          </a:prstGeom>
          <a:solidFill>
            <a:srgbClr val="FFF4D6"/>
          </a:solidFill>
          <a:ln w="19050" cap="flat" cmpd="sng" algn="ctr">
            <a:solidFill>
              <a:srgbClr val="E6A7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s-CO" sz="2400" b="1">
                <a:solidFill>
                  <a:srgbClr val="D49400"/>
                </a:solidFill>
                <a:latin typeface="Arial"/>
                <a:cs typeface="Arial"/>
              </a:rPr>
              <a:t>≈ 48 %</a:t>
            </a:r>
            <a:r>
              <a:rPr lang="es-CO" sz="1200" b="1">
                <a:solidFill>
                  <a:srgbClr val="5D4700"/>
                </a:solidFill>
                <a:latin typeface="Arial"/>
                <a:cs typeface="Arial"/>
              </a:rPr>
              <a:t>
TOKENS FUNCIONALES IDENTIFICADOS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3AF6D9B-235A-433B-8FAA-0ABDF4EDE898}"/>
              </a:ext>
            </a:extLst>
          </p:cNvPr>
          <p:cNvSpPr txBox="1"/>
          <p:nvPr/>
        </p:nvSpPr>
        <p:spPr>
          <a:xfrm>
            <a:off x="787400" y="3898900"/>
            <a:ext cx="4445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s-CO" sz="1000" b="1">
                <a:solidFill>
                  <a:srgbClr val="667788"/>
                </a:solidFill>
              </a:rPr>
              <a:t>REDUCCIÓN DEL VOLUMEN TEXTUAL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9D5133E-7B74-40C5-97A8-F90DC27B2A4A}"/>
              </a:ext>
            </a:extLst>
          </p:cNvPr>
          <p:cNvSpPr/>
          <p:nvPr/>
        </p:nvSpPr>
        <p:spPr>
          <a:xfrm>
            <a:off x="787400" y="4254500"/>
            <a:ext cx="3086100" cy="1422400"/>
          </a:xfrm>
          <a:prstGeom prst="roundRect">
            <a:avLst/>
          </a:prstGeom>
          <a:solidFill>
            <a:srgbClr val="EAF2F8"/>
          </a:solidFill>
          <a:ln w="20320" cap="flat" cmpd="sng" algn="ctr">
            <a:solidFill>
              <a:srgbClr val="2F75B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s-CO" sz="2500" b="1">
                <a:solidFill>
                  <a:srgbClr val="2F75B5"/>
                </a:solidFill>
                <a:latin typeface="Arial"/>
                <a:cs typeface="Arial"/>
              </a:rPr>
              <a:t>260,99 M</a:t>
            </a:r>
            <a:r>
              <a:rPr lang="es-CO" sz="1100">
                <a:solidFill>
                  <a:srgbClr val="314455"/>
                </a:solidFill>
                <a:latin typeface="Arial"/>
                <a:cs typeface="Arial"/>
              </a:rPr>
              <a:t>
</a:t>
            </a:r>
            <a:r>
              <a:rPr lang="es-CO" sz="1200" b="1">
                <a:solidFill>
                  <a:srgbClr val="17395C"/>
                </a:solidFill>
                <a:latin typeface="Arial"/>
                <a:cs typeface="Arial"/>
              </a:rPr>
              <a:t>PALABRAS CRUDAS</a:t>
            </a:r>
            <a:r>
              <a:rPr lang="es-CO" sz="1100">
                <a:solidFill>
                  <a:srgbClr val="314455"/>
                </a:solidFill>
                <a:latin typeface="Arial"/>
                <a:cs typeface="Arial"/>
              </a:rPr>
              <a:t>
Volumen de entrada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19B2B552-BDC4-4A06-A311-2614209D84DB}"/>
              </a:ext>
            </a:extLst>
          </p:cNvPr>
          <p:cNvSpPr/>
          <p:nvPr/>
        </p:nvSpPr>
        <p:spPr>
          <a:xfrm>
            <a:off x="4533900" y="4254500"/>
            <a:ext cx="3086100" cy="1422400"/>
          </a:xfrm>
          <a:prstGeom prst="roundRect">
            <a:avLst/>
          </a:prstGeom>
          <a:solidFill>
            <a:srgbClr val="FFF4D6"/>
          </a:solidFill>
          <a:ln w="20320" cap="flat" cmpd="sng" algn="ctr">
            <a:solidFill>
              <a:srgbClr val="E6A7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s-ES" sz="2500" b="1">
                <a:solidFill>
                  <a:srgbClr val="E6A700"/>
                </a:solidFill>
                <a:latin typeface="Arial"/>
                <a:cs typeface="Arial"/>
              </a:rPr>
              <a:t>250,01 M</a:t>
            </a:r>
            <a:r>
              <a:rPr lang="es-ES" sz="1100">
                <a:solidFill>
                  <a:srgbClr val="314455"/>
                </a:solidFill>
                <a:latin typeface="Arial"/>
                <a:cs typeface="Arial"/>
              </a:rPr>
              <a:t>
</a:t>
            </a:r>
            <a:r>
              <a:rPr lang="es-ES" sz="1200" b="1">
                <a:solidFill>
                  <a:srgbClr val="17395C"/>
                </a:solidFill>
                <a:latin typeface="Arial"/>
                <a:cs typeface="Arial"/>
              </a:rPr>
              <a:t>TOKENS NORMALIZADOS</a:t>
            </a:r>
            <a:r>
              <a:rPr lang="es-ES" sz="1100">
                <a:solidFill>
                  <a:srgbClr val="314455"/>
                </a:solidFill>
                <a:latin typeface="Arial"/>
                <a:cs typeface="Arial"/>
              </a:rPr>
              <a:t>
Después de limpieza</a:t>
            </a:r>
            <a:endParaRPr lang="es-CO" sz="1100">
              <a:solidFill>
                <a:srgbClr val="314455"/>
              </a:solidFill>
              <a:latin typeface="Arial"/>
              <a:cs typeface="Arial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499933D2-7A63-4C91-9CAF-909B6DEC3543}"/>
              </a:ext>
            </a:extLst>
          </p:cNvPr>
          <p:cNvSpPr/>
          <p:nvPr/>
        </p:nvSpPr>
        <p:spPr>
          <a:xfrm>
            <a:off x="8280400" y="4254500"/>
            <a:ext cx="3086100" cy="1422400"/>
          </a:xfrm>
          <a:prstGeom prst="roundRect">
            <a:avLst/>
          </a:prstGeom>
          <a:solidFill>
            <a:srgbClr val="E8F5EE"/>
          </a:solidFill>
          <a:ln w="20320" cap="flat" cmpd="sng" algn="ctr">
            <a:solidFill>
              <a:srgbClr val="2E8B5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sv-SE" sz="2500" b="1">
                <a:solidFill>
                  <a:srgbClr val="2E8B57"/>
                </a:solidFill>
                <a:latin typeface="Arial"/>
                <a:cs typeface="Arial"/>
              </a:rPr>
              <a:t>128,81 M</a:t>
            </a:r>
            <a:r>
              <a:rPr lang="sv-SE" sz="1100">
                <a:solidFill>
                  <a:srgbClr val="314455"/>
                </a:solidFill>
                <a:latin typeface="Arial"/>
                <a:cs typeface="Arial"/>
              </a:rPr>
              <a:t>
</a:t>
            </a:r>
            <a:r>
              <a:rPr lang="sv-SE" sz="1200" b="1">
                <a:solidFill>
                  <a:srgbClr val="17395C"/>
                </a:solidFill>
                <a:latin typeface="Arial"/>
                <a:cs typeface="Arial"/>
              </a:rPr>
              <a:t>TOKENS SIN STOPWORDS</a:t>
            </a:r>
            <a:r>
              <a:rPr lang="sv-SE" sz="1100">
                <a:solidFill>
                  <a:srgbClr val="314455"/>
                </a:solidFill>
                <a:latin typeface="Arial"/>
                <a:cs typeface="Arial"/>
              </a:rPr>
              <a:t>
Base informativa final</a:t>
            </a:r>
            <a:endParaRPr lang="es-CO" sz="1100">
              <a:solidFill>
                <a:srgbClr val="314455"/>
              </a:solidFill>
              <a:latin typeface="Arial"/>
              <a:cs typeface="Arial"/>
            </a:endParaRPr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2C3111E0-24F1-4860-842C-C90586EA49DE}"/>
              </a:ext>
            </a:extLst>
          </p:cNvPr>
          <p:cNvSpPr/>
          <p:nvPr/>
        </p:nvSpPr>
        <p:spPr>
          <a:xfrm>
            <a:off x="3975100" y="4762500"/>
            <a:ext cx="457200" cy="355600"/>
          </a:xfrm>
          <a:prstGeom prst="rightArrow">
            <a:avLst/>
          </a:prstGeom>
          <a:solidFill>
            <a:srgbClr val="F4B41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4105439A-45C9-4FDB-AC4F-FFDFA0B317D3}"/>
              </a:ext>
            </a:extLst>
          </p:cNvPr>
          <p:cNvSpPr/>
          <p:nvPr/>
        </p:nvSpPr>
        <p:spPr>
          <a:xfrm>
            <a:off x="7721600" y="4762500"/>
            <a:ext cx="457200" cy="355600"/>
          </a:xfrm>
          <a:prstGeom prst="rightArrow">
            <a:avLst/>
          </a:prstGeom>
          <a:solidFill>
            <a:srgbClr val="F4B41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B6D64D34-C392-499E-A4D8-537CC505EBF8}"/>
              </a:ext>
            </a:extLst>
          </p:cNvPr>
          <p:cNvSpPr/>
          <p:nvPr/>
        </p:nvSpPr>
        <p:spPr>
          <a:xfrm>
            <a:off x="787400" y="6019800"/>
            <a:ext cx="10579100" cy="787400"/>
          </a:xfrm>
          <a:prstGeom prst="roundRect">
            <a:avLst/>
          </a:prstGeom>
          <a:solidFill>
            <a:srgbClr val="073654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s-ES" sz="1300" b="1">
                <a:solidFill>
                  <a:srgbClr val="F4B41A"/>
                </a:solidFill>
                <a:latin typeface="Arial"/>
                <a:cs typeface="Arial"/>
              </a:rPr>
              <a:t>HALLAZGO</a:t>
            </a:r>
            <a:r>
              <a:rPr lang="es-ES" sz="1300">
                <a:solidFill>
                  <a:srgbClr val="FFFFFF"/>
                </a:solidFill>
                <a:latin typeface="Arial"/>
                <a:cs typeface="Arial"/>
              </a:rPr>
              <a:t>  |  Las sentencias son documentos extraordinariamente extensos y presentan una alta repetición de estructuras lingüísticas.</a:t>
            </a:r>
            <a:endParaRPr lang="es-CO" sz="1300">
              <a:solidFill>
                <a:srgbClr val="FFFFFF"/>
              </a:solidFill>
              <a:latin typeface="Arial"/>
              <a:cs typeface="Arial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109DA6E7-F031-6A41-ACD3-A964EED43BD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27647" y="1426521"/>
            <a:ext cx="9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204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9912E1D2-B704-BC80-44B4-B9A5E49A7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g393f66bba02_1_6">
            <a:extLst>
              <a:ext uri="{FF2B5EF4-FFF2-40B4-BE49-F238E27FC236}">
                <a16:creationId xmlns:a16="http://schemas.microsoft.com/office/drawing/2014/main" id="{73CB3BE0-D0E4-5379-96AD-99B769A8DD1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2004" cy="162306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93f66bba02_1_6">
            <a:extLst>
              <a:ext uri="{FF2B5EF4-FFF2-40B4-BE49-F238E27FC236}">
                <a16:creationId xmlns:a16="http://schemas.microsoft.com/office/drawing/2014/main" id="{A493166C-3D5C-311A-0CF8-0297B2DF306E}"/>
              </a:ext>
            </a:extLst>
          </p:cNvPr>
          <p:cNvSpPr/>
          <p:nvPr/>
        </p:nvSpPr>
        <p:spPr>
          <a:xfrm>
            <a:off x="1496965" y="324857"/>
            <a:ext cx="6824075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s-CO" sz="3200" b="1" noProof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Análisis </a:t>
            </a:r>
            <a:endParaRPr lang="es-CO" sz="3200" b="1" i="0" u="none" strike="noStrike" cap="none" noProof="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1DA7DFE0-860D-D325-A469-60C685A5406E}"/>
              </a:ext>
            </a:extLst>
          </p:cNvPr>
          <p:cNvSpPr txBox="1"/>
          <p:nvPr/>
        </p:nvSpPr>
        <p:spPr>
          <a:xfrm>
            <a:off x="2127647" y="1609925"/>
            <a:ext cx="889690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b="1" dirty="0">
                <a:solidFill>
                  <a:schemeClr val="accent4">
                    <a:lumMod val="60000"/>
                    <a:lumOff val="40000"/>
                  </a:schemeClr>
                </a:solidFill>
                <a:ea typeface="Calibri"/>
                <a:sym typeface="Calibri"/>
              </a:rPr>
              <a:t>¿Qué palabras dominan la jurisprudencia?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3F7DA57-D268-16E5-9563-B2FAF321C961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486212" y="2461480"/>
            <a:ext cx="5040000" cy="4140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8433E43-CBA3-D10C-445E-B83808FA25BD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25667" y="2461480"/>
            <a:ext cx="5040000" cy="4140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E1309C7-5D55-3809-3D46-ACE696AAC477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27647" y="1426521"/>
            <a:ext cx="9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08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A8F405B-F1CA-CAB9-54BE-63E5AB8FB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g393f66bba02_1_6">
            <a:extLst>
              <a:ext uri="{FF2B5EF4-FFF2-40B4-BE49-F238E27FC236}">
                <a16:creationId xmlns:a16="http://schemas.microsoft.com/office/drawing/2014/main" id="{F67BE18C-219A-9CB3-D62C-B1BE8BE217F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2004" cy="162306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93f66bba02_1_6">
            <a:extLst>
              <a:ext uri="{FF2B5EF4-FFF2-40B4-BE49-F238E27FC236}">
                <a16:creationId xmlns:a16="http://schemas.microsoft.com/office/drawing/2014/main" id="{8E677630-E976-B700-6FDC-5FB39A5EDC65}"/>
              </a:ext>
            </a:extLst>
          </p:cNvPr>
          <p:cNvSpPr/>
          <p:nvPr/>
        </p:nvSpPr>
        <p:spPr>
          <a:xfrm>
            <a:off x="1496965" y="324857"/>
            <a:ext cx="6824075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s-CO" sz="32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endParaRPr lang="es-CO" sz="3200" b="1" i="0" u="none" strike="noStrike" cap="none" noProof="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5E3063E7-1161-AC08-1EFB-DCC910624934}"/>
              </a:ext>
            </a:extLst>
          </p:cNvPr>
          <p:cNvSpPr txBox="1"/>
          <p:nvPr/>
        </p:nvSpPr>
        <p:spPr>
          <a:xfrm>
            <a:off x="2127647" y="1609925"/>
            <a:ext cx="889690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b="1" dirty="0">
                <a:solidFill>
                  <a:schemeClr val="accent4">
                    <a:lumMod val="60000"/>
                    <a:lumOff val="40000"/>
                  </a:schemeClr>
                </a:solidFill>
                <a:ea typeface="Calibri"/>
                <a:sym typeface="Calibri"/>
              </a:rPr>
              <a:t>Evolución del corpus en el tiempo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A0DDD24-CFD3-1A83-4208-B5CBF65F03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094" y="2494813"/>
            <a:ext cx="10491811" cy="396562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A342ABA-6F9C-5A78-FF0C-4D3172B64A8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27647" y="1426521"/>
            <a:ext cx="9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894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5DE880D-6703-30DD-A371-9D0CB1B28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g393f66bba02_1_6">
            <a:extLst>
              <a:ext uri="{FF2B5EF4-FFF2-40B4-BE49-F238E27FC236}">
                <a16:creationId xmlns:a16="http://schemas.microsoft.com/office/drawing/2014/main" id="{4DB429A7-B73E-0E82-3FD4-B8813B9A2BD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2004" cy="162306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93f66bba02_1_6">
            <a:extLst>
              <a:ext uri="{FF2B5EF4-FFF2-40B4-BE49-F238E27FC236}">
                <a16:creationId xmlns:a16="http://schemas.microsoft.com/office/drawing/2014/main" id="{8FFBB7A6-D97B-8B54-6374-A3C3A94860D0}"/>
              </a:ext>
            </a:extLst>
          </p:cNvPr>
          <p:cNvSpPr/>
          <p:nvPr/>
        </p:nvSpPr>
        <p:spPr>
          <a:xfrm>
            <a:off x="1496965" y="324857"/>
            <a:ext cx="6824075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s-CO" sz="32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endParaRPr lang="es-CO" sz="3200" b="1" i="0" u="none" strike="noStrike" cap="none" noProof="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CFC384D1-4EAD-0262-9735-AE5AFA2DBB64}"/>
              </a:ext>
            </a:extLst>
          </p:cNvPr>
          <p:cNvSpPr txBox="1"/>
          <p:nvPr/>
        </p:nvSpPr>
        <p:spPr>
          <a:xfrm>
            <a:off x="2127647" y="1609925"/>
            <a:ext cx="889690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b="1" dirty="0">
                <a:solidFill>
                  <a:schemeClr val="accent4">
                    <a:lumMod val="60000"/>
                    <a:lumOff val="40000"/>
                  </a:schemeClr>
                </a:solidFill>
                <a:ea typeface="Calibri"/>
                <a:sym typeface="Calibri"/>
              </a:rPr>
              <a:t>Más allá del vocabulario jurídico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D54E604-B523-47AE-58B9-0701A6016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9831" y="2133145"/>
            <a:ext cx="7192338" cy="421659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E3A047A-FC73-618D-4262-EB2CD786FB8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27647" y="1431746"/>
            <a:ext cx="9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119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3A313563-0A99-C211-FEDB-E360CDCBC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>
            <a:extLst>
              <a:ext uri="{FF2B5EF4-FFF2-40B4-BE49-F238E27FC236}">
                <a16:creationId xmlns:a16="http://schemas.microsoft.com/office/drawing/2014/main" id="{C1D46BD6-D068-C5C5-4C96-462CB0822D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95"/>
            <a:ext cx="12192000" cy="610554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>
            <a:extLst>
              <a:ext uri="{FF2B5EF4-FFF2-40B4-BE49-F238E27FC236}">
                <a16:creationId xmlns:a16="http://schemas.microsoft.com/office/drawing/2014/main" id="{377B8EFF-37A4-FE84-F0F9-3EBC2C231F9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221420" y="2826829"/>
            <a:ext cx="8843623" cy="1204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s-CO" sz="4800" b="1" noProof="0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Conclusiones</a:t>
            </a:r>
          </a:p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endParaRPr lang="es-CO" sz="4800" b="1" noProof="0" dirty="0">
              <a:solidFill>
                <a:schemeClr val="lt1"/>
              </a:solidFill>
              <a:cs typeface="Arial"/>
            </a:endParaRPr>
          </a:p>
          <a:p>
            <a:pPr marL="0" indent="0">
              <a:buClr>
                <a:srgbClr val="FFC000"/>
              </a:buClr>
              <a:buSzPts val="2800"/>
            </a:pPr>
            <a:endParaRPr lang="es-CO" sz="2800" b="1" dirty="0">
              <a:solidFill>
                <a:srgbClr val="FFC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39167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457A7743-A3E3-489E-7FD2-CE49B18AE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g393f66bba02_1_6">
            <a:extLst>
              <a:ext uri="{FF2B5EF4-FFF2-40B4-BE49-F238E27FC236}">
                <a16:creationId xmlns:a16="http://schemas.microsoft.com/office/drawing/2014/main" id="{284EFA63-352C-6D82-8A70-0F2A674DD8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2004" cy="162306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93f66bba02_1_6">
            <a:extLst>
              <a:ext uri="{FF2B5EF4-FFF2-40B4-BE49-F238E27FC236}">
                <a16:creationId xmlns:a16="http://schemas.microsoft.com/office/drawing/2014/main" id="{953075AE-5F1E-A375-6FA8-120B4CD4A7AE}"/>
              </a:ext>
            </a:extLst>
          </p:cNvPr>
          <p:cNvSpPr/>
          <p:nvPr/>
        </p:nvSpPr>
        <p:spPr>
          <a:xfrm>
            <a:off x="1496965" y="324857"/>
            <a:ext cx="6824075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s-CO" sz="3200" b="1" noProof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lang="es-CO" sz="3200" b="1" i="0" u="none" strike="noStrike" cap="none" noProof="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32EF546-B8D7-407E-8154-D2A52EA5587E}"/>
              </a:ext>
            </a:extLst>
          </p:cNvPr>
          <p:cNvSpPr txBox="1"/>
          <p:nvPr/>
        </p:nvSpPr>
        <p:spPr>
          <a:xfrm>
            <a:off x="787400" y="1730441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s-ES" sz="1000" b="1">
                <a:solidFill>
                  <a:srgbClr val="2F75B5"/>
                </a:solidFill>
              </a:rPr>
              <a:t>RESULTADOS DE LA PRIMERA ENTREGA</a:t>
            </a:r>
            <a:endParaRPr lang="es-CO" sz="1000" b="1">
              <a:solidFill>
                <a:srgbClr val="2F75B5"/>
              </a:solidFill>
            </a:endParaRP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B7095321-9CDF-4C5C-8BF4-E588A3232D19}"/>
              </a:ext>
            </a:extLst>
          </p:cNvPr>
          <p:cNvSpPr/>
          <p:nvPr/>
        </p:nvSpPr>
        <p:spPr>
          <a:xfrm>
            <a:off x="787400" y="2086041"/>
            <a:ext cx="2184400" cy="1803400"/>
          </a:xfrm>
          <a:prstGeom prst="roundRect">
            <a:avLst/>
          </a:prstGeom>
          <a:solidFill>
            <a:srgbClr val="EAF2F8"/>
          </a:solidFill>
          <a:ln w="19050" cap="flat" cmpd="sng" algn="ctr">
            <a:solidFill>
              <a:srgbClr val="2F75B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s-ES" sz="2200" b="1">
                <a:solidFill>
                  <a:srgbClr val="2F75B5"/>
                </a:solidFill>
                <a:latin typeface="Arial"/>
                <a:cs typeface="Arial"/>
              </a:rPr>
              <a:t>23.742</a:t>
            </a:r>
            <a:r>
              <a:rPr lang="es-ES" sz="1100">
                <a:solidFill>
                  <a:srgbClr val="314455"/>
                </a:solidFill>
                <a:latin typeface="Arial"/>
                <a:cs typeface="Arial"/>
              </a:rPr>
              <a:t>
</a:t>
            </a:r>
            <a:r>
              <a:rPr lang="es-ES" sz="1100" b="1">
                <a:solidFill>
                  <a:srgbClr val="073654"/>
                </a:solidFill>
                <a:latin typeface="Arial"/>
                <a:cs typeface="Arial"/>
              </a:rPr>
              <a:t>SENTENCIAS</a:t>
            </a:r>
            <a:r>
              <a:rPr lang="es-ES" sz="1100">
                <a:solidFill>
                  <a:srgbClr val="314455"/>
                </a:solidFill>
                <a:latin typeface="Arial"/>
                <a:cs typeface="Arial"/>
              </a:rPr>
              <a:t>
Corpus jurídico depurado, estructurado y reproducible.</a:t>
            </a:r>
            <a:endParaRPr lang="es-CO" sz="1100">
              <a:solidFill>
                <a:srgbClr val="314455"/>
              </a:solidFill>
              <a:latin typeface="Arial"/>
              <a:cs typeface="Arial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E5994072-06DD-4394-AF65-650470388358}"/>
              </a:ext>
            </a:extLst>
          </p:cNvPr>
          <p:cNvSpPr/>
          <p:nvPr/>
        </p:nvSpPr>
        <p:spPr>
          <a:xfrm>
            <a:off x="3200400" y="2086041"/>
            <a:ext cx="2184400" cy="1803400"/>
          </a:xfrm>
          <a:prstGeom prst="roundRect">
            <a:avLst/>
          </a:prstGeom>
          <a:solidFill>
            <a:srgbClr val="FFF4D6"/>
          </a:solidFill>
          <a:ln w="19050" cap="flat" cmpd="sng" algn="ctr">
            <a:solidFill>
              <a:srgbClr val="D99A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s-ES" sz="2200" b="1">
                <a:solidFill>
                  <a:srgbClr val="D99A00"/>
                </a:solidFill>
                <a:latin typeface="Arial"/>
                <a:cs typeface="Arial"/>
              </a:rPr>
              <a:t>≈ 261 M</a:t>
            </a:r>
            <a:r>
              <a:rPr lang="es-ES" sz="1100">
                <a:solidFill>
                  <a:srgbClr val="314455"/>
                </a:solidFill>
                <a:latin typeface="Arial"/>
                <a:cs typeface="Arial"/>
              </a:rPr>
              <a:t>
</a:t>
            </a:r>
            <a:r>
              <a:rPr lang="es-ES" sz="1100" b="1">
                <a:solidFill>
                  <a:srgbClr val="073654"/>
                </a:solidFill>
                <a:latin typeface="Arial"/>
                <a:cs typeface="Arial"/>
              </a:rPr>
              <a:t>PALABRAS</a:t>
            </a:r>
            <a:r>
              <a:rPr lang="es-ES" sz="1100">
                <a:solidFill>
                  <a:srgbClr val="314455"/>
                </a:solidFill>
                <a:latin typeface="Arial"/>
                <a:cs typeface="Arial"/>
              </a:rPr>
              <a:t>
Línea base textométrica para análisis a gran escala.</a:t>
            </a:r>
            <a:endParaRPr lang="es-CO" sz="1100">
              <a:solidFill>
                <a:srgbClr val="314455"/>
              </a:solidFill>
              <a:latin typeface="Arial"/>
              <a:cs typeface="Arial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B8813A4-F989-4948-B04E-74ACCE533990}"/>
              </a:ext>
            </a:extLst>
          </p:cNvPr>
          <p:cNvSpPr/>
          <p:nvPr/>
        </p:nvSpPr>
        <p:spPr>
          <a:xfrm>
            <a:off x="5613400" y="2086041"/>
            <a:ext cx="2184400" cy="1803400"/>
          </a:xfrm>
          <a:prstGeom prst="roundRect">
            <a:avLst/>
          </a:prstGeom>
          <a:solidFill>
            <a:srgbClr val="E8F5EE"/>
          </a:solidFill>
          <a:ln w="19050" cap="flat" cmpd="sng" algn="ctr">
            <a:solidFill>
              <a:srgbClr val="2E8B5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s-CO" sz="2200" b="1">
                <a:solidFill>
                  <a:srgbClr val="2E8B57"/>
                </a:solidFill>
                <a:latin typeface="Arial"/>
                <a:cs typeface="Arial"/>
              </a:rPr>
              <a:t>30 años</a:t>
            </a:r>
            <a:r>
              <a:rPr lang="es-CO" sz="1100">
                <a:solidFill>
                  <a:srgbClr val="314455"/>
                </a:solidFill>
                <a:latin typeface="Arial"/>
                <a:cs typeface="Arial"/>
              </a:rPr>
              <a:t>
</a:t>
            </a:r>
            <a:r>
              <a:rPr lang="es-CO" sz="1100" b="1">
                <a:solidFill>
                  <a:srgbClr val="073654"/>
                </a:solidFill>
                <a:latin typeface="Arial"/>
                <a:cs typeface="Arial"/>
              </a:rPr>
              <a:t>COBERTURA</a:t>
            </a:r>
            <a:r>
              <a:rPr lang="es-CO" sz="1100">
                <a:solidFill>
                  <a:srgbClr val="314455"/>
                </a:solidFill>
                <a:latin typeface="Arial"/>
                <a:cs typeface="Arial"/>
              </a:rPr>
              <a:t>
Base temporal para estudiar cambios lingüísticos.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D07ABC3-7C74-40EB-B458-4864B1FC780C}"/>
              </a:ext>
            </a:extLst>
          </p:cNvPr>
          <p:cNvSpPr/>
          <p:nvPr/>
        </p:nvSpPr>
        <p:spPr>
          <a:xfrm>
            <a:off x="787400" y="4143441"/>
            <a:ext cx="7010400" cy="1320800"/>
          </a:xfrm>
          <a:prstGeom prst="roundRect">
            <a:avLst/>
          </a:prstGeom>
          <a:solidFill>
            <a:srgbClr val="073654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s-ES" sz="1100" b="1">
                <a:solidFill>
                  <a:srgbClr val="F4B41A"/>
                </a:solidFill>
                <a:latin typeface="Arial"/>
                <a:cs typeface="Arial"/>
              </a:rPr>
              <a:t>CONCLUSIÓN PRINCIPAL</a:t>
            </a:r>
            <a:r>
              <a:rPr lang="es-ES" sz="1300">
                <a:solidFill>
                  <a:srgbClr val="FFFFFF"/>
                </a:solidFill>
                <a:latin typeface="Arial"/>
                <a:cs typeface="Arial"/>
              </a:rPr>
              <a:t>
El lenguaje constitucional es extenso, formulaico y altamente especializado; el corpus permite medir estos patrones de forma reproducible.</a:t>
            </a:r>
            <a:endParaRPr lang="es-CO" sz="13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E52E7C2B-19F6-45BE-A5B7-4D103B505A11}"/>
              </a:ext>
            </a:extLst>
          </p:cNvPr>
          <p:cNvSpPr/>
          <p:nvPr/>
        </p:nvSpPr>
        <p:spPr>
          <a:xfrm>
            <a:off x="8128000" y="1730441"/>
            <a:ext cx="3238500" cy="3733800"/>
          </a:xfrm>
          <a:prstGeom prst="roundRect">
            <a:avLst/>
          </a:prstGeom>
          <a:solidFill>
            <a:srgbClr val="F4F6F8"/>
          </a:solidFill>
          <a:ln w="15240" cap="flat" cmpd="sng" algn="ctr">
            <a:solidFill>
              <a:srgbClr val="C9D2D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s-ES" b="1">
                <a:solidFill>
                  <a:srgbClr val="073654"/>
                </a:solidFill>
                <a:latin typeface="Arial"/>
                <a:cs typeface="Arial"/>
              </a:rPr>
              <a:t>SIGUIENTE ETAPA</a:t>
            </a:r>
            <a:r>
              <a:rPr lang="es-ES" sz="1200">
                <a:solidFill>
                  <a:srgbClr val="223547"/>
                </a:solidFill>
                <a:latin typeface="Arial"/>
                <a:cs typeface="Arial"/>
              </a:rPr>
              <a:t>
01  Lematización + POS
02  TF-IDF y embeddings
03  Diversidad léxica y evolución temporal
04  Clasificación automática
05  Modelos jurídicos: LEGAL-BERT
06  Resumen automático</a:t>
            </a:r>
            <a:endParaRPr lang="es-CO" sz="1200">
              <a:solidFill>
                <a:srgbClr val="223547"/>
              </a:solidFill>
              <a:latin typeface="Arial"/>
              <a:cs typeface="Arial"/>
            </a:endParaRPr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8FD69BFA-EF97-4CA2-ACC9-7C5D28363AD0}"/>
              </a:ext>
            </a:extLst>
          </p:cNvPr>
          <p:cNvSpPr/>
          <p:nvPr/>
        </p:nvSpPr>
        <p:spPr>
          <a:xfrm>
            <a:off x="7835900" y="3279841"/>
            <a:ext cx="254000" cy="431800"/>
          </a:xfrm>
          <a:prstGeom prst="rightArrow">
            <a:avLst/>
          </a:prstGeom>
          <a:solidFill>
            <a:srgbClr val="F4B41A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A6B32B54-747E-4328-A057-707FC0979022}"/>
              </a:ext>
            </a:extLst>
          </p:cNvPr>
          <p:cNvSpPr/>
          <p:nvPr/>
        </p:nvSpPr>
        <p:spPr>
          <a:xfrm>
            <a:off x="2413000" y="5591241"/>
            <a:ext cx="7366000" cy="381000"/>
          </a:xfrm>
          <a:prstGeom prst="roundRect">
            <a:avLst/>
          </a:prstGeom>
          <a:solidFill>
            <a:srgbClr val="FFF4D6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s-ES" sz="1200" b="1">
                <a:solidFill>
                  <a:srgbClr val="7A5700"/>
                </a:solidFill>
                <a:latin typeface="Arial"/>
                <a:cs typeface="Arial"/>
              </a:rPr>
              <a:t>DEL CORPUS LIMPIO  →  A MODELOS LINGÜÍSTICOS Y JURÍDICOS</a:t>
            </a:r>
            <a:endParaRPr lang="es-CO" sz="1200" b="1">
              <a:solidFill>
                <a:srgbClr val="7A57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1905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g39411826e08_2_1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95"/>
            <a:ext cx="12191999" cy="6105541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g39411826e08_2_115"/>
          <p:cNvSpPr txBox="1">
            <a:spLocks noGrp="1"/>
          </p:cNvSpPr>
          <p:nvPr>
            <p:ph type="subTitle" idx="1"/>
          </p:nvPr>
        </p:nvSpPr>
        <p:spPr>
          <a:xfrm>
            <a:off x="3054161" y="2335530"/>
            <a:ext cx="8843700" cy="26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es-CO" sz="10000" noProof="0">
                <a:solidFill>
                  <a:schemeClr val="lt1"/>
                </a:solidFill>
              </a:rPr>
              <a:t>Gracias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endParaRPr lang="es-CO" noProof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</a:pPr>
            <a:endParaRPr lang="es-CO" sz="2800" b="1" noProof="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4081BC4-8B55-497A-B1C1-29D740900FB4}">
  <we:reference id="wa200010215" version="2.0.0.0" store="es-ES" storeType="OMEX"/>
  <we:alternateReferences>
    <we:reference id="WA200010215" version="2.0.0.0" store="WA200010215" storeType="OMEX"/>
  </we:alternateReferences>
  <we:properties>
    <we:property name="bps.codex_control.document_id" value="&quot;843f1c62-20bd-4e41-811e-b679a01aafc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669</Words>
  <Application>Microsoft Office PowerPoint</Application>
  <PresentationFormat>Panorámica</PresentationFormat>
  <Paragraphs>114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wilperiodista86@gmail.com</dc:creator>
  <cp:lastModifiedBy>Julian Carrillo</cp:lastModifiedBy>
  <cp:revision>16</cp:revision>
  <dcterms:created xsi:type="dcterms:W3CDTF">2017-03-01T15:55:36Z</dcterms:created>
  <dcterms:modified xsi:type="dcterms:W3CDTF">2026-09-07T04:19:51Z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0x010100A17391D12170B6429D211C2FD773B5B7</vt:lpwstr>
  </property>
</Properties>
</file>