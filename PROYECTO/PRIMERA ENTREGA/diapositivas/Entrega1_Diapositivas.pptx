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Saludo: presentamos la Entrega 1 del proyecto de Procesamiento de Lenguaje Natural. El proyecto analiza computacionalmente un corpus publico de 23.742 sentencias de la Corte Constitucional de Colombia (1992-2021). Esta entrega deja el corpus depurado y una textometria sobre la totalidad del corpus, base de las entregas siguientes.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Segun el enunciado, la Entrega 1 pide cuatro productos: la idea de proyecto, el corpus descrito con evidencia, una textometria basica y un informe de maximo 8 paginas con su anexo. En las siguientes diapositivas mostramos como se cumple cada punto, siempre con cifras verificables.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proyecto trabaja sobre el lenguaje juridico: sentencias de la Corte Constitucional de Colombia. El problema central es extraer conocimiento de un acervo enorme sin metadatos estructurados. Justificamos el enfoque por la inviabilidad de la lectura manual y la escasez de recursos legales anotados en espanol; cerramos con las 4 preguntas de investigacion.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corpus se descargo del repositorio abierto de Hugging Face Manuel/sentencias-corte-cons-colombia-1992-2021, licencia CC-BY-4.0: un CSV de 1,68 GB con dos columnas. El nombre del archivo sugiere 2022, pero la cobertura real llega a 2021, parcial. De 23.750 filas quedaron 23.742 sentencias: el regex de prefijo extrajo identificador y anio en el 99,97 %; las 8 filas restantes (6 autos y 2 fragmentos HTML) se excluyeron y documentaron.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 clave: analizar el corpus completo (23.742 sentencias) y no una muestra; la pasada completa tarda unos 5 minutos en CPU y la semilla fija 42 se usa para la muestra del anexo y las nubes. La limpieza tiene 8 pasos medibles y documentados, inspirados en la evidencia de que el preprocesamiento cambia los resultados; la lista de stopwords se normaliza con el mismo criterio que el corpus.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tabla resume las medidas calculadas sobre las 23.742 sentencias: 260.988.316 palabras crudas y 250.012.101 limpias, con promedios de alrededor de 10.500 a 11.000 palabras por documento. Es importante senalar que un valor previo de 271.907.978 palabras se descarto porque era una extrapolacion de una muestra de 1.000 documentos, no un conteo real.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las palabras vacias el top-5 lo encabezan de (22,5 millones), la, el, que y en: puro andamiaje gramatical. Las palabras funcionales representan cerca del 48 % de los tokens limpios y la caida brusca de las frecuencias es consistente con la ley de Zipf.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 las palabras funcionales emerge el lexico juridico dominante: articulo y ley (citas normativas), derecho(s), corte, sentencia, constitucional y tutela (el amparo domina el tipo T). Las grafias sin tilde (articulo, accion) son efecto de la normalizacion; los tokens de una letra se filtraron en el pipeline.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volumen es estable: entre 1999 y 2014 se emitieron unas 950-990 providencias por anio. Luego desciende de forma progresiva: 763 en 2015 hasta 505 en 2020, y colapsa a 20 documentos en 2021, evidencia de que la cobertura de ese anio es parcial y de que el nombre del archivo (Juris1992_2022) no corresponde con el contenido real. Por tipo: tutela 72,0 %, constitucionalidad 26,3 % y unificacion 1,7 %.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nube se construye con los 5.000 terminos mas frecuentes del corpus completo, sin stopwords gramaticales (306 formas NLTK normalizadas) ni de dominio juridico-procesal (65 formas de alta frecuencia como sentencia, corte, tutela o articulo). Al retirar tambien el vocabulario administrativo del genero quedan visibles los temas de fondo de la jurisprudencia.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panel agrupa una nube por anio con los 1.000 terminos mas frecuentes de ese anio (2021 se excluye por tener menos de 50 documentos). Se presentan en tres paneles, 1992-2001, 2002-2011 y 2012-2020, para conservar legibilidad. La lectura cualitativa muestra la estabilidad de las formulas del genero juridico; el analisis cuantitativo de la evolucion lexica por periodos se aborda en la entrega 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busqueda (arXiv, Semantic Scholar, OpenAlex, Crossref y el propio Hugging Face, verificada el 2026-09-05) no encontro trabajos indexados que usen este dataset exacto. Los antecedentes mas cercanos trabajan sobre el mismo corpus subyacente de la relatoria o sobre metodologia de PLN legal en espanol: Anzola Cortes, Barbosa Becerra, HaCohen-Kerner y colaboradores, Gonzalez-Gonzalez y colaboradores, y Chalkidis y colaboradores con LEGAL-BERT.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Cumplimos el enunciado: idea de proyecto, corpus con evidencia, textometria sobre el corpus completo e informe de 8 paginas con anexo. Las cifras clave confirman el caracter extenso y formulaico del genero y sientan la linea base medible para las siguientes entregas.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entrega 2 avanzara en cuatro frentes: lematizacion y POS con spaCy para agrupar flexiones; representaciones TF-IDF y densas con medidas de diversidad lexica por anio y tipo; clasificacion automatica por tipo y tematica comparando modelos clasicos con LEGAL-BERT; y evaluacion de resumen automatico para sentencias extensas.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2F5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199632"/>
            <a:ext cx="12191695" cy="65836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728655" cy="365760"/>
          </a:xfrm>
          <a:prstGeom prst="rect">
            <a:avLst/>
          </a:prstGeom>
          <a:noFill/>
        </p:spPr>
        <p:txBody>
          <a:bodyPr wrap="square" anchor="t" lIns="0" rIns="0" tIns="0" bIns="0">
            <a:spAutoFit/>
          </a:bodyPr>
          <a:lstStyle/>
          <a:p>
            <a:pPr algn="ctr">
              <a:lnSpc>
                <a:spcPct val="100000"/>
              </a:lnSpc>
              <a:spcBef>
                <a:spcPts val="0"/>
              </a:spcBef>
              <a:spcAft>
                <a:spcPts val="0"/>
              </a:spcAft>
            </a:pPr>
            <a:r>
              <a:rPr sz="1400" b="0" i="0">
                <a:solidFill>
                  <a:srgbClr val="2F5D8A"/>
                </a:solidFill>
                <a:latin typeface="Calibri"/>
              </a:rPr>
              <a:t>PONTIFICIA UNIVERSIDAD JAVERIANA</a:t>
            </a:r>
          </a:p>
        </p:txBody>
      </p:sp>
      <p:sp>
        <p:nvSpPr>
          <p:cNvPr id="5" name="TextBox 4"/>
          <p:cNvSpPr txBox="1"/>
          <p:nvPr/>
        </p:nvSpPr>
        <p:spPr>
          <a:xfrm>
            <a:off x="731520" y="896112"/>
            <a:ext cx="10728655" cy="365760"/>
          </a:xfrm>
          <a:prstGeom prst="rect">
            <a:avLst/>
          </a:prstGeom>
          <a:noFill/>
        </p:spPr>
        <p:txBody>
          <a:bodyPr wrap="square" anchor="t" lIns="0" rIns="0" tIns="0" bIns="0">
            <a:spAutoFit/>
          </a:bodyPr>
          <a:lstStyle/>
          <a:p>
            <a:pPr algn="ctr">
              <a:lnSpc>
                <a:spcPct val="100000"/>
              </a:lnSpc>
              <a:spcBef>
                <a:spcPts val="0"/>
              </a:spcBef>
              <a:spcAft>
                <a:spcPts val="0"/>
              </a:spcAft>
            </a:pPr>
            <a:r>
              <a:rPr sz="1500" b="0" i="0">
                <a:solidFill>
                  <a:srgbClr val="595959"/>
                </a:solidFill>
                <a:latin typeface="Calibri"/>
              </a:rPr>
              <a:t>Procesamiento de Lenguaje Natural · Entrega 1</a:t>
            </a:r>
          </a:p>
        </p:txBody>
      </p:sp>
      <p:sp>
        <p:nvSpPr>
          <p:cNvPr id="6" name="Rectangle 5"/>
          <p:cNvSpPr/>
          <p:nvPr/>
        </p:nvSpPr>
        <p:spPr>
          <a:xfrm>
            <a:off x="4727448" y="1481328"/>
            <a:ext cx="2743200" cy="411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37360"/>
            <a:ext cx="10728655" cy="1371600"/>
          </a:xfrm>
          <a:prstGeom prst="rect">
            <a:avLst/>
          </a:prstGeom>
          <a:noFill/>
        </p:spPr>
        <p:txBody>
          <a:bodyPr wrap="square" anchor="t" lIns="0" rIns="0" tIns="0" bIns="0">
            <a:spAutoFit/>
          </a:bodyPr>
          <a:lstStyle/>
          <a:p>
            <a:pPr algn="ctr">
              <a:lnSpc>
                <a:spcPct val="100000"/>
              </a:lnSpc>
              <a:spcBef>
                <a:spcPts val="0"/>
              </a:spcBef>
              <a:spcAft>
                <a:spcPts val="200"/>
              </a:spcAft>
            </a:pPr>
            <a:r>
              <a:rPr sz="3600" b="1" i="0">
                <a:solidFill>
                  <a:srgbClr val="1F3864"/>
                </a:solidFill>
                <a:latin typeface="Calibri"/>
              </a:rPr>
              <a:t>Corpus, idea de proyecto y textometría</a:t>
            </a:r>
          </a:p>
          <a:p>
            <a:pPr algn="ctr">
              <a:lnSpc>
                <a:spcPct val="100000"/>
              </a:lnSpc>
              <a:spcBef>
                <a:spcPts val="0"/>
              </a:spcBef>
              <a:spcAft>
                <a:spcPts val="0"/>
              </a:spcAft>
            </a:pPr>
            <a:r>
              <a:rPr sz="1700" b="0" i="0">
                <a:solidFill>
                  <a:srgbClr val="333333"/>
                </a:solidFill>
                <a:latin typeface="Calibri"/>
              </a:rPr>
              <a:t>Análisis computacional de la jurisprudencia de la Corte Constitucional de Colombia (1992–2021)</a:t>
            </a:r>
          </a:p>
        </p:txBody>
      </p:sp>
      <p:sp>
        <p:nvSpPr>
          <p:cNvPr id="8" name="TextBox 7"/>
          <p:cNvSpPr txBox="1"/>
          <p:nvPr/>
        </p:nvSpPr>
        <p:spPr>
          <a:xfrm>
            <a:off x="731520" y="3200400"/>
            <a:ext cx="10728655" cy="365760"/>
          </a:xfrm>
          <a:prstGeom prst="rect">
            <a:avLst/>
          </a:prstGeom>
          <a:noFill/>
        </p:spPr>
        <p:txBody>
          <a:bodyPr wrap="square" anchor="t" lIns="0" rIns="0" tIns="0" bIns="0">
            <a:spAutoFit/>
          </a:bodyPr>
          <a:lstStyle/>
          <a:p>
            <a:pPr algn="ctr">
              <a:lnSpc>
                <a:spcPct val="100000"/>
              </a:lnSpc>
              <a:spcBef>
                <a:spcPts val="0"/>
              </a:spcBef>
              <a:spcAft>
                <a:spcPts val="0"/>
              </a:spcAft>
            </a:pPr>
            <a:r>
              <a:rPr sz="1400" b="0" i="1">
                <a:solidFill>
                  <a:srgbClr val="2F5D8A"/>
                </a:solidFill>
                <a:latin typeface="Calibri"/>
              </a:rPr>
              <a:t>23.742 sentencias · 260.988.316 palabras · corpus público Hugging Face (CC-BY-4.0)</a:t>
            </a:r>
          </a:p>
        </p:txBody>
      </p:sp>
      <p:sp>
        <p:nvSpPr>
          <p:cNvPr id="9" name="TextBox 8"/>
          <p:cNvSpPr txBox="1"/>
          <p:nvPr/>
        </p:nvSpPr>
        <p:spPr>
          <a:xfrm>
            <a:off x="731520" y="3703320"/>
            <a:ext cx="10728655" cy="2194560"/>
          </a:xfrm>
          <a:prstGeom prst="rect">
            <a:avLst/>
          </a:prstGeom>
          <a:noFill/>
        </p:spPr>
        <p:txBody>
          <a:bodyPr wrap="square" anchor="t" lIns="0" rIns="0" tIns="0" bIns="0">
            <a:spAutoFit/>
          </a:bodyPr>
          <a:lstStyle/>
          <a:p>
            <a:pPr algn="ctr">
              <a:lnSpc>
                <a:spcPct val="100000"/>
              </a:lnSpc>
              <a:spcBef>
                <a:spcPts val="0"/>
              </a:spcBef>
              <a:spcAft>
                <a:spcPts val="1000"/>
              </a:spcAft>
            </a:pPr>
            <a:r>
              <a:rPr sz="1300" b="0" i="0">
                <a:solidFill>
                  <a:srgbClr val="8A8A8A"/>
                </a:solidFill>
                <a:latin typeface="Calibri"/>
              </a:rPr>
              <a:t>Integrantes</a:t>
            </a:r>
          </a:p>
          <a:p>
            <a:pPr algn="ctr">
              <a:lnSpc>
                <a:spcPct val="100000"/>
              </a:lnSpc>
              <a:spcBef>
                <a:spcPts val="0"/>
              </a:spcBef>
              <a:spcAft>
                <a:spcPts val="600"/>
              </a:spcAft>
            </a:pPr>
            <a:r>
              <a:rPr sz="1800" b="0" i="0">
                <a:solidFill>
                  <a:srgbClr val="333333"/>
                </a:solidFill>
                <a:latin typeface="Calibri"/>
              </a:rPr>
              <a:t>Erika Valeria Rivera Jiménez</a:t>
            </a:r>
          </a:p>
          <a:p>
            <a:pPr algn="ctr">
              <a:lnSpc>
                <a:spcPct val="100000"/>
              </a:lnSpc>
              <a:spcBef>
                <a:spcPts val="0"/>
              </a:spcBef>
              <a:spcAft>
                <a:spcPts val="600"/>
              </a:spcAft>
            </a:pPr>
            <a:r>
              <a:rPr sz="1800" b="0" i="0">
                <a:solidFill>
                  <a:srgbClr val="333333"/>
                </a:solidFill>
                <a:latin typeface="Calibri"/>
              </a:rPr>
              <a:t>Julián Guillermo Carrillo Meneses</a:t>
            </a:r>
          </a:p>
          <a:p>
            <a:pPr algn="ctr">
              <a:lnSpc>
                <a:spcPct val="100000"/>
              </a:lnSpc>
              <a:spcBef>
                <a:spcPts val="0"/>
              </a:spcBef>
              <a:spcAft>
                <a:spcPts val="600"/>
              </a:spcAft>
            </a:pPr>
            <a:r>
              <a:rPr sz="1800" b="0" i="0">
                <a:solidFill>
                  <a:srgbClr val="333333"/>
                </a:solidFill>
                <a:latin typeface="Calibri"/>
              </a:rPr>
              <a:t>Carlos Andrés Garnica Salazar</a:t>
            </a:r>
          </a:p>
          <a:p>
            <a:pPr algn="ctr">
              <a:lnSpc>
                <a:spcPct val="100000"/>
              </a:lnSpc>
              <a:spcBef>
                <a:spcPts val="0"/>
              </a:spcBef>
              <a:spcAft>
                <a:spcPts val="600"/>
              </a:spcAft>
            </a:pPr>
            <a:r>
              <a:rPr sz="1800" b="0" i="0">
                <a:solidFill>
                  <a:srgbClr val="333333"/>
                </a:solidFill>
                <a:latin typeface="Calibri"/>
              </a:rPr>
              <a:t>Oscar Andrés Prieto Moreno</a:t>
            </a:r>
          </a:p>
        </p:txBody>
      </p:sp>
      <p:sp>
        <p:nvSpPr>
          <p:cNvPr id="10" name="TextBox 9"/>
          <p:cNvSpPr txBox="1"/>
          <p:nvPr/>
        </p:nvSpPr>
        <p:spPr>
          <a:xfrm>
            <a:off x="731520" y="6272784"/>
            <a:ext cx="10728655" cy="502920"/>
          </a:xfrm>
          <a:prstGeom prst="rect">
            <a:avLst/>
          </a:prstGeom>
          <a:noFill/>
        </p:spPr>
        <p:txBody>
          <a:bodyPr wrap="square" anchor="t" lIns="0" rIns="0" tIns="0" bIns="0">
            <a:spAutoFit/>
          </a:bodyPr>
          <a:lstStyle/>
          <a:p>
            <a:pPr algn="ctr">
              <a:lnSpc>
                <a:spcPct val="100000"/>
              </a:lnSpc>
              <a:spcBef>
                <a:spcPts val="0"/>
              </a:spcBef>
              <a:spcAft>
                <a:spcPts val="0"/>
              </a:spcAft>
            </a:pPr>
            <a:r>
              <a:rPr sz="1600" b="0" i="0">
                <a:solidFill>
                  <a:srgbClr val="FFFFFF"/>
                </a:solidFill>
                <a:latin typeface="Calibri"/>
              </a:rPr>
              <a:t>Septiembre de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11185855" cy="786384"/>
          </a:xfrm>
          <a:prstGeom prst="rect">
            <a:avLst/>
          </a:prstGeom>
          <a:noFill/>
        </p:spPr>
        <p:txBody>
          <a:bodyPr wrap="square" anchor="ctr">
            <a:spAutoFit/>
          </a:bodyPr>
          <a:lstStyle/>
          <a:p>
            <a:r>
              <a:rPr sz="2800" b="1">
                <a:solidFill>
                  <a:srgbClr val="FFFFFF"/>
                </a:solidFill>
                <a:latin typeface="Calibri"/>
              </a:rPr>
              <a:t>Objetivo de la entrega</a:t>
            </a:r>
          </a:p>
        </p:txBody>
      </p:sp>
      <p:sp>
        <p:nvSpPr>
          <p:cNvPr id="4" name="TextBox 3"/>
          <p:cNvSpPr txBox="1"/>
          <p:nvPr/>
        </p:nvSpPr>
        <p:spPr>
          <a:xfrm>
            <a:off x="685800" y="1325880"/>
            <a:ext cx="10789920" cy="3108960"/>
          </a:xfrm>
          <a:prstGeom prst="rect">
            <a:avLst/>
          </a:prstGeom>
          <a:noFill/>
        </p:spPr>
        <p:txBody>
          <a:bodyPr wrap="square" anchor="t" lIns="0" rIns="0" tIns="0" bIns="0">
            <a:spAutoFit/>
          </a:bodyPr>
          <a:lstStyle/>
          <a:p>
            <a:pPr>
              <a:lnSpc>
                <a:spcPct val="104000"/>
              </a:lnSpc>
              <a:spcAft>
                <a:spcPts val="1400"/>
              </a:spcAft>
            </a:pPr>
            <a:r>
              <a:rPr sz="1700">
                <a:solidFill>
                  <a:srgbClr val="333333"/>
                </a:solidFill>
                <a:latin typeface="Calibri"/>
              </a:rPr>
              <a:t>•  </a:t>
            </a:r>
            <a:r>
              <a:rPr sz="1700" b="1">
                <a:solidFill>
                  <a:srgbClr val="333333"/>
                </a:solidFill>
                <a:latin typeface="Calibri"/>
              </a:rPr>
              <a:t>Idea de proyecto: </a:t>
            </a:r>
            <a:r>
              <a:rPr sz="1700">
                <a:solidFill>
                  <a:srgbClr val="333333"/>
                </a:solidFill>
                <a:latin typeface="Calibri"/>
              </a:rPr>
              <a:t>dominio (lenguaje jurídico / Corte Constitucional), problema de PLN y preguntas de investigación.</a:t>
            </a:r>
          </a:p>
          <a:p>
            <a:pPr>
              <a:lnSpc>
                <a:spcPct val="104000"/>
              </a:lnSpc>
              <a:spcAft>
                <a:spcPts val="1400"/>
              </a:spcAft>
            </a:pPr>
            <a:r>
              <a:rPr sz="1700">
                <a:solidFill>
                  <a:srgbClr val="333333"/>
                </a:solidFill>
                <a:latin typeface="Calibri"/>
              </a:rPr>
              <a:t>•  </a:t>
            </a:r>
            <a:r>
              <a:rPr sz="1700" b="1">
                <a:solidFill>
                  <a:srgbClr val="333333"/>
                </a:solidFill>
                <a:latin typeface="Calibri"/>
              </a:rPr>
              <a:t>Corpus con evidencia: </a:t>
            </a:r>
            <a:r>
              <a:rPr sz="1700">
                <a:solidFill>
                  <a:srgbClr val="333333"/>
                </a:solidFill>
                <a:latin typeface="Calibri"/>
              </a:rPr>
              <a:t>fuente verificada (Hugging Face), licencia, formato, características, depuración y fragmentos representativos.</a:t>
            </a:r>
          </a:p>
          <a:p>
            <a:pPr>
              <a:lnSpc>
                <a:spcPct val="104000"/>
              </a:lnSpc>
              <a:spcAft>
                <a:spcPts val="1400"/>
              </a:spcAft>
            </a:pPr>
            <a:r>
              <a:rPr sz="1700">
                <a:solidFill>
                  <a:srgbClr val="333333"/>
                </a:solidFill>
                <a:latin typeface="Calibri"/>
              </a:rPr>
              <a:t>•  </a:t>
            </a:r>
            <a:r>
              <a:rPr sz="1700" b="1">
                <a:solidFill>
                  <a:srgbClr val="333333"/>
                </a:solidFill>
                <a:latin typeface="Calibri"/>
              </a:rPr>
              <a:t>Textometría básica: </a:t>
            </a:r>
            <a:r>
              <a:rPr sz="1700">
                <a:solidFill>
                  <a:srgbClr val="333333"/>
                </a:solidFill>
                <a:latin typeface="Calibri"/>
              </a:rPr>
              <a:t>pipeline de limpieza documentado, medidas textuales, top-20 con y sin stopwords, distribución temporal y nubes de palabras, sobre el corpus completo.</a:t>
            </a:r>
          </a:p>
          <a:p>
            <a:pPr>
              <a:lnSpc>
                <a:spcPct val="104000"/>
              </a:lnSpc>
              <a:spcAft>
                <a:spcPts val="1400"/>
              </a:spcAft>
            </a:pPr>
            <a:r>
              <a:rPr sz="1700">
                <a:solidFill>
                  <a:srgbClr val="333333"/>
                </a:solidFill>
                <a:latin typeface="Calibri"/>
              </a:rPr>
              <a:t>•  </a:t>
            </a:r>
            <a:r>
              <a:rPr sz="1700" b="1">
                <a:solidFill>
                  <a:srgbClr val="333333"/>
                </a:solidFill>
                <a:latin typeface="Calibri"/>
              </a:rPr>
              <a:t>Informe: </a:t>
            </a:r>
            <a:r>
              <a:rPr sz="1700">
                <a:solidFill>
                  <a:srgbClr val="333333"/>
                </a:solidFill>
                <a:latin typeface="Calibri"/>
              </a:rPr>
              <a:t>documento final de máximo 8 páginas (PDF) más anexo con muestra del corpus (25 sentencias; semilla 42).</a:t>
            </a:r>
          </a:p>
        </p:txBody>
      </p:sp>
      <p:sp>
        <p:nvSpPr>
          <p:cNvPr id="5" name="Rectangle 4"/>
          <p:cNvSpPr/>
          <p:nvPr/>
        </p:nvSpPr>
        <p:spPr>
          <a:xfrm>
            <a:off x="685800" y="4709160"/>
            <a:ext cx="10789920" cy="12344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4919472"/>
            <a:ext cx="10241280" cy="86868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2F5D8A"/>
                </a:solidFill>
                <a:latin typeface="Calibri"/>
              </a:rPr>
              <a:t>Entregables verificables</a:t>
            </a:r>
          </a:p>
          <a:p>
            <a:pPr algn="l">
              <a:lnSpc>
                <a:spcPct val="100000"/>
              </a:lnSpc>
              <a:spcBef>
                <a:spcPts val="0"/>
              </a:spcBef>
              <a:spcAft>
                <a:spcPts val="0"/>
              </a:spcAft>
            </a:pPr>
            <a:r>
              <a:rPr sz="1350" b="0" i="0">
                <a:solidFill>
                  <a:srgbClr val="333333"/>
                </a:solidFill>
                <a:latin typeface="Calibri"/>
              </a:rPr>
              <a:t>Informe Entrega_1_Informe.pdf (8 páginas) y anexo CSV de muestra · notebook consolidado con el pipeline reproducible · figuras/ y resultados/metricas.json.</a:t>
            </a:r>
          </a:p>
        </p:txBody>
      </p:sp>
      <p:sp>
        <p:nvSpPr>
          <p:cNvPr id="7" name="TextBox 6"/>
          <p:cNvSpPr txBox="1"/>
          <p:nvPr/>
        </p:nvSpPr>
        <p:spPr>
          <a:xfrm>
            <a:off x="502920" y="6510528"/>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A8A8A"/>
                </a:solidFill>
                <a:latin typeface="Calibri"/>
              </a:rPr>
              <a:t>PLN · Entrega 1 · Pontificia Universidad Javeriana</a:t>
            </a:r>
          </a:p>
        </p:txBody>
      </p:sp>
      <p:sp>
        <p:nvSpPr>
          <p:cNvPr id="8" name="TextBox 7"/>
          <p:cNvSpPr txBox="1"/>
          <p:nvPr/>
        </p:nvSpPr>
        <p:spPr>
          <a:xfrm>
            <a:off x="11185855" y="6510528"/>
            <a:ext cx="502920" cy="274320"/>
          </a:xfrm>
          <a:prstGeom prst="rect">
            <a:avLst/>
          </a:prstGeom>
          <a:noFill/>
        </p:spPr>
        <p:txBody>
          <a:bodyPr wrap="square" anchor="t" lIns="0" rIns="0" tIns="0" bIns="0">
            <a:spAutoFit/>
          </a:bodyPr>
          <a:lstStyle/>
          <a:p>
            <a:pPr algn="r"/>
            <a:r>
              <a:rPr sz="1000">
                <a:solidFill>
                  <a:srgbClr val="8A8A8A"/>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11185855" cy="786384"/>
          </a:xfrm>
          <a:prstGeom prst="rect">
            <a:avLst/>
          </a:prstGeom>
          <a:noFill/>
        </p:spPr>
        <p:txBody>
          <a:bodyPr wrap="square" anchor="ctr">
            <a:spAutoFit/>
          </a:bodyPr>
          <a:lstStyle/>
          <a:p>
            <a:r>
              <a:rPr sz="2800" b="1">
                <a:solidFill>
                  <a:srgbClr val="FFFFFF"/>
                </a:solidFill>
                <a:latin typeface="Calibri"/>
              </a:rPr>
              <a:t>Idea de proyecto: PLN sobre jurisprudencia constitucional</a:t>
            </a:r>
          </a:p>
        </p:txBody>
      </p:sp>
      <p:sp>
        <p:nvSpPr>
          <p:cNvPr id="4" name="TextBox 3"/>
          <p:cNvSpPr txBox="1"/>
          <p:nvPr/>
        </p:nvSpPr>
        <p:spPr>
          <a:xfrm>
            <a:off x="685800" y="1207008"/>
            <a:ext cx="10789920" cy="2880360"/>
          </a:xfrm>
          <a:prstGeom prst="rect">
            <a:avLst/>
          </a:prstGeom>
          <a:noFill/>
        </p:spPr>
        <p:txBody>
          <a:bodyPr wrap="square" anchor="t" lIns="0" rIns="0" tIns="0" bIns="0">
            <a:spAutoFit/>
          </a:bodyPr>
          <a:lstStyle/>
          <a:p>
            <a:pPr>
              <a:lnSpc>
                <a:spcPct val="104000"/>
              </a:lnSpc>
              <a:spcAft>
                <a:spcPts val="800"/>
              </a:spcAft>
            </a:pPr>
            <a:r>
              <a:rPr sz="1450">
                <a:solidFill>
                  <a:srgbClr val="333333"/>
                </a:solidFill>
                <a:latin typeface="Calibri"/>
              </a:rPr>
              <a:t>•  </a:t>
            </a:r>
            <a:r>
              <a:rPr sz="1450" b="1">
                <a:solidFill>
                  <a:srgbClr val="333333"/>
                </a:solidFill>
                <a:latin typeface="Calibri"/>
              </a:rPr>
              <a:t>Dominio. </a:t>
            </a:r>
            <a:r>
              <a:rPr sz="1450">
                <a:solidFill>
                  <a:srgbClr val="333333"/>
                </a:solidFill>
                <a:latin typeface="Calibri"/>
              </a:rPr>
              <a:t>Lenguaje jurídico: jurisprudencia de la Corte Constitucional colombiana; sentencias de tutela (T), constitucionalidad (C) y unificación (SU); documentos extensos (≈11.000 palabras) con estructura formal, fórmulas de estilo estables y citas.</a:t>
            </a:r>
          </a:p>
          <a:p>
            <a:pPr>
              <a:lnSpc>
                <a:spcPct val="104000"/>
              </a:lnSpc>
              <a:spcAft>
                <a:spcPts val="800"/>
              </a:spcAft>
            </a:pPr>
            <a:r>
              <a:rPr sz="1450">
                <a:solidFill>
                  <a:srgbClr val="333333"/>
                </a:solidFill>
                <a:latin typeface="Calibri"/>
              </a:rPr>
              <a:t>•  </a:t>
            </a:r>
            <a:r>
              <a:rPr sz="1450" b="1">
                <a:solidFill>
                  <a:srgbClr val="333333"/>
                </a:solidFill>
                <a:latin typeface="Calibri"/>
              </a:rPr>
              <a:t>Problema. </a:t>
            </a:r>
            <a:r>
              <a:rPr sz="1450">
                <a:solidFill>
                  <a:srgbClr val="333333"/>
                </a:solidFill>
                <a:latin typeface="Calibri"/>
              </a:rPr>
              <a:t>Corpus extenso sin metadatos: 23.742 documentos y ≈261 millones de palabras, con solo identificador y texto; la información relevante se dispersa entre fórmulas procesales repetidas y el tipo de providencia y el año deben inferirse del propio texto.</a:t>
            </a:r>
          </a:p>
          <a:p>
            <a:pPr>
              <a:lnSpc>
                <a:spcPct val="104000"/>
              </a:lnSpc>
              <a:spcAft>
                <a:spcPts val="800"/>
              </a:spcAft>
            </a:pPr>
            <a:r>
              <a:rPr sz="1450">
                <a:solidFill>
                  <a:srgbClr val="333333"/>
                </a:solidFill>
                <a:latin typeface="Calibri"/>
              </a:rPr>
              <a:t>•  </a:t>
            </a:r>
            <a:r>
              <a:rPr sz="1450" b="1">
                <a:solidFill>
                  <a:srgbClr val="333333"/>
                </a:solidFill>
                <a:latin typeface="Calibri"/>
              </a:rPr>
              <a:t>Justificación. </a:t>
            </a:r>
            <a:r>
              <a:rPr sz="1450">
                <a:solidFill>
                  <a:srgbClr val="333333"/>
                </a:solidFill>
                <a:latin typeface="Calibri"/>
              </a:rPr>
              <a:t>La lectura manual de decenas de miles de documentos largos es inviable; el PLN permite evidencia cuantificable y reproducible. Escasez documentada de recursos legales anotados en español (Latinoamérica): un corpus depurado y caracterizado ya es un aporte.</a:t>
            </a:r>
          </a:p>
        </p:txBody>
      </p:sp>
      <p:sp>
        <p:nvSpPr>
          <p:cNvPr id="5" name="TextBox 4"/>
          <p:cNvSpPr txBox="1"/>
          <p:nvPr/>
        </p:nvSpPr>
        <p:spPr>
          <a:xfrm>
            <a:off x="685800" y="4224528"/>
            <a:ext cx="10789920" cy="320040"/>
          </a:xfrm>
          <a:prstGeom prst="rect">
            <a:avLst/>
          </a:prstGeom>
          <a:noFill/>
        </p:spPr>
        <p:txBody>
          <a:bodyPr wrap="square" anchor="t" lIns="0" rIns="0" tIns="0" bIns="0">
            <a:spAutoFit/>
          </a:bodyPr>
          <a:lstStyle/>
          <a:p>
            <a:pPr algn="l">
              <a:lnSpc>
                <a:spcPct val="100000"/>
              </a:lnSpc>
              <a:spcBef>
                <a:spcPts val="0"/>
              </a:spcBef>
              <a:spcAft>
                <a:spcPts val="0"/>
              </a:spcAft>
            </a:pPr>
            <a:r>
              <a:rPr sz="1400" b="1" i="0">
                <a:solidFill>
                  <a:srgbClr val="2F5D8A"/>
                </a:solidFill>
                <a:latin typeface="Calibri"/>
              </a:rPr>
              <a:t>Preguntas de investigación</a:t>
            </a:r>
          </a:p>
        </p:txBody>
      </p:sp>
      <p:sp>
        <p:nvSpPr>
          <p:cNvPr id="6" name="TextBox 5"/>
          <p:cNvSpPr txBox="1"/>
          <p:nvPr/>
        </p:nvSpPr>
        <p:spPr>
          <a:xfrm>
            <a:off x="868680" y="4617720"/>
            <a:ext cx="10607040" cy="1783080"/>
          </a:xfrm>
          <a:prstGeom prst="rect">
            <a:avLst/>
          </a:prstGeom>
          <a:noFill/>
        </p:spPr>
        <p:txBody>
          <a:bodyPr wrap="square" anchor="t" lIns="0" rIns="0" tIns="0" bIns="0">
            <a:spAutoFit/>
          </a:bodyPr>
          <a:lstStyle/>
          <a:p>
            <a:pPr algn="l">
              <a:lnSpc>
                <a:spcPct val="100000"/>
              </a:lnSpc>
              <a:spcBef>
                <a:spcPts val="0"/>
              </a:spcBef>
              <a:spcAft>
                <a:spcPts val="500"/>
              </a:spcAft>
            </a:pPr>
            <a:r>
              <a:rPr sz="1350" b="0" i="0">
                <a:solidFill>
                  <a:srgbClr val="333333"/>
                </a:solidFill>
                <a:latin typeface="Calibri"/>
              </a:rPr>
              <a:t>–  ¿Qué propiedades léxicas y estilométricas caracterizan las sentencias y permiten diferenciar los tipos de providencia (T, C y SU) y los periodos?</a:t>
            </a:r>
          </a:p>
          <a:p>
            <a:pPr algn="l">
              <a:lnSpc>
                <a:spcPct val="100000"/>
              </a:lnSpc>
              <a:spcBef>
                <a:spcPts val="0"/>
              </a:spcBef>
              <a:spcAft>
                <a:spcPts val="500"/>
              </a:spcAft>
            </a:pPr>
            <a:r>
              <a:rPr sz="1350" b="0" i="0">
                <a:solidFill>
                  <a:srgbClr val="333333"/>
                </a:solidFill>
                <a:latin typeface="Calibri"/>
              </a:rPr>
              <a:t>–  ¿Cómo evoluciona el vocabulario de la Corte entre 1992 y 2021 en riqueza léxica, términos dominantes y temas recurrentes?</a:t>
            </a:r>
          </a:p>
          <a:p>
            <a:pPr algn="l">
              <a:lnSpc>
                <a:spcPct val="100000"/>
              </a:lnSpc>
              <a:spcBef>
                <a:spcPts val="0"/>
              </a:spcBef>
              <a:spcAft>
                <a:spcPts val="500"/>
              </a:spcAft>
            </a:pPr>
            <a:r>
              <a:rPr sz="1350" b="0" i="0">
                <a:solidFill>
                  <a:srgbClr val="333333"/>
                </a:solidFill>
                <a:latin typeface="Calibri"/>
              </a:rPr>
              <a:t>–  ¿Es posible clasificar automáticamente las sentencias según su tipo o temática con técnicas de PLN?</a:t>
            </a:r>
          </a:p>
          <a:p>
            <a:pPr algn="l">
              <a:lnSpc>
                <a:spcPct val="100000"/>
              </a:lnSpc>
              <a:spcBef>
                <a:spcPts val="0"/>
              </a:spcBef>
              <a:spcAft>
                <a:spcPts val="500"/>
              </a:spcAft>
            </a:pPr>
            <a:r>
              <a:rPr sz="1350" b="0" i="0">
                <a:solidFill>
                  <a:srgbClr val="333333"/>
                </a:solidFill>
                <a:latin typeface="Calibri"/>
              </a:rPr>
              <a:t>–  ¿En qué medida los métodos automáticos pueden apoyar la consulta de sentencias extensas mediante resúmenes extractivos o abstractivos?</a:t>
            </a:r>
          </a:p>
        </p:txBody>
      </p:sp>
      <p:sp>
        <p:nvSpPr>
          <p:cNvPr id="7" name="TextBox 6"/>
          <p:cNvSpPr txBox="1"/>
          <p:nvPr/>
        </p:nvSpPr>
        <p:spPr>
          <a:xfrm>
            <a:off x="502920" y="6510528"/>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A8A8A"/>
                </a:solidFill>
                <a:latin typeface="Calibri"/>
              </a:rPr>
              <a:t>PLN · Entrega 1 · Pontificia Universidad Javeriana</a:t>
            </a:r>
          </a:p>
        </p:txBody>
      </p:sp>
      <p:sp>
        <p:nvSpPr>
          <p:cNvPr id="8" name="TextBox 7"/>
          <p:cNvSpPr txBox="1"/>
          <p:nvPr/>
        </p:nvSpPr>
        <p:spPr>
          <a:xfrm>
            <a:off x="11185855" y="6510528"/>
            <a:ext cx="502920" cy="274320"/>
          </a:xfrm>
          <a:prstGeom prst="rect">
            <a:avLst/>
          </a:prstGeom>
          <a:noFill/>
        </p:spPr>
        <p:txBody>
          <a:bodyPr wrap="square" anchor="t" lIns="0" rIns="0" tIns="0" bIns="0">
            <a:spAutoFit/>
          </a:bodyPr>
          <a:lstStyle/>
          <a:p>
            <a:pPr algn="r"/>
            <a:r>
              <a:rPr sz="1000">
                <a:solidFill>
                  <a:srgbClr val="8A8A8A"/>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11185855" cy="786384"/>
          </a:xfrm>
          <a:prstGeom prst="rect">
            <a:avLst/>
          </a:prstGeom>
          <a:noFill/>
        </p:spPr>
        <p:txBody>
          <a:bodyPr wrap="square" anchor="ctr">
            <a:spAutoFit/>
          </a:bodyPr>
          <a:lstStyle/>
          <a:p>
            <a:r>
              <a:rPr sz="2800" b="1">
                <a:solidFill>
                  <a:srgbClr val="FFFFFF"/>
                </a:solidFill>
                <a:latin typeface="Calibri"/>
              </a:rPr>
              <a:t>Corpus: fuente, características y depuración</a:t>
            </a:r>
          </a:p>
        </p:txBody>
      </p:sp>
      <p:sp>
        <p:nvSpPr>
          <p:cNvPr id="4" name="TextBox 3"/>
          <p:cNvSpPr txBox="1"/>
          <p:nvPr/>
        </p:nvSpPr>
        <p:spPr>
          <a:xfrm>
            <a:off x="685800" y="1207008"/>
            <a:ext cx="6949440" cy="5120640"/>
          </a:xfrm>
          <a:prstGeom prst="rect">
            <a:avLst/>
          </a:prstGeom>
          <a:noFill/>
        </p:spPr>
        <p:txBody>
          <a:bodyPr wrap="square" anchor="t" lIns="0" rIns="0" tIns="0" bIns="0">
            <a:spAutoFit/>
          </a:bodyPr>
          <a:lstStyle/>
          <a:p>
            <a:pPr>
              <a:lnSpc>
                <a:spcPct val="104000"/>
              </a:lnSpc>
              <a:spcAft>
                <a:spcPts val="900"/>
              </a:spcAft>
            </a:pPr>
            <a:r>
              <a:rPr sz="1350">
                <a:solidFill>
                  <a:srgbClr val="333333"/>
                </a:solidFill>
                <a:latin typeface="Calibri"/>
              </a:rPr>
              <a:t>•  </a:t>
            </a:r>
            <a:r>
              <a:rPr sz="1350" b="1">
                <a:solidFill>
                  <a:srgbClr val="333333"/>
                </a:solidFill>
                <a:latin typeface="Calibri"/>
              </a:rPr>
              <a:t>Fuente. </a:t>
            </a:r>
            <a:r>
              <a:rPr sz="1350">
                <a:solidFill>
                  <a:srgbClr val="333333"/>
                </a:solidFill>
                <a:latin typeface="Calibri"/>
              </a:rPr>
              <a:t>Repositorio público “sentencias-corte-cons-colombia-1992-2021” (usuario Manuel) en el Hugging Face Hub; licencia CC-BY-4.0; textos de la relatoría de la Corte Constitucional.</a:t>
            </a:r>
          </a:p>
          <a:p>
            <a:pPr>
              <a:lnSpc>
                <a:spcPct val="104000"/>
              </a:lnSpc>
              <a:spcAft>
                <a:spcPts val="900"/>
              </a:spcAft>
            </a:pPr>
            <a:r>
              <a:rPr sz="1350">
                <a:solidFill>
                  <a:srgbClr val="333333"/>
                </a:solidFill>
                <a:latin typeface="Calibri"/>
              </a:rPr>
              <a:t>•  </a:t>
            </a:r>
            <a:r>
              <a:rPr sz="1350" b="1">
                <a:solidFill>
                  <a:srgbClr val="333333"/>
                </a:solidFill>
                <a:latin typeface="Calibri"/>
              </a:rPr>
              <a:t>Formato. </a:t>
            </a:r>
            <a:r>
              <a:rPr sz="1350">
                <a:solidFill>
                  <a:srgbClr val="333333"/>
                </a:solidFill>
                <a:latin typeface="Calibri"/>
              </a:rPr>
              <a:t>Un único CSV UTF-8 de 1,68 GB (Juris1992_2022.csv), con dos columnas: identificador y texto completo; sin metadatos estructurados.</a:t>
            </a:r>
          </a:p>
          <a:p>
            <a:pPr>
              <a:lnSpc>
                <a:spcPct val="104000"/>
              </a:lnSpc>
              <a:spcAft>
                <a:spcPts val="900"/>
              </a:spcAft>
            </a:pPr>
            <a:r>
              <a:rPr sz="1350">
                <a:solidFill>
                  <a:srgbClr val="333333"/>
                </a:solidFill>
                <a:latin typeface="Calibri"/>
              </a:rPr>
              <a:t>•  </a:t>
            </a:r>
            <a:r>
              <a:rPr sz="1350" b="1">
                <a:solidFill>
                  <a:srgbClr val="333333"/>
                </a:solidFill>
                <a:latin typeface="Calibri"/>
              </a:rPr>
              <a:t>Cobertura real. </a:t>
            </a:r>
            <a:r>
              <a:rPr sz="1350">
                <a:solidFill>
                  <a:srgbClr val="333333"/>
                </a:solidFill>
                <a:latin typeface="Calibri"/>
              </a:rPr>
              <a:t>1992–2021 (30 años): el archivo no contiene sentencias de 2022 y 2021 es parcial (solo 20 documentos).</a:t>
            </a:r>
          </a:p>
          <a:p>
            <a:pPr>
              <a:lnSpc>
                <a:spcPct val="104000"/>
              </a:lnSpc>
              <a:spcAft>
                <a:spcPts val="900"/>
              </a:spcAft>
            </a:pPr>
            <a:r>
              <a:rPr sz="1350">
                <a:solidFill>
                  <a:srgbClr val="333333"/>
                </a:solidFill>
                <a:latin typeface="Calibri"/>
              </a:rPr>
              <a:t>•  </a:t>
            </a:r>
            <a:r>
              <a:rPr sz="1350" b="1">
                <a:solidFill>
                  <a:srgbClr val="333333"/>
                </a:solidFill>
                <a:latin typeface="Calibri"/>
              </a:rPr>
              <a:t>Depuración. </a:t>
            </a:r>
            <a:r>
              <a:rPr sz="1350">
                <a:solidFill>
                  <a:srgbClr val="333333"/>
                </a:solidFill>
                <a:latin typeface="Calibri"/>
              </a:rPr>
              <a:t>Expresión regular de prefijo para extraer identificador y año: éxito en 23.742 de 23.750 filas (99,97 %).</a:t>
            </a:r>
          </a:p>
          <a:p>
            <a:pPr>
              <a:lnSpc>
                <a:spcPct val="104000"/>
              </a:lnSpc>
              <a:spcAft>
                <a:spcPts val="900"/>
              </a:spcAft>
            </a:pPr>
            <a:r>
              <a:rPr sz="1350">
                <a:solidFill>
                  <a:srgbClr val="333333"/>
                </a:solidFill>
                <a:latin typeface="Calibri"/>
              </a:rPr>
              <a:t>•  </a:t>
            </a:r>
            <a:r>
              <a:rPr sz="1350" b="1">
                <a:solidFill>
                  <a:srgbClr val="333333"/>
                </a:solidFill>
                <a:latin typeface="Calibri"/>
              </a:rPr>
              <a:t>Exclusiones. </a:t>
            </a:r>
            <a:r>
              <a:rPr sz="1350">
                <a:solidFill>
                  <a:srgbClr val="333333"/>
                </a:solidFill>
                <a:latin typeface="Calibri"/>
              </a:rPr>
              <a:t>8 filas excluidas y documentadas: 6 autos (no sentencias) y 2 fragmentos HTML residuales de la recolección.</a:t>
            </a:r>
          </a:p>
          <a:p>
            <a:pPr>
              <a:lnSpc>
                <a:spcPct val="104000"/>
              </a:lnSpc>
              <a:spcAft>
                <a:spcPts val="900"/>
              </a:spcAft>
            </a:pPr>
            <a:r>
              <a:rPr sz="1350">
                <a:solidFill>
                  <a:srgbClr val="333333"/>
                </a:solidFill>
                <a:latin typeface="Calibri"/>
              </a:rPr>
              <a:t>•  </a:t>
            </a:r>
            <a:r>
              <a:rPr sz="1350" b="1">
                <a:solidFill>
                  <a:srgbClr val="333333"/>
                </a:solidFill>
                <a:latin typeface="Calibri"/>
              </a:rPr>
              <a:t>Fragmentos. </a:t>
            </a:r>
            <a:r>
              <a:rPr sz="1350">
                <a:solidFill>
                  <a:srgbClr val="333333"/>
                </a:solidFill>
                <a:latin typeface="Calibri"/>
              </a:rPr>
              <a:t>Ejemplos verificados en el anexo: T-293/97, C-448/98 y SU-476/97.</a:t>
            </a:r>
          </a:p>
        </p:txBody>
      </p:sp>
      <p:sp>
        <p:nvSpPr>
          <p:cNvPr id="5" name="Rectangle 4"/>
          <p:cNvSpPr/>
          <p:nvPr/>
        </p:nvSpPr>
        <p:spPr>
          <a:xfrm>
            <a:off x="7955279" y="1234440"/>
            <a:ext cx="3566160" cy="4892040"/>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955279" y="1234440"/>
            <a:ext cx="3566160" cy="5029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59" y="1280160"/>
            <a:ext cx="3200400" cy="411480"/>
          </a:xfrm>
          <a:prstGeom prst="rect">
            <a:avLst/>
          </a:prstGeom>
          <a:noFill/>
        </p:spPr>
        <p:txBody>
          <a:bodyPr wrap="square" anchor="ctr" lIns="0" rIns="0" tIns="0" bIns="0">
            <a:spAutoFit/>
          </a:bodyPr>
          <a:lstStyle/>
          <a:p>
            <a:pPr algn="l">
              <a:lnSpc>
                <a:spcPct val="100000"/>
              </a:lnSpc>
              <a:spcBef>
                <a:spcPts val="0"/>
              </a:spcBef>
              <a:spcAft>
                <a:spcPts val="0"/>
              </a:spcAft>
            </a:pPr>
            <a:r>
              <a:rPr sz="1500" b="1" i="0">
                <a:solidFill>
                  <a:srgbClr val="FFFFFF"/>
                </a:solidFill>
                <a:latin typeface="Calibri"/>
              </a:rPr>
              <a:t>Corpus de análisis</a:t>
            </a:r>
          </a:p>
        </p:txBody>
      </p:sp>
      <p:sp>
        <p:nvSpPr>
          <p:cNvPr id="8" name="TextBox 7"/>
          <p:cNvSpPr txBox="1"/>
          <p:nvPr/>
        </p:nvSpPr>
        <p:spPr>
          <a:xfrm>
            <a:off x="8183879" y="1965960"/>
            <a:ext cx="3154680" cy="4023360"/>
          </a:xfrm>
          <a:prstGeom prst="rect">
            <a:avLst/>
          </a:prstGeom>
          <a:noFill/>
        </p:spPr>
        <p:txBody>
          <a:bodyPr wrap="square" anchor="t" lIns="0" rIns="0" tIns="0" bIns="0">
            <a:spAutoFit/>
          </a:bodyPr>
          <a:lstStyle/>
          <a:p>
            <a:pPr algn="l">
              <a:lnSpc>
                <a:spcPct val="100000"/>
              </a:lnSpc>
              <a:spcBef>
                <a:spcPts val="0"/>
              </a:spcBef>
              <a:spcAft>
                <a:spcPts val="100"/>
              </a:spcAft>
            </a:pPr>
            <a:r>
              <a:rPr sz="1700" b="1" i="0">
                <a:solidFill>
                  <a:srgbClr val="1F3864"/>
                </a:solidFill>
                <a:latin typeface="Calibri"/>
              </a:rPr>
              <a:t>23.742</a:t>
            </a:r>
          </a:p>
          <a:p>
            <a:pPr algn="l">
              <a:lnSpc>
                <a:spcPct val="100000"/>
              </a:lnSpc>
              <a:spcBef>
                <a:spcPts val="0"/>
              </a:spcBef>
              <a:spcAft>
                <a:spcPts val="1200"/>
              </a:spcAft>
            </a:pPr>
            <a:r>
              <a:rPr sz="1200" b="0" i="0">
                <a:solidFill>
                  <a:srgbClr val="595959"/>
                </a:solidFill>
                <a:latin typeface="Calibri"/>
              </a:rPr>
              <a:t>sentencias depuradas</a:t>
            </a:r>
          </a:p>
          <a:p>
            <a:pPr algn="l">
              <a:lnSpc>
                <a:spcPct val="100000"/>
              </a:lnSpc>
              <a:spcBef>
                <a:spcPts val="0"/>
              </a:spcBef>
              <a:spcAft>
                <a:spcPts val="100"/>
              </a:spcAft>
            </a:pPr>
            <a:r>
              <a:rPr sz="1700" b="1" i="0">
                <a:solidFill>
                  <a:srgbClr val="1F3864"/>
                </a:solidFill>
                <a:latin typeface="Calibri"/>
              </a:rPr>
              <a:t>17.099 T · 6.246 C · 397 SU</a:t>
            </a:r>
          </a:p>
          <a:p>
            <a:pPr algn="l">
              <a:lnSpc>
                <a:spcPct val="100000"/>
              </a:lnSpc>
              <a:spcBef>
                <a:spcPts val="0"/>
              </a:spcBef>
              <a:spcAft>
                <a:spcPts val="1200"/>
              </a:spcAft>
            </a:pPr>
            <a:r>
              <a:rPr sz="1200" b="0" i="0">
                <a:solidFill>
                  <a:srgbClr val="595959"/>
                </a:solidFill>
                <a:latin typeface="Calibri"/>
              </a:rPr>
              <a:t>tutela · constitucionalidad · unificación</a:t>
            </a:r>
          </a:p>
          <a:p>
            <a:pPr algn="l">
              <a:lnSpc>
                <a:spcPct val="100000"/>
              </a:lnSpc>
              <a:spcBef>
                <a:spcPts val="0"/>
              </a:spcBef>
              <a:spcAft>
                <a:spcPts val="100"/>
              </a:spcAft>
            </a:pPr>
            <a:r>
              <a:rPr sz="1700" b="1" i="0">
                <a:solidFill>
                  <a:srgbClr val="1F3864"/>
                </a:solidFill>
                <a:latin typeface="Calibri"/>
              </a:rPr>
              <a:t>1992–2021</a:t>
            </a:r>
          </a:p>
          <a:p>
            <a:pPr algn="l">
              <a:lnSpc>
                <a:spcPct val="100000"/>
              </a:lnSpc>
              <a:spcBef>
                <a:spcPts val="0"/>
              </a:spcBef>
              <a:spcAft>
                <a:spcPts val="1200"/>
              </a:spcAft>
            </a:pPr>
            <a:r>
              <a:rPr sz="1200" b="0" i="0">
                <a:solidFill>
                  <a:srgbClr val="595959"/>
                </a:solidFill>
                <a:latin typeface="Calibri"/>
              </a:rPr>
              <a:t>español · registro jurídico</a:t>
            </a:r>
          </a:p>
          <a:p>
            <a:pPr algn="l">
              <a:lnSpc>
                <a:spcPct val="100000"/>
              </a:lnSpc>
              <a:spcBef>
                <a:spcPts val="0"/>
              </a:spcBef>
              <a:spcAft>
                <a:spcPts val="100"/>
              </a:spcAft>
            </a:pPr>
            <a:r>
              <a:rPr sz="1700" b="1" i="0">
                <a:solidFill>
                  <a:srgbClr val="1F3864"/>
                </a:solidFill>
                <a:latin typeface="Calibri"/>
              </a:rPr>
              <a:t>≈11.000 palabras</a:t>
            </a:r>
          </a:p>
          <a:p>
            <a:pPr algn="l">
              <a:lnSpc>
                <a:spcPct val="100000"/>
              </a:lnSpc>
              <a:spcBef>
                <a:spcPts val="0"/>
              </a:spcBef>
              <a:spcAft>
                <a:spcPts val="1200"/>
              </a:spcAft>
            </a:pPr>
            <a:r>
              <a:rPr sz="1200" b="0" i="0">
                <a:solidFill>
                  <a:srgbClr val="595959"/>
                </a:solidFill>
                <a:latin typeface="Calibri"/>
              </a:rPr>
              <a:t>por documento (promedio)</a:t>
            </a:r>
          </a:p>
        </p:txBody>
      </p:sp>
      <p:sp>
        <p:nvSpPr>
          <p:cNvPr id="9" name="TextBox 8"/>
          <p:cNvSpPr txBox="1"/>
          <p:nvPr/>
        </p:nvSpPr>
        <p:spPr>
          <a:xfrm>
            <a:off x="502920" y="6510528"/>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A8A8A"/>
                </a:solidFill>
                <a:latin typeface="Calibri"/>
              </a:rPr>
              <a:t>PLN · Entrega 1 · Pontificia Universidad Javeriana</a:t>
            </a:r>
          </a:p>
        </p:txBody>
      </p:sp>
      <p:sp>
        <p:nvSpPr>
          <p:cNvPr id="10" name="TextBox 9"/>
          <p:cNvSpPr txBox="1"/>
          <p:nvPr/>
        </p:nvSpPr>
        <p:spPr>
          <a:xfrm>
            <a:off x="11185855" y="6510528"/>
            <a:ext cx="502920" cy="274320"/>
          </a:xfrm>
          <a:prstGeom prst="rect">
            <a:avLst/>
          </a:prstGeom>
          <a:noFill/>
        </p:spPr>
        <p:txBody>
          <a:bodyPr wrap="square" anchor="t" lIns="0" rIns="0" tIns="0" bIns="0">
            <a:spAutoFit/>
          </a:bodyPr>
          <a:lstStyle/>
          <a:p>
            <a:pPr algn="r"/>
            <a:r>
              <a:rPr sz="1000">
                <a:solidFill>
                  <a:srgbClr val="8A8A8A"/>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11185855" cy="786384"/>
          </a:xfrm>
          <a:prstGeom prst="rect">
            <a:avLst/>
          </a:prstGeom>
          <a:noFill/>
        </p:spPr>
        <p:txBody>
          <a:bodyPr wrap="square" anchor="ctr">
            <a:spAutoFit/>
          </a:bodyPr>
          <a:lstStyle/>
          <a:p>
            <a:r>
              <a:rPr sz="2800" b="1">
                <a:solidFill>
                  <a:srgbClr val="FFFFFF"/>
                </a:solidFill>
                <a:latin typeface="Calibri"/>
              </a:rPr>
              <a:t>Metodología: limpieza y textometría</a:t>
            </a:r>
          </a:p>
        </p:txBody>
      </p:sp>
      <p:sp>
        <p:nvSpPr>
          <p:cNvPr id="4" name="TextBox 3"/>
          <p:cNvSpPr txBox="1"/>
          <p:nvPr/>
        </p:nvSpPr>
        <p:spPr>
          <a:xfrm>
            <a:off x="685800" y="1143000"/>
            <a:ext cx="10789920" cy="548640"/>
          </a:xfrm>
          <a:prstGeom prst="rect">
            <a:avLst/>
          </a:prstGeom>
          <a:noFill/>
        </p:spPr>
        <p:txBody>
          <a:bodyPr wrap="square" anchor="t" lIns="0" rIns="0" tIns="0" bIns="0">
            <a:spAutoFit/>
          </a:bodyPr>
          <a:lstStyle/>
          <a:p>
            <a:pPr>
              <a:lnSpc>
                <a:spcPct val="104000"/>
              </a:lnSpc>
              <a:spcAft>
                <a:spcPts val="0"/>
              </a:spcAft>
            </a:pPr>
            <a:r>
              <a:rPr sz="1400" b="1">
                <a:solidFill>
                  <a:srgbClr val="333333"/>
                </a:solidFill>
                <a:latin typeface="Calibri"/>
              </a:rPr>
              <a:t>Decisión metodológica. </a:t>
            </a:r>
            <a:r>
              <a:rPr sz="1400">
                <a:solidFill>
                  <a:srgbClr val="333333"/>
                </a:solidFill>
                <a:latin typeface="Calibri"/>
              </a:rPr>
              <a:t>textometría sobre el corpus completo (no muestral): ≈5 min de procesamiento en CPU; semilla fija 42 para la muestra del anexo y las nubes.</a:t>
            </a:r>
          </a:p>
        </p:txBody>
      </p:sp>
      <p:sp>
        <p:nvSpPr>
          <p:cNvPr id="5" name="TextBox 4"/>
          <p:cNvSpPr txBox="1"/>
          <p:nvPr/>
        </p:nvSpPr>
        <p:spPr>
          <a:xfrm>
            <a:off x="868680" y="1965960"/>
            <a:ext cx="5029200" cy="3291840"/>
          </a:xfrm>
          <a:prstGeom prst="rect">
            <a:avLst/>
          </a:prstGeom>
          <a:noFill/>
        </p:spPr>
        <p:txBody>
          <a:bodyPr wrap="square" anchor="t" lIns="0" rIns="0" tIns="0" bIns="0">
            <a:spAutoFit/>
          </a:bodyPr>
          <a:lstStyle/>
          <a:p>
            <a:pPr>
              <a:lnSpc>
                <a:spcPct val="105000"/>
              </a:lnSpc>
              <a:spcAft>
                <a:spcPts val="1200"/>
              </a:spcAft>
            </a:pPr>
            <a:r>
              <a:rPr sz="1500" b="1">
                <a:solidFill>
                  <a:srgbClr val="2F5D8A"/>
                </a:solidFill>
                <a:latin typeface="Calibri"/>
              </a:rPr>
              <a:t>1.  </a:t>
            </a:r>
            <a:r>
              <a:rPr sz="1450">
                <a:solidFill>
                  <a:srgbClr val="333333"/>
                </a:solidFill>
                <a:latin typeface="Calibri"/>
              </a:rPr>
              <a:t>Conversión del texto a minúsculas.</a:t>
            </a:r>
          </a:p>
          <a:p>
            <a:pPr>
              <a:lnSpc>
                <a:spcPct val="105000"/>
              </a:lnSpc>
              <a:spcAft>
                <a:spcPts val="1200"/>
              </a:spcAft>
            </a:pPr>
            <a:r>
              <a:rPr sz="1500" b="1">
                <a:solidFill>
                  <a:srgbClr val="2F5D8A"/>
                </a:solidFill>
                <a:latin typeface="Calibri"/>
              </a:rPr>
              <a:t>2.  </a:t>
            </a:r>
            <a:r>
              <a:rPr sz="1450">
                <a:solidFill>
                  <a:srgbClr val="333333"/>
                </a:solidFill>
                <a:latin typeface="Calibri"/>
              </a:rPr>
              <a:t>Protección temporal de la ñ para que no se pierda en el paso siguiente.</a:t>
            </a:r>
          </a:p>
          <a:p>
            <a:pPr>
              <a:lnSpc>
                <a:spcPct val="105000"/>
              </a:lnSpc>
              <a:spcAft>
                <a:spcPts val="1200"/>
              </a:spcAft>
            </a:pPr>
            <a:r>
              <a:rPr sz="1500" b="1">
                <a:solidFill>
                  <a:srgbClr val="2F5D8A"/>
                </a:solidFill>
                <a:latin typeface="Calibri"/>
              </a:rPr>
              <a:t>3.  </a:t>
            </a:r>
            <a:r>
              <a:rPr sz="1450">
                <a:solidFill>
                  <a:srgbClr val="333333"/>
                </a:solidFill>
                <a:latin typeface="Calibri"/>
              </a:rPr>
              <a:t>Normalización Unicode (NFD) y eliminación de diacríticos (á→a, é→e, etc.).</a:t>
            </a:r>
          </a:p>
          <a:p>
            <a:pPr>
              <a:lnSpc>
                <a:spcPct val="105000"/>
              </a:lnSpc>
              <a:spcAft>
                <a:spcPts val="1200"/>
              </a:spcAft>
            </a:pPr>
            <a:r>
              <a:rPr sz="1500" b="1">
                <a:solidFill>
                  <a:srgbClr val="2F5D8A"/>
                </a:solidFill>
                <a:latin typeface="Calibri"/>
              </a:rPr>
              <a:t>4.  </a:t>
            </a:r>
            <a:r>
              <a:rPr sz="1450">
                <a:solidFill>
                  <a:srgbClr val="333333"/>
                </a:solidFill>
                <a:latin typeface="Calibri"/>
              </a:rPr>
              <a:t>Filtro de caracteres: solo letras [a-zñ]; se eliminan dígitos, puntuación y símbolos.</a:t>
            </a:r>
          </a:p>
        </p:txBody>
      </p:sp>
      <p:sp>
        <p:nvSpPr>
          <p:cNvPr id="6" name="TextBox 5"/>
          <p:cNvSpPr txBox="1"/>
          <p:nvPr/>
        </p:nvSpPr>
        <p:spPr>
          <a:xfrm>
            <a:off x="6355080" y="1965960"/>
            <a:ext cx="5029200" cy="3291840"/>
          </a:xfrm>
          <a:prstGeom prst="rect">
            <a:avLst/>
          </a:prstGeom>
          <a:noFill/>
        </p:spPr>
        <p:txBody>
          <a:bodyPr wrap="square" anchor="t" lIns="0" rIns="0" tIns="0" bIns="0">
            <a:spAutoFit/>
          </a:bodyPr>
          <a:lstStyle/>
          <a:p>
            <a:pPr>
              <a:lnSpc>
                <a:spcPct val="105000"/>
              </a:lnSpc>
              <a:spcAft>
                <a:spcPts val="1200"/>
              </a:spcAft>
            </a:pPr>
            <a:r>
              <a:rPr sz="1500" b="1">
                <a:solidFill>
                  <a:srgbClr val="2F5D8A"/>
                </a:solidFill>
                <a:latin typeface="Calibri"/>
              </a:rPr>
              <a:t>5.  </a:t>
            </a:r>
            <a:r>
              <a:rPr sz="1450">
                <a:solidFill>
                  <a:srgbClr val="333333"/>
                </a:solidFill>
                <a:latin typeface="Calibri"/>
              </a:rPr>
              <a:t>Colapso de espacios múltiples.</a:t>
            </a:r>
          </a:p>
          <a:p>
            <a:pPr>
              <a:lnSpc>
                <a:spcPct val="105000"/>
              </a:lnSpc>
              <a:spcAft>
                <a:spcPts val="1200"/>
              </a:spcAft>
            </a:pPr>
            <a:r>
              <a:rPr sz="1500" b="1">
                <a:solidFill>
                  <a:srgbClr val="2F5D8A"/>
                </a:solidFill>
                <a:latin typeface="Calibri"/>
              </a:rPr>
              <a:t>6.  </a:t>
            </a:r>
            <a:r>
              <a:rPr sz="1450">
                <a:solidFill>
                  <a:srgbClr val="333333"/>
                </a:solidFill>
                <a:latin typeface="Calibri"/>
              </a:rPr>
              <a:t>Tokenización por separación en espacios.</a:t>
            </a:r>
          </a:p>
          <a:p>
            <a:pPr>
              <a:lnSpc>
                <a:spcPct val="105000"/>
              </a:lnSpc>
              <a:spcAft>
                <a:spcPts val="1200"/>
              </a:spcAft>
            </a:pPr>
            <a:r>
              <a:rPr sz="1500" b="1">
                <a:solidFill>
                  <a:srgbClr val="2F5D8A"/>
                </a:solidFill>
                <a:latin typeface="Calibri"/>
              </a:rPr>
              <a:t>7.  </a:t>
            </a:r>
            <a:r>
              <a:rPr sz="1450">
                <a:solidFill>
                  <a:srgbClr val="333333"/>
                </a:solidFill>
                <a:latin typeface="Calibri"/>
              </a:rPr>
              <a:t>Eliminación de tokens de una letra (restos de claves T-/C-/SU-) y de la abreviatura de cita “art”.</a:t>
            </a:r>
          </a:p>
          <a:p>
            <a:pPr>
              <a:lnSpc>
                <a:spcPct val="105000"/>
              </a:lnSpc>
              <a:spcAft>
                <a:spcPts val="1200"/>
              </a:spcAft>
            </a:pPr>
            <a:r>
              <a:rPr sz="1500" b="1">
                <a:solidFill>
                  <a:srgbClr val="2F5D8A"/>
                </a:solidFill>
                <a:latin typeface="Calibri"/>
              </a:rPr>
              <a:t>8.  </a:t>
            </a:r>
            <a:r>
              <a:rPr sz="1450">
                <a:solidFill>
                  <a:srgbClr val="333333"/>
                </a:solidFill>
                <a:latin typeface="Calibri"/>
              </a:rPr>
              <a:t>Stopwords NLTK del español normalizadas con el mismo criterio: quedan 306 formas (84 con tilde corregidas).</a:t>
            </a:r>
          </a:p>
        </p:txBody>
      </p:sp>
      <p:sp>
        <p:nvSpPr>
          <p:cNvPr id="7" name="Rectangle 6"/>
          <p:cNvSpPr/>
          <p:nvPr/>
        </p:nvSpPr>
        <p:spPr>
          <a:xfrm>
            <a:off x="685800" y="5440680"/>
            <a:ext cx="10789920" cy="7772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5577840"/>
            <a:ext cx="10241280" cy="548640"/>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333333"/>
                </a:solidFill>
                <a:latin typeface="Calibri"/>
              </a:rPr>
              <a:t>La misma transformación se aplica al corpus y a la lista de stopwords: así el filtro es consistente y no quedan formas acentuadas sin eliminar (más→mas, cómo→como).</a:t>
            </a:r>
          </a:p>
        </p:txBody>
      </p:sp>
      <p:sp>
        <p:nvSpPr>
          <p:cNvPr id="9" name="TextBox 8"/>
          <p:cNvSpPr txBox="1"/>
          <p:nvPr/>
        </p:nvSpPr>
        <p:spPr>
          <a:xfrm>
            <a:off x="502920" y="6510528"/>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A8A8A"/>
                </a:solidFill>
                <a:latin typeface="Calibri"/>
              </a:rPr>
              <a:t>PLN · Entrega 1 · Pontificia Universidad Javeriana</a:t>
            </a:r>
          </a:p>
        </p:txBody>
      </p:sp>
      <p:sp>
        <p:nvSpPr>
          <p:cNvPr id="10" name="TextBox 9"/>
          <p:cNvSpPr txBox="1"/>
          <p:nvPr/>
        </p:nvSpPr>
        <p:spPr>
          <a:xfrm>
            <a:off x="11185855" y="6510528"/>
            <a:ext cx="502920" cy="274320"/>
          </a:xfrm>
          <a:prstGeom prst="rect">
            <a:avLst/>
          </a:prstGeom>
          <a:noFill/>
        </p:spPr>
        <p:txBody>
          <a:bodyPr wrap="square" anchor="t" lIns="0" rIns="0" tIns="0" bIns="0">
            <a:spAutoFit/>
          </a:bodyPr>
          <a:lstStyle/>
          <a:p>
            <a:pPr algn="r"/>
            <a:r>
              <a:rPr sz="1000">
                <a:solidFill>
                  <a:srgbClr val="8A8A8A"/>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11185855" cy="786384"/>
          </a:xfrm>
          <a:prstGeom prst="rect">
            <a:avLst/>
          </a:prstGeom>
          <a:noFill/>
        </p:spPr>
        <p:txBody>
          <a:bodyPr wrap="square" anchor="ctr">
            <a:spAutoFit/>
          </a:bodyPr>
          <a:lstStyle/>
          <a:p>
            <a:r>
              <a:rPr sz="2800" b="1">
                <a:solidFill>
                  <a:srgbClr val="FFFFFF"/>
                </a:solidFill>
                <a:latin typeface="Calibri"/>
              </a:rPr>
              <a:t>Medidas textuales del corpus</a:t>
            </a:r>
          </a:p>
        </p:txBody>
      </p:sp>
      <p:graphicFrame>
        <p:nvGraphicFramePr>
          <p:cNvPr id="4" name="Table 3"/>
          <p:cNvGraphicFramePr>
            <a:graphicFrameLocks noGrp="1"/>
          </p:cNvGraphicFramePr>
          <p:nvPr/>
        </p:nvGraphicFramePr>
        <p:xfrm>
          <a:off x="2212848" y="1371600"/>
          <a:ext cx="7772400" cy="3063240"/>
        </p:xfrm>
        <a:graphic>
          <a:graphicData uri="http://schemas.openxmlformats.org/drawingml/2006/table">
            <a:tbl>
              <a:tblPr firstRow="1" bandRow="1">
                <a:tableStyleId>{5C22544A-7EE6-4342-B048-85BDC9FD1C3A}</a:tableStyleId>
              </a:tblPr>
              <a:tblGrid>
                <a:gridCol w="5212080"/>
                <a:gridCol w="2560320"/>
              </a:tblGrid>
              <a:tr h="548640">
                <a:tc>
                  <a:txBody>
                    <a:bodyPr/>
                    <a:lstStyle/>
                    <a:p>
                      <a:pPr algn="l"/>
                      <a:r>
                        <a:rPr sz="1600" b="1">
                          <a:solidFill>
                            <a:srgbClr val="FFFFFF"/>
                          </a:solidFill>
                          <a:latin typeface="Calibri"/>
                        </a:rPr>
                        <a:t>Medida</a:t>
                      </a:r>
                    </a:p>
                  </a:txBody>
                  <a:tcPr marL="128016" marR="128016" anchor="ctr">
                    <a:solidFill>
                      <a:srgbClr val="1F3864"/>
                    </a:solidFill>
                  </a:tcPr>
                </a:tc>
                <a:tc>
                  <a:txBody>
                    <a:bodyPr/>
                    <a:lstStyle/>
                    <a:p>
                      <a:pPr algn="r"/>
                      <a:r>
                        <a:rPr sz="1600" b="1">
                          <a:solidFill>
                            <a:srgbClr val="FFFFFF"/>
                          </a:solidFill>
                          <a:latin typeface="Calibri"/>
                        </a:rPr>
                        <a:t>Valor</a:t>
                      </a:r>
                    </a:p>
                  </a:txBody>
                  <a:tcPr marL="128016" marR="128016" anchor="ctr">
                    <a:solidFill>
                      <a:srgbClr val="1F3864"/>
                    </a:solidFill>
                  </a:tcPr>
                </a:tc>
              </a:tr>
              <a:tr h="502920">
                <a:tc>
                  <a:txBody>
                    <a:bodyPr/>
                    <a:lstStyle/>
                    <a:p>
                      <a:pPr algn="l"/>
                      <a:r>
                        <a:rPr sz="1500" b="0">
                          <a:solidFill>
                            <a:srgbClr val="333333"/>
                          </a:solidFill>
                          <a:latin typeface="Calibri"/>
                        </a:rPr>
                        <a:t>Documentos</a:t>
                      </a:r>
                    </a:p>
                  </a:txBody>
                  <a:tcPr marL="128016" marR="128016" anchor="ctr">
                    <a:solidFill>
                      <a:srgbClr val="EEF3FA"/>
                    </a:solidFill>
                  </a:tcPr>
                </a:tc>
                <a:tc>
                  <a:txBody>
                    <a:bodyPr/>
                    <a:lstStyle/>
                    <a:p>
                      <a:pPr algn="r"/>
                      <a:r>
                        <a:rPr sz="1500" b="1">
                          <a:solidFill>
                            <a:srgbClr val="1F3864"/>
                          </a:solidFill>
                          <a:latin typeface="Calibri"/>
                        </a:rPr>
                        <a:t>23.742</a:t>
                      </a:r>
                    </a:p>
                  </a:txBody>
                  <a:tcPr marL="128016" marR="128016" anchor="ctr">
                    <a:solidFill>
                      <a:srgbClr val="EEF3FA"/>
                    </a:solidFill>
                  </a:tcPr>
                </a:tc>
              </a:tr>
              <a:tr h="502920">
                <a:tc>
                  <a:txBody>
                    <a:bodyPr/>
                    <a:lstStyle/>
                    <a:p>
                      <a:pPr algn="l"/>
                      <a:r>
                        <a:rPr sz="1500" b="0">
                          <a:solidFill>
                            <a:srgbClr val="333333"/>
                          </a:solidFill>
                          <a:latin typeface="Calibri"/>
                        </a:rPr>
                        <a:t>Palabras crudas (raw)</a:t>
                      </a:r>
                    </a:p>
                  </a:txBody>
                  <a:tcPr marL="128016" marR="128016" anchor="ctr">
                    <a:solidFill>
                      <a:srgbClr val="FFFFFF"/>
                    </a:solidFill>
                  </a:tcPr>
                </a:tc>
                <a:tc>
                  <a:txBody>
                    <a:bodyPr/>
                    <a:lstStyle/>
                    <a:p>
                      <a:pPr algn="r"/>
                      <a:r>
                        <a:rPr sz="1500" b="1">
                          <a:solidFill>
                            <a:srgbClr val="1F3864"/>
                          </a:solidFill>
                          <a:latin typeface="Calibri"/>
                        </a:rPr>
                        <a:t>260.988.316</a:t>
                      </a:r>
                    </a:p>
                  </a:txBody>
                  <a:tcPr marL="128016" marR="128016" anchor="ctr">
                    <a:solidFill>
                      <a:srgbClr val="FFFFFF"/>
                    </a:solidFill>
                  </a:tcPr>
                </a:tc>
              </a:tr>
              <a:tr h="502920">
                <a:tc>
                  <a:txBody>
                    <a:bodyPr/>
                    <a:lstStyle/>
                    <a:p>
                      <a:pPr algn="l"/>
                      <a:r>
                        <a:rPr sz="1500" b="0">
                          <a:solidFill>
                            <a:srgbClr val="333333"/>
                          </a:solidFill>
                          <a:latin typeface="Calibri"/>
                        </a:rPr>
                        <a:t>Palabras normalizadas (limpias)</a:t>
                      </a:r>
                    </a:p>
                  </a:txBody>
                  <a:tcPr marL="128016" marR="128016" anchor="ctr">
                    <a:solidFill>
                      <a:srgbClr val="EEF3FA"/>
                    </a:solidFill>
                  </a:tcPr>
                </a:tc>
                <a:tc>
                  <a:txBody>
                    <a:bodyPr/>
                    <a:lstStyle/>
                    <a:p>
                      <a:pPr algn="r"/>
                      <a:r>
                        <a:rPr sz="1500" b="1">
                          <a:solidFill>
                            <a:srgbClr val="1F3864"/>
                          </a:solidFill>
                          <a:latin typeface="Calibri"/>
                        </a:rPr>
                        <a:t>250.012.101</a:t>
                      </a:r>
                    </a:p>
                  </a:txBody>
                  <a:tcPr marL="128016" marR="128016" anchor="ctr">
                    <a:solidFill>
                      <a:srgbClr val="EEF3FA"/>
                    </a:solidFill>
                  </a:tcPr>
                </a:tc>
              </a:tr>
              <a:tr h="502920">
                <a:tc>
                  <a:txBody>
                    <a:bodyPr/>
                    <a:lstStyle/>
                    <a:p>
                      <a:pPr algn="l"/>
                      <a:r>
                        <a:rPr sz="1500" b="0">
                          <a:solidFill>
                            <a:srgbClr val="333333"/>
                          </a:solidFill>
                          <a:latin typeface="Calibri"/>
                        </a:rPr>
                        <a:t>Promedio de palabras crudas por documento</a:t>
                      </a:r>
                    </a:p>
                  </a:txBody>
                  <a:tcPr marL="128016" marR="128016" anchor="ctr">
                    <a:solidFill>
                      <a:srgbClr val="FFFFFF"/>
                    </a:solidFill>
                  </a:tcPr>
                </a:tc>
                <a:tc>
                  <a:txBody>
                    <a:bodyPr/>
                    <a:lstStyle/>
                    <a:p>
                      <a:pPr algn="r"/>
                      <a:r>
                        <a:rPr sz="1500" b="1">
                          <a:solidFill>
                            <a:srgbClr val="1F3864"/>
                          </a:solidFill>
                          <a:latin typeface="Calibri"/>
                        </a:rPr>
                        <a:t>10.992,68</a:t>
                      </a:r>
                    </a:p>
                  </a:txBody>
                  <a:tcPr marL="128016" marR="128016" anchor="ctr">
                    <a:solidFill>
                      <a:srgbClr val="FFFFFF"/>
                    </a:solidFill>
                  </a:tcPr>
                </a:tc>
              </a:tr>
              <a:tr h="502920">
                <a:tc>
                  <a:txBody>
                    <a:bodyPr/>
                    <a:lstStyle/>
                    <a:p>
                      <a:pPr algn="l"/>
                      <a:r>
                        <a:rPr sz="1500" b="0">
                          <a:solidFill>
                            <a:srgbClr val="333333"/>
                          </a:solidFill>
                          <a:latin typeface="Calibri"/>
                        </a:rPr>
                        <a:t>Promedio de palabras limpias por documento</a:t>
                      </a:r>
                    </a:p>
                  </a:txBody>
                  <a:tcPr marL="128016" marR="128016" anchor="ctr">
                    <a:solidFill>
                      <a:srgbClr val="EEF3FA"/>
                    </a:solidFill>
                  </a:tcPr>
                </a:tc>
                <a:tc>
                  <a:txBody>
                    <a:bodyPr/>
                    <a:lstStyle/>
                    <a:p>
                      <a:pPr algn="r"/>
                      <a:r>
                        <a:rPr sz="1500" b="1">
                          <a:solidFill>
                            <a:srgbClr val="1F3864"/>
                          </a:solidFill>
                          <a:latin typeface="Calibri"/>
                        </a:rPr>
                        <a:t>10.530,37</a:t>
                      </a:r>
                    </a:p>
                  </a:txBody>
                  <a:tcPr marL="128016" marR="128016" anchor="ctr">
                    <a:solidFill>
                      <a:srgbClr val="EEF3FA"/>
                    </a:solidFill>
                  </a:tcPr>
                </a:tc>
              </a:tr>
            </a:tbl>
          </a:graphicData>
        </a:graphic>
      </p:graphicFrame>
      <p:sp>
        <p:nvSpPr>
          <p:cNvPr id="5" name="TextBox 4"/>
          <p:cNvSpPr txBox="1"/>
          <p:nvPr/>
        </p:nvSpPr>
        <p:spPr>
          <a:xfrm>
            <a:off x="685800" y="4709160"/>
            <a:ext cx="10789920" cy="1645920"/>
          </a:xfrm>
          <a:prstGeom prst="rect">
            <a:avLst/>
          </a:prstGeom>
          <a:noFill/>
        </p:spPr>
        <p:txBody>
          <a:bodyPr wrap="square" anchor="t" lIns="0" rIns="0" tIns="0" bIns="0">
            <a:spAutoFit/>
          </a:bodyPr>
          <a:lstStyle/>
          <a:p>
            <a:pPr>
              <a:lnSpc>
                <a:spcPct val="104000"/>
              </a:lnSpc>
              <a:spcAft>
                <a:spcPts val="700"/>
              </a:spcAft>
            </a:pPr>
            <a:r>
              <a:rPr sz="1400">
                <a:solidFill>
                  <a:srgbClr val="333333"/>
                </a:solidFill>
                <a:latin typeface="Calibri"/>
              </a:rPr>
              <a:t>•  </a:t>
            </a:r>
            <a:r>
              <a:rPr sz="1400" b="1">
                <a:solidFill>
                  <a:srgbClr val="333333"/>
                </a:solidFill>
                <a:latin typeface="Calibri"/>
              </a:rPr>
              <a:t>¿Qué se contó? </a:t>
            </a:r>
            <a:r>
              <a:rPr sz="1400">
                <a:solidFill>
                  <a:srgbClr val="333333"/>
                </a:solidFill>
                <a:latin typeface="Calibri"/>
              </a:rPr>
              <a:t>Conteos reales sobre las 23.742 sentencias (corpus completo); procesamiento ≈5 min en CPU local.</a:t>
            </a:r>
          </a:p>
          <a:p>
            <a:pPr>
              <a:lnSpc>
                <a:spcPct val="104000"/>
              </a:lnSpc>
              <a:spcAft>
                <a:spcPts val="700"/>
              </a:spcAft>
            </a:pPr>
            <a:r>
              <a:rPr sz="1400">
                <a:solidFill>
                  <a:srgbClr val="333333"/>
                </a:solidFill>
                <a:latin typeface="Calibri"/>
              </a:rPr>
              <a:t>•  </a:t>
            </a:r>
            <a:r>
              <a:rPr sz="1400" b="1">
                <a:solidFill>
                  <a:srgbClr val="333333"/>
                </a:solidFill>
                <a:latin typeface="Calibri"/>
              </a:rPr>
              <a:t>Valor descartado. </a:t>
            </a:r>
            <a:r>
              <a:rPr sz="1400">
                <a:solidFill>
                  <a:srgbClr val="333333"/>
                </a:solidFill>
                <a:latin typeface="Calibri"/>
              </a:rPr>
              <a:t>Un total previo de 271.907.978 palabras crudas se descartó: era una extrapolación de una muestra de 1.000 documentos (≈4 % mayor que el valor real).</a:t>
            </a:r>
          </a:p>
          <a:p>
            <a:pPr>
              <a:lnSpc>
                <a:spcPct val="104000"/>
              </a:lnSpc>
              <a:spcAft>
                <a:spcPts val="700"/>
              </a:spcAft>
            </a:pPr>
            <a:r>
              <a:rPr sz="1400">
                <a:solidFill>
                  <a:srgbClr val="333333"/>
                </a:solidFill>
                <a:latin typeface="Calibri"/>
              </a:rPr>
              <a:t>•  </a:t>
            </a:r>
            <a:r>
              <a:rPr sz="1400" b="1">
                <a:solidFill>
                  <a:srgbClr val="333333"/>
                </a:solidFill>
                <a:latin typeface="Calibri"/>
              </a:rPr>
              <a:t>Contraste. </a:t>
            </a:r>
            <a:r>
              <a:rPr sz="1400">
                <a:solidFill>
                  <a:srgbClr val="333333"/>
                </a:solidFill>
                <a:latin typeface="Calibri"/>
              </a:rPr>
              <a:t>Tras retirar las stopwords quedan 128.806.664 tokens: las palabras funcionales pesan ≈48 % del corpus limpio.</a:t>
            </a:r>
          </a:p>
        </p:txBody>
      </p:sp>
      <p:sp>
        <p:nvSpPr>
          <p:cNvPr id="6" name="TextBox 5"/>
          <p:cNvSpPr txBox="1"/>
          <p:nvPr/>
        </p:nvSpPr>
        <p:spPr>
          <a:xfrm>
            <a:off x="502920" y="6510528"/>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A8A8A"/>
                </a:solidFill>
                <a:latin typeface="Calibri"/>
              </a:rPr>
              <a:t>PLN · Entrega 1 · Pontificia Universidad Javeriana</a:t>
            </a:r>
          </a:p>
        </p:txBody>
      </p:sp>
      <p:sp>
        <p:nvSpPr>
          <p:cNvPr id="7" name="TextBox 6"/>
          <p:cNvSpPr txBox="1"/>
          <p:nvPr/>
        </p:nvSpPr>
        <p:spPr>
          <a:xfrm>
            <a:off x="11185855" y="6510528"/>
            <a:ext cx="502920" cy="274320"/>
          </a:xfrm>
          <a:prstGeom prst="rect">
            <a:avLst/>
          </a:prstGeom>
          <a:noFill/>
        </p:spPr>
        <p:txBody>
          <a:bodyPr wrap="square" anchor="t" lIns="0" rIns="0" tIns="0" bIns="0">
            <a:spAutoFit/>
          </a:bodyPr>
          <a:lstStyle/>
          <a:p>
            <a:pPr algn="r"/>
            <a:r>
              <a:rPr sz="1000">
                <a:solidFill>
                  <a:srgbClr val="8A8A8A"/>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11185855" cy="786384"/>
          </a:xfrm>
          <a:prstGeom prst="rect">
            <a:avLst/>
          </a:prstGeom>
          <a:noFill/>
        </p:spPr>
        <p:txBody>
          <a:bodyPr wrap="square" anchor="ctr">
            <a:spAutoFit/>
          </a:bodyPr>
          <a:lstStyle/>
          <a:p>
            <a:r>
              <a:rPr sz="2800" b="1">
                <a:solidFill>
                  <a:srgbClr val="FFFFFF"/>
                </a:solidFill>
                <a:latin typeface="Calibri"/>
              </a:rPr>
              <a:t>Frecuencias: top-20 con stopwords</a:t>
            </a:r>
          </a:p>
        </p:txBody>
      </p:sp>
      <p:sp>
        <p:nvSpPr>
          <p:cNvPr id="4" name="TextBox 3"/>
          <p:cNvSpPr txBox="1"/>
          <p:nvPr/>
        </p:nvSpPr>
        <p:spPr>
          <a:xfrm>
            <a:off x="640080" y="1280160"/>
            <a:ext cx="5074920" cy="4937760"/>
          </a:xfrm>
          <a:prstGeom prst="rect">
            <a:avLst/>
          </a:prstGeom>
          <a:noFill/>
        </p:spPr>
        <p:txBody>
          <a:bodyPr wrap="square" anchor="t" lIns="0" rIns="0" tIns="0" bIns="0">
            <a:spAutoFit/>
          </a:bodyPr>
          <a:lstStyle/>
          <a:p>
            <a:pPr algn="l">
              <a:lnSpc>
                <a:spcPct val="100000"/>
              </a:lnSpc>
              <a:spcBef>
                <a:spcPts val="0"/>
              </a:spcBef>
              <a:spcAft>
                <a:spcPts val="800"/>
              </a:spcAft>
            </a:pPr>
            <a:r>
              <a:rPr sz="1600" b="1" i="0">
                <a:solidFill>
                  <a:srgbClr val="1F3864"/>
                </a:solidFill>
                <a:latin typeface="Calibri"/>
              </a:rPr>
              <a:t>Top-5 del corpus completo</a:t>
            </a:r>
          </a:p>
          <a:p>
            <a:pPr>
              <a:spcAft>
                <a:spcPts val="400"/>
              </a:spcAft>
            </a:pPr>
            <a:r>
              <a:rPr sz="1800" b="1">
                <a:solidFill>
                  <a:srgbClr val="2F5D8A"/>
                </a:solidFill>
                <a:latin typeface="Calibri"/>
              </a:rPr>
              <a:t>1. de </a:t>
            </a:r>
            <a:r>
              <a:rPr sz="1800">
                <a:solidFill>
                  <a:srgbClr val="333333"/>
                </a:solidFill>
                <a:latin typeface="Calibri"/>
              </a:rPr>
              <a:t>22.543.375</a:t>
            </a:r>
          </a:p>
          <a:p>
            <a:pPr>
              <a:spcAft>
                <a:spcPts val="400"/>
              </a:spcAft>
            </a:pPr>
            <a:r>
              <a:rPr sz="1800" b="1">
                <a:solidFill>
                  <a:srgbClr val="2F5D8A"/>
                </a:solidFill>
                <a:latin typeface="Calibri"/>
              </a:rPr>
              <a:t>2. la </a:t>
            </a:r>
            <a:r>
              <a:rPr sz="1800">
                <a:solidFill>
                  <a:srgbClr val="333333"/>
                </a:solidFill>
                <a:latin typeface="Calibri"/>
              </a:rPr>
              <a:t>14.299.738</a:t>
            </a:r>
          </a:p>
          <a:p>
            <a:pPr>
              <a:spcAft>
                <a:spcPts val="400"/>
              </a:spcAft>
            </a:pPr>
            <a:r>
              <a:rPr sz="1800" b="1">
                <a:solidFill>
                  <a:srgbClr val="2F5D8A"/>
                </a:solidFill>
                <a:latin typeface="Calibri"/>
              </a:rPr>
              <a:t>3. el </a:t>
            </a:r>
            <a:r>
              <a:rPr sz="1800">
                <a:solidFill>
                  <a:srgbClr val="333333"/>
                </a:solidFill>
                <a:latin typeface="Calibri"/>
              </a:rPr>
              <a:t>8.225.551</a:t>
            </a:r>
          </a:p>
          <a:p>
            <a:pPr>
              <a:spcAft>
                <a:spcPts val="400"/>
              </a:spcAft>
            </a:pPr>
            <a:r>
              <a:rPr sz="1800" b="1">
                <a:solidFill>
                  <a:srgbClr val="2F5D8A"/>
                </a:solidFill>
                <a:latin typeface="Calibri"/>
              </a:rPr>
              <a:t>4. que </a:t>
            </a:r>
            <a:r>
              <a:rPr sz="1800">
                <a:solidFill>
                  <a:srgbClr val="333333"/>
                </a:solidFill>
                <a:latin typeface="Calibri"/>
              </a:rPr>
              <a:t>7.505.218</a:t>
            </a:r>
          </a:p>
          <a:p>
            <a:pPr>
              <a:spcAft>
                <a:spcPts val="400"/>
              </a:spcAft>
            </a:pPr>
            <a:r>
              <a:rPr sz="1800" b="1">
                <a:solidFill>
                  <a:srgbClr val="2F5D8A"/>
                </a:solidFill>
                <a:latin typeface="Calibri"/>
              </a:rPr>
              <a:t>5. en </a:t>
            </a:r>
            <a:r>
              <a:rPr sz="1800">
                <a:solidFill>
                  <a:srgbClr val="333333"/>
                </a:solidFill>
                <a:latin typeface="Calibri"/>
              </a:rPr>
              <a:t>7.208.184</a:t>
            </a:r>
          </a:p>
          <a:p>
            <a:pPr>
              <a:lnSpc>
                <a:spcPct val="104000"/>
              </a:lnSpc>
              <a:spcAft>
                <a:spcPts val="800"/>
              </a:spcAft>
            </a:pPr>
            <a:r>
              <a:rPr sz="1350">
                <a:solidFill>
                  <a:srgbClr val="333333"/>
                </a:solidFill>
                <a:latin typeface="Calibri"/>
              </a:rPr>
              <a:t>•  </a:t>
            </a:r>
            <a:r>
              <a:rPr sz="1350" b="1">
                <a:solidFill>
                  <a:srgbClr val="333333"/>
                </a:solidFill>
                <a:latin typeface="Calibri"/>
              </a:rPr>
              <a:t>Peso funcional. </a:t>
            </a:r>
            <a:r>
              <a:rPr sz="1350">
                <a:solidFill>
                  <a:srgbClr val="333333"/>
                </a:solidFill>
                <a:latin typeface="Calibri"/>
              </a:rPr>
              <a:t>las stopwords son ≈48 % de los tokens limpios (250.012.101 → 128.806.664).</a:t>
            </a:r>
          </a:p>
          <a:p>
            <a:pPr>
              <a:lnSpc>
                <a:spcPct val="104000"/>
              </a:lnSpc>
              <a:spcAft>
                <a:spcPts val="800"/>
              </a:spcAft>
            </a:pPr>
            <a:r>
              <a:rPr sz="1350">
                <a:solidFill>
                  <a:srgbClr val="333333"/>
                </a:solidFill>
                <a:latin typeface="Calibri"/>
              </a:rPr>
              <a:t>•  </a:t>
            </a:r>
            <a:r>
              <a:rPr sz="1350" b="1">
                <a:solidFill>
                  <a:srgbClr val="333333"/>
                </a:solidFill>
                <a:latin typeface="Calibri"/>
              </a:rPr>
              <a:t>Ley de Zipf. </a:t>
            </a:r>
            <a:r>
              <a:rPr sz="1350">
                <a:solidFill>
                  <a:srgbClr val="333333"/>
                </a:solidFill>
                <a:latin typeface="Calibri"/>
              </a:rPr>
              <a:t>caída brusca de frecuencias: unas pocas palabras concentran la mayor parte de las ocurrencias.</a:t>
            </a:r>
          </a:p>
          <a:p>
            <a:pPr>
              <a:lnSpc>
                <a:spcPct val="104000"/>
              </a:lnSpc>
              <a:spcAft>
                <a:spcPts val="800"/>
              </a:spcAft>
            </a:pPr>
            <a:r>
              <a:rPr sz="1350">
                <a:solidFill>
                  <a:srgbClr val="333333"/>
                </a:solidFill>
                <a:latin typeface="Calibri"/>
              </a:rPr>
              <a:t>•  </a:t>
            </a:r>
            <a:r>
              <a:rPr sz="1350" b="1">
                <a:solidFill>
                  <a:srgbClr val="333333"/>
                </a:solidFill>
                <a:latin typeface="Calibri"/>
              </a:rPr>
              <a:t>Interpretación. </a:t>
            </a:r>
            <a:r>
              <a:rPr sz="1350">
                <a:solidFill>
                  <a:srgbClr val="333333"/>
                </a:solidFill>
                <a:latin typeface="Calibri"/>
              </a:rPr>
              <a:t>el top-20 con stopwords no aporta contenido: por eso se analiza el corpus sin ellas.</a:t>
            </a:r>
          </a:p>
        </p:txBody>
      </p:sp>
      <p:pic>
        <p:nvPicPr>
          <p:cNvPr id="5" name="Picture 4" descr="fig_top20_con_stopwords.png"/>
          <p:cNvPicPr>
            <a:picLocks noChangeAspect="1"/>
          </p:cNvPicPr>
          <p:nvPr/>
        </p:nvPicPr>
        <p:blipFill>
          <a:blip r:embed="rId3"/>
          <a:stretch>
            <a:fillRect/>
          </a:stretch>
        </p:blipFill>
        <p:spPr>
          <a:xfrm>
            <a:off x="6538385" y="1600200"/>
            <a:ext cx="5028348" cy="4023360"/>
          </a:xfrm>
          <a:prstGeom prst="rect">
            <a:avLst/>
          </a:prstGeom>
        </p:spPr>
      </p:pic>
      <p:sp>
        <p:nvSpPr>
          <p:cNvPr id="6" name="TextBox 5"/>
          <p:cNvSpPr txBox="1"/>
          <p:nvPr/>
        </p:nvSpPr>
        <p:spPr>
          <a:xfrm>
            <a:off x="502920" y="6510528"/>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A8A8A"/>
                </a:solidFill>
                <a:latin typeface="Calibri"/>
              </a:rPr>
              <a:t>PLN · Entrega 1 · Pontificia Universidad Javeriana</a:t>
            </a:r>
          </a:p>
        </p:txBody>
      </p:sp>
      <p:sp>
        <p:nvSpPr>
          <p:cNvPr id="7" name="TextBox 6"/>
          <p:cNvSpPr txBox="1"/>
          <p:nvPr/>
        </p:nvSpPr>
        <p:spPr>
          <a:xfrm>
            <a:off x="11185855" y="6510528"/>
            <a:ext cx="502920" cy="274320"/>
          </a:xfrm>
          <a:prstGeom prst="rect">
            <a:avLst/>
          </a:prstGeom>
          <a:noFill/>
        </p:spPr>
        <p:txBody>
          <a:bodyPr wrap="square" anchor="t" lIns="0" rIns="0" tIns="0" bIns="0">
            <a:spAutoFit/>
          </a:bodyPr>
          <a:lstStyle/>
          <a:p>
            <a:pPr algn="r"/>
            <a:r>
              <a:rPr sz="1000">
                <a:solidFill>
                  <a:srgbClr val="8A8A8A"/>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11185855" cy="786384"/>
          </a:xfrm>
          <a:prstGeom prst="rect">
            <a:avLst/>
          </a:prstGeom>
          <a:noFill/>
        </p:spPr>
        <p:txBody>
          <a:bodyPr wrap="square" anchor="ctr">
            <a:spAutoFit/>
          </a:bodyPr>
          <a:lstStyle/>
          <a:p>
            <a:r>
              <a:rPr sz="2800" b="1">
                <a:solidFill>
                  <a:srgbClr val="FFFFFF"/>
                </a:solidFill>
                <a:latin typeface="Calibri"/>
              </a:rPr>
              <a:t>Frecuencias: top-20 sin stopwords</a:t>
            </a:r>
          </a:p>
        </p:txBody>
      </p:sp>
      <p:sp>
        <p:nvSpPr>
          <p:cNvPr id="4" name="TextBox 3"/>
          <p:cNvSpPr txBox="1"/>
          <p:nvPr/>
        </p:nvSpPr>
        <p:spPr>
          <a:xfrm>
            <a:off x="640080" y="1280160"/>
            <a:ext cx="5074920" cy="4937760"/>
          </a:xfrm>
          <a:prstGeom prst="rect">
            <a:avLst/>
          </a:prstGeom>
          <a:noFill/>
        </p:spPr>
        <p:txBody>
          <a:bodyPr wrap="square" anchor="t" lIns="0" rIns="0" tIns="0" bIns="0">
            <a:spAutoFit/>
          </a:bodyPr>
          <a:lstStyle/>
          <a:p>
            <a:pPr algn="l">
              <a:lnSpc>
                <a:spcPct val="100000"/>
              </a:lnSpc>
              <a:spcBef>
                <a:spcPts val="0"/>
              </a:spcBef>
              <a:spcAft>
                <a:spcPts val="800"/>
              </a:spcAft>
            </a:pPr>
            <a:r>
              <a:rPr sz="1600" b="1" i="0">
                <a:solidFill>
                  <a:srgbClr val="1F3864"/>
                </a:solidFill>
                <a:latin typeface="Calibri"/>
              </a:rPr>
              <a:t>Léxico jurídico dominante</a:t>
            </a:r>
          </a:p>
          <a:p>
            <a:pPr>
              <a:spcAft>
                <a:spcPts val="400"/>
              </a:spcAft>
            </a:pPr>
            <a:r>
              <a:rPr sz="1500" b="1">
                <a:solidFill>
                  <a:srgbClr val="2F5D8A"/>
                </a:solidFill>
                <a:latin typeface="Calibri"/>
              </a:rPr>
              <a:t>articulo </a:t>
            </a:r>
            <a:r>
              <a:rPr sz="1400">
                <a:solidFill>
                  <a:srgbClr val="333333"/>
                </a:solidFill>
                <a:latin typeface="Calibri"/>
              </a:rPr>
              <a:t>947.616  (citas normativas)</a:t>
            </a:r>
          </a:p>
          <a:p>
            <a:pPr>
              <a:spcAft>
                <a:spcPts val="400"/>
              </a:spcAft>
            </a:pPr>
            <a:r>
              <a:rPr sz="1500" b="1">
                <a:solidFill>
                  <a:srgbClr val="2F5D8A"/>
                </a:solidFill>
                <a:latin typeface="Calibri"/>
              </a:rPr>
              <a:t>derecho </a:t>
            </a:r>
            <a:r>
              <a:rPr sz="1400">
                <a:solidFill>
                  <a:srgbClr val="333333"/>
                </a:solidFill>
                <a:latin typeface="Calibri"/>
              </a:rPr>
              <a:t>898.926</a:t>
            </a:r>
          </a:p>
          <a:p>
            <a:pPr>
              <a:spcAft>
                <a:spcPts val="400"/>
              </a:spcAft>
            </a:pPr>
            <a:r>
              <a:rPr sz="1500" b="1">
                <a:solidFill>
                  <a:srgbClr val="2F5D8A"/>
                </a:solidFill>
                <a:latin typeface="Calibri"/>
              </a:rPr>
              <a:t>ley </a:t>
            </a:r>
            <a:r>
              <a:rPr sz="1400">
                <a:solidFill>
                  <a:srgbClr val="333333"/>
                </a:solidFill>
                <a:latin typeface="Calibri"/>
              </a:rPr>
              <a:t>809.313  (citas normativas)</a:t>
            </a:r>
          </a:p>
          <a:p>
            <a:pPr>
              <a:spcAft>
                <a:spcPts val="400"/>
              </a:spcAft>
            </a:pPr>
            <a:r>
              <a:rPr sz="1500" b="1">
                <a:solidFill>
                  <a:srgbClr val="2F5D8A"/>
                </a:solidFill>
                <a:latin typeface="Calibri"/>
              </a:rPr>
              <a:t>corte </a:t>
            </a:r>
            <a:r>
              <a:rPr sz="1400">
                <a:solidFill>
                  <a:srgbClr val="333333"/>
                </a:solidFill>
                <a:latin typeface="Calibri"/>
              </a:rPr>
              <a:t>760.197</a:t>
            </a:r>
          </a:p>
          <a:p>
            <a:pPr>
              <a:spcAft>
                <a:spcPts val="400"/>
              </a:spcAft>
            </a:pPr>
            <a:r>
              <a:rPr sz="1500" b="1">
                <a:solidFill>
                  <a:srgbClr val="2F5D8A"/>
                </a:solidFill>
                <a:latin typeface="Calibri"/>
              </a:rPr>
              <a:t>sentencia </a:t>
            </a:r>
            <a:r>
              <a:rPr sz="1400">
                <a:solidFill>
                  <a:srgbClr val="333333"/>
                </a:solidFill>
                <a:latin typeface="Calibri"/>
              </a:rPr>
              <a:t>736.326</a:t>
            </a:r>
          </a:p>
          <a:p>
            <a:pPr>
              <a:spcAft>
                <a:spcPts val="400"/>
              </a:spcAft>
            </a:pPr>
            <a:r>
              <a:rPr sz="1500" b="1">
                <a:solidFill>
                  <a:srgbClr val="2F5D8A"/>
                </a:solidFill>
                <a:latin typeface="Calibri"/>
              </a:rPr>
              <a:t>tutela </a:t>
            </a:r>
            <a:r>
              <a:rPr sz="1400">
                <a:solidFill>
                  <a:srgbClr val="333333"/>
                </a:solidFill>
                <a:latin typeface="Calibri"/>
              </a:rPr>
              <a:t>649.302  (mecanismo de amparo, tipo T)</a:t>
            </a:r>
          </a:p>
          <a:p>
            <a:pPr>
              <a:lnSpc>
                <a:spcPct val="104000"/>
              </a:lnSpc>
              <a:spcAft>
                <a:spcPts val="800"/>
              </a:spcAft>
            </a:pPr>
            <a:r>
              <a:rPr sz="1350">
                <a:solidFill>
                  <a:srgbClr val="333333"/>
                </a:solidFill>
                <a:latin typeface="Calibri"/>
              </a:rPr>
              <a:t>•  </a:t>
            </a:r>
            <a:r>
              <a:rPr sz="1350" b="1">
                <a:solidFill>
                  <a:srgbClr val="333333"/>
                </a:solidFill>
                <a:latin typeface="Calibri"/>
              </a:rPr>
              <a:t>Normalización. </a:t>
            </a:r>
            <a:r>
              <a:rPr sz="1350">
                <a:solidFill>
                  <a:srgbClr val="333333"/>
                </a:solidFill>
                <a:latin typeface="Calibri"/>
              </a:rPr>
              <a:t>articulo, accion, constitucion y proteccion sin tilde por la normalización (paso 3 del pipeline).</a:t>
            </a:r>
          </a:p>
          <a:p>
            <a:pPr>
              <a:lnSpc>
                <a:spcPct val="104000"/>
              </a:lnSpc>
              <a:spcAft>
                <a:spcPts val="800"/>
              </a:spcAft>
            </a:pPr>
            <a:r>
              <a:rPr sz="1350">
                <a:solidFill>
                  <a:srgbClr val="333333"/>
                </a:solidFill>
                <a:latin typeface="Calibri"/>
              </a:rPr>
              <a:t>•  </a:t>
            </a:r>
            <a:r>
              <a:rPr sz="1350" b="1">
                <a:solidFill>
                  <a:srgbClr val="333333"/>
                </a:solidFill>
                <a:latin typeface="Calibri"/>
              </a:rPr>
              <a:t>Filtro previo. </a:t>
            </a:r>
            <a:r>
              <a:rPr sz="1350">
                <a:solidFill>
                  <a:srgbClr val="333333"/>
                </a:solidFill>
                <a:latin typeface="Calibri"/>
              </a:rPr>
              <a:t>tokens de una letra (t, c, p…) y “art” eliminados en origen.</a:t>
            </a:r>
          </a:p>
          <a:p>
            <a:pPr>
              <a:lnSpc>
                <a:spcPct val="104000"/>
              </a:lnSpc>
              <a:spcAft>
                <a:spcPts val="800"/>
              </a:spcAft>
            </a:pPr>
            <a:r>
              <a:rPr sz="1350">
                <a:solidFill>
                  <a:srgbClr val="333333"/>
                </a:solidFill>
                <a:latin typeface="Calibri"/>
              </a:rPr>
              <a:t>•  </a:t>
            </a:r>
            <a:r>
              <a:rPr sz="1350" b="1">
                <a:solidFill>
                  <a:srgbClr val="333333"/>
                </a:solidFill>
                <a:latin typeface="Calibri"/>
              </a:rPr>
              <a:t>Contenido. </a:t>
            </a:r>
            <a:r>
              <a:rPr sz="1350">
                <a:solidFill>
                  <a:srgbClr val="333333"/>
                </a:solidFill>
                <a:latin typeface="Calibri"/>
              </a:rPr>
              <a:t>el corpus muestra el registro esperado de jurisprudencia constitucional colombiana.</a:t>
            </a:r>
          </a:p>
        </p:txBody>
      </p:sp>
      <p:pic>
        <p:nvPicPr>
          <p:cNvPr id="5" name="Picture 4" descr="fig_top20_sin_stopwords.png"/>
          <p:cNvPicPr>
            <a:picLocks noChangeAspect="1"/>
          </p:cNvPicPr>
          <p:nvPr/>
        </p:nvPicPr>
        <p:blipFill>
          <a:blip r:embed="rId3"/>
          <a:stretch>
            <a:fillRect/>
          </a:stretch>
        </p:blipFill>
        <p:spPr>
          <a:xfrm>
            <a:off x="6533275" y="1600200"/>
            <a:ext cx="5038568" cy="4023360"/>
          </a:xfrm>
          <a:prstGeom prst="rect">
            <a:avLst/>
          </a:prstGeom>
        </p:spPr>
      </p:pic>
      <p:sp>
        <p:nvSpPr>
          <p:cNvPr id="6" name="TextBox 5"/>
          <p:cNvSpPr txBox="1"/>
          <p:nvPr/>
        </p:nvSpPr>
        <p:spPr>
          <a:xfrm>
            <a:off x="502920" y="6510528"/>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A8A8A"/>
                </a:solidFill>
                <a:latin typeface="Calibri"/>
              </a:rPr>
              <a:t>PLN · Entrega 1 · Pontificia Universidad Javeriana</a:t>
            </a:r>
          </a:p>
        </p:txBody>
      </p:sp>
      <p:sp>
        <p:nvSpPr>
          <p:cNvPr id="7" name="TextBox 6"/>
          <p:cNvSpPr txBox="1"/>
          <p:nvPr/>
        </p:nvSpPr>
        <p:spPr>
          <a:xfrm>
            <a:off x="11185855" y="6510528"/>
            <a:ext cx="502920" cy="274320"/>
          </a:xfrm>
          <a:prstGeom prst="rect">
            <a:avLst/>
          </a:prstGeom>
          <a:noFill/>
        </p:spPr>
        <p:txBody>
          <a:bodyPr wrap="square" anchor="t" lIns="0" rIns="0" tIns="0" bIns="0">
            <a:spAutoFit/>
          </a:bodyPr>
          <a:lstStyle/>
          <a:p>
            <a:pPr algn="r"/>
            <a:r>
              <a:rPr sz="1000">
                <a:solidFill>
                  <a:srgbClr val="8A8A8A"/>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11185855" cy="786384"/>
          </a:xfrm>
          <a:prstGeom prst="rect">
            <a:avLst/>
          </a:prstGeom>
          <a:noFill/>
        </p:spPr>
        <p:txBody>
          <a:bodyPr wrap="square" anchor="ctr">
            <a:spAutoFit/>
          </a:bodyPr>
          <a:lstStyle/>
          <a:p>
            <a:r>
              <a:rPr sz="2800" b="1">
                <a:solidFill>
                  <a:srgbClr val="FFFFFF"/>
                </a:solidFill>
                <a:latin typeface="Calibri"/>
              </a:rPr>
              <a:t>Distribución temporal (1992–2021)</a:t>
            </a:r>
          </a:p>
        </p:txBody>
      </p:sp>
      <p:sp>
        <p:nvSpPr>
          <p:cNvPr id="4" name="TextBox 3"/>
          <p:cNvSpPr txBox="1"/>
          <p:nvPr/>
        </p:nvSpPr>
        <p:spPr>
          <a:xfrm>
            <a:off x="685800" y="1115568"/>
            <a:ext cx="10789920" cy="1097280"/>
          </a:xfrm>
          <a:prstGeom prst="rect">
            <a:avLst/>
          </a:prstGeom>
          <a:noFill/>
        </p:spPr>
        <p:txBody>
          <a:bodyPr wrap="square" anchor="t" lIns="0" rIns="0" tIns="0" bIns="0">
            <a:spAutoFit/>
          </a:bodyPr>
          <a:lstStyle/>
          <a:p>
            <a:pPr>
              <a:lnSpc>
                <a:spcPct val="104000"/>
              </a:lnSpc>
              <a:spcAft>
                <a:spcPts val="400"/>
              </a:spcAft>
            </a:pPr>
            <a:r>
              <a:rPr sz="1400">
                <a:solidFill>
                  <a:srgbClr val="333333"/>
                </a:solidFill>
                <a:latin typeface="Calibri"/>
              </a:rPr>
              <a:t>•  </a:t>
            </a:r>
            <a:r>
              <a:rPr sz="1400" b="1">
                <a:solidFill>
                  <a:srgbClr val="333333"/>
                </a:solidFill>
                <a:latin typeface="Calibri"/>
              </a:rPr>
              <a:t>Estabilidad 1999–2014: </a:t>
            </a:r>
            <a:r>
              <a:rPr sz="1400">
                <a:solidFill>
                  <a:srgbClr val="333333"/>
                </a:solidFill>
                <a:latin typeface="Calibri"/>
              </a:rPr>
              <a:t>entre 950 y 990 providencias anuales.</a:t>
            </a:r>
          </a:p>
          <a:p>
            <a:pPr>
              <a:lnSpc>
                <a:spcPct val="104000"/>
              </a:lnSpc>
              <a:spcAft>
                <a:spcPts val="400"/>
              </a:spcAft>
            </a:pPr>
            <a:r>
              <a:rPr sz="1400">
                <a:solidFill>
                  <a:srgbClr val="333333"/>
                </a:solidFill>
                <a:latin typeface="Calibri"/>
              </a:rPr>
              <a:t>•  </a:t>
            </a:r>
            <a:r>
              <a:rPr sz="1400" b="1">
                <a:solidFill>
                  <a:srgbClr val="333333"/>
                </a:solidFill>
                <a:latin typeface="Calibri"/>
              </a:rPr>
              <a:t>Descenso 2015–2020: </a:t>
            </a:r>
            <a:r>
              <a:rPr sz="1400">
                <a:solidFill>
                  <a:srgbClr val="333333"/>
                </a:solidFill>
                <a:latin typeface="Calibri"/>
              </a:rPr>
              <a:t>de 763 (2015) a 505 (2020); 2021 colapsa a 20 documentos (cobertura parcial; no hay 2022).</a:t>
            </a:r>
          </a:p>
          <a:p>
            <a:pPr>
              <a:lnSpc>
                <a:spcPct val="104000"/>
              </a:lnSpc>
              <a:spcAft>
                <a:spcPts val="0"/>
              </a:spcAft>
            </a:pPr>
            <a:r>
              <a:rPr sz="1400">
                <a:solidFill>
                  <a:srgbClr val="333333"/>
                </a:solidFill>
                <a:latin typeface="Calibri"/>
              </a:rPr>
              <a:t>•  </a:t>
            </a:r>
            <a:r>
              <a:rPr sz="1400" b="1">
                <a:solidFill>
                  <a:srgbClr val="333333"/>
                </a:solidFill>
                <a:latin typeface="Calibri"/>
              </a:rPr>
              <a:t>Composición por tipo: </a:t>
            </a:r>
            <a:r>
              <a:rPr sz="1400">
                <a:solidFill>
                  <a:srgbClr val="333333"/>
                </a:solidFill>
                <a:latin typeface="Calibri"/>
              </a:rPr>
              <a:t>tutela 72,0 % · constitucionalidad 26,3 % · unificación 1,7 %.</a:t>
            </a:r>
          </a:p>
        </p:txBody>
      </p:sp>
      <p:pic>
        <p:nvPicPr>
          <p:cNvPr id="5" name="Picture 4" descr="fig_sentencias_por_anio.png"/>
          <p:cNvPicPr>
            <a:picLocks noChangeAspect="1"/>
          </p:cNvPicPr>
          <p:nvPr/>
        </p:nvPicPr>
        <p:blipFill>
          <a:blip r:embed="rId3"/>
          <a:stretch>
            <a:fillRect/>
          </a:stretch>
        </p:blipFill>
        <p:spPr>
          <a:xfrm>
            <a:off x="1015486" y="2331720"/>
            <a:ext cx="10160722" cy="3840480"/>
          </a:xfrm>
          <a:prstGeom prst="rect">
            <a:avLst/>
          </a:prstGeom>
        </p:spPr>
      </p:pic>
      <p:sp>
        <p:nvSpPr>
          <p:cNvPr id="6" name="TextBox 5"/>
          <p:cNvSpPr txBox="1"/>
          <p:nvPr/>
        </p:nvSpPr>
        <p:spPr>
          <a:xfrm>
            <a:off x="502920" y="6510528"/>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A8A8A"/>
                </a:solidFill>
                <a:latin typeface="Calibri"/>
              </a:rPr>
              <a:t>PLN · Entrega 1 · Pontificia Universidad Javeriana</a:t>
            </a:r>
          </a:p>
        </p:txBody>
      </p:sp>
      <p:sp>
        <p:nvSpPr>
          <p:cNvPr id="7" name="TextBox 6"/>
          <p:cNvSpPr txBox="1"/>
          <p:nvPr/>
        </p:nvSpPr>
        <p:spPr>
          <a:xfrm>
            <a:off x="11185855" y="6510528"/>
            <a:ext cx="502920" cy="274320"/>
          </a:xfrm>
          <a:prstGeom prst="rect">
            <a:avLst/>
          </a:prstGeom>
          <a:noFill/>
        </p:spPr>
        <p:txBody>
          <a:bodyPr wrap="square" anchor="t" lIns="0" rIns="0" tIns="0" bIns="0">
            <a:spAutoFit/>
          </a:bodyPr>
          <a:lstStyle/>
          <a:p>
            <a:pPr algn="r"/>
            <a:r>
              <a:rPr sz="1000">
                <a:solidFill>
                  <a:srgbClr val="8A8A8A"/>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11185855" cy="786384"/>
          </a:xfrm>
          <a:prstGeom prst="rect">
            <a:avLst/>
          </a:prstGeom>
          <a:noFill/>
        </p:spPr>
        <p:txBody>
          <a:bodyPr wrap="square" anchor="ctr">
            <a:spAutoFit/>
          </a:bodyPr>
          <a:lstStyle/>
          <a:p>
            <a:r>
              <a:rPr sz="2800" b="1">
                <a:solidFill>
                  <a:srgbClr val="FFFFFF"/>
                </a:solidFill>
                <a:latin typeface="Calibri"/>
              </a:rPr>
              <a:t>Nube global de palabras</a:t>
            </a:r>
          </a:p>
        </p:txBody>
      </p:sp>
      <p:sp>
        <p:nvSpPr>
          <p:cNvPr id="4" name="TextBox 3"/>
          <p:cNvSpPr txBox="1"/>
          <p:nvPr/>
        </p:nvSpPr>
        <p:spPr>
          <a:xfrm>
            <a:off x="685800" y="1115568"/>
            <a:ext cx="10789920" cy="914400"/>
          </a:xfrm>
          <a:prstGeom prst="rect">
            <a:avLst/>
          </a:prstGeom>
          <a:noFill/>
        </p:spPr>
        <p:txBody>
          <a:bodyPr wrap="square" anchor="t" lIns="0" rIns="0" tIns="0" bIns="0">
            <a:spAutoFit/>
          </a:bodyPr>
          <a:lstStyle/>
          <a:p>
            <a:pPr>
              <a:lnSpc>
                <a:spcPct val="104000"/>
              </a:lnSpc>
              <a:spcAft>
                <a:spcPts val="500"/>
              </a:spcAft>
            </a:pPr>
            <a:r>
              <a:rPr sz="1350">
                <a:solidFill>
                  <a:srgbClr val="333333"/>
                </a:solidFill>
                <a:latin typeface="Calibri"/>
              </a:rPr>
              <a:t>•  </a:t>
            </a:r>
            <a:r>
              <a:rPr sz="1350" b="1">
                <a:solidFill>
                  <a:srgbClr val="333333"/>
                </a:solidFill>
                <a:latin typeface="Calibri"/>
              </a:rPr>
              <a:t>Frecuencias. </a:t>
            </a:r>
            <a:r>
              <a:rPr sz="1350">
                <a:solidFill>
                  <a:srgbClr val="333333"/>
                </a:solidFill>
                <a:latin typeface="Calibri"/>
              </a:rPr>
              <a:t>se alimenta del top-5.000 de términos más frecuentes del corpus completo.</a:t>
            </a:r>
          </a:p>
          <a:p>
            <a:pPr>
              <a:lnSpc>
                <a:spcPct val="104000"/>
              </a:lnSpc>
              <a:spcAft>
                <a:spcPts val="500"/>
              </a:spcAft>
            </a:pPr>
            <a:r>
              <a:rPr sz="1350">
                <a:solidFill>
                  <a:srgbClr val="333333"/>
                </a:solidFill>
                <a:latin typeface="Calibri"/>
              </a:rPr>
              <a:t>•  </a:t>
            </a:r>
            <a:r>
              <a:rPr sz="1350" b="1">
                <a:solidFill>
                  <a:srgbClr val="333333"/>
                </a:solidFill>
                <a:latin typeface="Calibri"/>
              </a:rPr>
              <a:t>Listas retiradas. </a:t>
            </a:r>
            <a:r>
              <a:rPr sz="1350">
                <a:solidFill>
                  <a:srgbClr val="333333"/>
                </a:solidFill>
                <a:latin typeface="Calibri"/>
              </a:rPr>
              <a:t>stopwords gramaticales (306 formas NLTK normalizadas) y 65 formas de dominio jurídico-procesal de alta frecuencia.</a:t>
            </a:r>
          </a:p>
        </p:txBody>
      </p:sp>
      <p:pic>
        <p:nvPicPr>
          <p:cNvPr id="5" name="Picture 4" descr="fig_nube_global.png"/>
          <p:cNvPicPr>
            <a:picLocks noChangeAspect="1"/>
          </p:cNvPicPr>
          <p:nvPr/>
        </p:nvPicPr>
        <p:blipFill>
          <a:blip r:embed="rId3"/>
          <a:stretch>
            <a:fillRect/>
          </a:stretch>
        </p:blipFill>
        <p:spPr>
          <a:xfrm>
            <a:off x="2820451" y="2212848"/>
            <a:ext cx="6550791" cy="3840480"/>
          </a:xfrm>
          <a:prstGeom prst="rect">
            <a:avLst/>
          </a:prstGeom>
        </p:spPr>
      </p:pic>
      <p:sp>
        <p:nvSpPr>
          <p:cNvPr id="6" name="TextBox 5"/>
          <p:cNvSpPr txBox="1"/>
          <p:nvPr/>
        </p:nvSpPr>
        <p:spPr>
          <a:xfrm>
            <a:off x="502920" y="6510528"/>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A8A8A"/>
                </a:solidFill>
                <a:latin typeface="Calibri"/>
              </a:rPr>
              <a:t>PLN · Entrega 1 · Pontificia Universidad Javeriana</a:t>
            </a:r>
          </a:p>
        </p:txBody>
      </p:sp>
      <p:sp>
        <p:nvSpPr>
          <p:cNvPr id="7" name="TextBox 6"/>
          <p:cNvSpPr txBox="1"/>
          <p:nvPr/>
        </p:nvSpPr>
        <p:spPr>
          <a:xfrm>
            <a:off x="11185855" y="6510528"/>
            <a:ext cx="502920" cy="274320"/>
          </a:xfrm>
          <a:prstGeom prst="rect">
            <a:avLst/>
          </a:prstGeom>
          <a:noFill/>
        </p:spPr>
        <p:txBody>
          <a:bodyPr wrap="square" anchor="t" lIns="0" rIns="0" tIns="0" bIns="0">
            <a:spAutoFit/>
          </a:bodyPr>
          <a:lstStyle/>
          <a:p>
            <a:pPr algn="r"/>
            <a:r>
              <a:rPr sz="1000">
                <a:solidFill>
                  <a:srgbClr val="8A8A8A"/>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11185855" cy="786384"/>
          </a:xfrm>
          <a:prstGeom prst="rect">
            <a:avLst/>
          </a:prstGeom>
          <a:noFill/>
        </p:spPr>
        <p:txBody>
          <a:bodyPr wrap="square" anchor="ctr">
            <a:spAutoFit/>
          </a:bodyPr>
          <a:lstStyle/>
          <a:p>
            <a:r>
              <a:rPr sz="2800" b="1">
                <a:solidFill>
                  <a:srgbClr val="FFFFFF"/>
                </a:solidFill>
                <a:latin typeface="Calibri"/>
              </a:rPr>
              <a:t>Nubes de palabras por año (3 segmentos)</a:t>
            </a:r>
          </a:p>
        </p:txBody>
      </p:sp>
      <p:sp>
        <p:nvSpPr>
          <p:cNvPr id="4" name="TextBox 3"/>
          <p:cNvSpPr txBox="1"/>
          <p:nvPr/>
        </p:nvSpPr>
        <p:spPr>
          <a:xfrm>
            <a:off x="685800" y="1115568"/>
            <a:ext cx="10789920" cy="640080"/>
          </a:xfrm>
          <a:prstGeom prst="rect">
            <a:avLst/>
          </a:prstGeom>
          <a:noFill/>
        </p:spPr>
        <p:txBody>
          <a:bodyPr wrap="square" anchor="t" lIns="0" rIns="0" tIns="0" bIns="0">
            <a:spAutoFit/>
          </a:bodyPr>
          <a:lstStyle/>
          <a:p>
            <a:pPr algn="l">
              <a:lnSpc>
                <a:spcPct val="100000"/>
              </a:lnSpc>
              <a:spcBef>
                <a:spcPts val="0"/>
              </a:spcBef>
              <a:spcAft>
                <a:spcPts val="0"/>
              </a:spcAft>
            </a:pPr>
            <a:r>
              <a:rPr sz="1350" b="0" i="0">
                <a:solidFill>
                  <a:srgbClr val="333333"/>
                </a:solidFill>
                <a:latin typeface="Calibri"/>
              </a:rPr>
              <a:t>Una nube por año con el top-1.000 de términos de ese año; 2021 se excluye por tener menos de 50 documentos (criterio de agregación).</a:t>
            </a:r>
          </a:p>
        </p:txBody>
      </p:sp>
      <p:pic>
        <p:nvPicPr>
          <p:cNvPr id="5" name="Picture 4" descr="fig_nubes_por_anio_1992_2001.png"/>
          <p:cNvPicPr>
            <a:picLocks noChangeAspect="1"/>
          </p:cNvPicPr>
          <p:nvPr/>
        </p:nvPicPr>
        <p:blipFill>
          <a:blip r:embed="rId3"/>
          <a:stretch>
            <a:fillRect/>
          </a:stretch>
        </p:blipFill>
        <p:spPr>
          <a:xfrm>
            <a:off x="1602954" y="1874519"/>
            <a:ext cx="2776268" cy="3840480"/>
          </a:xfrm>
          <a:prstGeom prst="rect">
            <a:avLst/>
          </a:prstGeom>
        </p:spPr>
      </p:pic>
      <p:pic>
        <p:nvPicPr>
          <p:cNvPr id="6" name="Picture 5" descr="fig_nubes_por_anio_2002_2011.png"/>
          <p:cNvPicPr>
            <a:picLocks noChangeAspect="1"/>
          </p:cNvPicPr>
          <p:nvPr/>
        </p:nvPicPr>
        <p:blipFill>
          <a:blip r:embed="rId4"/>
          <a:stretch>
            <a:fillRect/>
          </a:stretch>
        </p:blipFill>
        <p:spPr>
          <a:xfrm>
            <a:off x="4699262" y="1874519"/>
            <a:ext cx="2780484" cy="3840480"/>
          </a:xfrm>
          <a:prstGeom prst="rect">
            <a:avLst/>
          </a:prstGeom>
        </p:spPr>
      </p:pic>
      <p:pic>
        <p:nvPicPr>
          <p:cNvPr id="7" name="Picture 6" descr="fig_nubes_por_anio_2012_2020.png"/>
          <p:cNvPicPr>
            <a:picLocks noChangeAspect="1"/>
          </p:cNvPicPr>
          <p:nvPr/>
        </p:nvPicPr>
        <p:blipFill>
          <a:blip r:embed="rId5"/>
          <a:stretch>
            <a:fillRect/>
          </a:stretch>
        </p:blipFill>
        <p:spPr>
          <a:xfrm>
            <a:off x="7799786" y="1874519"/>
            <a:ext cx="2788954" cy="3840480"/>
          </a:xfrm>
          <a:prstGeom prst="rect">
            <a:avLst/>
          </a:prstGeom>
        </p:spPr>
      </p:pic>
      <p:sp>
        <p:nvSpPr>
          <p:cNvPr id="8" name="TextBox 7"/>
          <p:cNvSpPr txBox="1"/>
          <p:nvPr/>
        </p:nvSpPr>
        <p:spPr>
          <a:xfrm>
            <a:off x="1985248" y="5779008"/>
            <a:ext cx="2011680" cy="365760"/>
          </a:xfrm>
          <a:prstGeom prst="rect">
            <a:avLst/>
          </a:prstGeom>
          <a:noFill/>
        </p:spPr>
        <p:txBody>
          <a:bodyPr wrap="square" anchor="t" lIns="0" rIns="0" tIns="0" bIns="0">
            <a:spAutoFit/>
          </a:bodyPr>
          <a:lstStyle/>
          <a:p>
            <a:pPr algn="ctr">
              <a:lnSpc>
                <a:spcPct val="100000"/>
              </a:lnSpc>
              <a:spcBef>
                <a:spcPts val="0"/>
              </a:spcBef>
              <a:spcAft>
                <a:spcPts val="0"/>
              </a:spcAft>
            </a:pPr>
            <a:r>
              <a:rPr sz="1400" b="1" i="0">
                <a:solidFill>
                  <a:srgbClr val="2F5D8A"/>
                </a:solidFill>
                <a:latin typeface="Calibri"/>
              </a:rPr>
              <a:t>1992–2001</a:t>
            </a:r>
          </a:p>
        </p:txBody>
      </p:sp>
      <p:sp>
        <p:nvSpPr>
          <p:cNvPr id="9" name="TextBox 8"/>
          <p:cNvSpPr txBox="1"/>
          <p:nvPr/>
        </p:nvSpPr>
        <p:spPr>
          <a:xfrm>
            <a:off x="5083664" y="5779008"/>
            <a:ext cx="2011680" cy="365760"/>
          </a:xfrm>
          <a:prstGeom prst="rect">
            <a:avLst/>
          </a:prstGeom>
          <a:noFill/>
        </p:spPr>
        <p:txBody>
          <a:bodyPr wrap="square" anchor="t" lIns="0" rIns="0" tIns="0" bIns="0">
            <a:spAutoFit/>
          </a:bodyPr>
          <a:lstStyle/>
          <a:p>
            <a:pPr algn="ctr">
              <a:lnSpc>
                <a:spcPct val="100000"/>
              </a:lnSpc>
              <a:spcBef>
                <a:spcPts val="0"/>
              </a:spcBef>
              <a:spcAft>
                <a:spcPts val="0"/>
              </a:spcAft>
            </a:pPr>
            <a:r>
              <a:rPr sz="1400" b="1" i="0">
                <a:solidFill>
                  <a:srgbClr val="2F5D8A"/>
                </a:solidFill>
                <a:latin typeface="Calibri"/>
              </a:rPr>
              <a:t>2002–2011</a:t>
            </a:r>
          </a:p>
        </p:txBody>
      </p:sp>
      <p:sp>
        <p:nvSpPr>
          <p:cNvPr id="10" name="TextBox 9"/>
          <p:cNvSpPr txBox="1"/>
          <p:nvPr/>
        </p:nvSpPr>
        <p:spPr>
          <a:xfrm>
            <a:off x="8188423" y="5779008"/>
            <a:ext cx="2011680" cy="365760"/>
          </a:xfrm>
          <a:prstGeom prst="rect">
            <a:avLst/>
          </a:prstGeom>
          <a:noFill/>
        </p:spPr>
        <p:txBody>
          <a:bodyPr wrap="square" anchor="t" lIns="0" rIns="0" tIns="0" bIns="0">
            <a:spAutoFit/>
          </a:bodyPr>
          <a:lstStyle/>
          <a:p>
            <a:pPr algn="ctr">
              <a:lnSpc>
                <a:spcPct val="100000"/>
              </a:lnSpc>
              <a:spcBef>
                <a:spcPts val="0"/>
              </a:spcBef>
              <a:spcAft>
                <a:spcPts val="0"/>
              </a:spcAft>
            </a:pPr>
            <a:r>
              <a:rPr sz="1400" b="1" i="0">
                <a:solidFill>
                  <a:srgbClr val="2F5D8A"/>
                </a:solidFill>
                <a:latin typeface="Calibri"/>
              </a:rPr>
              <a:t>2012–2020</a:t>
            </a:r>
          </a:p>
        </p:txBody>
      </p:sp>
      <p:sp>
        <p:nvSpPr>
          <p:cNvPr id="11" name="TextBox 10"/>
          <p:cNvSpPr txBox="1"/>
          <p:nvPr/>
        </p:nvSpPr>
        <p:spPr>
          <a:xfrm>
            <a:off x="685800" y="6144768"/>
            <a:ext cx="10789920" cy="384048"/>
          </a:xfrm>
          <a:prstGeom prst="rect">
            <a:avLst/>
          </a:prstGeom>
          <a:noFill/>
        </p:spPr>
        <p:txBody>
          <a:bodyPr wrap="square" anchor="t" lIns="0" rIns="0" tIns="0" bIns="0">
            <a:spAutoFit/>
          </a:bodyPr>
          <a:lstStyle/>
          <a:p>
            <a:pPr algn="ctr">
              <a:lnSpc>
                <a:spcPct val="100000"/>
              </a:lnSpc>
              <a:spcBef>
                <a:spcPts val="0"/>
              </a:spcBef>
              <a:spcAft>
                <a:spcPts val="0"/>
              </a:spcAft>
            </a:pPr>
            <a:r>
              <a:rPr sz="1250" b="0" i="1">
                <a:solidFill>
                  <a:srgbClr val="595959"/>
                </a:solidFill>
                <a:latin typeface="Calibri"/>
              </a:rPr>
              <a:t>Estabilidad cualitativa de las fórmulas del género; el análisis diacrónico se hará en la entrega 2.</a:t>
            </a:r>
          </a:p>
        </p:txBody>
      </p:sp>
      <p:sp>
        <p:nvSpPr>
          <p:cNvPr id="12" name="TextBox 11"/>
          <p:cNvSpPr txBox="1"/>
          <p:nvPr/>
        </p:nvSpPr>
        <p:spPr>
          <a:xfrm>
            <a:off x="502920" y="6510528"/>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A8A8A"/>
                </a:solidFill>
                <a:latin typeface="Calibri"/>
              </a:rPr>
              <a:t>PLN · Entrega 1 · Pontificia Universidad Javeriana</a:t>
            </a:r>
          </a:p>
        </p:txBody>
      </p:sp>
      <p:sp>
        <p:nvSpPr>
          <p:cNvPr id="13" name="TextBox 12"/>
          <p:cNvSpPr txBox="1"/>
          <p:nvPr/>
        </p:nvSpPr>
        <p:spPr>
          <a:xfrm>
            <a:off x="11185855" y="6510528"/>
            <a:ext cx="502920" cy="274320"/>
          </a:xfrm>
          <a:prstGeom prst="rect">
            <a:avLst/>
          </a:prstGeom>
          <a:noFill/>
        </p:spPr>
        <p:txBody>
          <a:bodyPr wrap="square" anchor="t" lIns="0" rIns="0" tIns="0" bIns="0">
            <a:spAutoFit/>
          </a:bodyPr>
          <a:lstStyle/>
          <a:p>
            <a:pPr algn="r"/>
            <a:r>
              <a:rPr sz="1000">
                <a:solidFill>
                  <a:srgbClr val="8A8A8A"/>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11185855" cy="786384"/>
          </a:xfrm>
          <a:prstGeom prst="rect">
            <a:avLst/>
          </a:prstGeom>
          <a:noFill/>
        </p:spPr>
        <p:txBody>
          <a:bodyPr wrap="square" anchor="ctr">
            <a:spAutoFit/>
          </a:bodyPr>
          <a:lstStyle/>
          <a:p>
            <a:r>
              <a:rPr sz="2800" b="1">
                <a:solidFill>
                  <a:srgbClr val="FFFFFF"/>
                </a:solidFill>
                <a:latin typeface="Calibri"/>
              </a:rPr>
              <a:t>Estado del arte: antecedentes</a:t>
            </a:r>
          </a:p>
        </p:txBody>
      </p:sp>
      <p:sp>
        <p:nvSpPr>
          <p:cNvPr id="4" name="TextBox 3"/>
          <p:cNvSpPr txBox="1"/>
          <p:nvPr/>
        </p:nvSpPr>
        <p:spPr>
          <a:xfrm>
            <a:off x="685800" y="1188720"/>
            <a:ext cx="10789920" cy="3749039"/>
          </a:xfrm>
          <a:prstGeom prst="rect">
            <a:avLst/>
          </a:prstGeom>
          <a:noFill/>
        </p:spPr>
        <p:txBody>
          <a:bodyPr wrap="square" anchor="t" lIns="0" rIns="0" tIns="0" bIns="0">
            <a:spAutoFit/>
          </a:bodyPr>
          <a:lstStyle/>
          <a:p>
            <a:pPr>
              <a:lnSpc>
                <a:spcPct val="104000"/>
              </a:lnSpc>
              <a:spcAft>
                <a:spcPts val="1000"/>
              </a:spcAft>
            </a:pPr>
            <a:r>
              <a:rPr sz="1400">
                <a:solidFill>
                  <a:srgbClr val="333333"/>
                </a:solidFill>
                <a:latin typeface="Calibri"/>
              </a:rPr>
              <a:t>•  </a:t>
            </a:r>
            <a:r>
              <a:rPr sz="1400" b="1">
                <a:solidFill>
                  <a:srgbClr val="333333"/>
                </a:solidFill>
                <a:latin typeface="Calibri"/>
              </a:rPr>
              <a:t>Anzola Cortés (2021). </a:t>
            </a:r>
            <a:r>
              <a:rPr sz="1400">
                <a:solidFill>
                  <a:srgbClr val="333333"/>
                </a:solidFill>
                <a:latin typeface="Calibri"/>
              </a:rPr>
              <a:t>minería de datos sobre más de 6.000 sentencias de constitucionalidad de la CCC (1992–2020): el mismo universo documental del dataset.</a:t>
            </a:r>
          </a:p>
          <a:p>
            <a:pPr>
              <a:lnSpc>
                <a:spcPct val="104000"/>
              </a:lnSpc>
              <a:spcAft>
                <a:spcPts val="1000"/>
              </a:spcAft>
            </a:pPr>
            <a:r>
              <a:rPr sz="1400">
                <a:solidFill>
                  <a:srgbClr val="333333"/>
                </a:solidFill>
                <a:latin typeface="Calibri"/>
              </a:rPr>
              <a:t>•  </a:t>
            </a:r>
            <a:r>
              <a:rPr sz="1400" b="1">
                <a:solidFill>
                  <a:srgbClr val="333333"/>
                </a:solidFill>
                <a:latin typeface="Calibri"/>
              </a:rPr>
              <a:t>Barbosa Becerra (2021). </a:t>
            </a:r>
            <a:r>
              <a:rPr sz="1400">
                <a:solidFill>
                  <a:srgbClr val="333333"/>
                </a:solidFill>
                <a:latin typeface="Calibri"/>
              </a:rPr>
              <a:t>análisis léxico-discursivo de sentencias de la CCC; evidencia la estabilidad de sus fórmulas y un léxico jurídico especializado.</a:t>
            </a:r>
          </a:p>
          <a:p>
            <a:pPr>
              <a:lnSpc>
                <a:spcPct val="104000"/>
              </a:lnSpc>
              <a:spcAft>
                <a:spcPts val="1000"/>
              </a:spcAft>
            </a:pPr>
            <a:r>
              <a:rPr sz="1400">
                <a:solidFill>
                  <a:srgbClr val="333333"/>
                </a:solidFill>
                <a:latin typeface="Calibri"/>
              </a:rPr>
              <a:t>•  </a:t>
            </a:r>
            <a:r>
              <a:rPr sz="1400" b="1">
                <a:solidFill>
                  <a:srgbClr val="333333"/>
                </a:solidFill>
                <a:latin typeface="Calibri"/>
              </a:rPr>
              <a:t>HaCohen-Kerner et al. (2020). </a:t>
            </a:r>
            <a:r>
              <a:rPr sz="1400">
                <a:solidFill>
                  <a:srgbClr val="333333"/>
                </a:solidFill>
                <a:latin typeface="Calibri"/>
              </a:rPr>
              <a:t>la elección del preprocesamiento cambia los resultados: fundamenta documentar cada paso de limpieza y normalizar corpus y stopwords por igual.</a:t>
            </a:r>
          </a:p>
          <a:p>
            <a:pPr>
              <a:lnSpc>
                <a:spcPct val="104000"/>
              </a:lnSpc>
              <a:spcAft>
                <a:spcPts val="1000"/>
              </a:spcAft>
            </a:pPr>
            <a:r>
              <a:rPr sz="1400">
                <a:solidFill>
                  <a:srgbClr val="333333"/>
                </a:solidFill>
                <a:latin typeface="Calibri"/>
              </a:rPr>
              <a:t>•  </a:t>
            </a:r>
            <a:r>
              <a:rPr sz="1400" b="1">
                <a:solidFill>
                  <a:srgbClr val="333333"/>
                </a:solidFill>
                <a:latin typeface="Calibri"/>
              </a:rPr>
              <a:t>González-González et al. (2023). </a:t>
            </a:r>
            <a:r>
              <a:rPr sz="1400">
                <a:solidFill>
                  <a:srgbClr val="333333"/>
                </a:solidFill>
                <a:latin typeface="Calibri"/>
              </a:rPr>
              <a:t>clasificación de sentencias judiciales en español con diccionarios de dominio (“expert-in-the-loop”).</a:t>
            </a:r>
          </a:p>
          <a:p>
            <a:pPr>
              <a:lnSpc>
                <a:spcPct val="104000"/>
              </a:lnSpc>
              <a:spcAft>
                <a:spcPts val="1000"/>
              </a:spcAft>
            </a:pPr>
            <a:r>
              <a:rPr sz="1400">
                <a:solidFill>
                  <a:srgbClr val="333333"/>
                </a:solidFill>
                <a:latin typeface="Calibri"/>
              </a:rPr>
              <a:t>•  </a:t>
            </a:r>
            <a:r>
              <a:rPr sz="1400" b="1">
                <a:solidFill>
                  <a:srgbClr val="333333"/>
                </a:solidFill>
                <a:latin typeface="Calibri"/>
              </a:rPr>
              <a:t>Chalkidis et al. (2020). </a:t>
            </a:r>
            <a:r>
              <a:rPr sz="1400">
                <a:solidFill>
                  <a:srgbClr val="333333"/>
                </a:solidFill>
                <a:latin typeface="Calibri"/>
              </a:rPr>
              <a:t>LEGAL-BERT: el vocabulario jurídico difiere del general; motiva evaluar adaptación de dominio en las fases siguientes.</a:t>
            </a:r>
          </a:p>
        </p:txBody>
      </p:sp>
      <p:sp>
        <p:nvSpPr>
          <p:cNvPr id="5" name="Rectangle 4"/>
          <p:cNvSpPr/>
          <p:nvPr/>
        </p:nvSpPr>
        <p:spPr>
          <a:xfrm>
            <a:off x="685800" y="5120640"/>
            <a:ext cx="10789920" cy="105156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5285232"/>
            <a:ext cx="10241280" cy="777240"/>
          </a:xfrm>
          <a:prstGeom prst="rect">
            <a:avLst/>
          </a:prstGeom>
          <a:noFill/>
        </p:spPr>
        <p:txBody>
          <a:bodyPr wrap="square" anchor="t" lIns="0" rIns="0" tIns="0" bIns="0">
            <a:spAutoFit/>
          </a:bodyPr>
          <a:lstStyle/>
          <a:p>
            <a:pPr>
              <a:lnSpc>
                <a:spcPct val="104000"/>
              </a:lnSpc>
              <a:spcAft>
                <a:spcPts val="0"/>
              </a:spcAft>
            </a:pPr>
            <a:r>
              <a:rPr sz="1300" b="1">
                <a:solidFill>
                  <a:srgbClr val="333333"/>
                </a:solidFill>
                <a:latin typeface="Calibri"/>
              </a:rPr>
              <a:t>Nota. </a:t>
            </a:r>
            <a:r>
              <a:rPr sz="1300">
                <a:solidFill>
                  <a:srgbClr val="333333"/>
                </a:solidFill>
                <a:latin typeface="Calibri"/>
              </a:rPr>
              <a:t>no hay trabajos indexados (revistas, actas o arXiv) que usen el dataset exacto de Hugging Face (verificado 2026-09-05); los antecedentes cubren el mismo corpus de la relatoría y el PLN legal en español.</a:t>
            </a:r>
          </a:p>
        </p:txBody>
      </p:sp>
      <p:sp>
        <p:nvSpPr>
          <p:cNvPr id="7" name="TextBox 6"/>
          <p:cNvSpPr txBox="1"/>
          <p:nvPr/>
        </p:nvSpPr>
        <p:spPr>
          <a:xfrm>
            <a:off x="502920" y="6510528"/>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A8A8A"/>
                </a:solidFill>
                <a:latin typeface="Calibri"/>
              </a:rPr>
              <a:t>PLN · Entrega 1 · Pontificia Universidad Javeriana</a:t>
            </a:r>
          </a:p>
        </p:txBody>
      </p:sp>
      <p:sp>
        <p:nvSpPr>
          <p:cNvPr id="8" name="TextBox 7"/>
          <p:cNvSpPr txBox="1"/>
          <p:nvPr/>
        </p:nvSpPr>
        <p:spPr>
          <a:xfrm>
            <a:off x="11185855" y="6510528"/>
            <a:ext cx="502920" cy="274320"/>
          </a:xfrm>
          <a:prstGeom prst="rect">
            <a:avLst/>
          </a:prstGeom>
          <a:noFill/>
        </p:spPr>
        <p:txBody>
          <a:bodyPr wrap="square" anchor="t" lIns="0" rIns="0" tIns="0" bIns="0">
            <a:spAutoFit/>
          </a:bodyPr>
          <a:lstStyle/>
          <a:p>
            <a:pPr algn="r"/>
            <a:r>
              <a:rPr sz="1000">
                <a:solidFill>
                  <a:srgbClr val="8A8A8A"/>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11185855" cy="786384"/>
          </a:xfrm>
          <a:prstGeom prst="rect">
            <a:avLst/>
          </a:prstGeom>
          <a:noFill/>
        </p:spPr>
        <p:txBody>
          <a:bodyPr wrap="square" anchor="ctr">
            <a:spAutoFit/>
          </a:bodyPr>
          <a:lstStyle/>
          <a:p>
            <a:r>
              <a:rPr sz="2800" b="1">
                <a:solidFill>
                  <a:srgbClr val="FFFFFF"/>
                </a:solidFill>
                <a:latin typeface="Calibri"/>
              </a:rPr>
              <a:t>Conclusiones</a:t>
            </a:r>
          </a:p>
        </p:txBody>
      </p:sp>
      <p:sp>
        <p:nvSpPr>
          <p:cNvPr id="4" name="TextBox 3"/>
          <p:cNvSpPr txBox="1"/>
          <p:nvPr/>
        </p:nvSpPr>
        <p:spPr>
          <a:xfrm>
            <a:off x="685800" y="1234440"/>
            <a:ext cx="10789920" cy="5029200"/>
          </a:xfrm>
          <a:prstGeom prst="rect">
            <a:avLst/>
          </a:prstGeom>
          <a:noFill/>
        </p:spPr>
        <p:txBody>
          <a:bodyPr wrap="square" anchor="t" lIns="0" rIns="0" tIns="0" bIns="0">
            <a:spAutoFit/>
          </a:bodyPr>
          <a:lstStyle/>
          <a:p>
            <a:pPr>
              <a:lnSpc>
                <a:spcPct val="104000"/>
              </a:lnSpc>
              <a:spcAft>
                <a:spcPts val="1100"/>
              </a:spcAft>
            </a:pPr>
            <a:r>
              <a:rPr sz="1450">
                <a:solidFill>
                  <a:srgbClr val="333333"/>
                </a:solidFill>
                <a:latin typeface="Calibri"/>
              </a:rPr>
              <a:t>•  </a:t>
            </a:r>
            <a:r>
              <a:rPr sz="1450" b="1">
                <a:solidFill>
                  <a:srgbClr val="333333"/>
                </a:solidFill>
                <a:latin typeface="Calibri"/>
              </a:rPr>
              <a:t>Cumplimiento. </a:t>
            </a:r>
            <a:r>
              <a:rPr sz="1450">
                <a:solidFill>
                  <a:srgbClr val="333333"/>
                </a:solidFill>
                <a:latin typeface="Calibri"/>
              </a:rPr>
              <a:t>idea de proyecto; corpus con evidencia (fuente, licencia, formato, depuración, fragmentos); textometría básica; informe de máximo 8 páginas con anexo (25 sentencias, semilla 42).</a:t>
            </a:r>
          </a:p>
          <a:p>
            <a:pPr>
              <a:lnSpc>
                <a:spcPct val="104000"/>
              </a:lnSpc>
              <a:spcAft>
                <a:spcPts val="1100"/>
              </a:spcAft>
            </a:pPr>
            <a:r>
              <a:rPr sz="1450">
                <a:solidFill>
                  <a:srgbClr val="333333"/>
                </a:solidFill>
                <a:latin typeface="Calibri"/>
              </a:rPr>
              <a:t>•  </a:t>
            </a:r>
            <a:r>
              <a:rPr sz="1450" b="1">
                <a:solidFill>
                  <a:srgbClr val="333333"/>
                </a:solidFill>
                <a:latin typeface="Calibri"/>
              </a:rPr>
              <a:t>Corpus. </a:t>
            </a:r>
            <a:r>
              <a:rPr sz="1450">
                <a:solidFill>
                  <a:srgbClr val="333333"/>
                </a:solidFill>
                <a:latin typeface="Calibri"/>
              </a:rPr>
              <a:t>23.742 sentencias depuradas (T 17.099 · C 6.246 · SU 397): extracción de identificador y año con regex en el 99,97 % y 8 exclusiones documentadas (6 autos y 2 HTML).</a:t>
            </a:r>
          </a:p>
          <a:p>
            <a:pPr>
              <a:lnSpc>
                <a:spcPct val="104000"/>
              </a:lnSpc>
              <a:spcAft>
                <a:spcPts val="1100"/>
              </a:spcAft>
            </a:pPr>
            <a:r>
              <a:rPr sz="1450">
                <a:solidFill>
                  <a:srgbClr val="333333"/>
                </a:solidFill>
                <a:latin typeface="Calibri"/>
              </a:rPr>
              <a:t>•  </a:t>
            </a:r>
            <a:r>
              <a:rPr sz="1450" b="1">
                <a:solidFill>
                  <a:srgbClr val="333333"/>
                </a:solidFill>
                <a:latin typeface="Calibri"/>
              </a:rPr>
              <a:t>Textometría real. </a:t>
            </a:r>
            <a:r>
              <a:rPr sz="1450">
                <a:solidFill>
                  <a:srgbClr val="333333"/>
                </a:solidFill>
                <a:latin typeface="Calibri"/>
              </a:rPr>
              <a:t>260.988.316 palabras crudas (≈10.993 por documento) calculadas sobre el corpus completo; las stopwords pesan ≈48 % de los tokens limpios.</a:t>
            </a:r>
          </a:p>
          <a:p>
            <a:pPr>
              <a:lnSpc>
                <a:spcPct val="104000"/>
              </a:lnSpc>
              <a:spcAft>
                <a:spcPts val="1100"/>
              </a:spcAft>
            </a:pPr>
            <a:r>
              <a:rPr sz="1450">
                <a:solidFill>
                  <a:srgbClr val="333333"/>
                </a:solidFill>
                <a:latin typeface="Calibri"/>
              </a:rPr>
              <a:t>•  </a:t>
            </a:r>
            <a:r>
              <a:rPr sz="1450" b="1">
                <a:solidFill>
                  <a:srgbClr val="333333"/>
                </a:solidFill>
                <a:latin typeface="Calibri"/>
              </a:rPr>
              <a:t>Léxico. </a:t>
            </a:r>
            <a:r>
              <a:rPr sz="1450">
                <a:solidFill>
                  <a:srgbClr val="333333"/>
                </a:solidFill>
                <a:latin typeface="Calibri"/>
              </a:rPr>
              <a:t>tras retirar las palabras funcionales domina el registro jurídico-procesal: articulo, derecho, ley, corte, sentencia, constitucional y tutela.</a:t>
            </a:r>
          </a:p>
          <a:p>
            <a:pPr>
              <a:lnSpc>
                <a:spcPct val="104000"/>
              </a:lnSpc>
              <a:spcAft>
                <a:spcPts val="1100"/>
              </a:spcAft>
            </a:pPr>
            <a:r>
              <a:rPr sz="1450">
                <a:solidFill>
                  <a:srgbClr val="333333"/>
                </a:solidFill>
                <a:latin typeface="Calibri"/>
              </a:rPr>
              <a:t>•  </a:t>
            </a:r>
            <a:r>
              <a:rPr sz="1450" b="1">
                <a:solidFill>
                  <a:srgbClr val="333333"/>
                </a:solidFill>
                <a:latin typeface="Calibri"/>
              </a:rPr>
              <a:t>Distribución temporal. </a:t>
            </a:r>
            <a:r>
              <a:rPr sz="1450">
                <a:solidFill>
                  <a:srgbClr val="333333"/>
                </a:solidFill>
                <a:latin typeface="Calibri"/>
              </a:rPr>
              <a:t>estable entre 1999 y 2014 (≈950–990 por año), descenso 2015–2020 y 2021 parcial (20 documentos).</a:t>
            </a:r>
          </a:p>
          <a:p>
            <a:pPr>
              <a:lnSpc>
                <a:spcPct val="104000"/>
              </a:lnSpc>
              <a:spcAft>
                <a:spcPts val="1100"/>
              </a:spcAft>
            </a:pPr>
            <a:r>
              <a:rPr sz="1450">
                <a:solidFill>
                  <a:srgbClr val="333333"/>
                </a:solidFill>
                <a:latin typeface="Calibri"/>
              </a:rPr>
              <a:t>•  </a:t>
            </a:r>
            <a:r>
              <a:rPr sz="1450" b="1">
                <a:solidFill>
                  <a:srgbClr val="333333"/>
                </a:solidFill>
                <a:latin typeface="Calibri"/>
              </a:rPr>
              <a:t>Resultado. </a:t>
            </a:r>
            <a:r>
              <a:rPr sz="1450">
                <a:solidFill>
                  <a:srgbClr val="333333"/>
                </a:solidFill>
                <a:latin typeface="Calibri"/>
              </a:rPr>
              <a:t>el corpus es extenso y formulaico, como predice la literatura sobre sentencias largas; esta textometría es la línea base medible de la entrega 2.</a:t>
            </a:r>
          </a:p>
        </p:txBody>
      </p:sp>
      <p:sp>
        <p:nvSpPr>
          <p:cNvPr id="5" name="TextBox 4"/>
          <p:cNvSpPr txBox="1"/>
          <p:nvPr/>
        </p:nvSpPr>
        <p:spPr>
          <a:xfrm>
            <a:off x="502920" y="6510528"/>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A8A8A"/>
                </a:solidFill>
                <a:latin typeface="Calibri"/>
              </a:rPr>
              <a:t>PLN · Entrega 1 · Pontificia Universidad Javeriana</a:t>
            </a:r>
          </a:p>
        </p:txBody>
      </p:sp>
      <p:sp>
        <p:nvSpPr>
          <p:cNvPr id="6" name="TextBox 5"/>
          <p:cNvSpPr txBox="1"/>
          <p:nvPr/>
        </p:nvSpPr>
        <p:spPr>
          <a:xfrm>
            <a:off x="11185855" y="6510528"/>
            <a:ext cx="502920" cy="274320"/>
          </a:xfrm>
          <a:prstGeom prst="rect">
            <a:avLst/>
          </a:prstGeom>
          <a:noFill/>
        </p:spPr>
        <p:txBody>
          <a:bodyPr wrap="square" anchor="t" lIns="0" rIns="0" tIns="0" bIns="0">
            <a:spAutoFit/>
          </a:bodyPr>
          <a:lstStyle/>
          <a:p>
            <a:pPr algn="r"/>
            <a:r>
              <a:rPr sz="1000">
                <a:solidFill>
                  <a:srgbClr val="8A8A8A"/>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73152"/>
            <a:ext cx="11185855" cy="786384"/>
          </a:xfrm>
          <a:prstGeom prst="rect">
            <a:avLst/>
          </a:prstGeom>
          <a:noFill/>
        </p:spPr>
        <p:txBody>
          <a:bodyPr wrap="square" anchor="ctr">
            <a:spAutoFit/>
          </a:bodyPr>
          <a:lstStyle/>
          <a:p>
            <a:r>
              <a:rPr sz="2800" b="1">
                <a:solidFill>
                  <a:srgbClr val="FFFFFF"/>
                </a:solidFill>
                <a:latin typeface="Calibri"/>
              </a:rPr>
              <a:t>Trabajo futuro (Entrega 2)</a:t>
            </a:r>
          </a:p>
        </p:txBody>
      </p:sp>
      <p:sp>
        <p:nvSpPr>
          <p:cNvPr id="4" name="TextBox 3"/>
          <p:cNvSpPr txBox="1"/>
          <p:nvPr/>
        </p:nvSpPr>
        <p:spPr>
          <a:xfrm>
            <a:off x="685800" y="1371600"/>
            <a:ext cx="10789920" cy="4206240"/>
          </a:xfrm>
          <a:prstGeom prst="rect">
            <a:avLst/>
          </a:prstGeom>
          <a:noFill/>
        </p:spPr>
        <p:txBody>
          <a:bodyPr wrap="square" anchor="t" lIns="0" rIns="0" tIns="0" bIns="0">
            <a:spAutoFit/>
          </a:bodyPr>
          <a:lstStyle/>
          <a:p>
            <a:pPr>
              <a:lnSpc>
                <a:spcPct val="104000"/>
              </a:lnSpc>
              <a:spcAft>
                <a:spcPts val="1600"/>
              </a:spcAft>
            </a:pPr>
            <a:r>
              <a:rPr sz="1600">
                <a:solidFill>
                  <a:srgbClr val="333333"/>
                </a:solidFill>
                <a:latin typeface="Calibri"/>
              </a:rPr>
              <a:t>•  </a:t>
            </a:r>
            <a:r>
              <a:rPr sz="1600" b="1">
                <a:solidFill>
                  <a:srgbClr val="333333"/>
                </a:solidFill>
                <a:latin typeface="Calibri"/>
              </a:rPr>
              <a:t>Lematización y POS. </a:t>
            </a:r>
            <a:r>
              <a:rPr sz="1600">
                <a:solidFill>
                  <a:srgbClr val="333333"/>
                </a:solidFill>
                <a:latin typeface="Calibri"/>
              </a:rPr>
              <a:t>lematización y etiquetado de categorías gramaticales con spaCy para agrupar flexiones.</a:t>
            </a:r>
          </a:p>
          <a:p>
            <a:pPr>
              <a:lnSpc>
                <a:spcPct val="104000"/>
              </a:lnSpc>
              <a:spcAft>
                <a:spcPts val="1600"/>
              </a:spcAft>
            </a:pPr>
            <a:r>
              <a:rPr sz="1600">
                <a:solidFill>
                  <a:srgbClr val="333333"/>
                </a:solidFill>
                <a:latin typeface="Calibri"/>
              </a:rPr>
              <a:t>•  </a:t>
            </a:r>
            <a:r>
              <a:rPr sz="1600" b="1">
                <a:solidFill>
                  <a:srgbClr val="333333"/>
                </a:solidFill>
                <a:latin typeface="Calibri"/>
              </a:rPr>
              <a:t>Representaciones. </a:t>
            </a:r>
            <a:r>
              <a:rPr sz="1600">
                <a:solidFill>
                  <a:srgbClr val="333333"/>
                </a:solidFill>
                <a:latin typeface="Calibri"/>
              </a:rPr>
              <a:t>TF-IDF y vectores densos (embeddings) con análisis de diversidad léxica por año y tipo de providencia.</a:t>
            </a:r>
          </a:p>
          <a:p>
            <a:pPr>
              <a:lnSpc>
                <a:spcPct val="104000"/>
              </a:lnSpc>
              <a:spcAft>
                <a:spcPts val="1600"/>
              </a:spcAft>
            </a:pPr>
            <a:r>
              <a:rPr sz="1600">
                <a:solidFill>
                  <a:srgbClr val="333333"/>
                </a:solidFill>
                <a:latin typeface="Calibri"/>
              </a:rPr>
              <a:t>•  </a:t>
            </a:r>
            <a:r>
              <a:rPr sz="1600" b="1">
                <a:solidFill>
                  <a:srgbClr val="333333"/>
                </a:solidFill>
                <a:latin typeface="Calibri"/>
              </a:rPr>
              <a:t>Clasificación. </a:t>
            </a:r>
            <a:r>
              <a:rPr sz="1600">
                <a:solidFill>
                  <a:srgbClr val="333333"/>
                </a:solidFill>
                <a:latin typeface="Calibri"/>
              </a:rPr>
              <a:t>experimentos de clasificación automática por tipo (T/C/SU) y por temática; contraste de modelos clásicos con modelos de dominio legal (p. ej., LEGAL-BERT).</a:t>
            </a:r>
          </a:p>
          <a:p>
            <a:pPr>
              <a:lnSpc>
                <a:spcPct val="104000"/>
              </a:lnSpc>
              <a:spcAft>
                <a:spcPts val="1600"/>
              </a:spcAft>
            </a:pPr>
            <a:r>
              <a:rPr sz="1600">
                <a:solidFill>
                  <a:srgbClr val="333333"/>
                </a:solidFill>
                <a:latin typeface="Calibri"/>
              </a:rPr>
              <a:t>•  </a:t>
            </a:r>
            <a:r>
              <a:rPr sz="1600" b="1">
                <a:solidFill>
                  <a:srgbClr val="333333"/>
                </a:solidFill>
                <a:latin typeface="Calibri"/>
              </a:rPr>
              <a:t>Resúmenes. </a:t>
            </a:r>
            <a:r>
              <a:rPr sz="1600">
                <a:solidFill>
                  <a:srgbClr val="333333"/>
                </a:solidFill>
                <a:latin typeface="Calibri"/>
              </a:rPr>
              <a:t>evaluación de estrategias de resumen automático (extractivo o abstractivo) para apoyar la consulta de sentencias extensas.</a:t>
            </a:r>
          </a:p>
        </p:txBody>
      </p:sp>
      <p:sp>
        <p:nvSpPr>
          <p:cNvPr id="5" name="TextBox 4"/>
          <p:cNvSpPr txBox="1"/>
          <p:nvPr/>
        </p:nvSpPr>
        <p:spPr>
          <a:xfrm>
            <a:off x="685800" y="5623560"/>
            <a:ext cx="10789920" cy="548640"/>
          </a:xfrm>
          <a:prstGeom prst="rect">
            <a:avLst/>
          </a:prstGeom>
          <a:noFill/>
        </p:spPr>
        <p:txBody>
          <a:bodyPr wrap="square" anchor="t" lIns="0" rIns="0" tIns="0" bIns="0">
            <a:spAutoFit/>
          </a:bodyPr>
          <a:lstStyle/>
          <a:p>
            <a:pPr algn="l">
              <a:lnSpc>
                <a:spcPct val="100000"/>
              </a:lnSpc>
              <a:spcBef>
                <a:spcPts val="0"/>
              </a:spcBef>
              <a:spcAft>
                <a:spcPts val="0"/>
              </a:spcAft>
            </a:pPr>
            <a:r>
              <a:rPr sz="1350" b="0" i="1">
                <a:solidFill>
                  <a:srgbClr val="595959"/>
                </a:solidFill>
                <a:latin typeface="Calibri"/>
              </a:rPr>
              <a:t>La textometría de esta entrega, con cifras sobre el corpus completo y decisiones metodológicas documentadas, es la línea base de esas etapas.</a:t>
            </a:r>
          </a:p>
        </p:txBody>
      </p:sp>
      <p:sp>
        <p:nvSpPr>
          <p:cNvPr id="6" name="TextBox 5"/>
          <p:cNvSpPr txBox="1"/>
          <p:nvPr/>
        </p:nvSpPr>
        <p:spPr>
          <a:xfrm>
            <a:off x="502920" y="6510528"/>
            <a:ext cx="548640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A8A8A"/>
                </a:solidFill>
                <a:latin typeface="Calibri"/>
              </a:rPr>
              <a:t>PLN · Entrega 1 · Pontificia Universidad Javeriana</a:t>
            </a:r>
          </a:p>
        </p:txBody>
      </p:sp>
      <p:sp>
        <p:nvSpPr>
          <p:cNvPr id="7" name="TextBox 6"/>
          <p:cNvSpPr txBox="1"/>
          <p:nvPr/>
        </p:nvSpPr>
        <p:spPr>
          <a:xfrm>
            <a:off x="11185855" y="6510528"/>
            <a:ext cx="502920" cy="274320"/>
          </a:xfrm>
          <a:prstGeom prst="rect">
            <a:avLst/>
          </a:prstGeom>
          <a:noFill/>
        </p:spPr>
        <p:txBody>
          <a:bodyPr wrap="square" anchor="t" lIns="0" rIns="0" tIns="0" bIns="0">
            <a:spAutoFit/>
          </a:bodyPr>
          <a:lstStyle/>
          <a:p>
            <a:pPr algn="r"/>
            <a:r>
              <a:rPr sz="1000">
                <a:solidFill>
                  <a:srgbClr val="8A8A8A"/>
                </a:solidFill>
                <a:latin typeface="Calibri"/>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Entrega 1 - Corpus, idea de proyecto y textometria</dc:title>
  <dc:subject>Procesamiento de Lenguaje Natural - PUJ</dc:subject>
  <dc:creator>Rivera, Carrillo, Garnica y Prieto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