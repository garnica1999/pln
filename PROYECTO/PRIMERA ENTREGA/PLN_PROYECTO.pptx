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354" r:id="rId3"/>
    <p:sldId id="310" r:id="rId4"/>
    <p:sldId id="340" r:id="rId5"/>
    <p:sldId id="341" r:id="rId6"/>
    <p:sldId id="355" r:id="rId25"/>
    <p:sldId id="342" r:id="rId7"/>
    <p:sldId id="343" r:id="rId8"/>
    <p:sldId id="345" r:id="rId9"/>
    <p:sldId id="356" r:id="rId26"/>
    <p:sldId id="346" r:id="rId10"/>
    <p:sldId id="347" r:id="rId11"/>
    <p:sldId id="348" r:id="rId12"/>
    <p:sldId id="349" r:id="rId13"/>
    <p:sldId id="350" r:id="rId14"/>
    <p:sldId id="351" r:id="rId15"/>
    <p:sldId id="357" r:id="rId27"/>
    <p:sldId id="358" r:id="rId28"/>
    <p:sldId id="359" r:id="rId29"/>
    <p:sldId id="353" r:id="rId16"/>
    <p:sldId id="352" r:id="rId17"/>
    <p:sldId id="284"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57">
          <p15:clr>
            <a:srgbClr val="A4A3A4"/>
          </p15:clr>
        </p15:guide>
        <p15:guide id="2" pos="3840">
          <p15:clr>
            <a:srgbClr val="A4A3A4"/>
          </p15:clr>
        </p15:guide>
        <p15:guide id="3" orient="horz">
          <p15:clr>
            <a:srgbClr val="747775"/>
          </p15:clr>
        </p15:guide>
        <p15:guide id="4" pos="5443">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98kHgZzV27N0h6VEbnu3a7/bW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378" autoAdjust="0"/>
  </p:normalViewPr>
  <p:slideViewPr>
    <p:cSldViewPr snapToGrid="0">
      <p:cViewPr varScale="1">
        <p:scale>
          <a:sx n="98" d="100"/>
          <a:sy n="98" d="100"/>
        </p:scale>
        <p:origin x="1038" y="78"/>
      </p:cViewPr>
      <p:guideLst>
        <p:guide orient="horz" pos="2257"/>
        <p:guide pos="3840"/>
        <p:guide orient="horz"/>
        <p:guide pos="5443"/>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04C267B1-5F29-0C20-FA83-A4FA2928FFDA}"/>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307EE224-0ECE-7416-F50A-86901687A0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5A66EB04-37B1-D68F-51FA-8D9CCD53116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B9299495-D00A-40E3-B18C-1F6F356154A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3</a:t>
            </a:fld>
            <a:endParaRPr/>
          </a:p>
        </p:txBody>
      </p:sp>
    </p:spTree>
    <p:extLst>
      <p:ext uri="{BB962C8B-B14F-4D97-AF65-F5344CB8AC3E}">
        <p14:creationId xmlns:p14="http://schemas.microsoft.com/office/powerpoint/2010/main" val="26277304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6A8DD0D5-0A6C-CA12-262B-5F903951E29C}"/>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638A3FEE-CE78-01E6-8627-42F288C5793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8596C4D0-4191-40B5-6245-CF1C1792A7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2622467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FBBDA2E-FC28-3A1A-94D0-707C38E9B57C}"/>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A9E70754-6792-1312-78DA-2247F379E05C}"/>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8BB2F20C-5B98-0812-65C5-88BD42C1A5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747325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4FD18DCE-5005-BA97-F64E-02E719F90B39}"/>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98BE8465-C3FD-FC03-6314-2A3980F1D7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ED322770-75D2-77AA-6C53-04211FAFD7E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123BE0B0-0A95-F1E7-12C3-F3226676EEB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6</a:t>
            </a:fld>
            <a:endParaRPr/>
          </a:p>
        </p:txBody>
      </p:sp>
    </p:spTree>
    <p:extLst>
      <p:ext uri="{BB962C8B-B14F-4D97-AF65-F5344CB8AC3E}">
        <p14:creationId xmlns:p14="http://schemas.microsoft.com/office/powerpoint/2010/main" val="64632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1CE6857-C7EA-2170-66BE-72069B4D614C}"/>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E8F0814B-D50F-4D31-7253-69BD018203B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14769398-3288-681B-F24C-89FC4F9430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11000267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C524E04-B07C-2C84-B871-8F9574C34881}"/>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C07E6053-E17F-1C8D-616E-3D28A66185D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F9DA81FF-3D8A-4F8F-CB2A-B8F5097DB0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10084130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D30993F0-BE28-E811-2CBE-4ACD11751466}"/>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5DCD030C-A2E8-CAF4-EE2F-A144514287A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5134C542-1436-5093-424A-B9303F02B83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458CA141-EF2B-40F7-E3EB-3EB84C433E6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9</a:t>
            </a:fld>
            <a:endParaRPr/>
          </a:p>
        </p:txBody>
      </p:sp>
    </p:spTree>
    <p:extLst>
      <p:ext uri="{BB962C8B-B14F-4D97-AF65-F5344CB8AC3E}">
        <p14:creationId xmlns:p14="http://schemas.microsoft.com/office/powerpoint/2010/main" val="37212806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DFFB604-B89E-FF47-A4A9-DC50DE1CF8B6}"/>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89435889-151B-532C-7B01-7C94C7527D37}"/>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55BBE94E-4DE8-A1BA-515C-7121E49AE2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1841021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C8EB09C5-1039-719C-6349-6015FBDC02DB}"/>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3FEC2A7C-8E90-75F5-9587-C496EC2D55B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63963C81-1A99-BD3F-C533-DA015B09F91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2159046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B276144-9CC8-2E28-28B2-43B100D30B67}"/>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8713843E-6FD9-56E9-18C4-C65BA48870F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9EDC0D3E-4709-9EA4-B34E-222E79D030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1092857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50B1BAA-BB37-23EA-E1DF-B14B95885677}"/>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A7842C0E-6A4F-1829-AF14-F426E9AEA2C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897A81AD-30DB-7C1C-E7E1-17112689CF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5199362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F44E48C-A5C5-253D-6866-6B020C354722}"/>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C70E20CF-31D5-F41E-EC29-D567E8581BA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D87ABB6D-E395-E8C1-9540-AE096878E2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3261564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a:extLst>
            <a:ext uri="{FF2B5EF4-FFF2-40B4-BE49-F238E27FC236}">
              <a16:creationId xmlns:a16="http://schemas.microsoft.com/office/drawing/2014/main" id="{E9DC6CE4-D232-F313-E8AE-AAD253CF8EE1}"/>
            </a:ext>
          </a:extLst>
        </p:cNvPr>
        <p:cNvGrpSpPr/>
        <p:nvPr/>
      </p:nvGrpSpPr>
      <p:grpSpPr>
        <a:xfrm>
          <a:off x="0" y="0"/>
          <a:ext cx="0" cy="0"/>
          <a:chOff x="0" y="0"/>
          <a:chExt cx="0" cy="0"/>
        </a:xfrm>
      </p:grpSpPr>
      <p:sp>
        <p:nvSpPr>
          <p:cNvPr id="85" name="Google Shape;85;p1:notes">
            <a:extLst>
              <a:ext uri="{FF2B5EF4-FFF2-40B4-BE49-F238E27FC236}">
                <a16:creationId xmlns:a16="http://schemas.microsoft.com/office/drawing/2014/main" id="{4CAD1930-CD85-F60D-4300-023F19E94B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86" name="Google Shape;86;p1:notes">
            <a:extLst>
              <a:ext uri="{FF2B5EF4-FFF2-40B4-BE49-F238E27FC236}">
                <a16:creationId xmlns:a16="http://schemas.microsoft.com/office/drawing/2014/main" id="{575C16BC-D493-4C04-F5A9-E2F8AEF92FC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1:notes">
            <a:extLst>
              <a:ext uri="{FF2B5EF4-FFF2-40B4-BE49-F238E27FC236}">
                <a16:creationId xmlns:a16="http://schemas.microsoft.com/office/drawing/2014/main" id="{CD03E723-634E-E879-F501-6E651DD1D7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15</a:t>
            </a:fld>
            <a:endParaRPr/>
          </a:p>
        </p:txBody>
      </p:sp>
    </p:spTree>
    <p:extLst>
      <p:ext uri="{BB962C8B-B14F-4D97-AF65-F5344CB8AC3E}">
        <p14:creationId xmlns:p14="http://schemas.microsoft.com/office/powerpoint/2010/main" val="197914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B586E94-FC6B-F4CE-54B9-1C2E9A54A49E}"/>
            </a:ext>
          </a:extLst>
        </p:cNvPr>
        <p:cNvGrpSpPr/>
        <p:nvPr/>
      </p:nvGrpSpPr>
      <p:grpSpPr>
        <a:xfrm>
          <a:off x="0" y="0"/>
          <a:ext cx="0" cy="0"/>
          <a:chOff x="0" y="0"/>
          <a:chExt cx="0" cy="0"/>
        </a:xfrm>
      </p:grpSpPr>
      <p:sp>
        <p:nvSpPr>
          <p:cNvPr id="101" name="Google Shape;101;g393f66bba02_1_6:notes">
            <a:extLst>
              <a:ext uri="{FF2B5EF4-FFF2-40B4-BE49-F238E27FC236}">
                <a16:creationId xmlns:a16="http://schemas.microsoft.com/office/drawing/2014/main" id="{FFEF56AB-39F9-9A78-9AF8-9E458968D5D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02" name="Google Shape;102;g393f66bba02_1_6:notes">
            <a:extLst>
              <a:ext uri="{FF2B5EF4-FFF2-40B4-BE49-F238E27FC236}">
                <a16:creationId xmlns:a16="http://schemas.microsoft.com/office/drawing/2014/main" id="{15A5E3F0-7DE0-971F-D8ED-60F16EC3D9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s-CO"/>
          </a:p>
        </p:txBody>
      </p:sp>
    </p:spTree>
    <p:extLst>
      <p:ext uri="{BB962C8B-B14F-4D97-AF65-F5344CB8AC3E}">
        <p14:creationId xmlns:p14="http://schemas.microsoft.com/office/powerpoint/2010/main" val="73841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9411826e08_2_1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s-CO"/>
          </a:p>
        </p:txBody>
      </p:sp>
      <p:sp>
        <p:nvSpPr>
          <p:cNvPr id="590" name="Google Shape;590;g39411826e08_2_1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1" name="Google Shape;591;g39411826e08_2_1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s-ES"/>
              <a:t>17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2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2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2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2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2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3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3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3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3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32"/>
          <p:cNvSpPr>
            <a:spLocks noGrp="1"/>
          </p:cNvSpPr>
          <p:nvPr>
            <p:ph type="pic" idx="2"/>
          </p:nvPr>
        </p:nvSpPr>
        <p:spPr>
          <a:xfrm>
            <a:off x="5183188" y="987425"/>
            <a:ext cx="6172200" cy="4873625"/>
          </a:xfrm>
          <a:prstGeom prst="rect">
            <a:avLst/>
          </a:prstGeom>
          <a:noFill/>
          <a:ln>
            <a:noFill/>
          </a:ln>
        </p:spPr>
        <p:txBody>
          <a:bodyPr/>
          <a:lstStyle/>
          <a:p>
            <a:endParaRPr lang="es-CO"/>
          </a:p>
        </p:txBody>
      </p:sp>
      <p:sp>
        <p:nvSpPr>
          <p:cNvPr id="68" name="Google Shape;68;p3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3"/>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34"/>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34"/>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huggingface.co/datasets/Manuel/sentencias-corte-cons-colombia-1992-2021"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pic>
        <p:nvPicPr>
          <p:cNvPr id="89" name="Google Shape;89;p1"/>
          <p:cNvPicPr preferRelativeResize="0"/>
          <p:nvPr/>
        </p:nvPicPr>
        <p:blipFill rotWithShape="1">
          <a:blip r:embed="rId3">
            <a:alphaModFix/>
          </a:blip>
          <a:srcRect/>
          <a:stretch/>
        </p:blipFill>
        <p:spPr>
          <a:xfrm>
            <a:off x="0" y="-14295"/>
            <a:ext cx="12192000" cy="6105540"/>
          </a:xfrm>
          <a:prstGeom prst="rect">
            <a:avLst/>
          </a:prstGeom>
          <a:noFill/>
          <a:ln>
            <a:noFill/>
          </a:ln>
        </p:spPr>
      </p:pic>
      <p:sp>
        <p:nvSpPr>
          <p:cNvPr id="90" name="Google Shape;90;p1"/>
          <p:cNvSpPr txBox="1">
            <a:spLocks noGrp="1"/>
          </p:cNvSpPr>
          <p:nvPr>
            <p:ph type="subTitle" idx="1"/>
          </p:nvPr>
        </p:nvSpPr>
        <p:spPr>
          <a:xfrm>
            <a:off x="3120836" y="2351525"/>
            <a:ext cx="8843623" cy="2605897"/>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dirty="0">
                <a:solidFill>
                  <a:schemeClr val="accent4">
                    <a:lumMod val="60000"/>
                    <a:lumOff val="40000"/>
                  </a:schemeClr>
                </a:solidFill>
                <a:latin typeface="Arial"/>
                <a:cs typeface="Arial"/>
              </a:rPr>
              <a:t>Análisis de sentencias de la Corte Constitucional de Colombia (1992-2021)</a:t>
            </a:r>
          </a:p>
        </p:txBody>
      </p:sp>
      <p:sp>
        <p:nvSpPr>
          <p:cNvPr id="91" name="Google Shape;91;p1"/>
          <p:cNvSpPr txBox="1"/>
          <p:nvPr/>
        </p:nvSpPr>
        <p:spPr>
          <a:xfrm>
            <a:off x="5398379" y="5284794"/>
            <a:ext cx="4029086" cy="1180014"/>
          </a:xfrm>
          <a:prstGeom prst="rect">
            <a:avLst/>
          </a:prstGeom>
          <a:solidFill>
            <a:schemeClr val="lt1"/>
          </a:solidFill>
          <a:ln>
            <a:noFill/>
          </a:ln>
        </p:spPr>
        <p:txBody>
          <a:bodyPr spcFirstLastPara="1" wrap="square" lIns="91425" tIns="45700" rIns="91425" bIns="45700" anchor="t" anchorCtr="0">
            <a:noAutofit/>
          </a:bodyPr>
          <a:lstStyle/>
          <a:p>
            <a:pPr marL="342900" indent="-342900">
              <a:lnSpc>
                <a:spcPct val="90000"/>
              </a:lnSpc>
              <a:buFont typeface="Arial" panose="020B0604020202020204" pitchFamily="34" charset="0"/>
              <a:buChar char="•"/>
            </a:pPr>
            <a:r>
              <a:rPr lang="es-CO" sz="1800" dirty="0">
                <a:solidFill>
                  <a:srgbClr val="002060"/>
                </a:solidFill>
                <a:latin typeface="Arial" panose="020B0604020202020204" pitchFamily="34" charset="0"/>
                <a:ea typeface="Calibri"/>
                <a:cs typeface="Arial" panose="020B0604020202020204" pitchFamily="34" charset="0"/>
              </a:rPr>
              <a:t>Erika Valeria Rivera Jiménez</a:t>
            </a:r>
          </a:p>
          <a:p>
            <a:pPr marL="342900" indent="-342900">
              <a:lnSpc>
                <a:spcPct val="90000"/>
              </a:lnSpc>
              <a:buFont typeface="Arial" panose="020B0604020202020204" pitchFamily="34" charset="0"/>
              <a:buChar char="•"/>
            </a:pPr>
            <a:r>
              <a:rPr lang="es-CO" sz="1800" dirty="0">
                <a:solidFill>
                  <a:srgbClr val="002060"/>
                </a:solidFill>
                <a:latin typeface="Arial" panose="020B0604020202020204" pitchFamily="34" charset="0"/>
                <a:ea typeface="Calibri"/>
                <a:cs typeface="Arial" panose="020B0604020202020204" pitchFamily="34" charset="0"/>
              </a:rPr>
              <a:t>Julian Guillermo Carrillo Meneses</a:t>
            </a:r>
          </a:p>
          <a:p>
            <a:pPr marL="342900" indent="-342900">
              <a:lnSpc>
                <a:spcPct val="90000"/>
              </a:lnSpc>
              <a:buFont typeface="Arial" panose="020B0604020202020204" pitchFamily="34" charset="0"/>
              <a:buChar char="•"/>
            </a:pPr>
            <a:r>
              <a:rPr lang="es-CO" sz="1800" dirty="0">
                <a:solidFill>
                  <a:srgbClr val="002060"/>
                </a:solidFill>
                <a:latin typeface="Arial" panose="020B0604020202020204" pitchFamily="34" charset="0"/>
                <a:ea typeface="Calibri"/>
                <a:cs typeface="Arial" panose="020B0604020202020204" pitchFamily="34" charset="0"/>
              </a:rPr>
              <a:t>Carlos Andrés Garnica Salazar</a:t>
            </a:r>
          </a:p>
          <a:p>
            <a:pPr marL="342900" indent="-342900">
              <a:lnSpc>
                <a:spcPct val="90000"/>
              </a:lnSpc>
              <a:buFont typeface="Arial" panose="020B0604020202020204" pitchFamily="34" charset="0"/>
              <a:buChar char="•"/>
            </a:pPr>
            <a:r>
              <a:rPr lang="es-CO" sz="1800" dirty="0">
                <a:solidFill>
                  <a:srgbClr val="002060"/>
                </a:solidFill>
                <a:latin typeface="Arial" panose="020B0604020202020204" pitchFamily="34" charset="0"/>
                <a:ea typeface="Calibri"/>
                <a:cs typeface="Arial" panose="020B0604020202020204" pitchFamily="34" charset="0"/>
              </a:rPr>
              <a:t>Oscar Andrés Prieto Moreno</a:t>
            </a:r>
            <a:endParaRPr lang="en-US" sz="1800" dirty="0">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pic>
        <p:nvPicPr>
          <p:cNvPr id="96" name="Google Shape;96;p2"/>
          <p:cNvPicPr preferRelativeResize="0"/>
          <p:nvPr/>
        </p:nvPicPr>
        <p:blipFill rotWithShape="1">
          <a:blip r:embed="rId3">
            <a:alphaModFix/>
          </a:blip>
          <a:srcRect/>
          <a:stretch/>
        </p:blipFill>
        <p:spPr>
          <a:xfrm>
            <a:off x="0" y="0"/>
            <a:ext cx="12192005" cy="1623060"/>
          </a:xfrm>
          <a:prstGeom prst="rect">
            <a:avLst/>
          </a:prstGeom>
          <a:noFill/>
          <a:ln>
            <a:noFill/>
          </a:ln>
        </p:spPr>
      </p:pic>
      <p:sp>
        <p:nvSpPr>
          <p:cNvPr id="4" name="Google Shape;105;g393f66bba02_1_6">
            <a:extLst>
              <a:ext uri="{FF2B5EF4-FFF2-40B4-BE49-F238E27FC236}">
                <a16:creationId xmlns:a16="http://schemas.microsoft.com/office/drawing/2014/main" id="{CA6811AD-66B4-DD7B-83D4-EAFFD0C5313D}"/>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i="0" u="none" strike="noStrike" cap="none" dirty="0">
                <a:solidFill>
                  <a:schemeClr val="bg1"/>
                </a:solidFill>
                <a:latin typeface="Arial" panose="020B0604020202020204" pitchFamily="34" charset="0"/>
                <a:ea typeface="Calibri"/>
                <a:cs typeface="Arial" panose="020B0604020202020204" pitchFamily="34" charset="0"/>
                <a:sym typeface="Calibri"/>
              </a:rPr>
              <a:t>Contenido</a:t>
            </a:r>
            <a:endParaRPr lang="es-CO" sz="3200" b="1" i="0" u="none" strike="noStrike" cap="none" noProof="0" dirty="0">
              <a:solidFill>
                <a:schemeClr val="bg1"/>
              </a:solidFill>
              <a:latin typeface="Arial" panose="020B0604020202020204" pitchFamily="34" charset="0"/>
              <a:ea typeface="Calibri"/>
              <a:cs typeface="Arial" panose="020B0604020202020204" pitchFamily="34" charset="0"/>
            </a:endParaRPr>
          </a:p>
        </p:txBody>
      </p:sp>
      <p:sp>
        <p:nvSpPr>
          <p:cNvPr id="5" name="CuadroTexto 4">
            <a:extLst>
              <a:ext uri="{FF2B5EF4-FFF2-40B4-BE49-F238E27FC236}">
                <a16:creationId xmlns:a16="http://schemas.microsoft.com/office/drawing/2014/main" id="{151C1CA4-4288-4030-BE3A-08038B92CE05}"/>
              </a:ext>
            </a:extLst>
          </p:cNvPr>
          <p:cNvSpPr txBox="1"/>
          <p:nvPr/>
        </p:nvSpPr>
        <p:spPr>
          <a:xfrm>
            <a:off x="914400" y="1917700"/>
            <a:ext cx="5080000" cy="228600"/>
          </a:xfrm>
          <a:prstGeom prst="rect">
            <a:avLst/>
          </a:prstGeom>
          <a:noFill/>
        </p:spPr>
        <p:txBody>
          <a:bodyPr vertOverflow="overflow" vert="horz" wrap="square" rtlCol="0" anchor="t">
            <a:spAutoFit/>
          </a:bodyPr>
          <a:lstStyle/>
          <a:p>
            <a:pPr algn="l"/>
            <a:r>
              <a:rPr lang="es-CO" sz="1000" b="1">
                <a:solidFill>
                  <a:srgbClr val="2F75B5"/>
                </a:solidFill>
              </a:rPr>
              <a:t>RUTA DE LA PRESENTACIÓN</a:t>
            </a:r>
          </a:p>
        </p:txBody>
      </p:sp>
      <p:sp>
        <p:nvSpPr>
          <p:cNvPr id="6" name="Rectángulo: esquinas redondeadas 5">
            <a:extLst>
              <a:ext uri="{FF2B5EF4-FFF2-40B4-BE49-F238E27FC236}">
                <a16:creationId xmlns:a16="http://schemas.microsoft.com/office/drawing/2014/main" id="{19088DC0-F5E5-4A0B-B885-8D5DF22C6ECE}"/>
              </a:ext>
            </a:extLst>
          </p:cNvPr>
          <p:cNvSpPr/>
          <p:nvPr/>
        </p:nvSpPr>
        <p:spPr>
          <a:xfrm>
            <a:off x="914400" y="2260600"/>
            <a:ext cx="10363200" cy="812800"/>
          </a:xfrm>
          <a:prstGeom prst="roundRect">
            <a:avLst/>
          </a:prstGeom>
          <a:solidFill>
            <a:srgbClr val="EAF2F8"/>
          </a:solidFill>
          <a:ln w="1524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7" name="Rectángulo: esquinas redondeadas 6">
            <a:extLst>
              <a:ext uri="{FF2B5EF4-FFF2-40B4-BE49-F238E27FC236}">
                <a16:creationId xmlns:a16="http://schemas.microsoft.com/office/drawing/2014/main" id="{7B5FA8A6-1A2E-41FC-9561-8A3DACE44FF8}"/>
              </a:ext>
            </a:extLst>
          </p:cNvPr>
          <p:cNvSpPr/>
          <p:nvPr/>
        </p:nvSpPr>
        <p:spPr>
          <a:xfrm>
            <a:off x="1066800" y="2387600"/>
            <a:ext cx="609600" cy="558800"/>
          </a:xfrm>
          <a:prstGeom prst="roundRect">
            <a:avLst/>
          </a:prstGeom>
          <a:solidFill>
            <a:srgbClr val="2F75B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s-CO" sz="1700" b="1">
                <a:solidFill>
                  <a:srgbClr val="FFFFFF"/>
                </a:solidFill>
                <a:latin typeface="Arial"/>
                <a:cs typeface="Arial"/>
              </a:rPr>
              <a:t>01</a:t>
            </a:r>
          </a:p>
        </p:txBody>
      </p:sp>
      <p:sp>
        <p:nvSpPr>
          <p:cNvPr id="8" name="CuadroTexto 7">
            <a:extLst>
              <a:ext uri="{FF2B5EF4-FFF2-40B4-BE49-F238E27FC236}">
                <a16:creationId xmlns:a16="http://schemas.microsoft.com/office/drawing/2014/main" id="{D3B49051-CB16-4F2F-966B-E99A32D0B859}"/>
              </a:ext>
            </a:extLst>
          </p:cNvPr>
          <p:cNvSpPr txBox="1"/>
          <p:nvPr/>
        </p:nvSpPr>
        <p:spPr>
          <a:xfrm>
            <a:off x="1905000" y="2362200"/>
            <a:ext cx="7493000" cy="609600"/>
          </a:xfrm>
          <a:prstGeom prst="rect">
            <a:avLst/>
          </a:prstGeom>
          <a:noFill/>
        </p:spPr>
        <p:txBody>
          <a:bodyPr vertOverflow="overflow" vert="horz" wrap="square" rtlCol="0" anchor="ctr" anchorCtr="0">
            <a:spAutoFit/>
          </a:bodyPr>
          <a:lstStyle/>
          <a:p>
            <a:pPr algn="l"/>
            <a:r>
              <a:rPr lang="es-ES" sz="1800" b="1">
                <a:solidFill>
                  <a:srgbClr val="073654"/>
                </a:solidFill>
              </a:rPr>
              <a:t>Contextualización</a:t>
            </a:r>
            <a:r>
              <a:rPr lang="es-ES" sz="1200">
                <a:solidFill>
                  <a:srgbClr val="425466"/>
                </a:solidFill>
              </a:rPr>
              <a:t>
Reto, justificación, objetivo y preguntas</a:t>
            </a:r>
            <a:endParaRPr lang="es-CO" sz="1200">
              <a:solidFill>
                <a:srgbClr val="425466"/>
              </a:solidFill>
            </a:endParaRPr>
          </a:p>
        </p:txBody>
      </p:sp>
      <p:sp>
        <p:nvSpPr>
          <p:cNvPr id="9" name="CuadroTexto 8">
            <a:extLst>
              <a:ext uri="{FF2B5EF4-FFF2-40B4-BE49-F238E27FC236}">
                <a16:creationId xmlns:a16="http://schemas.microsoft.com/office/drawing/2014/main" id="{63CF866F-DC8B-4097-9617-4D9E4CD82EDC}"/>
              </a:ext>
            </a:extLst>
          </p:cNvPr>
          <p:cNvSpPr txBox="1"/>
          <p:nvPr/>
        </p:nvSpPr>
        <p:spPr>
          <a:xfrm>
            <a:off x="9906000" y="2413000"/>
            <a:ext cx="1041400" cy="508000"/>
          </a:xfrm>
          <a:prstGeom prst="rect">
            <a:avLst/>
          </a:prstGeom>
          <a:noFill/>
        </p:spPr>
        <p:txBody>
          <a:bodyPr vertOverflow="overflow" vert="horz" wrap="square" rtlCol="0" anchor="ctr" anchorCtr="0">
            <a:spAutoFit/>
          </a:bodyPr>
          <a:lstStyle/>
          <a:p>
            <a:pPr algn="l"/>
            <a:r>
              <a:rPr lang="es-CO" sz="1500" b="1">
                <a:solidFill>
                  <a:srgbClr val="2F75B5"/>
                </a:solidFill>
              </a:rPr>
              <a:t>03–06</a:t>
            </a:r>
          </a:p>
        </p:txBody>
      </p:sp>
      <p:sp>
        <p:nvSpPr>
          <p:cNvPr id="10" name="Rectángulo: esquinas redondeadas 9">
            <a:extLst>
              <a:ext uri="{FF2B5EF4-FFF2-40B4-BE49-F238E27FC236}">
                <a16:creationId xmlns:a16="http://schemas.microsoft.com/office/drawing/2014/main" id="{AF779889-907F-4DB7-9C38-25F5E77DCEA4}"/>
              </a:ext>
            </a:extLst>
          </p:cNvPr>
          <p:cNvSpPr/>
          <p:nvPr/>
        </p:nvSpPr>
        <p:spPr>
          <a:xfrm>
            <a:off x="914400" y="3174390"/>
            <a:ext cx="10363200" cy="812800"/>
          </a:xfrm>
          <a:prstGeom prst="roundRect">
            <a:avLst/>
          </a:prstGeom>
          <a:solidFill>
            <a:srgbClr val="FFF4D6"/>
          </a:solidFill>
          <a:ln w="15240" cap="flat" cmpd="sng" algn="ctr">
            <a:solidFill>
              <a:srgbClr val="D99A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Rectángulo: esquinas redondeadas 10">
            <a:extLst>
              <a:ext uri="{FF2B5EF4-FFF2-40B4-BE49-F238E27FC236}">
                <a16:creationId xmlns:a16="http://schemas.microsoft.com/office/drawing/2014/main" id="{B4D6A86B-3AFA-4C98-841F-16B166E8E032}"/>
              </a:ext>
            </a:extLst>
          </p:cNvPr>
          <p:cNvSpPr/>
          <p:nvPr/>
        </p:nvSpPr>
        <p:spPr>
          <a:xfrm>
            <a:off x="1066800" y="3301390"/>
            <a:ext cx="609600" cy="558800"/>
          </a:xfrm>
          <a:prstGeom prst="roundRect">
            <a:avLst/>
          </a:prstGeom>
          <a:solidFill>
            <a:srgbClr val="D99A00"/>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s-CO" sz="1700" b="1">
                <a:solidFill>
                  <a:srgbClr val="FFFFFF"/>
                </a:solidFill>
                <a:latin typeface="Arial"/>
                <a:cs typeface="Arial"/>
              </a:rPr>
              <a:t>02</a:t>
            </a:r>
          </a:p>
        </p:txBody>
      </p:sp>
      <p:sp>
        <p:nvSpPr>
          <p:cNvPr id="12" name="CuadroTexto 11">
            <a:extLst>
              <a:ext uri="{FF2B5EF4-FFF2-40B4-BE49-F238E27FC236}">
                <a16:creationId xmlns:a16="http://schemas.microsoft.com/office/drawing/2014/main" id="{D844C555-7F10-44D9-AEE7-7FAF49543E5E}"/>
              </a:ext>
            </a:extLst>
          </p:cNvPr>
          <p:cNvSpPr txBox="1"/>
          <p:nvPr/>
        </p:nvSpPr>
        <p:spPr>
          <a:xfrm>
            <a:off x="1905000" y="3275990"/>
            <a:ext cx="7493000" cy="609600"/>
          </a:xfrm>
          <a:prstGeom prst="rect">
            <a:avLst/>
          </a:prstGeom>
          <a:noFill/>
        </p:spPr>
        <p:txBody>
          <a:bodyPr vertOverflow="overflow" vert="horz" wrap="square" rtlCol="0" anchor="ctr" anchorCtr="0">
            <a:spAutoFit/>
          </a:bodyPr>
          <a:lstStyle/>
          <a:p>
            <a:pPr algn="l"/>
            <a:r>
              <a:rPr lang="es-ES" sz="1800" b="1">
                <a:solidFill>
                  <a:srgbClr val="073654"/>
                </a:solidFill>
              </a:rPr>
              <a:t>Construcción del corpus</a:t>
            </a:r>
            <a:r>
              <a:rPr lang="es-ES" sz="1200">
                <a:solidFill>
                  <a:srgbClr val="425466"/>
                </a:solidFill>
              </a:rPr>
              <a:t>
Fuente, depuración, fragmentos y validación</a:t>
            </a:r>
            <a:endParaRPr lang="es-CO" sz="1200">
              <a:solidFill>
                <a:srgbClr val="425466"/>
              </a:solidFill>
            </a:endParaRPr>
          </a:p>
        </p:txBody>
      </p:sp>
      <p:sp>
        <p:nvSpPr>
          <p:cNvPr id="13" name="CuadroTexto 12">
            <a:extLst>
              <a:ext uri="{FF2B5EF4-FFF2-40B4-BE49-F238E27FC236}">
                <a16:creationId xmlns:a16="http://schemas.microsoft.com/office/drawing/2014/main" id="{F91C239B-B235-4830-BA2E-880279BDED20}"/>
              </a:ext>
            </a:extLst>
          </p:cNvPr>
          <p:cNvSpPr txBox="1"/>
          <p:nvPr/>
        </p:nvSpPr>
        <p:spPr>
          <a:xfrm>
            <a:off x="9906000" y="3326790"/>
            <a:ext cx="1041400" cy="508000"/>
          </a:xfrm>
          <a:prstGeom prst="rect">
            <a:avLst/>
          </a:prstGeom>
          <a:noFill/>
        </p:spPr>
        <p:txBody>
          <a:bodyPr vertOverflow="overflow" vert="horz" wrap="square" rtlCol="0" anchor="ctr" anchorCtr="0">
            <a:spAutoFit/>
          </a:bodyPr>
          <a:lstStyle/>
          <a:p>
            <a:pPr algn="l"/>
            <a:r>
              <a:rPr lang="es-CO" sz="1500" b="1">
                <a:solidFill>
                  <a:srgbClr val="D99A00"/>
                </a:solidFill>
              </a:rPr>
              <a:t>07–10</a:t>
            </a:r>
          </a:p>
        </p:txBody>
      </p:sp>
      <p:sp>
        <p:nvSpPr>
          <p:cNvPr id="14" name="Rectángulo: esquinas redondeadas 13">
            <a:extLst>
              <a:ext uri="{FF2B5EF4-FFF2-40B4-BE49-F238E27FC236}">
                <a16:creationId xmlns:a16="http://schemas.microsoft.com/office/drawing/2014/main" id="{D71652E1-3B0E-4E90-986E-2E96ACD211BA}"/>
              </a:ext>
            </a:extLst>
          </p:cNvPr>
          <p:cNvSpPr/>
          <p:nvPr/>
        </p:nvSpPr>
        <p:spPr>
          <a:xfrm>
            <a:off x="914400" y="4089095"/>
            <a:ext cx="10363200" cy="812800"/>
          </a:xfrm>
          <a:prstGeom prst="roundRect">
            <a:avLst/>
          </a:prstGeom>
          <a:solidFill>
            <a:srgbClr val="E8F5EE"/>
          </a:solidFill>
          <a:ln w="1524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Rectángulo: esquinas redondeadas 14">
            <a:extLst>
              <a:ext uri="{FF2B5EF4-FFF2-40B4-BE49-F238E27FC236}">
                <a16:creationId xmlns:a16="http://schemas.microsoft.com/office/drawing/2014/main" id="{962A7A0A-DC6F-4BA8-91DF-54E837636725}"/>
              </a:ext>
            </a:extLst>
          </p:cNvPr>
          <p:cNvSpPr/>
          <p:nvPr/>
        </p:nvSpPr>
        <p:spPr>
          <a:xfrm>
            <a:off x="1066800" y="4216095"/>
            <a:ext cx="609600" cy="558800"/>
          </a:xfrm>
          <a:prstGeom prst="roundRect">
            <a:avLst/>
          </a:prstGeom>
          <a:solidFill>
            <a:srgbClr val="2E8B57"/>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s-CO" sz="1700" b="1">
                <a:solidFill>
                  <a:srgbClr val="FFFFFF"/>
                </a:solidFill>
                <a:latin typeface="Arial"/>
                <a:cs typeface="Arial"/>
              </a:rPr>
              <a:t>03</a:t>
            </a:r>
          </a:p>
        </p:txBody>
      </p:sp>
      <p:sp>
        <p:nvSpPr>
          <p:cNvPr id="16" name="CuadroTexto 15">
            <a:extLst>
              <a:ext uri="{FF2B5EF4-FFF2-40B4-BE49-F238E27FC236}">
                <a16:creationId xmlns:a16="http://schemas.microsoft.com/office/drawing/2014/main" id="{3F4F668C-E656-4417-B848-70EC30B60171}"/>
              </a:ext>
            </a:extLst>
          </p:cNvPr>
          <p:cNvSpPr txBox="1"/>
          <p:nvPr/>
        </p:nvSpPr>
        <p:spPr>
          <a:xfrm>
            <a:off x="1905000" y="4190695"/>
            <a:ext cx="7493000" cy="609600"/>
          </a:xfrm>
          <a:prstGeom prst="rect">
            <a:avLst/>
          </a:prstGeom>
          <a:noFill/>
        </p:spPr>
        <p:txBody>
          <a:bodyPr vertOverflow="overflow" vert="horz" wrap="square" rtlCol="0" anchor="ctr" anchorCtr="0">
            <a:spAutoFit/>
          </a:bodyPr>
          <a:lstStyle/>
          <a:p>
            <a:pPr algn="l"/>
            <a:r>
              <a:rPr lang="es-ES" sz="1800" b="1">
                <a:solidFill>
                  <a:srgbClr val="073654"/>
                </a:solidFill>
              </a:rPr>
              <a:t>Textometría</a:t>
            </a:r>
            <a:r>
              <a:rPr lang="es-ES" sz="1200">
                <a:solidFill>
                  <a:srgbClr val="425466"/>
                </a:solidFill>
              </a:rPr>
              <a:t>
Procesamiento, dimensiones y resultados léxicos</a:t>
            </a:r>
            <a:endParaRPr lang="es-CO" sz="1200">
              <a:solidFill>
                <a:srgbClr val="425466"/>
              </a:solidFill>
            </a:endParaRPr>
          </a:p>
        </p:txBody>
      </p:sp>
      <p:sp>
        <p:nvSpPr>
          <p:cNvPr id="17" name="CuadroTexto 16">
            <a:extLst>
              <a:ext uri="{FF2B5EF4-FFF2-40B4-BE49-F238E27FC236}">
                <a16:creationId xmlns:a16="http://schemas.microsoft.com/office/drawing/2014/main" id="{1981FBCF-0AC6-4CBB-9A07-E7914C9FD92E}"/>
              </a:ext>
            </a:extLst>
          </p:cNvPr>
          <p:cNvSpPr txBox="1"/>
          <p:nvPr/>
        </p:nvSpPr>
        <p:spPr>
          <a:xfrm>
            <a:off x="9906000" y="4241495"/>
            <a:ext cx="1041400" cy="508000"/>
          </a:xfrm>
          <a:prstGeom prst="rect">
            <a:avLst/>
          </a:prstGeom>
          <a:noFill/>
        </p:spPr>
        <p:txBody>
          <a:bodyPr vertOverflow="overflow" vert="horz" wrap="square" rtlCol="0" anchor="ctr" anchorCtr="0">
            <a:spAutoFit/>
          </a:bodyPr>
          <a:lstStyle/>
          <a:p>
            <a:pPr algn="l"/>
            <a:r>
              <a:rPr lang="es-CO" sz="1500" b="1">
                <a:solidFill>
                  <a:srgbClr val="2E8B57"/>
                </a:solidFill>
              </a:rPr>
              <a:t>11–17</a:t>
            </a:r>
          </a:p>
        </p:txBody>
      </p:sp>
      <p:sp>
        <p:nvSpPr>
          <p:cNvPr id="18" name="Rectángulo: esquinas redondeadas 17">
            <a:extLst>
              <a:ext uri="{FF2B5EF4-FFF2-40B4-BE49-F238E27FC236}">
                <a16:creationId xmlns:a16="http://schemas.microsoft.com/office/drawing/2014/main" id="{A1B6D949-104D-4DFD-ADAE-23BC7D3970F8}"/>
              </a:ext>
            </a:extLst>
          </p:cNvPr>
          <p:cNvSpPr/>
          <p:nvPr/>
        </p:nvSpPr>
        <p:spPr>
          <a:xfrm>
            <a:off x="914400" y="5003800"/>
            <a:ext cx="10363200" cy="812800"/>
          </a:xfrm>
          <a:prstGeom prst="roundRect">
            <a:avLst/>
          </a:prstGeom>
          <a:solidFill>
            <a:srgbClr val="EAF2F8"/>
          </a:solidFill>
          <a:ln w="1524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9" name="Rectángulo: esquinas redondeadas 18">
            <a:extLst>
              <a:ext uri="{FF2B5EF4-FFF2-40B4-BE49-F238E27FC236}">
                <a16:creationId xmlns:a16="http://schemas.microsoft.com/office/drawing/2014/main" id="{FF92D0A3-7337-45D7-BC60-A788624087A8}"/>
              </a:ext>
            </a:extLst>
          </p:cNvPr>
          <p:cNvSpPr/>
          <p:nvPr/>
        </p:nvSpPr>
        <p:spPr>
          <a:xfrm>
            <a:off x="1066800" y="5130800"/>
            <a:ext cx="609600" cy="558800"/>
          </a:xfrm>
          <a:prstGeom prst="roundRect">
            <a:avLst/>
          </a:prstGeom>
          <a:solidFill>
            <a:srgbClr val="2F75B5"/>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s-CO" sz="1700" b="1">
                <a:solidFill>
                  <a:srgbClr val="FFFFFF"/>
                </a:solidFill>
                <a:latin typeface="Arial"/>
                <a:cs typeface="Arial"/>
              </a:rPr>
              <a:t>04</a:t>
            </a:r>
          </a:p>
        </p:txBody>
      </p:sp>
      <p:sp>
        <p:nvSpPr>
          <p:cNvPr id="20" name="CuadroTexto 19">
            <a:extLst>
              <a:ext uri="{FF2B5EF4-FFF2-40B4-BE49-F238E27FC236}">
                <a16:creationId xmlns:a16="http://schemas.microsoft.com/office/drawing/2014/main" id="{ADBBFCAB-4B28-4E02-B67D-CD9BF586D483}"/>
              </a:ext>
            </a:extLst>
          </p:cNvPr>
          <p:cNvSpPr txBox="1"/>
          <p:nvPr/>
        </p:nvSpPr>
        <p:spPr>
          <a:xfrm>
            <a:off x="1905000" y="5105400"/>
            <a:ext cx="7493000" cy="609600"/>
          </a:xfrm>
          <a:prstGeom prst="rect">
            <a:avLst/>
          </a:prstGeom>
          <a:noFill/>
        </p:spPr>
        <p:txBody>
          <a:bodyPr vertOverflow="overflow" vert="horz" wrap="square" rtlCol="0" anchor="ctr" anchorCtr="0">
            <a:spAutoFit/>
          </a:bodyPr>
          <a:lstStyle/>
          <a:p>
            <a:pPr algn="l"/>
            <a:r>
              <a:rPr lang="es-ES" sz="1800" b="1">
                <a:solidFill>
                  <a:srgbClr val="073654"/>
                </a:solidFill>
              </a:rPr>
              <a:t>Antecedentes</a:t>
            </a:r>
            <a:r>
              <a:rPr lang="es-ES" sz="1200">
                <a:solidFill>
                  <a:srgbClr val="425466"/>
                </a:solidFill>
              </a:rPr>
              <a:t>
Estado del arte</a:t>
            </a:r>
            <a:endParaRPr lang="es-CO" sz="1200">
              <a:solidFill>
                <a:srgbClr val="425466"/>
              </a:solidFill>
            </a:endParaRPr>
          </a:p>
        </p:txBody>
      </p:sp>
      <p:sp>
        <p:nvSpPr>
          <p:cNvPr id="21" name="CuadroTexto 20">
            <a:extLst>
              <a:ext uri="{FF2B5EF4-FFF2-40B4-BE49-F238E27FC236}">
                <a16:creationId xmlns:a16="http://schemas.microsoft.com/office/drawing/2014/main" id="{8B0BADF9-89DA-4DDD-B010-9E12EB2D1770}"/>
              </a:ext>
            </a:extLst>
          </p:cNvPr>
          <p:cNvSpPr txBox="1"/>
          <p:nvPr/>
        </p:nvSpPr>
        <p:spPr>
          <a:xfrm>
            <a:off x="9906000" y="5156200"/>
            <a:ext cx="1041400" cy="508000"/>
          </a:xfrm>
          <a:prstGeom prst="rect">
            <a:avLst/>
          </a:prstGeom>
          <a:noFill/>
        </p:spPr>
        <p:txBody>
          <a:bodyPr vertOverflow="overflow" vert="horz" wrap="square" rtlCol="0" anchor="ctr" anchorCtr="0">
            <a:spAutoFit/>
          </a:bodyPr>
          <a:lstStyle/>
          <a:p>
            <a:pPr algn="l"/>
            <a:r>
              <a:rPr lang="es-CO" sz="1500" b="1">
                <a:solidFill>
                  <a:srgbClr val="2F75B5"/>
                </a:solidFill>
              </a:rPr>
              <a:t>18–19</a:t>
            </a:r>
          </a:p>
        </p:txBody>
      </p:sp>
      <p:sp>
        <p:nvSpPr>
          <p:cNvPr id="18" name="Fusion-G-Fila5-Rectángulo: esquinas redo">
            <a:extLst>
              <a:ext uri="{FF2B5EF4-FFF2-40B4-BE49-F238E27FC236}">
                <a16:creationId xmlns:a16="http://schemas.microsoft.com/office/drawing/2014/main" id="{A1B6D949-104D-4DFD-ADAE-23BC7D3970F8}"/>
              </a:ext>
            </a:extLst>
          </p:cNvPr>
          <p:cNvSpPr/>
          <p:nvPr/>
        </p:nvSpPr>
        <p:spPr>
          <a:xfrm>
            <a:off x="914400" y="5918200"/>
            <a:ext cx="10363200" cy="812800"/>
          </a:xfrm>
          <a:prstGeom prst="roundRect">
            <a:avLst/>
          </a:prstGeom>
          <a:solidFill>
            <a:srgbClr val="EEEAF8"/>
          </a:solidFill>
          <a:ln w="15240" cap="flat" cmpd="sng" algn="ctr">
            <a:solidFill>
              <a:srgbClr val="6554A4"/>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9" name="Fusion-G-Fila5-Rectángulo: esquinas redo">
            <a:extLst>
              <a:ext uri="{FF2B5EF4-FFF2-40B4-BE49-F238E27FC236}">
                <a16:creationId xmlns:a16="http://schemas.microsoft.com/office/drawing/2014/main" id="{FF92D0A3-7337-45D7-BC60-A788624087A8}"/>
              </a:ext>
            </a:extLst>
          </p:cNvPr>
          <p:cNvSpPr/>
          <p:nvPr/>
        </p:nvSpPr>
        <p:spPr>
          <a:xfrm>
            <a:off x="1066800" y="6045200"/>
            <a:ext cx="609600" cy="558800"/>
          </a:xfrm>
          <a:prstGeom prst="roundRect">
            <a:avLst/>
          </a:prstGeom>
          <a:solidFill>
            <a:srgbClr val="6554A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lstStyle/>
          <a:p>
            <a:pPr algn="l"/>
            <a:r>
              <a:rPr lang="es-CO" sz="1700" b="1">
                <a:solidFill>
                  <a:srgbClr val="FFFFFF"/>
                </a:solidFill>
                <a:latin typeface="Arial"/>
                <a:cs typeface="Arial"/>
              </a:rPr>
              <a:t>05</a:t>
            </a:r>
          </a:p>
        </p:txBody>
      </p:sp>
      <p:sp>
        <p:nvSpPr>
          <p:cNvPr id="20" name="Fusion-G-Fila5-CuadroTexto 19">
            <a:extLst>
              <a:ext uri="{FF2B5EF4-FFF2-40B4-BE49-F238E27FC236}">
                <a16:creationId xmlns:a16="http://schemas.microsoft.com/office/drawing/2014/main" id="{ADBBFCAB-4B28-4E02-B67D-CD9BF586D483}"/>
              </a:ext>
            </a:extLst>
          </p:cNvPr>
          <p:cNvSpPr txBox="1"/>
          <p:nvPr/>
        </p:nvSpPr>
        <p:spPr>
          <a:xfrm>
            <a:off x="1905000" y="6019800"/>
            <a:ext cx="7493000" cy="609600"/>
          </a:xfrm>
          <a:prstGeom prst="rect">
            <a:avLst/>
          </a:prstGeom>
          <a:noFill/>
        </p:spPr>
        <p:txBody>
          <a:bodyPr vertOverflow="overflow" vert="horz" wrap="square" rtlCol="0" anchor="ctr" anchorCtr="0">
            <a:spAutoFit/>
          </a:bodyPr>
          <a:lstStyle/>
          <a:p>
            <a:pPr algn="l"/>
            <a:r>
              <a:rPr lang="es-ES" sz="1800" b="1">
                <a:solidFill>
                  <a:srgbClr val="073654"/>
                </a:solidFill>
              </a:rPr>
              <a:t>Conclusiones</a:t>
            </a:r>
            <a:r>
              <a:rPr lang="es-ES" sz="1200">
                <a:solidFill>
                  <a:srgbClr val="425466"/>
                </a:solidFill>
              </a:rPr>
              <a:t>
Hallazgos y siguientes etapas</a:t>
            </a:r>
            <a:endParaRPr lang="es-CO" sz="1200">
              <a:solidFill>
                <a:srgbClr val="425466"/>
              </a:solidFill>
            </a:endParaRPr>
          </a:p>
        </p:txBody>
      </p:sp>
      <p:sp>
        <p:nvSpPr>
          <p:cNvPr id="21" name="Fusion-G-Fila5-CuadroTexto 20">
            <a:extLst>
              <a:ext uri="{FF2B5EF4-FFF2-40B4-BE49-F238E27FC236}">
                <a16:creationId xmlns:a16="http://schemas.microsoft.com/office/drawing/2014/main" id="{8B0BADF9-89DA-4DDD-B010-9E12EB2D1770}"/>
              </a:ext>
            </a:extLst>
          </p:cNvPr>
          <p:cNvSpPr txBox="1"/>
          <p:nvPr/>
        </p:nvSpPr>
        <p:spPr>
          <a:xfrm>
            <a:off x="9906000" y="6070600"/>
            <a:ext cx="1041400" cy="508000"/>
          </a:xfrm>
          <a:prstGeom prst="rect">
            <a:avLst/>
          </a:prstGeom>
          <a:noFill/>
        </p:spPr>
        <p:txBody>
          <a:bodyPr vertOverflow="overflow" vert="horz" wrap="square" rtlCol="0" anchor="ctr" anchorCtr="0">
            <a:spAutoFit/>
          </a:bodyPr>
          <a:lstStyle/>
          <a:p>
            <a:pPr algn="l"/>
            <a:r>
              <a:rPr lang="es-CO" sz="1500" b="1">
                <a:solidFill>
                  <a:srgbClr val="6554A4"/>
                </a:solidFill>
              </a:rPr>
              <a:t>20–21</a:t>
            </a:r>
          </a:p>
        </p:txBody>
      </p:sp>
    </p:spTree>
    <p:extLst>
      <p:ext uri="{BB962C8B-B14F-4D97-AF65-F5344CB8AC3E}">
        <p14:creationId xmlns:p14="http://schemas.microsoft.com/office/powerpoint/2010/main" val="2462624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882255DD-A6D0-F0F1-1C84-911B229D5382}"/>
            </a:ext>
          </a:extLst>
        </p:cNvPr>
        <p:cNvGrpSpPr/>
        <p:nvPr/>
      </p:nvGrpSpPr>
      <p:grpSpPr>
        <a:xfrm>
          <a:off x="0" y="0"/>
          <a:ext cx="0" cy="0"/>
          <a:chOff x="0" y="0"/>
          <a:chExt cx="0" cy="0"/>
        </a:xfrm>
      </p:grpSpPr>
      <p:pic>
        <p:nvPicPr>
          <p:cNvPr id="89" name="Google Shape;89;p1">
            <a:extLst>
              <a:ext uri="{FF2B5EF4-FFF2-40B4-BE49-F238E27FC236}">
                <a16:creationId xmlns:a16="http://schemas.microsoft.com/office/drawing/2014/main" id="{94FA5AF1-9018-CDEB-DE81-1C47630AD0D6}"/>
              </a:ext>
            </a:extLst>
          </p:cNvPr>
          <p:cNvPicPr preferRelativeResize="0"/>
          <p:nvPr/>
        </p:nvPicPr>
        <p:blipFill rotWithShape="1">
          <a:blip r:embed="rId3">
            <a:alphaModFix/>
          </a:blip>
          <a:srcRect/>
          <a:stretch/>
        </p:blipFill>
        <p:spPr>
          <a:xfrm>
            <a:off x="0" y="-14295"/>
            <a:ext cx="12192000" cy="6105540"/>
          </a:xfrm>
          <a:prstGeom prst="rect">
            <a:avLst/>
          </a:prstGeom>
          <a:noFill/>
          <a:ln>
            <a:noFill/>
          </a:ln>
        </p:spPr>
      </p:pic>
      <p:sp>
        <p:nvSpPr>
          <p:cNvPr id="90" name="Google Shape;90;p1">
            <a:extLst>
              <a:ext uri="{FF2B5EF4-FFF2-40B4-BE49-F238E27FC236}">
                <a16:creationId xmlns:a16="http://schemas.microsoft.com/office/drawing/2014/main" id="{934B5520-184A-53F2-B41D-62A95F7D61F3}"/>
              </a:ext>
            </a:extLst>
          </p:cNvPr>
          <p:cNvSpPr txBox="1">
            <a:spLocks noGrp="1"/>
          </p:cNvSpPr>
          <p:nvPr>
            <p:ph type="subTitle" idx="1"/>
          </p:nvPr>
        </p:nvSpPr>
        <p:spPr>
          <a:xfrm>
            <a:off x="3221420" y="2826829"/>
            <a:ext cx="8843623" cy="1204341"/>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dirty="0">
                <a:solidFill>
                  <a:schemeClr val="accent4">
                    <a:lumMod val="60000"/>
                    <a:lumOff val="40000"/>
                  </a:schemeClr>
                </a:solidFill>
                <a:latin typeface="Arial"/>
                <a:cs typeface="Arial"/>
              </a:rPr>
              <a:t>Contextualización</a:t>
            </a:r>
            <a:endParaRPr lang="es-CO" sz="4800" b="1" noProof="0" dirty="0">
              <a:solidFill>
                <a:schemeClr val="accent4">
                  <a:lumMod val="60000"/>
                  <a:lumOff val="40000"/>
                </a:schemeClr>
              </a:solidFill>
              <a:latin typeface="Arial"/>
              <a:cs typeface="Arial"/>
            </a:endParaRPr>
          </a:p>
          <a:p>
            <a:pPr marL="0" lvl="0" indent="0" algn="ctr">
              <a:lnSpc>
                <a:spcPct val="90000"/>
              </a:lnSpc>
              <a:spcBef>
                <a:spcPts val="0"/>
              </a:spcBef>
              <a:spcAft>
                <a:spcPts val="0"/>
              </a:spcAft>
              <a:buSzPts val="4800"/>
              <a:buNone/>
            </a:pPr>
            <a:endParaRPr lang="es-CO" sz="4800" b="1" noProof="0" dirty="0">
              <a:solidFill>
                <a:schemeClr val="lt1"/>
              </a:solidFill>
              <a:cs typeface="Arial"/>
            </a:endParaRPr>
          </a:p>
          <a:p>
            <a:pPr marL="0" indent="0">
              <a:buClr>
                <a:srgbClr val="FFC000"/>
              </a:buClr>
              <a:buSzPts val="2800"/>
            </a:pPr>
            <a:endParaRPr lang="es-CO" sz="2800" b="1" dirty="0">
              <a:solidFill>
                <a:srgbClr val="FFC000"/>
              </a:solidFill>
              <a:latin typeface="Arial"/>
              <a:ea typeface="Arial"/>
              <a:cs typeface="Arial"/>
            </a:endParaRPr>
          </a:p>
        </p:txBody>
      </p:sp>
    </p:spTree>
    <p:extLst>
      <p:ext uri="{BB962C8B-B14F-4D97-AF65-F5344CB8AC3E}">
        <p14:creationId xmlns:p14="http://schemas.microsoft.com/office/powerpoint/2010/main" val="454219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80A1A8A-FBF6-BB80-1C81-75E5866363F9}"/>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47DEAAB1-AA50-8027-5184-A33E1CF9A920}"/>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B7FEFDC6-45FC-AC6B-F8C6-55D9D3A93811}"/>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Arial" panose="020B0604020202020204" pitchFamily="34" charset="0"/>
                <a:ea typeface="Calibri"/>
                <a:cs typeface="Arial" panose="020B0604020202020204" pitchFamily="34" charset="0"/>
                <a:sym typeface="Calibri"/>
              </a:rPr>
              <a:t>Contextualización</a:t>
            </a:r>
            <a:r>
              <a:rPr lang="es-CO" sz="3200" b="1" noProof="0" dirty="0">
                <a:solidFill>
                  <a:schemeClr val="bg1"/>
                </a:solidFill>
                <a:latin typeface="Calibri"/>
                <a:ea typeface="Calibri"/>
                <a:cs typeface="Calibri"/>
                <a:sym typeface="Calibri"/>
              </a:rPr>
              <a:t> </a:t>
            </a:r>
            <a:endParaRPr lang="es-CO" sz="3200" b="1" i="0" u="none" strike="noStrike" cap="none" noProof="0" dirty="0">
              <a:solidFill>
                <a:schemeClr val="bg1"/>
              </a:solidFill>
              <a:latin typeface="Calibri"/>
              <a:ea typeface="Calibri"/>
              <a:cs typeface="Calibri"/>
            </a:endParaRPr>
          </a:p>
        </p:txBody>
      </p:sp>
      <p:sp>
        <p:nvSpPr>
          <p:cNvPr id="11" name="CuadroTexto 10">
            <a:extLst>
              <a:ext uri="{FF2B5EF4-FFF2-40B4-BE49-F238E27FC236}">
                <a16:creationId xmlns:a16="http://schemas.microsoft.com/office/drawing/2014/main" id="{4A38EB0B-5636-9104-7BF0-DD3655357CF4}"/>
              </a:ext>
            </a:extLst>
          </p:cNvPr>
          <p:cNvSpPr txBox="1"/>
          <p:nvPr/>
        </p:nvSpPr>
        <p:spPr>
          <a:xfrm>
            <a:off x="686006" y="2462988"/>
            <a:ext cx="1044224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lvl="1"/>
            <a:r>
              <a:rPr lang="es-ES" sz="1800" dirty="0"/>
              <a:t>Aplicar PLN para transformar jurisprudencia extensa en información analizable, comparable y potencialmente clasificable.</a:t>
            </a:r>
          </a:p>
          <a:p>
            <a:pPr marL="742950" lvl="1" indent="-285750">
              <a:buFont typeface="Courier New"/>
              <a:buChar char="o"/>
            </a:pPr>
            <a:endParaRPr lang="es-ES" sz="1800" dirty="0"/>
          </a:p>
          <a:p>
            <a:pPr marL="742950" lvl="1" indent="-285750">
              <a:buFont typeface="Courier New"/>
              <a:buChar char="o"/>
            </a:pPr>
            <a:r>
              <a:rPr lang="es-ES" sz="1800" dirty="0"/>
              <a:t>Las sentencias son documentos extensos, formales y altamente especializados.</a:t>
            </a:r>
          </a:p>
          <a:p>
            <a:pPr marL="742950" lvl="1" indent="-285750">
              <a:buFont typeface="Courier New"/>
              <a:buChar char="o"/>
            </a:pPr>
            <a:r>
              <a:rPr lang="es-ES" sz="1800" dirty="0"/>
              <a:t>La información relevante está distribuida entre hechos, argumentos, normas, jurisprudencia y decisiones.</a:t>
            </a:r>
          </a:p>
          <a:p>
            <a:pPr marL="742950" lvl="1" indent="-285750">
              <a:buFont typeface="Courier New"/>
              <a:buChar char="o"/>
            </a:pPr>
            <a:r>
              <a:rPr lang="es-ES" sz="1800" dirty="0"/>
              <a:t>El volumen documental dificulta la consulta, comparación y análisis manual.</a:t>
            </a:r>
          </a:p>
          <a:p>
            <a:pPr marL="742950" lvl="1" indent="-285750">
              <a:buFont typeface="Courier New"/>
              <a:buChar char="o"/>
            </a:pPr>
            <a:r>
              <a:rPr lang="es-ES" sz="1800" dirty="0"/>
              <a:t>El corpus no posee metadatos temáticos estructurados.</a:t>
            </a:r>
          </a:p>
        </p:txBody>
      </p:sp>
      <p:sp>
        <p:nvSpPr>
          <p:cNvPr id="16" name="TextBox 7">
            <a:extLst>
              <a:ext uri="{FF2B5EF4-FFF2-40B4-BE49-F238E27FC236}">
                <a16:creationId xmlns:a16="http://schemas.microsoft.com/office/drawing/2014/main" id="{60BB4200-0432-7E26-EC65-ED732C64FAEF}"/>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Lenguaje jurídico como reto de PLN</a:t>
            </a:r>
          </a:p>
        </p:txBody>
      </p:sp>
      <p:pic>
        <p:nvPicPr>
          <p:cNvPr id="21" name="Imagen 20">
            <a:extLst>
              <a:ext uri="{FF2B5EF4-FFF2-40B4-BE49-F238E27FC236}">
                <a16:creationId xmlns:a16="http://schemas.microsoft.com/office/drawing/2014/main" id="{ED7A6803-8C1E-6A41-E69E-91B609B53562}"/>
              </a:ext>
            </a:extLst>
          </p:cNvPr>
          <p:cNvPicPr>
            <a:picLocks noChangeAspect="1"/>
          </p:cNvPicPr>
          <p:nvPr/>
        </p:nvPicPr>
        <p:blipFill>
          <a:blip r:embed="rId4">
            <a:duotone>
              <a:schemeClr val="accent5">
                <a:shade val="45000"/>
                <a:satMod val="135000"/>
              </a:schemeClr>
              <a:prstClr val="white"/>
            </a:duotone>
          </a:blip>
          <a:stretch>
            <a:fillRect/>
          </a:stretch>
        </p:blipFill>
        <p:spPr>
          <a:xfrm>
            <a:off x="1167447" y="1426521"/>
            <a:ext cx="900000" cy="900000"/>
          </a:xfrm>
          <a:prstGeom prst="rect">
            <a:avLst/>
          </a:prstGeom>
        </p:spPr>
      </p:pic>
    </p:spTree>
    <p:extLst>
      <p:ext uri="{BB962C8B-B14F-4D97-AF65-F5344CB8AC3E}">
        <p14:creationId xmlns:p14="http://schemas.microsoft.com/office/powerpoint/2010/main" val="3747228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25E6BB5-FA7E-EB92-1DAA-EB976FA00187}"/>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B2A6BCE2-6E28-6B56-1054-5BEF285E50B3}"/>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948F04C9-6A51-0BEF-1B13-A778758E068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Objetivo y pregunta de investigación </a:t>
            </a:r>
            <a:endParaRPr lang="es-CO" sz="3200" b="1" i="0" u="none" strike="noStrike" cap="none" noProof="0" dirty="0">
              <a:solidFill>
                <a:schemeClr val="bg1"/>
              </a:solidFill>
              <a:latin typeface="Calibri"/>
              <a:ea typeface="Calibri"/>
              <a:cs typeface="Calibri"/>
            </a:endParaRPr>
          </a:p>
        </p:txBody>
      </p:sp>
      <p:sp>
        <p:nvSpPr>
          <p:cNvPr id="11" name="CuadroTexto 10">
            <a:extLst>
              <a:ext uri="{FF2B5EF4-FFF2-40B4-BE49-F238E27FC236}">
                <a16:creationId xmlns:a16="http://schemas.microsoft.com/office/drawing/2014/main" id="{16E20DDD-421D-4927-6980-4ADC4C98852C}"/>
              </a:ext>
            </a:extLst>
          </p:cNvPr>
          <p:cNvSpPr txBox="1"/>
          <p:nvPr/>
        </p:nvSpPr>
        <p:spPr>
          <a:xfrm>
            <a:off x="686006" y="2462988"/>
            <a:ext cx="10442242"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lvl="1"/>
            <a:r>
              <a:rPr lang="es-ES" sz="1800" dirty="0"/>
              <a:t>Caracterizar computacionalmente la jurisprudencia de la Corte Constitucional y establecer una línea base para tareas posteriores de PLN.</a:t>
            </a:r>
          </a:p>
          <a:p>
            <a:pPr marL="457200" lvl="1"/>
            <a:endParaRPr lang="es-ES" sz="1800" dirty="0"/>
          </a:p>
          <a:p>
            <a:pPr marL="457200" lvl="1"/>
            <a:r>
              <a:rPr lang="es-ES" sz="1800" b="1" dirty="0"/>
              <a:t>Preguntas guía:</a:t>
            </a:r>
          </a:p>
          <a:p>
            <a:pPr marL="742950" lvl="1" indent="-285750">
              <a:buFont typeface="Courier New"/>
              <a:buChar char="o"/>
            </a:pPr>
            <a:r>
              <a:rPr lang="es-ES" sz="1800" dirty="0"/>
              <a:t>¿Qué características léxicas distinguen las sentencias?</a:t>
            </a:r>
          </a:p>
          <a:p>
            <a:pPr marL="742950" lvl="1" indent="-285750">
              <a:buFont typeface="Courier New"/>
              <a:buChar char="o"/>
            </a:pPr>
            <a:r>
              <a:rPr lang="es-ES" sz="1800" dirty="0"/>
              <a:t>¿Cómo ha evolucionado el vocabulario entre 1992 y 2021?</a:t>
            </a:r>
          </a:p>
          <a:p>
            <a:pPr marL="742950" lvl="1" indent="-285750">
              <a:buFont typeface="Courier New"/>
              <a:buChar char="o"/>
            </a:pPr>
            <a:r>
              <a:rPr lang="es-ES" sz="1800" dirty="0"/>
              <a:t>¿Es posible clasificar automáticamente las providencias?</a:t>
            </a:r>
          </a:p>
          <a:p>
            <a:pPr marL="742950" lvl="1" indent="-285750">
              <a:buFont typeface="Courier New"/>
              <a:buChar char="o"/>
            </a:pPr>
            <a:r>
              <a:rPr lang="es-ES" sz="1800" dirty="0"/>
              <a:t>¿Puede el PLN facilitar la consulta de documentos jurídicos extensos?</a:t>
            </a:r>
          </a:p>
        </p:txBody>
      </p:sp>
      <p:sp>
        <p:nvSpPr>
          <p:cNvPr id="16" name="TextBox 7">
            <a:extLst>
              <a:ext uri="{FF2B5EF4-FFF2-40B4-BE49-F238E27FC236}">
                <a16:creationId xmlns:a16="http://schemas.microsoft.com/office/drawing/2014/main" id="{A591AF32-1FAC-F577-5000-D81DC610711D}"/>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¿Qué queremos estudiar?</a:t>
            </a:r>
          </a:p>
        </p:txBody>
      </p:sp>
      <p:pic>
        <p:nvPicPr>
          <p:cNvPr id="3" name="Imagen 2">
            <a:extLst>
              <a:ext uri="{FF2B5EF4-FFF2-40B4-BE49-F238E27FC236}">
                <a16:creationId xmlns:a16="http://schemas.microsoft.com/office/drawing/2014/main" id="{1A94060F-11CB-E96E-F501-02DE30CA434F}"/>
              </a:ext>
            </a:extLst>
          </p:cNvPr>
          <p:cNvPicPr>
            <a:picLocks noChangeAspect="1"/>
          </p:cNvPicPr>
          <p:nvPr/>
        </p:nvPicPr>
        <p:blipFill>
          <a:blip r:embed="rId4">
            <a:duotone>
              <a:schemeClr val="accent5">
                <a:shade val="45000"/>
                <a:satMod val="135000"/>
              </a:schemeClr>
              <a:prstClr val="white"/>
            </a:duotone>
          </a:blip>
          <a:stretch>
            <a:fillRect/>
          </a:stretch>
        </p:blipFill>
        <p:spPr>
          <a:xfrm>
            <a:off x="1227647" y="1426521"/>
            <a:ext cx="900000" cy="900000"/>
          </a:xfrm>
          <a:prstGeom prst="rect">
            <a:avLst/>
          </a:prstGeom>
        </p:spPr>
      </p:pic>
    </p:spTree>
    <p:extLst>
      <p:ext uri="{BB962C8B-B14F-4D97-AF65-F5344CB8AC3E}">
        <p14:creationId xmlns:p14="http://schemas.microsoft.com/office/powerpoint/2010/main" val="2197220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18D6CA6C-1E90-4378-DFBD-4BC44FBBBA30}"/>
            </a:ext>
          </a:extLst>
        </p:cNvPr>
        <p:cNvGrpSpPr/>
        <p:nvPr/>
      </p:nvGrpSpPr>
      <p:grpSpPr>
        <a:xfrm>
          <a:off x="0" y="0"/>
          <a:ext cx="0" cy="0"/>
          <a:chOff x="0" y="0"/>
          <a:chExt cx="0" cy="0"/>
        </a:xfrm>
      </p:grpSpPr>
      <p:pic>
        <p:nvPicPr>
          <p:cNvPr id="89" name="Google Shape;89;p1">
            <a:extLst>
              <a:ext uri="{FF2B5EF4-FFF2-40B4-BE49-F238E27FC236}">
                <a16:creationId xmlns:a16="http://schemas.microsoft.com/office/drawing/2014/main" id="{C2DA7B99-110B-BC86-5B12-32A2AE47C16C}"/>
              </a:ext>
            </a:extLst>
          </p:cNvPr>
          <p:cNvPicPr preferRelativeResize="0"/>
          <p:nvPr/>
        </p:nvPicPr>
        <p:blipFill rotWithShape="1">
          <a:blip r:embed="rId3">
            <a:alphaModFix/>
          </a:blip>
          <a:srcRect/>
          <a:stretch/>
        </p:blipFill>
        <p:spPr>
          <a:xfrm>
            <a:off x="0" y="-14295"/>
            <a:ext cx="12192000" cy="6105540"/>
          </a:xfrm>
          <a:prstGeom prst="rect">
            <a:avLst/>
          </a:prstGeom>
          <a:noFill/>
          <a:ln>
            <a:noFill/>
          </a:ln>
        </p:spPr>
      </p:pic>
      <p:sp>
        <p:nvSpPr>
          <p:cNvPr id="90" name="Google Shape;90;p1">
            <a:extLst>
              <a:ext uri="{FF2B5EF4-FFF2-40B4-BE49-F238E27FC236}">
                <a16:creationId xmlns:a16="http://schemas.microsoft.com/office/drawing/2014/main" id="{5386A9CC-6700-39FC-7D91-82B14197F7EA}"/>
              </a:ext>
            </a:extLst>
          </p:cNvPr>
          <p:cNvSpPr txBox="1">
            <a:spLocks noGrp="1"/>
          </p:cNvSpPr>
          <p:nvPr>
            <p:ph type="subTitle" idx="1"/>
          </p:nvPr>
        </p:nvSpPr>
        <p:spPr>
          <a:xfrm>
            <a:off x="3221420" y="2826829"/>
            <a:ext cx="8843623" cy="1204341"/>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noProof="0" dirty="0">
                <a:solidFill>
                  <a:schemeClr val="accent4">
                    <a:lumMod val="60000"/>
                    <a:lumOff val="40000"/>
                  </a:schemeClr>
                </a:solidFill>
                <a:latin typeface="Arial"/>
                <a:cs typeface="Arial"/>
              </a:rPr>
              <a:t>Construcción del corpus</a:t>
            </a:r>
          </a:p>
          <a:p>
            <a:pPr marL="0" lvl="0" indent="0" algn="ctr">
              <a:lnSpc>
                <a:spcPct val="90000"/>
              </a:lnSpc>
              <a:spcBef>
                <a:spcPts val="0"/>
              </a:spcBef>
              <a:spcAft>
                <a:spcPts val="0"/>
              </a:spcAft>
              <a:buSzPts val="4800"/>
              <a:buNone/>
            </a:pPr>
            <a:endParaRPr lang="es-CO" sz="4800" b="1" noProof="0" dirty="0">
              <a:solidFill>
                <a:schemeClr val="lt1"/>
              </a:solidFill>
              <a:cs typeface="Arial"/>
            </a:endParaRPr>
          </a:p>
          <a:p>
            <a:pPr marL="0" indent="0">
              <a:buClr>
                <a:srgbClr val="FFC000"/>
              </a:buClr>
              <a:buSzPts val="2800"/>
            </a:pPr>
            <a:endParaRPr lang="es-CO" sz="2800" b="1" dirty="0">
              <a:solidFill>
                <a:srgbClr val="FFC000"/>
              </a:solidFill>
              <a:latin typeface="Arial"/>
              <a:ea typeface="Arial"/>
              <a:cs typeface="Arial"/>
            </a:endParaRPr>
          </a:p>
        </p:txBody>
      </p:sp>
    </p:spTree>
    <p:extLst>
      <p:ext uri="{BB962C8B-B14F-4D97-AF65-F5344CB8AC3E}">
        <p14:creationId xmlns:p14="http://schemas.microsoft.com/office/powerpoint/2010/main" val="187580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BFF895-438D-EFEC-380A-1A7942952A67}"/>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A798A495-8659-F628-094C-92BFC98DB830}"/>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A12D3087-07BC-3BF5-7656-03433B159BB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Corpus</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04725269-A24E-8941-A0DD-BC5128E69F9D}"/>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Características y dimensiones</a:t>
            </a:r>
          </a:p>
        </p:txBody>
      </p:sp>
      <p:pic>
        <p:nvPicPr>
          <p:cNvPr id="4" name="Imagen 3">
            <a:extLst>
              <a:ext uri="{FF2B5EF4-FFF2-40B4-BE49-F238E27FC236}">
                <a16:creationId xmlns:a16="http://schemas.microsoft.com/office/drawing/2014/main" id="{A5C30AB8-B82F-3937-B901-E1B9AC2BA727}"/>
              </a:ext>
            </a:extLst>
          </p:cNvPr>
          <p:cNvPicPr>
            <a:picLocks/>
          </p:cNvPicPr>
          <p:nvPr/>
        </p:nvPicPr>
        <p:blipFill>
          <a:blip r:embed="rId4">
            <a:duotone>
              <a:schemeClr val="accent5">
                <a:shade val="45000"/>
                <a:satMod val="135000"/>
              </a:schemeClr>
              <a:prstClr val="white"/>
            </a:duotone>
          </a:blip>
          <a:stretch>
            <a:fillRect/>
          </a:stretch>
        </p:blipFill>
        <p:spPr>
          <a:xfrm>
            <a:off x="1227647" y="1426521"/>
            <a:ext cx="900000" cy="900000"/>
          </a:xfrm>
          <a:prstGeom prst="rect">
            <a:avLst/>
          </a:prstGeom>
        </p:spPr>
      </p:pic>
      <p:sp>
        <p:nvSpPr>
          <p:cNvPr id="5" name="Fusion-F-Ficha">
            <a:extLst>
              <a:ext uri="{FF2B5EF4-FFF2-40B4-BE49-F238E27FC236}">
                <a16:creationId xmlns:a16="http://schemas.microsoft.com/office/drawing/2014/main" id="{86E403EA-18EE-D9A3-5CC8-6CF43D40DD61}"/>
              </a:ext>
            </a:extLst>
          </p:cNvPr>
          <p:cNvSpPr txBox="1"/>
          <p:nvPr/>
        </p:nvSpPr>
        <p:spPr>
          <a:xfrm>
            <a:off x="687600" y="2462400"/>
            <a:ext cx="10419408" cy="3767328"/>
          </a:xfrm>
          <a:prstGeom prst="rect">
            <a:avLst/>
          </a:prstGeom>
          <a:noFill/>
        </p:spPr>
        <p:txBody>
          <a:bodyPr wrap="square" rtlCol="0">
            <a:spAutoFit/>
          </a:bodyPr>
          <a:lstStyle/>
          <a:p>
            <a:pPr marL="457200" lvl="1">
              <a:lnSpc>
                <a:spcPct val="92000"/>
              </a:lnSpc>
            </a:pPr>
            <a:r>
              <a:rPr lang="es-ES" sz="1800" b="1" dirty="0">
                <a:solidFill>
                  <a:srgbClr val="002060"/>
                </a:solidFill>
              </a:rPr>
              <a:t>Fuente: </a:t>
            </a:r>
          </a:p>
          <a:p>
            <a:pPr marL="457200" lvl="1">
              <a:lnSpc>
                <a:spcPct val="92000"/>
              </a:lnSpc>
            </a:pPr>
            <a:r>
              <a:rPr lang="es-ES" sz="1800" dirty="0">
                <a:solidFill>
                  <a:srgbClr val="0070C0"/>
                </a:solidFill>
                <a:hlinkClick r:id="rId5"/>
              </a:rPr>
              <a:t>https://huggingface.co/datasets/Manuel/sentencias-corte-cons-colombia-1992-2021</a:t>
            </a:r>
            <a:endParaRPr lang="es-ES" sz="1800" dirty="0">
              <a:solidFill>
                <a:srgbClr val="0070C0"/>
              </a:solidFill>
            </a:endParaRPr>
          </a:p>
          <a:p>
            <a:pPr marL="457200" lvl="1">
              <a:lnSpc>
                <a:spcPct val="92000"/>
              </a:lnSpc>
            </a:pPr>
            <a:endParaRPr lang="es-ES" sz="1800" dirty="0"/>
          </a:p>
          <a:p>
            <a:pPr marL="457200" lvl="1">
              <a:lnSpc>
                <a:spcPct val="92000"/>
              </a:lnSpc>
            </a:pPr>
            <a:r>
              <a:rPr lang="es-ES" sz="1800" b="1" dirty="0">
                <a:solidFill>
                  <a:srgbClr val="002060"/>
                </a:solidFill>
              </a:rPr>
              <a:t>Ficha técnica: </a:t>
            </a:r>
            <a:endParaRPr lang="es-ES" sz="1800" dirty="0">
              <a:solidFill>
                <a:srgbClr val="002060"/>
              </a:solidFill>
            </a:endParaRPr>
          </a:p>
          <a:p>
            <a:pPr marL="742950" lvl="1" indent="-285750">
              <a:buFont typeface="Courier New" panose="02070309020205020404" pitchFamily="49" charset="0"/>
              <a:buChar char="o"/>
              <a:lnSpc>
                <a:spcPct val="92000"/>
              </a:lnSpc>
            </a:pPr>
            <a:r>
              <a:rPr lang="es-ES" sz="1800" b="1" dirty="0"/>
              <a:t>Dominio: </a:t>
            </a:r>
            <a:r>
              <a:rPr lang="es-ES" sz="1800" dirty="0"/>
              <a:t>Jurisprudencia Constitucional Colombiana (1992–2021).</a:t>
            </a:r>
          </a:p>
          <a:p>
            <a:pPr marL="742950" lvl="1" indent="-285750">
              <a:buFont typeface="Courier New" panose="02070309020205020404" pitchFamily="49" charset="0"/>
              <a:buChar char="o"/>
              <a:lnSpc>
                <a:spcPct val="92000"/>
              </a:lnSpc>
            </a:pPr>
            <a:r>
              <a:rPr lang="es-ES" sz="1800" b="1" dirty="0"/>
              <a:t>Idioma: </a:t>
            </a:r>
            <a:r>
              <a:rPr lang="es-ES" sz="1800" dirty="0"/>
              <a:t>Español.</a:t>
            </a:r>
          </a:p>
          <a:p>
            <a:pPr marL="742950" lvl="1" indent="-285750">
              <a:buFont typeface="Courier New" panose="02070309020205020404" pitchFamily="49" charset="0"/>
              <a:buChar char="o"/>
              <a:lnSpc>
                <a:spcPct val="92000"/>
              </a:lnSpc>
            </a:pPr>
            <a:r>
              <a:rPr lang="es-ES" sz="1800" b="1" dirty="0"/>
              <a:t>Volumen Total: </a:t>
            </a:r>
            <a:r>
              <a:rPr lang="es-ES" sz="1800" dirty="0"/>
              <a:t>23.742 sentencias.</a:t>
            </a:r>
          </a:p>
          <a:p>
            <a:pPr marL="742950" lvl="2" indent="-285750">
              <a:buFont typeface="Courier New" panose="02070309020205020404" pitchFamily="49" charset="0"/>
              <a:buChar char="o"/>
              <a:lnSpc>
                <a:spcPct val="92000"/>
              </a:lnSpc>
            </a:pPr>
            <a:r>
              <a:rPr lang="es-ES" sz="1800" b="1" dirty="0"/>
              <a:t>Distribución por Tipo de Sentencia:</a:t>
            </a:r>
          </a:p>
          <a:p>
            <a:pPr marL="457200" lvl="7">
              <a:lnSpc>
                <a:spcPct val="92000"/>
              </a:lnSpc>
            </a:pPr>
            <a:r>
              <a:rPr lang="es-ES" sz="1800" dirty="0"/>
              <a:t>	- Tutela (T): 17.099 (72,0 % )</a:t>
            </a:r>
          </a:p>
          <a:p>
            <a:pPr marL="457200" lvl="7">
              <a:lnSpc>
                <a:spcPct val="92000"/>
              </a:lnSpc>
            </a:pPr>
            <a:r>
              <a:rPr lang="es-ES" sz="1800" dirty="0"/>
              <a:t>	- Constitucionalidad (C): 6.246 (26,3 % )</a:t>
            </a:r>
          </a:p>
          <a:p>
            <a:pPr marL="457200" lvl="7">
              <a:lnSpc>
                <a:spcPct val="92000"/>
              </a:lnSpc>
            </a:pPr>
            <a:r>
              <a:rPr lang="es-ES" sz="1800" dirty="0"/>
              <a:t>	- Unificación (SU): 397 (1,7 % )</a:t>
            </a:r>
          </a:p>
          <a:p>
            <a:pPr>
              <a:lnSpc>
                <a:spcPct val="92000"/>
              </a:lnSpc>
            </a:pPr>
            <a:endParaRPr lang="es-CO" dirty="0"/>
          </a:p>
          <a:p>
            <a:pPr lvl="1" marL="457200">
              <a:lnSpc>
                <a:spcPct val="92000"/>
              </a:lnSpc>
            </a:pPr>
            <a:r>
              <a:rPr lang="es-ES" dirty="0" sz="1800" b="1"/>
              <a:t>Formato de almacenamiento: </a:t>
            </a:r>
            <a:r>
              <a:rPr lang="es-ES" dirty="0" sz="1800"/>
              <a:t>CSV UTF-8 (1,68 GB), dos columnas (identificador + texto completo).</a:t>
            </a:r>
          </a:p>
          <a:p>
            <a:pPr lvl="1" marL="457200">
              <a:lnSpc>
                <a:spcPct val="92000"/>
              </a:lnSpc>
            </a:pPr>
            <a:r>
              <a:rPr lang="es-ES" dirty="0" sz="1800" b="1"/>
              <a:t>Nota: </a:t>
            </a:r>
            <a:r>
              <a:rPr lang="es-ES" dirty="0" sz="1800"/>
              <a:t>el archivo del repositorio se llama Juris1992_2022.csv, pero la cobertura real es 1992-2021 (2021 parcial: 20 sentencias).</a:t>
            </a:r>
          </a:p>
        </p:txBody>
      </p:sp>
    </p:spTree>
    <p:extLst>
      <p:ext uri="{BB962C8B-B14F-4D97-AF65-F5344CB8AC3E}">
        <p14:creationId xmlns:p14="http://schemas.microsoft.com/office/powerpoint/2010/main" val="2097245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50A2FC4-54F7-1C98-D056-AF7D96CEDB04}"/>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1BA93574-4904-163C-EE6A-00327D81A53D}"/>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6509BAB9-808D-6127-B3AC-A8CCF4295C74}"/>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ES" sz="3200" b="1" noProof="0" dirty="0">
                <a:solidFill>
                  <a:schemeClr val="bg1"/>
                </a:solidFill>
                <a:latin typeface="Calibri"/>
                <a:ea typeface="Calibri"/>
                <a:cs typeface="Calibri"/>
                <a:sym typeface="Calibri"/>
              </a:rPr>
              <a:t>Depuración y enriquecimiento del corpus</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10FF3438-83C4-2236-3E45-A178B35A8A73}"/>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Del dato crudo al corpus analizable</a:t>
            </a:r>
          </a:p>
        </p:txBody>
      </p:sp>
      <p:sp>
        <p:nvSpPr>
          <p:cNvPr id="2" name="Rectángulo: esquinas redondeadas 1">
            <a:extLst>
              <a:ext uri="{FF2B5EF4-FFF2-40B4-BE49-F238E27FC236}">
                <a16:creationId xmlns:a16="http://schemas.microsoft.com/office/drawing/2014/main" id="{6248FAB2-D42F-4539-9A9B-1C9C09A35860}"/>
              </a:ext>
            </a:extLst>
          </p:cNvPr>
          <p:cNvSpPr/>
          <p:nvPr/>
        </p:nvSpPr>
        <p:spPr>
          <a:xfrm>
            <a:off x="533400" y="2730500"/>
            <a:ext cx="1905000" cy="198120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1200" b="1" dirty="0">
                <a:solidFill>
                  <a:srgbClr val="2F75B5"/>
                </a:solidFill>
                <a:latin typeface="+mj-lt"/>
                <a:cs typeface="Arial"/>
              </a:rPr>
              <a:t>INGESTA</a:t>
            </a:r>
          </a:p>
          <a:p>
            <a:pPr algn="l"/>
            <a:r>
              <a:rPr lang="es-CO" sz="1200" dirty="0">
                <a:solidFill>
                  <a:srgbClr val="162536"/>
                </a:solidFill>
                <a:latin typeface="+mj-lt"/>
                <a:cs typeface="Arial"/>
              </a:rPr>
              <a:t>
</a:t>
            </a:r>
            <a:r>
              <a:rPr lang="es-CO" sz="1200" b="1" dirty="0">
                <a:solidFill>
                  <a:srgbClr val="162536"/>
                </a:solidFill>
                <a:latin typeface="+mj-lt"/>
                <a:cs typeface="Arial"/>
              </a:rPr>
              <a:t>23.750</a:t>
            </a:r>
            <a:r>
              <a:rPr lang="es-CO" sz="1200" dirty="0">
                <a:solidFill>
                  <a:srgbClr val="162536"/>
                </a:solidFill>
                <a:latin typeface="+mj-lt"/>
                <a:cs typeface="Arial"/>
              </a:rPr>
              <a:t> registros
Texto crudo no estructurado</a:t>
            </a:r>
          </a:p>
        </p:txBody>
      </p:sp>
      <p:sp>
        <p:nvSpPr>
          <p:cNvPr id="3" name="Rectángulo: esquinas redondeadas 2">
            <a:extLst>
              <a:ext uri="{FF2B5EF4-FFF2-40B4-BE49-F238E27FC236}">
                <a16:creationId xmlns:a16="http://schemas.microsoft.com/office/drawing/2014/main" id="{84430993-B52F-4471-AC3C-E6672321BCA4}"/>
              </a:ext>
            </a:extLst>
          </p:cNvPr>
          <p:cNvSpPr/>
          <p:nvPr/>
        </p:nvSpPr>
        <p:spPr>
          <a:xfrm>
            <a:off x="2743200" y="2730500"/>
            <a:ext cx="1905000" cy="1981200"/>
          </a:xfrm>
          <a:prstGeom prst="roundRect">
            <a:avLst/>
          </a:prstGeom>
          <a:solidFill>
            <a:srgbClr val="FFF4D6"/>
          </a:solidFill>
          <a:ln w="19050" cap="flat" cmpd="sng" algn="ctr">
            <a:solidFill>
              <a:srgbClr val="F4B41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200" b="1" dirty="0">
                <a:solidFill>
                  <a:srgbClr val="F4B41A"/>
                </a:solidFill>
                <a:latin typeface="+mj-lt"/>
                <a:cs typeface="Arial"/>
              </a:rPr>
              <a:t>EXTRACCIÓN</a:t>
            </a:r>
          </a:p>
          <a:p>
            <a:pPr algn="l"/>
            <a:r>
              <a:rPr lang="es-ES" sz="1200" dirty="0">
                <a:solidFill>
                  <a:srgbClr val="162536"/>
                </a:solidFill>
                <a:latin typeface="+mj-lt"/>
                <a:cs typeface="Arial"/>
              </a:rPr>
              <a:t>
Extracción mediante expresiones regulares:
- ID</a:t>
            </a:r>
          </a:p>
          <a:p>
            <a:pPr algn="l"/>
            <a:r>
              <a:rPr lang="es-ES" sz="1200" dirty="0">
                <a:solidFill>
                  <a:srgbClr val="162536"/>
                </a:solidFill>
                <a:latin typeface="+mj-lt"/>
                <a:cs typeface="Arial"/>
              </a:rPr>
              <a:t>- Tipo</a:t>
            </a:r>
          </a:p>
          <a:p>
            <a:pPr algn="l"/>
            <a:r>
              <a:rPr lang="es-ES" sz="1200" dirty="0">
                <a:solidFill>
                  <a:srgbClr val="162536"/>
                </a:solidFill>
                <a:latin typeface="+mj-lt"/>
                <a:cs typeface="Arial"/>
              </a:rPr>
              <a:t>- Año</a:t>
            </a:r>
          </a:p>
          <a:p>
            <a:pPr algn="ctr"/>
            <a:r>
              <a:rPr lang="es-ES" sz="1200" dirty="0">
                <a:solidFill>
                  <a:srgbClr val="162536"/>
                </a:solidFill>
                <a:latin typeface="+mj-lt"/>
                <a:cs typeface="Arial"/>
              </a:rPr>
              <a:t>
</a:t>
            </a:r>
            <a:r>
              <a:rPr lang="es-ES" sz="1200" dirty="0">
                <a:solidFill>
                  <a:srgbClr val="0070C0"/>
                </a:solidFill>
                <a:latin typeface="+mj-lt"/>
                <a:cs typeface="Arial"/>
              </a:rPr>
              <a:t>99,97 % eficacia</a:t>
            </a:r>
            <a:endParaRPr lang="es-CO" sz="1200" dirty="0">
              <a:solidFill>
                <a:srgbClr val="0070C0"/>
              </a:solidFill>
              <a:latin typeface="+mj-lt"/>
              <a:cs typeface="Arial"/>
            </a:endParaRPr>
          </a:p>
        </p:txBody>
      </p:sp>
      <p:sp>
        <p:nvSpPr>
          <p:cNvPr id="6" name="Rectángulo: esquinas redondeadas 5">
            <a:extLst>
              <a:ext uri="{FF2B5EF4-FFF2-40B4-BE49-F238E27FC236}">
                <a16:creationId xmlns:a16="http://schemas.microsoft.com/office/drawing/2014/main" id="{884CBCD4-19F2-408F-8164-63D7F5E3906A}"/>
              </a:ext>
            </a:extLst>
          </p:cNvPr>
          <p:cNvSpPr/>
          <p:nvPr/>
        </p:nvSpPr>
        <p:spPr>
          <a:xfrm>
            <a:off x="4953000" y="2730500"/>
            <a:ext cx="1905000" cy="1981200"/>
          </a:xfrm>
          <a:prstGeom prst="roundRect">
            <a:avLst/>
          </a:prstGeom>
          <a:solidFill>
            <a:srgbClr val="FDEBEC"/>
          </a:solidFill>
          <a:ln w="19050" cap="flat" cmpd="sng" algn="ctr">
            <a:solidFill>
              <a:srgbClr val="C94C4C"/>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200" b="1" dirty="0">
                <a:solidFill>
                  <a:srgbClr val="C94C4C"/>
                </a:solidFill>
                <a:latin typeface="+mj-lt"/>
                <a:cs typeface="Arial"/>
              </a:rPr>
              <a:t>DEPURACIÓN</a:t>
            </a:r>
          </a:p>
          <a:p>
            <a:pPr algn="l"/>
            <a:r>
              <a:rPr lang="es-ES" sz="1200" dirty="0">
                <a:solidFill>
                  <a:srgbClr val="162536"/>
                </a:solidFill>
                <a:latin typeface="+mj-lt"/>
                <a:cs typeface="Arial"/>
              </a:rPr>
              <a:t>
- 8 exclusiones (0,03 %)
- 6 autos + 2 HTML</a:t>
            </a:r>
            <a:endParaRPr lang="es-CO" sz="1200" dirty="0">
              <a:solidFill>
                <a:srgbClr val="162536"/>
              </a:solidFill>
              <a:latin typeface="+mj-lt"/>
              <a:cs typeface="Arial"/>
            </a:endParaRPr>
          </a:p>
        </p:txBody>
      </p:sp>
      <p:sp>
        <p:nvSpPr>
          <p:cNvPr id="7" name="Rectángulo: esquinas redondeadas 6">
            <a:extLst>
              <a:ext uri="{FF2B5EF4-FFF2-40B4-BE49-F238E27FC236}">
                <a16:creationId xmlns:a16="http://schemas.microsoft.com/office/drawing/2014/main" id="{E5EB4866-B729-4F2A-9119-44CD59874BDD}"/>
              </a:ext>
            </a:extLst>
          </p:cNvPr>
          <p:cNvSpPr/>
          <p:nvPr/>
        </p:nvSpPr>
        <p:spPr>
          <a:xfrm>
            <a:off x="7162800" y="2730500"/>
            <a:ext cx="1905000" cy="1981200"/>
          </a:xfrm>
          <a:prstGeom prst="roundRect">
            <a:avLst/>
          </a:prstGeom>
          <a:solidFill>
            <a:srgbClr val="E8F5EE"/>
          </a:solidFill>
          <a:ln w="1905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200" b="1" dirty="0">
                <a:solidFill>
                  <a:srgbClr val="2E8B57"/>
                </a:solidFill>
                <a:latin typeface="+mj-lt"/>
                <a:cs typeface="Arial"/>
              </a:rPr>
              <a:t>CONSOLIDACIÓN</a:t>
            </a:r>
          </a:p>
          <a:p>
            <a:pPr algn="l"/>
            <a:r>
              <a:rPr lang="es-ES" sz="1200" dirty="0">
                <a:solidFill>
                  <a:srgbClr val="162536"/>
                </a:solidFill>
                <a:latin typeface="+mj-lt"/>
                <a:cs typeface="Arial"/>
              </a:rPr>
              <a:t>
</a:t>
            </a:r>
            <a:r>
              <a:rPr lang="es-ES" sz="1200" b="1" dirty="0">
                <a:solidFill>
                  <a:srgbClr val="162536"/>
                </a:solidFill>
                <a:latin typeface="+mj-lt"/>
                <a:cs typeface="Arial"/>
              </a:rPr>
              <a:t>23.742 </a:t>
            </a:r>
            <a:r>
              <a:rPr lang="es-ES" sz="1200" dirty="0">
                <a:solidFill>
                  <a:srgbClr val="162536"/>
                </a:solidFill>
                <a:latin typeface="+mj-lt"/>
                <a:cs typeface="Arial"/>
              </a:rPr>
              <a:t>sentencias
Corpus limpio y estructurado</a:t>
            </a:r>
            <a:endParaRPr lang="es-CO" sz="1200" dirty="0">
              <a:solidFill>
                <a:srgbClr val="162536"/>
              </a:solidFill>
              <a:latin typeface="+mj-lt"/>
              <a:cs typeface="Arial"/>
            </a:endParaRPr>
          </a:p>
        </p:txBody>
      </p:sp>
      <p:sp>
        <p:nvSpPr>
          <p:cNvPr id="8" name="Rectángulo: esquinas redondeadas 7">
            <a:extLst>
              <a:ext uri="{FF2B5EF4-FFF2-40B4-BE49-F238E27FC236}">
                <a16:creationId xmlns:a16="http://schemas.microsoft.com/office/drawing/2014/main" id="{731D3422-8AD6-41E6-B0AB-20AE3D4485F8}"/>
              </a:ext>
            </a:extLst>
          </p:cNvPr>
          <p:cNvSpPr/>
          <p:nvPr/>
        </p:nvSpPr>
        <p:spPr>
          <a:xfrm>
            <a:off x="9372600" y="2730500"/>
            <a:ext cx="1905000" cy="1981200"/>
          </a:xfrm>
          <a:prstGeom prst="roundRect">
            <a:avLst/>
          </a:prstGeom>
          <a:solidFill>
            <a:srgbClr val="EEEAF8"/>
          </a:solidFill>
          <a:ln w="19050" cap="flat" cmpd="sng" algn="ctr">
            <a:solidFill>
              <a:srgbClr val="6554A4"/>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200" b="1" dirty="0">
                <a:solidFill>
                  <a:srgbClr val="6554A4"/>
                </a:solidFill>
                <a:latin typeface="+mj-lt"/>
                <a:cs typeface="Arial"/>
              </a:rPr>
              <a:t>VALIDACIÓN</a:t>
            </a:r>
          </a:p>
          <a:p>
            <a:pPr algn="l"/>
            <a:r>
              <a:rPr lang="es-ES" sz="1200" dirty="0">
                <a:solidFill>
                  <a:srgbClr val="162536"/>
                </a:solidFill>
                <a:latin typeface="+mj-lt"/>
                <a:cs typeface="Arial"/>
              </a:rPr>
              <a:t>
Muestra estratificada de 25 documentos
para facilitar la inspección del corpus.</a:t>
            </a:r>
            <a:endParaRPr lang="es-CO" sz="1200" dirty="0">
              <a:solidFill>
                <a:srgbClr val="162536"/>
              </a:solidFill>
              <a:latin typeface="+mj-lt"/>
              <a:cs typeface="Arial"/>
            </a:endParaRPr>
          </a:p>
        </p:txBody>
      </p:sp>
      <p:sp>
        <p:nvSpPr>
          <p:cNvPr id="9" name="Flecha: cheurón 8">
            <a:extLst>
              <a:ext uri="{FF2B5EF4-FFF2-40B4-BE49-F238E27FC236}">
                <a16:creationId xmlns:a16="http://schemas.microsoft.com/office/drawing/2014/main" id="{80F209A5-26F5-4CE9-8935-4538E9AB1D2D}"/>
              </a:ext>
            </a:extLst>
          </p:cNvPr>
          <p:cNvSpPr/>
          <p:nvPr/>
        </p:nvSpPr>
        <p:spPr>
          <a:xfrm>
            <a:off x="2463800" y="3492500"/>
            <a:ext cx="228600" cy="431800"/>
          </a:xfrm>
          <a:prstGeom prst="chevron">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sz="1200">
              <a:solidFill>
                <a:schemeClr val="tx1"/>
              </a:solidFill>
              <a:latin typeface="+mj-lt"/>
            </a:endParaRPr>
          </a:p>
        </p:txBody>
      </p:sp>
      <p:sp>
        <p:nvSpPr>
          <p:cNvPr id="10" name="Flecha: cheurón 9">
            <a:extLst>
              <a:ext uri="{FF2B5EF4-FFF2-40B4-BE49-F238E27FC236}">
                <a16:creationId xmlns:a16="http://schemas.microsoft.com/office/drawing/2014/main" id="{DCF1310A-6E96-4A1A-AEE0-8ED203A5BCDD}"/>
              </a:ext>
            </a:extLst>
          </p:cNvPr>
          <p:cNvSpPr/>
          <p:nvPr/>
        </p:nvSpPr>
        <p:spPr>
          <a:xfrm>
            <a:off x="4673600" y="3492500"/>
            <a:ext cx="228600" cy="431800"/>
          </a:xfrm>
          <a:prstGeom prst="chevron">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sz="1200">
              <a:solidFill>
                <a:schemeClr val="tx1"/>
              </a:solidFill>
              <a:latin typeface="+mj-lt"/>
            </a:endParaRPr>
          </a:p>
        </p:txBody>
      </p:sp>
      <p:sp>
        <p:nvSpPr>
          <p:cNvPr id="11" name="Flecha: cheurón 10">
            <a:extLst>
              <a:ext uri="{FF2B5EF4-FFF2-40B4-BE49-F238E27FC236}">
                <a16:creationId xmlns:a16="http://schemas.microsoft.com/office/drawing/2014/main" id="{13607F2A-1A85-47D2-A578-CADBE849D193}"/>
              </a:ext>
            </a:extLst>
          </p:cNvPr>
          <p:cNvSpPr/>
          <p:nvPr/>
        </p:nvSpPr>
        <p:spPr>
          <a:xfrm>
            <a:off x="6883400" y="3492500"/>
            <a:ext cx="228600" cy="431800"/>
          </a:xfrm>
          <a:prstGeom prst="chevron">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sz="1200">
              <a:solidFill>
                <a:schemeClr val="tx1"/>
              </a:solidFill>
              <a:latin typeface="+mj-lt"/>
            </a:endParaRPr>
          </a:p>
        </p:txBody>
      </p:sp>
      <p:sp>
        <p:nvSpPr>
          <p:cNvPr id="12" name="Flecha: cheurón 11">
            <a:extLst>
              <a:ext uri="{FF2B5EF4-FFF2-40B4-BE49-F238E27FC236}">
                <a16:creationId xmlns:a16="http://schemas.microsoft.com/office/drawing/2014/main" id="{BE14E7C8-35E6-4696-BD98-0742A84707FE}"/>
              </a:ext>
            </a:extLst>
          </p:cNvPr>
          <p:cNvSpPr/>
          <p:nvPr/>
        </p:nvSpPr>
        <p:spPr>
          <a:xfrm>
            <a:off x="9093200" y="3492500"/>
            <a:ext cx="228600" cy="431800"/>
          </a:xfrm>
          <a:prstGeom prst="chevron">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sz="1200">
              <a:solidFill>
                <a:schemeClr val="tx1"/>
              </a:solidFill>
              <a:latin typeface="+mj-lt"/>
            </a:endParaRPr>
          </a:p>
        </p:txBody>
      </p:sp>
      <p:sp>
        <p:nvSpPr>
          <p:cNvPr id="13" name="Rectángulo: esquinas redondeadas 12">
            <a:extLst>
              <a:ext uri="{FF2B5EF4-FFF2-40B4-BE49-F238E27FC236}">
                <a16:creationId xmlns:a16="http://schemas.microsoft.com/office/drawing/2014/main" id="{DC588F28-9763-4963-B9B5-5F3CDE1E5B25}"/>
              </a:ext>
            </a:extLst>
          </p:cNvPr>
          <p:cNvSpPr/>
          <p:nvPr/>
        </p:nvSpPr>
        <p:spPr>
          <a:xfrm>
            <a:off x="1905000" y="5041900"/>
            <a:ext cx="8382000" cy="609600"/>
          </a:xfrm>
          <a:prstGeom prst="roundRect">
            <a:avLst/>
          </a:prstGeom>
          <a:solidFill>
            <a:srgbClr val="07365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rmAutofit/>
          </a:bodyPr>
          <a:lstStyle/>
          <a:p>
            <a:pPr algn="l"/>
            <a:r>
              <a:rPr lang="es-ES" sz="1800" b="1">
                <a:solidFill>
                  <a:srgbClr val="FFFFFF"/>
                </a:solidFill>
                <a:latin typeface="Arial"/>
                <a:cs typeface="Arial"/>
              </a:rPr>
              <a:t>RESULTADO  →  corpus analizable, trazable y preparado para vectorización o modelado</a:t>
            </a:r>
            <a:endParaRPr lang="es-CO" sz="1800" b="1">
              <a:solidFill>
                <a:srgbClr val="FFFFFF"/>
              </a:solidFill>
              <a:latin typeface="Arial"/>
              <a:cs typeface="Arial"/>
            </a:endParaRPr>
          </a:p>
        </p:txBody>
      </p:sp>
      <p:pic>
        <p:nvPicPr>
          <p:cNvPr id="15" name="Imagen 14">
            <a:extLst>
              <a:ext uri="{FF2B5EF4-FFF2-40B4-BE49-F238E27FC236}">
                <a16:creationId xmlns:a16="http://schemas.microsoft.com/office/drawing/2014/main" id="{AF1BA379-3427-7AA7-5C37-68AE4FEBB227}"/>
              </a:ext>
            </a:extLst>
          </p:cNvPr>
          <p:cNvPicPr>
            <a:picLocks noChangeAspect="1"/>
          </p:cNvPicPr>
          <p:nvPr/>
        </p:nvPicPr>
        <p:blipFill>
          <a:blip r:embed="rId4">
            <a:duotone>
              <a:schemeClr val="accent5">
                <a:shade val="45000"/>
                <a:satMod val="135000"/>
              </a:schemeClr>
              <a:prstClr val="white"/>
            </a:duotone>
          </a:blip>
          <a:stretch>
            <a:fillRect/>
          </a:stretch>
        </p:blipFill>
        <p:spPr>
          <a:xfrm>
            <a:off x="1230395" y="1426521"/>
            <a:ext cx="900000" cy="900000"/>
          </a:xfrm>
          <a:prstGeom prst="rect">
            <a:avLst/>
          </a:prstGeom>
        </p:spPr>
      </p:pic>
    </p:spTree>
    <p:extLst>
      <p:ext uri="{BB962C8B-B14F-4D97-AF65-F5344CB8AC3E}">
        <p14:creationId xmlns:p14="http://schemas.microsoft.com/office/powerpoint/2010/main" val="3434509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8BEFE9F5-D38C-89DF-3B15-A39D5C3D3F2B}"/>
            </a:ext>
          </a:extLst>
        </p:cNvPr>
        <p:cNvGrpSpPr/>
        <p:nvPr/>
      </p:nvGrpSpPr>
      <p:grpSpPr>
        <a:xfrm>
          <a:off x="0" y="0"/>
          <a:ext cx="0" cy="0"/>
          <a:chOff x="0" y="0"/>
          <a:chExt cx="0" cy="0"/>
        </a:xfrm>
      </p:grpSpPr>
      <p:pic>
        <p:nvPicPr>
          <p:cNvPr id="89" name="Google Shape;89;p1">
            <a:extLst>
              <a:ext uri="{FF2B5EF4-FFF2-40B4-BE49-F238E27FC236}">
                <a16:creationId xmlns:a16="http://schemas.microsoft.com/office/drawing/2014/main" id="{89E24FBE-A405-8CF5-A2FD-8238EE0CC13A}"/>
              </a:ext>
            </a:extLst>
          </p:cNvPr>
          <p:cNvPicPr preferRelativeResize="0"/>
          <p:nvPr/>
        </p:nvPicPr>
        <p:blipFill rotWithShape="1">
          <a:blip r:embed="rId3">
            <a:alphaModFix/>
          </a:blip>
          <a:srcRect/>
          <a:stretch/>
        </p:blipFill>
        <p:spPr>
          <a:xfrm>
            <a:off x="0" y="-14295"/>
            <a:ext cx="12192000" cy="6105540"/>
          </a:xfrm>
          <a:prstGeom prst="rect">
            <a:avLst/>
          </a:prstGeom>
          <a:noFill/>
          <a:ln>
            <a:noFill/>
          </a:ln>
        </p:spPr>
      </p:pic>
      <p:sp>
        <p:nvSpPr>
          <p:cNvPr id="90" name="Google Shape;90;p1">
            <a:extLst>
              <a:ext uri="{FF2B5EF4-FFF2-40B4-BE49-F238E27FC236}">
                <a16:creationId xmlns:a16="http://schemas.microsoft.com/office/drawing/2014/main" id="{0B2A7784-3AA1-8674-8685-1CE94EE56BC6}"/>
              </a:ext>
            </a:extLst>
          </p:cNvPr>
          <p:cNvSpPr txBox="1">
            <a:spLocks noGrp="1"/>
          </p:cNvSpPr>
          <p:nvPr>
            <p:ph type="subTitle" idx="1"/>
          </p:nvPr>
        </p:nvSpPr>
        <p:spPr>
          <a:xfrm>
            <a:off x="3221420" y="2826829"/>
            <a:ext cx="8843623" cy="1204341"/>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noProof="0" dirty="0" err="1">
                <a:solidFill>
                  <a:schemeClr val="accent4">
                    <a:lumMod val="60000"/>
                    <a:lumOff val="40000"/>
                  </a:schemeClr>
                </a:solidFill>
                <a:latin typeface="Arial"/>
                <a:cs typeface="Arial"/>
              </a:rPr>
              <a:t>Textometría</a:t>
            </a:r>
            <a:endParaRPr lang="es-CO" sz="4800" b="1" noProof="0" dirty="0">
              <a:solidFill>
                <a:schemeClr val="accent4">
                  <a:lumMod val="60000"/>
                  <a:lumOff val="40000"/>
                </a:schemeClr>
              </a:solidFill>
              <a:latin typeface="Arial"/>
              <a:cs typeface="Arial"/>
            </a:endParaRPr>
          </a:p>
          <a:p>
            <a:pPr marL="0" lvl="0" indent="0" algn="ctr">
              <a:lnSpc>
                <a:spcPct val="90000"/>
              </a:lnSpc>
              <a:spcBef>
                <a:spcPts val="0"/>
              </a:spcBef>
              <a:spcAft>
                <a:spcPts val="0"/>
              </a:spcAft>
              <a:buSzPts val="4800"/>
              <a:buNone/>
            </a:pPr>
            <a:endParaRPr lang="es-CO" sz="4800" b="1" noProof="0" dirty="0">
              <a:solidFill>
                <a:schemeClr val="lt1"/>
              </a:solidFill>
              <a:cs typeface="Arial"/>
            </a:endParaRPr>
          </a:p>
          <a:p>
            <a:pPr marL="0" indent="0">
              <a:buClr>
                <a:srgbClr val="FFC000"/>
              </a:buClr>
              <a:buSzPts val="2800"/>
            </a:pPr>
            <a:endParaRPr lang="es-CO" sz="2800" b="1" dirty="0">
              <a:solidFill>
                <a:srgbClr val="FFC000"/>
              </a:solidFill>
              <a:latin typeface="Arial"/>
              <a:ea typeface="Arial"/>
              <a:cs typeface="Arial"/>
            </a:endParaRPr>
          </a:p>
        </p:txBody>
      </p:sp>
    </p:spTree>
    <p:extLst>
      <p:ext uri="{BB962C8B-B14F-4D97-AF65-F5344CB8AC3E}">
        <p14:creationId xmlns:p14="http://schemas.microsoft.com/office/powerpoint/2010/main" val="32444994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E1575B94-F71B-658A-1BA1-1012D8A060FA}"/>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63AFE540-C426-FE99-ED80-37FA59EF5527}"/>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627A695C-85AE-EDDA-AF72-0E0FB7FCCCB0}"/>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Procesamiento</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133DFD0A-C7BE-7615-D6BA-BFC81BDB5BC5}"/>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Procesamiento textual</a:t>
            </a:r>
          </a:p>
        </p:txBody>
      </p:sp>
      <p:sp>
        <p:nvSpPr>
          <p:cNvPr id="2" name="Rectángulo: esquinas redondeadas 1">
            <a:extLst>
              <a:ext uri="{FF2B5EF4-FFF2-40B4-BE49-F238E27FC236}">
                <a16:creationId xmlns:a16="http://schemas.microsoft.com/office/drawing/2014/main" id="{1311EF03-6069-4AB0-878C-BC6259BE39F3}"/>
              </a:ext>
            </a:extLst>
          </p:cNvPr>
          <p:cNvSpPr/>
          <p:nvPr/>
        </p:nvSpPr>
        <p:spPr>
          <a:xfrm>
            <a:off x="825500" y="2603500"/>
            <a:ext cx="3048000" cy="914400"/>
          </a:xfrm>
          <a:prstGeom prst="roundRect">
            <a:avLst/>
          </a:prstGeom>
          <a:solidFill>
            <a:srgbClr val="EAF2F8"/>
          </a:solidFill>
          <a:ln w="1778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b="1" dirty="0">
                <a:solidFill>
                  <a:srgbClr val="2F75B5"/>
                </a:solidFill>
                <a:latin typeface="Arial"/>
                <a:cs typeface="Arial"/>
              </a:rPr>
              <a:t>01  Texto original</a:t>
            </a:r>
            <a:r>
              <a:rPr lang="es-CO" sz="1200" dirty="0">
                <a:solidFill>
                  <a:srgbClr val="153047"/>
                </a:solidFill>
                <a:latin typeface="Arial"/>
                <a:cs typeface="Arial"/>
              </a:rPr>
              <a:t>
Entrada sin transformar</a:t>
            </a:r>
          </a:p>
        </p:txBody>
      </p:sp>
      <p:sp>
        <p:nvSpPr>
          <p:cNvPr id="3" name="Rectángulo: esquinas redondeadas 2">
            <a:extLst>
              <a:ext uri="{FF2B5EF4-FFF2-40B4-BE49-F238E27FC236}">
                <a16:creationId xmlns:a16="http://schemas.microsoft.com/office/drawing/2014/main" id="{807B0BE3-68C7-49D7-846F-CCD1C3DFE3FF}"/>
              </a:ext>
            </a:extLst>
          </p:cNvPr>
          <p:cNvSpPr/>
          <p:nvPr/>
        </p:nvSpPr>
        <p:spPr>
          <a:xfrm>
            <a:off x="4572000" y="2603500"/>
            <a:ext cx="3048000" cy="914400"/>
          </a:xfrm>
          <a:prstGeom prst="roundRect">
            <a:avLst/>
          </a:prstGeom>
          <a:solidFill>
            <a:srgbClr val="EAF2F8"/>
          </a:solidFill>
          <a:ln w="1778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2F75B5"/>
                </a:solidFill>
                <a:latin typeface="Arial"/>
                <a:cs typeface="Arial"/>
              </a:rPr>
              <a:t>02  Minúsculas</a:t>
            </a:r>
            <a:r>
              <a:rPr lang="es-ES" sz="1200">
                <a:solidFill>
                  <a:srgbClr val="153047"/>
                </a:solidFill>
                <a:latin typeface="Arial"/>
                <a:cs typeface="Arial"/>
              </a:rPr>
              <a:t>
Unificación de caja</a:t>
            </a:r>
            <a:endParaRPr lang="es-CO" sz="1200">
              <a:solidFill>
                <a:srgbClr val="153047"/>
              </a:solidFill>
              <a:latin typeface="Arial"/>
              <a:cs typeface="Arial"/>
            </a:endParaRPr>
          </a:p>
        </p:txBody>
      </p:sp>
      <p:sp>
        <p:nvSpPr>
          <p:cNvPr id="6" name="Rectángulo: esquinas redondeadas 5">
            <a:extLst>
              <a:ext uri="{FF2B5EF4-FFF2-40B4-BE49-F238E27FC236}">
                <a16:creationId xmlns:a16="http://schemas.microsoft.com/office/drawing/2014/main" id="{EF7BC152-D6A5-40BD-8BBD-2774A98FBD50}"/>
              </a:ext>
            </a:extLst>
          </p:cNvPr>
          <p:cNvSpPr/>
          <p:nvPr/>
        </p:nvSpPr>
        <p:spPr>
          <a:xfrm>
            <a:off x="8318500" y="2603500"/>
            <a:ext cx="3048000" cy="914400"/>
          </a:xfrm>
          <a:prstGeom prst="roundRect">
            <a:avLst/>
          </a:prstGeom>
          <a:solidFill>
            <a:srgbClr val="EAF2F8"/>
          </a:solidFill>
          <a:ln w="1778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2F75B5"/>
                </a:solidFill>
                <a:latin typeface="Arial"/>
                <a:cs typeface="Arial"/>
              </a:rPr>
              <a:t>03  Normalización Unicode</a:t>
            </a:r>
            <a:r>
              <a:rPr lang="es-ES" sz="1200">
                <a:solidFill>
                  <a:srgbClr val="153047"/>
                </a:solidFill>
                <a:latin typeface="Arial"/>
                <a:cs typeface="Arial"/>
              </a:rPr>
              <a:t>
Codificación consistente</a:t>
            </a:r>
            <a:endParaRPr lang="es-CO" sz="1200">
              <a:solidFill>
                <a:srgbClr val="153047"/>
              </a:solidFill>
              <a:latin typeface="Arial"/>
              <a:cs typeface="Arial"/>
            </a:endParaRPr>
          </a:p>
        </p:txBody>
      </p:sp>
      <p:sp>
        <p:nvSpPr>
          <p:cNvPr id="7" name="Rectángulo: esquinas redondeadas 6">
            <a:extLst>
              <a:ext uri="{FF2B5EF4-FFF2-40B4-BE49-F238E27FC236}">
                <a16:creationId xmlns:a16="http://schemas.microsoft.com/office/drawing/2014/main" id="{C352E3A0-C87F-434C-81EE-6385E1C30D47}"/>
              </a:ext>
            </a:extLst>
          </p:cNvPr>
          <p:cNvSpPr/>
          <p:nvPr/>
        </p:nvSpPr>
        <p:spPr>
          <a:xfrm>
            <a:off x="8318500" y="4000500"/>
            <a:ext cx="3048000" cy="914400"/>
          </a:xfrm>
          <a:prstGeom prst="roundRect">
            <a:avLst/>
          </a:prstGeom>
          <a:solidFill>
            <a:srgbClr val="FFF4D6"/>
          </a:solidFill>
          <a:ln w="17780" cap="flat" cmpd="sng" algn="ctr">
            <a:solidFill>
              <a:srgbClr val="E6A7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E6A700"/>
                </a:solidFill>
                <a:latin typeface="Arial"/>
                <a:cs typeface="Arial"/>
              </a:rPr>
              <a:t>04  Eliminar tildes</a:t>
            </a:r>
            <a:r>
              <a:rPr lang="es-ES" sz="1200">
                <a:solidFill>
                  <a:srgbClr val="153047"/>
                </a:solidFill>
                <a:latin typeface="Arial"/>
                <a:cs typeface="Arial"/>
              </a:rPr>
              <a:t>
Normalización diacrítica</a:t>
            </a:r>
            <a:endParaRPr lang="es-CO" sz="1200">
              <a:solidFill>
                <a:srgbClr val="153047"/>
              </a:solidFill>
              <a:latin typeface="Arial"/>
              <a:cs typeface="Arial"/>
            </a:endParaRPr>
          </a:p>
        </p:txBody>
      </p:sp>
      <p:sp>
        <p:nvSpPr>
          <p:cNvPr id="8" name="Rectángulo: esquinas redondeadas 7">
            <a:extLst>
              <a:ext uri="{FF2B5EF4-FFF2-40B4-BE49-F238E27FC236}">
                <a16:creationId xmlns:a16="http://schemas.microsoft.com/office/drawing/2014/main" id="{ED464615-21FB-4C3B-AF02-04C5BFFF980D}"/>
              </a:ext>
            </a:extLst>
          </p:cNvPr>
          <p:cNvSpPr/>
          <p:nvPr/>
        </p:nvSpPr>
        <p:spPr>
          <a:xfrm>
            <a:off x="4572000" y="4000500"/>
            <a:ext cx="3048000" cy="914400"/>
          </a:xfrm>
          <a:prstGeom prst="roundRect">
            <a:avLst/>
          </a:prstGeom>
          <a:solidFill>
            <a:srgbClr val="FFF4D6"/>
          </a:solidFill>
          <a:ln w="17780" cap="flat" cmpd="sng" algn="ctr">
            <a:solidFill>
              <a:srgbClr val="E6A7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E6A700"/>
                </a:solidFill>
                <a:latin typeface="Arial"/>
                <a:cs typeface="Arial"/>
              </a:rPr>
              <a:t>05  Preservar la ñ</a:t>
            </a:r>
            <a:r>
              <a:rPr lang="es-ES" sz="1200">
                <a:solidFill>
                  <a:srgbClr val="153047"/>
                </a:solidFill>
                <a:latin typeface="Arial"/>
                <a:cs typeface="Arial"/>
              </a:rPr>
              <a:t>
Excepción lingüística</a:t>
            </a:r>
            <a:endParaRPr lang="es-CO" sz="1200">
              <a:solidFill>
                <a:srgbClr val="153047"/>
              </a:solidFill>
              <a:latin typeface="Arial"/>
              <a:cs typeface="Arial"/>
            </a:endParaRPr>
          </a:p>
        </p:txBody>
      </p:sp>
      <p:sp>
        <p:nvSpPr>
          <p:cNvPr id="9" name="Rectángulo: esquinas redondeadas 8">
            <a:extLst>
              <a:ext uri="{FF2B5EF4-FFF2-40B4-BE49-F238E27FC236}">
                <a16:creationId xmlns:a16="http://schemas.microsoft.com/office/drawing/2014/main" id="{DA911D6C-A307-4A4C-9DA6-EE42698A3A5F}"/>
              </a:ext>
            </a:extLst>
          </p:cNvPr>
          <p:cNvSpPr/>
          <p:nvPr/>
        </p:nvSpPr>
        <p:spPr>
          <a:xfrm>
            <a:off x="825500" y="4000500"/>
            <a:ext cx="3048000" cy="914400"/>
          </a:xfrm>
          <a:prstGeom prst="roundRect">
            <a:avLst/>
          </a:prstGeom>
          <a:solidFill>
            <a:srgbClr val="FFF4D6"/>
          </a:solidFill>
          <a:ln w="17780" cap="flat" cmpd="sng" algn="ctr">
            <a:solidFill>
              <a:srgbClr val="E6A7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E6A700"/>
                </a:solidFill>
                <a:latin typeface="Arial"/>
                <a:cs typeface="Arial"/>
              </a:rPr>
              <a:t>06  Eliminar ruido</a:t>
            </a:r>
            <a:r>
              <a:rPr lang="es-ES" sz="1200">
                <a:solidFill>
                  <a:srgbClr val="153047"/>
                </a:solidFill>
                <a:latin typeface="Arial"/>
                <a:cs typeface="Arial"/>
              </a:rPr>
              <a:t>
Números, símbolos y puntuación</a:t>
            </a:r>
            <a:endParaRPr lang="es-CO" sz="1200">
              <a:solidFill>
                <a:srgbClr val="153047"/>
              </a:solidFill>
              <a:latin typeface="Arial"/>
              <a:cs typeface="Arial"/>
            </a:endParaRPr>
          </a:p>
        </p:txBody>
      </p:sp>
      <p:sp>
        <p:nvSpPr>
          <p:cNvPr id="10" name="Rectángulo: esquinas redondeadas 9">
            <a:extLst>
              <a:ext uri="{FF2B5EF4-FFF2-40B4-BE49-F238E27FC236}">
                <a16:creationId xmlns:a16="http://schemas.microsoft.com/office/drawing/2014/main" id="{2AC8911C-1F53-41AE-9517-BAA473D181D4}"/>
              </a:ext>
            </a:extLst>
          </p:cNvPr>
          <p:cNvSpPr/>
          <p:nvPr/>
        </p:nvSpPr>
        <p:spPr>
          <a:xfrm>
            <a:off x="825500" y="5397500"/>
            <a:ext cx="3048000" cy="914400"/>
          </a:xfrm>
          <a:prstGeom prst="roundRect">
            <a:avLst/>
          </a:prstGeom>
          <a:solidFill>
            <a:srgbClr val="E8F5EE"/>
          </a:solidFill>
          <a:ln w="1778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2E8B57"/>
                </a:solidFill>
                <a:latin typeface="Arial"/>
                <a:cs typeface="Arial"/>
              </a:rPr>
              <a:t>07  Tokenización</a:t>
            </a:r>
            <a:r>
              <a:rPr lang="es-ES" sz="1200">
                <a:solidFill>
                  <a:srgbClr val="153047"/>
                </a:solidFill>
                <a:latin typeface="Arial"/>
                <a:cs typeface="Arial"/>
              </a:rPr>
              <a:t>
Separación en unidades</a:t>
            </a:r>
            <a:endParaRPr lang="es-CO" sz="1200">
              <a:solidFill>
                <a:srgbClr val="153047"/>
              </a:solidFill>
              <a:latin typeface="Arial"/>
              <a:cs typeface="Arial"/>
            </a:endParaRPr>
          </a:p>
        </p:txBody>
      </p:sp>
      <p:sp>
        <p:nvSpPr>
          <p:cNvPr id="11" name="Rectángulo: esquinas redondeadas 10">
            <a:extLst>
              <a:ext uri="{FF2B5EF4-FFF2-40B4-BE49-F238E27FC236}">
                <a16:creationId xmlns:a16="http://schemas.microsoft.com/office/drawing/2014/main" id="{6DAE4DB8-269E-43D0-A623-108B67FA9D33}"/>
              </a:ext>
            </a:extLst>
          </p:cNvPr>
          <p:cNvSpPr/>
          <p:nvPr/>
        </p:nvSpPr>
        <p:spPr>
          <a:xfrm>
            <a:off x="4572000" y="5397500"/>
            <a:ext cx="3048000" cy="914400"/>
          </a:xfrm>
          <a:prstGeom prst="roundRect">
            <a:avLst/>
          </a:prstGeom>
          <a:solidFill>
            <a:srgbClr val="E8F5EE"/>
          </a:solidFill>
          <a:ln w="1778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2E8B57"/>
                </a:solidFill>
                <a:latin typeface="Arial"/>
                <a:cs typeface="Arial"/>
              </a:rPr>
              <a:t>08  Filtrar residuos</a:t>
            </a:r>
            <a:r>
              <a:rPr lang="es-ES" sz="1200">
                <a:solidFill>
                  <a:srgbClr val="153047"/>
                </a:solidFill>
                <a:latin typeface="Arial"/>
                <a:cs typeface="Arial"/>
              </a:rPr>
              <a:t>
Depuración de tokens</a:t>
            </a:r>
            <a:endParaRPr lang="es-CO" sz="1200">
              <a:solidFill>
                <a:srgbClr val="153047"/>
              </a:solidFill>
              <a:latin typeface="Arial"/>
              <a:cs typeface="Arial"/>
            </a:endParaRPr>
          </a:p>
        </p:txBody>
      </p:sp>
      <p:sp>
        <p:nvSpPr>
          <p:cNvPr id="12" name="Fusion-E-Paso09">
            <a:extLst>
              <a:ext uri="{FF2B5EF4-FFF2-40B4-BE49-F238E27FC236}">
                <a16:creationId xmlns:a16="http://schemas.microsoft.com/office/drawing/2014/main" id="{51E796EB-6746-4D9E-9772-59CACBF45FA9}"/>
              </a:ext>
            </a:extLst>
          </p:cNvPr>
          <p:cNvSpPr/>
          <p:nvPr/>
        </p:nvSpPr>
        <p:spPr>
          <a:xfrm>
            <a:off x="8318500" y="5397500"/>
            <a:ext cx="3048000" cy="914400"/>
          </a:xfrm>
          <a:prstGeom prst="roundRect">
            <a:avLst/>
          </a:prstGeom>
          <a:solidFill>
            <a:srgbClr val="E8F5EE"/>
          </a:solidFill>
          <a:ln w="1778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b="1">
                <a:solidFill>
                  <a:srgbClr val="2E8B57"/>
                </a:solidFill>
                <a:latin typeface="Arial"/>
                <a:cs typeface="Arial"/>
              </a:rPr>
              <a:t>09  Eliminar stopwords</a:t>
            </a:r>
            <a:r>
              <a:rPr lang="es-CO" sz="1100">
                <a:solidFill>
                  <a:srgbClr val="153047"/>
                </a:solidFill>
                <a:latin typeface="Arial"/>
                <a:cs typeface="Arial"/>
              </a:rPr>
              <a:t>
Conservar términos informativos · 306 formas normalizadas (sin tildes)</a:t>
            </a:r>
          </a:p>
        </p:txBody>
      </p:sp>
      <p:sp>
        <p:nvSpPr>
          <p:cNvPr id="13" name="Flecha: a la derecha 12">
            <a:extLst>
              <a:ext uri="{FF2B5EF4-FFF2-40B4-BE49-F238E27FC236}">
                <a16:creationId xmlns:a16="http://schemas.microsoft.com/office/drawing/2014/main" id="{FCB675D6-E9D3-43E6-A97D-1CC23AEE847F}"/>
              </a:ext>
            </a:extLst>
          </p:cNvPr>
          <p:cNvSpPr/>
          <p:nvPr/>
        </p:nvSpPr>
        <p:spPr>
          <a:xfrm>
            <a:off x="3962400" y="2895600"/>
            <a:ext cx="508000" cy="3048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4" name="Flecha: a la derecha 13">
            <a:extLst>
              <a:ext uri="{FF2B5EF4-FFF2-40B4-BE49-F238E27FC236}">
                <a16:creationId xmlns:a16="http://schemas.microsoft.com/office/drawing/2014/main" id="{09B47A85-B14D-4C29-9D77-125E16659E26}"/>
              </a:ext>
            </a:extLst>
          </p:cNvPr>
          <p:cNvSpPr/>
          <p:nvPr/>
        </p:nvSpPr>
        <p:spPr>
          <a:xfrm>
            <a:off x="7708900" y="2895600"/>
            <a:ext cx="508000" cy="3048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5" name="Flecha: hacia abajo 14">
            <a:extLst>
              <a:ext uri="{FF2B5EF4-FFF2-40B4-BE49-F238E27FC236}">
                <a16:creationId xmlns:a16="http://schemas.microsoft.com/office/drawing/2014/main" id="{CF5C7702-880A-46BC-951A-9C8E69D05395}"/>
              </a:ext>
            </a:extLst>
          </p:cNvPr>
          <p:cNvSpPr/>
          <p:nvPr/>
        </p:nvSpPr>
        <p:spPr>
          <a:xfrm>
            <a:off x="9613900" y="3581400"/>
            <a:ext cx="304800" cy="330200"/>
          </a:xfrm>
          <a:prstGeom prst="down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7" name="Flecha: hacia la izquierda 16">
            <a:extLst>
              <a:ext uri="{FF2B5EF4-FFF2-40B4-BE49-F238E27FC236}">
                <a16:creationId xmlns:a16="http://schemas.microsoft.com/office/drawing/2014/main" id="{0F77FE1F-F3F4-4665-9271-813542D0F4B3}"/>
              </a:ext>
            </a:extLst>
          </p:cNvPr>
          <p:cNvSpPr/>
          <p:nvPr/>
        </p:nvSpPr>
        <p:spPr>
          <a:xfrm>
            <a:off x="7708900" y="4292600"/>
            <a:ext cx="508000" cy="304800"/>
          </a:xfrm>
          <a:prstGeom prst="lef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8" name="Flecha: hacia la izquierda 17">
            <a:extLst>
              <a:ext uri="{FF2B5EF4-FFF2-40B4-BE49-F238E27FC236}">
                <a16:creationId xmlns:a16="http://schemas.microsoft.com/office/drawing/2014/main" id="{E8CDFA4A-27F5-49DC-980E-410B1DD602DD}"/>
              </a:ext>
            </a:extLst>
          </p:cNvPr>
          <p:cNvSpPr/>
          <p:nvPr/>
        </p:nvSpPr>
        <p:spPr>
          <a:xfrm>
            <a:off x="3962400" y="4292600"/>
            <a:ext cx="508000" cy="304800"/>
          </a:xfrm>
          <a:prstGeom prst="lef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9" name="Flecha: hacia abajo 18">
            <a:extLst>
              <a:ext uri="{FF2B5EF4-FFF2-40B4-BE49-F238E27FC236}">
                <a16:creationId xmlns:a16="http://schemas.microsoft.com/office/drawing/2014/main" id="{4AA1A1BC-C240-47D2-9CAE-75060DCE424B}"/>
              </a:ext>
            </a:extLst>
          </p:cNvPr>
          <p:cNvSpPr/>
          <p:nvPr/>
        </p:nvSpPr>
        <p:spPr>
          <a:xfrm>
            <a:off x="2120900" y="4978400"/>
            <a:ext cx="304800" cy="330200"/>
          </a:xfrm>
          <a:prstGeom prst="down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0" name="Flecha: a la derecha 19">
            <a:extLst>
              <a:ext uri="{FF2B5EF4-FFF2-40B4-BE49-F238E27FC236}">
                <a16:creationId xmlns:a16="http://schemas.microsoft.com/office/drawing/2014/main" id="{A79EECCB-40AD-47E3-83B9-B8AD03677DBC}"/>
              </a:ext>
            </a:extLst>
          </p:cNvPr>
          <p:cNvSpPr/>
          <p:nvPr/>
        </p:nvSpPr>
        <p:spPr>
          <a:xfrm>
            <a:off x="3962400" y="5689600"/>
            <a:ext cx="508000" cy="3048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1" name="Flecha: a la derecha 20">
            <a:extLst>
              <a:ext uri="{FF2B5EF4-FFF2-40B4-BE49-F238E27FC236}">
                <a16:creationId xmlns:a16="http://schemas.microsoft.com/office/drawing/2014/main" id="{9443039A-9295-4545-A4B7-3A1D372B998B}"/>
              </a:ext>
            </a:extLst>
          </p:cNvPr>
          <p:cNvSpPr/>
          <p:nvPr/>
        </p:nvSpPr>
        <p:spPr>
          <a:xfrm>
            <a:off x="7708900" y="5689600"/>
            <a:ext cx="508000" cy="3048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22" name="CuadroTexto 21">
            <a:extLst>
              <a:ext uri="{FF2B5EF4-FFF2-40B4-BE49-F238E27FC236}">
                <a16:creationId xmlns:a16="http://schemas.microsoft.com/office/drawing/2014/main" id="{AA32273E-A771-45F2-B266-B29D9C55F8B4}"/>
              </a:ext>
            </a:extLst>
          </p:cNvPr>
          <p:cNvSpPr txBox="1"/>
          <p:nvPr/>
        </p:nvSpPr>
        <p:spPr>
          <a:xfrm>
            <a:off x="825500" y="2349500"/>
            <a:ext cx="3048000" cy="228600"/>
          </a:xfrm>
          <a:prstGeom prst="rect">
            <a:avLst/>
          </a:prstGeom>
          <a:noFill/>
        </p:spPr>
        <p:txBody>
          <a:bodyPr vertOverflow="overflow" vert="horz" wrap="square" rtlCol="0" anchor="t">
            <a:spAutoFit/>
          </a:bodyPr>
          <a:lstStyle/>
          <a:p>
            <a:pPr algn="l"/>
            <a:r>
              <a:rPr lang="es-CO" sz="900" b="1">
                <a:solidFill>
                  <a:srgbClr val="2F75B5"/>
                </a:solidFill>
              </a:rPr>
              <a:t>PREPARACIÓN</a:t>
            </a:r>
          </a:p>
        </p:txBody>
      </p:sp>
      <p:sp>
        <p:nvSpPr>
          <p:cNvPr id="23" name="CuadroTexto 22">
            <a:extLst>
              <a:ext uri="{FF2B5EF4-FFF2-40B4-BE49-F238E27FC236}">
                <a16:creationId xmlns:a16="http://schemas.microsoft.com/office/drawing/2014/main" id="{045FDA25-E435-420D-9EC6-7BB600F15D8D}"/>
              </a:ext>
            </a:extLst>
          </p:cNvPr>
          <p:cNvSpPr txBox="1"/>
          <p:nvPr/>
        </p:nvSpPr>
        <p:spPr>
          <a:xfrm>
            <a:off x="825500" y="3746500"/>
            <a:ext cx="3048000" cy="228600"/>
          </a:xfrm>
          <a:prstGeom prst="rect">
            <a:avLst/>
          </a:prstGeom>
          <a:noFill/>
        </p:spPr>
        <p:txBody>
          <a:bodyPr vertOverflow="overflow" vert="horz" wrap="square" rtlCol="0" anchor="t">
            <a:spAutoFit/>
          </a:bodyPr>
          <a:lstStyle/>
          <a:p>
            <a:pPr algn="l"/>
            <a:r>
              <a:rPr lang="es-CO" sz="900" b="1">
                <a:solidFill>
                  <a:srgbClr val="C58B00"/>
                </a:solidFill>
              </a:rPr>
              <a:t>NORMALIZACIÓN Y LIMPIEZA</a:t>
            </a:r>
          </a:p>
        </p:txBody>
      </p:sp>
      <p:sp>
        <p:nvSpPr>
          <p:cNvPr id="24" name="CuadroTexto 23">
            <a:extLst>
              <a:ext uri="{FF2B5EF4-FFF2-40B4-BE49-F238E27FC236}">
                <a16:creationId xmlns:a16="http://schemas.microsoft.com/office/drawing/2014/main" id="{8C35CA70-5544-4A5D-88F5-9E1C57579D16}"/>
              </a:ext>
            </a:extLst>
          </p:cNvPr>
          <p:cNvSpPr txBox="1"/>
          <p:nvPr/>
        </p:nvSpPr>
        <p:spPr>
          <a:xfrm>
            <a:off x="4572000" y="5143500"/>
            <a:ext cx="3048000" cy="228600"/>
          </a:xfrm>
          <a:prstGeom prst="rect">
            <a:avLst/>
          </a:prstGeom>
          <a:noFill/>
        </p:spPr>
        <p:txBody>
          <a:bodyPr vertOverflow="overflow" vert="horz" wrap="square" rtlCol="0" anchor="t">
            <a:spAutoFit/>
          </a:bodyPr>
          <a:lstStyle/>
          <a:p>
            <a:pPr algn="l"/>
            <a:r>
              <a:rPr lang="es-CO" sz="900" b="1">
                <a:solidFill>
                  <a:srgbClr val="2E8B57"/>
                </a:solidFill>
              </a:rPr>
              <a:t>TOKENIZACIÓN Y FILTRADO</a:t>
            </a:r>
          </a:p>
        </p:txBody>
      </p:sp>
      <p:pic>
        <p:nvPicPr>
          <p:cNvPr id="27" name="Imagen 26">
            <a:extLst>
              <a:ext uri="{FF2B5EF4-FFF2-40B4-BE49-F238E27FC236}">
                <a16:creationId xmlns:a16="http://schemas.microsoft.com/office/drawing/2014/main" id="{44C7BCC6-52F2-69F8-727E-4DB61CB68118}"/>
              </a:ext>
            </a:extLst>
          </p:cNvPr>
          <p:cNvPicPr>
            <a:picLocks noChangeAspect="1"/>
          </p:cNvPicPr>
          <p:nvPr/>
        </p:nvPicPr>
        <p:blipFill>
          <a:blip r:embed="rId4">
            <a:duotone>
              <a:schemeClr val="accent5">
                <a:shade val="45000"/>
                <a:satMod val="135000"/>
              </a:schemeClr>
              <a:prstClr val="white"/>
            </a:duotone>
          </a:blip>
          <a:stretch>
            <a:fillRect/>
          </a:stretch>
        </p:blipFill>
        <p:spPr>
          <a:xfrm>
            <a:off x="1227647" y="1420332"/>
            <a:ext cx="900000" cy="900000"/>
          </a:xfrm>
          <a:prstGeom prst="rect">
            <a:avLst/>
          </a:prstGeom>
        </p:spPr>
      </p:pic>
    </p:spTree>
    <p:extLst>
      <p:ext uri="{BB962C8B-B14F-4D97-AF65-F5344CB8AC3E}">
        <p14:creationId xmlns:p14="http://schemas.microsoft.com/office/powerpoint/2010/main" val="949225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CE1376D9-1124-69D1-D236-8BCB7542EFDA}"/>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A3D9FF26-1541-F34D-43A0-5928F4D4D30D}"/>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A1271B2F-800C-E8C0-1F38-A825E8825B2F}"/>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Procesamiento</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7A35ED7E-FC40-B1CA-0522-3A66C7E97822}"/>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Dimensión del corpus</a:t>
            </a:r>
          </a:p>
        </p:txBody>
      </p:sp>
      <p:sp>
        <p:nvSpPr>
          <p:cNvPr id="2" name="Rectángulo: esquinas redondeadas 1">
            <a:extLst>
              <a:ext uri="{FF2B5EF4-FFF2-40B4-BE49-F238E27FC236}">
                <a16:creationId xmlns:a16="http://schemas.microsoft.com/office/drawing/2014/main" id="{E5BA8501-5D1C-4ABC-80A5-E4F235154FC5}"/>
              </a:ext>
            </a:extLst>
          </p:cNvPr>
          <p:cNvSpPr/>
          <p:nvPr/>
        </p:nvSpPr>
        <p:spPr>
          <a:xfrm>
            <a:off x="787400" y="2603500"/>
            <a:ext cx="3111500" cy="990600"/>
          </a:xfrm>
          <a:prstGeom prst="roundRect">
            <a:avLst/>
          </a:prstGeom>
          <a:solidFill>
            <a:srgbClr val="07365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2600" b="1">
                <a:solidFill>
                  <a:srgbClr val="F4B41A"/>
                </a:solidFill>
                <a:latin typeface="Arial"/>
                <a:cs typeface="Arial"/>
              </a:rPr>
              <a:t>23.742</a:t>
            </a:r>
            <a:r>
              <a:rPr lang="es-CO" sz="1600" b="1">
                <a:solidFill>
                  <a:srgbClr val="FFFFFF"/>
                </a:solidFill>
                <a:latin typeface="Arial"/>
                <a:cs typeface="Arial"/>
              </a:rPr>
              <a:t>
SENTENCIAS</a:t>
            </a:r>
            <a:endParaRPr lang="es-CO" sz="1600" b="1" dirty="0">
              <a:solidFill>
                <a:srgbClr val="FFFFFF"/>
              </a:solidFill>
              <a:latin typeface="Arial"/>
              <a:cs typeface="Arial"/>
            </a:endParaRPr>
          </a:p>
        </p:txBody>
      </p:sp>
      <p:sp>
        <p:nvSpPr>
          <p:cNvPr id="3" name="Rectángulo: esquinas redondeadas 2">
            <a:extLst>
              <a:ext uri="{FF2B5EF4-FFF2-40B4-BE49-F238E27FC236}">
                <a16:creationId xmlns:a16="http://schemas.microsoft.com/office/drawing/2014/main" id="{DB842BE5-E615-4018-B21E-B0C78A6C0FC3}"/>
              </a:ext>
            </a:extLst>
          </p:cNvPr>
          <p:cNvSpPr/>
          <p:nvPr/>
        </p:nvSpPr>
        <p:spPr>
          <a:xfrm>
            <a:off x="4140200" y="2603500"/>
            <a:ext cx="3111500" cy="99060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2400" b="1">
                <a:solidFill>
                  <a:srgbClr val="2F75B5"/>
                </a:solidFill>
                <a:latin typeface="Arial"/>
                <a:cs typeface="Arial"/>
              </a:rPr>
              <a:t>≈ 10.993</a:t>
            </a:r>
            <a:r>
              <a:rPr lang="es-CO" sz="1200" b="1">
                <a:solidFill>
                  <a:srgbClr val="17395C"/>
                </a:solidFill>
                <a:latin typeface="Arial"/>
                <a:cs typeface="Arial"/>
              </a:rPr>
              <a:t>
PALABRAS POR SENTENCIA</a:t>
            </a:r>
          </a:p>
        </p:txBody>
      </p:sp>
      <p:sp>
        <p:nvSpPr>
          <p:cNvPr id="6" name="Rectángulo: esquinas redondeadas 5">
            <a:extLst>
              <a:ext uri="{FF2B5EF4-FFF2-40B4-BE49-F238E27FC236}">
                <a16:creationId xmlns:a16="http://schemas.microsoft.com/office/drawing/2014/main" id="{95665D40-3C6B-4109-BBB1-CBA1A9848598}"/>
              </a:ext>
            </a:extLst>
          </p:cNvPr>
          <p:cNvSpPr/>
          <p:nvPr/>
        </p:nvSpPr>
        <p:spPr>
          <a:xfrm>
            <a:off x="7493000" y="2603500"/>
            <a:ext cx="3873500" cy="990600"/>
          </a:xfrm>
          <a:prstGeom prst="roundRect">
            <a:avLst/>
          </a:prstGeom>
          <a:solidFill>
            <a:srgbClr val="FFF4D6"/>
          </a:solidFill>
          <a:ln w="19050" cap="flat" cmpd="sng" algn="ctr">
            <a:solidFill>
              <a:srgbClr val="E6A7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2400" b="1">
                <a:solidFill>
                  <a:srgbClr val="D49400"/>
                </a:solidFill>
                <a:latin typeface="Arial"/>
                <a:cs typeface="Arial"/>
              </a:rPr>
              <a:t>≈ 48 %</a:t>
            </a:r>
            <a:r>
              <a:rPr lang="es-CO" sz="1200" b="1">
                <a:solidFill>
                  <a:srgbClr val="5D4700"/>
                </a:solidFill>
                <a:latin typeface="Arial"/>
                <a:cs typeface="Arial"/>
              </a:rPr>
              <a:t>
TOKENS FUNCIONALES IDENTIFICADOS</a:t>
            </a:r>
          </a:p>
        </p:txBody>
      </p:sp>
      <p:sp>
        <p:nvSpPr>
          <p:cNvPr id="7" name="CuadroTexto 6">
            <a:extLst>
              <a:ext uri="{FF2B5EF4-FFF2-40B4-BE49-F238E27FC236}">
                <a16:creationId xmlns:a16="http://schemas.microsoft.com/office/drawing/2014/main" id="{E3AF6D9B-235A-433B-8FAA-0ABDF4EDE898}"/>
              </a:ext>
            </a:extLst>
          </p:cNvPr>
          <p:cNvSpPr txBox="1"/>
          <p:nvPr/>
        </p:nvSpPr>
        <p:spPr>
          <a:xfrm>
            <a:off x="787400" y="3898900"/>
            <a:ext cx="4445000" cy="254000"/>
          </a:xfrm>
          <a:prstGeom prst="rect">
            <a:avLst/>
          </a:prstGeom>
          <a:noFill/>
        </p:spPr>
        <p:txBody>
          <a:bodyPr vertOverflow="overflow" vert="horz" wrap="square" rtlCol="0" anchor="ctr" anchorCtr="0">
            <a:normAutofit/>
          </a:bodyPr>
          <a:lstStyle/>
          <a:p>
            <a:pPr algn="l"/>
            <a:r>
              <a:rPr lang="es-CO" sz="1000" b="1">
                <a:solidFill>
                  <a:srgbClr val="667788"/>
                </a:solidFill>
              </a:rPr>
              <a:t>REDUCCIÓN DEL VOLUMEN TEXTUAL</a:t>
            </a:r>
          </a:p>
        </p:txBody>
      </p:sp>
      <p:sp>
        <p:nvSpPr>
          <p:cNvPr id="8" name="Rectángulo: esquinas redondeadas 7">
            <a:extLst>
              <a:ext uri="{FF2B5EF4-FFF2-40B4-BE49-F238E27FC236}">
                <a16:creationId xmlns:a16="http://schemas.microsoft.com/office/drawing/2014/main" id="{D9D5133E-7B74-40C5-97A8-F90DC27B2A4A}"/>
              </a:ext>
            </a:extLst>
          </p:cNvPr>
          <p:cNvSpPr/>
          <p:nvPr/>
        </p:nvSpPr>
        <p:spPr>
          <a:xfrm>
            <a:off x="787400" y="4254500"/>
            <a:ext cx="3086100" cy="1422400"/>
          </a:xfrm>
          <a:prstGeom prst="roundRect">
            <a:avLst/>
          </a:prstGeom>
          <a:solidFill>
            <a:srgbClr val="EAF2F8"/>
          </a:solidFill>
          <a:ln w="2032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2500" b="1">
                <a:solidFill>
                  <a:srgbClr val="2F75B5"/>
                </a:solidFill>
                <a:latin typeface="Arial"/>
                <a:cs typeface="Arial"/>
              </a:rPr>
              <a:t>260,99 M</a:t>
            </a:r>
            <a:r>
              <a:rPr lang="es-CO" sz="1100">
                <a:solidFill>
                  <a:srgbClr val="314455"/>
                </a:solidFill>
                <a:latin typeface="Arial"/>
                <a:cs typeface="Arial"/>
              </a:rPr>
              <a:t>
</a:t>
            </a:r>
            <a:r>
              <a:rPr lang="es-CO" sz="1200" b="1">
                <a:solidFill>
                  <a:srgbClr val="17395C"/>
                </a:solidFill>
                <a:latin typeface="Arial"/>
                <a:cs typeface="Arial"/>
              </a:rPr>
              <a:t>PALABRAS CRUDAS</a:t>
            </a:r>
            <a:r>
              <a:rPr lang="es-CO" sz="1100">
                <a:solidFill>
                  <a:srgbClr val="314455"/>
                </a:solidFill>
                <a:latin typeface="Arial"/>
                <a:cs typeface="Arial"/>
              </a:rPr>
              <a:t>
Volumen de entrada</a:t>
            </a:r>
          </a:p>
        </p:txBody>
      </p:sp>
      <p:sp>
        <p:nvSpPr>
          <p:cNvPr id="9" name="Rectángulo: esquinas redondeadas 8">
            <a:extLst>
              <a:ext uri="{FF2B5EF4-FFF2-40B4-BE49-F238E27FC236}">
                <a16:creationId xmlns:a16="http://schemas.microsoft.com/office/drawing/2014/main" id="{19B2B552-BDC4-4A06-A311-2614209D84DB}"/>
              </a:ext>
            </a:extLst>
          </p:cNvPr>
          <p:cNvSpPr/>
          <p:nvPr/>
        </p:nvSpPr>
        <p:spPr>
          <a:xfrm>
            <a:off x="4533900" y="4254500"/>
            <a:ext cx="3086100" cy="1422400"/>
          </a:xfrm>
          <a:prstGeom prst="roundRect">
            <a:avLst/>
          </a:prstGeom>
          <a:solidFill>
            <a:srgbClr val="FFF4D6"/>
          </a:solidFill>
          <a:ln w="20320" cap="flat" cmpd="sng" algn="ctr">
            <a:solidFill>
              <a:srgbClr val="E6A7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2500" b="1">
                <a:solidFill>
                  <a:srgbClr val="E6A700"/>
                </a:solidFill>
                <a:latin typeface="Arial"/>
                <a:cs typeface="Arial"/>
              </a:rPr>
              <a:t>250,01 M</a:t>
            </a:r>
            <a:r>
              <a:rPr lang="es-ES" sz="1100">
                <a:solidFill>
                  <a:srgbClr val="314455"/>
                </a:solidFill>
                <a:latin typeface="Arial"/>
                <a:cs typeface="Arial"/>
              </a:rPr>
              <a:t>
</a:t>
            </a:r>
            <a:r>
              <a:rPr lang="es-ES" sz="1200" b="1">
                <a:solidFill>
                  <a:srgbClr val="17395C"/>
                </a:solidFill>
                <a:latin typeface="Arial"/>
                <a:cs typeface="Arial"/>
              </a:rPr>
              <a:t>TOKENS NORMALIZADOS</a:t>
            </a:r>
            <a:r>
              <a:rPr lang="es-ES" sz="1100">
                <a:solidFill>
                  <a:srgbClr val="314455"/>
                </a:solidFill>
                <a:latin typeface="Arial"/>
                <a:cs typeface="Arial"/>
              </a:rPr>
              <a:t>
Después de limpieza</a:t>
            </a:r>
            <a:endParaRPr lang="es-CO" sz="1100">
              <a:solidFill>
                <a:srgbClr val="314455"/>
              </a:solidFill>
              <a:latin typeface="Arial"/>
              <a:cs typeface="Arial"/>
            </a:endParaRPr>
          </a:p>
        </p:txBody>
      </p:sp>
      <p:sp>
        <p:nvSpPr>
          <p:cNvPr id="10" name="Rectángulo: esquinas redondeadas 9">
            <a:extLst>
              <a:ext uri="{FF2B5EF4-FFF2-40B4-BE49-F238E27FC236}">
                <a16:creationId xmlns:a16="http://schemas.microsoft.com/office/drawing/2014/main" id="{499933D2-7A63-4C91-9CAF-909B6DEC3543}"/>
              </a:ext>
            </a:extLst>
          </p:cNvPr>
          <p:cNvSpPr/>
          <p:nvPr/>
        </p:nvSpPr>
        <p:spPr>
          <a:xfrm>
            <a:off x="8280400" y="4254500"/>
            <a:ext cx="3086100" cy="1422400"/>
          </a:xfrm>
          <a:prstGeom prst="roundRect">
            <a:avLst/>
          </a:prstGeom>
          <a:solidFill>
            <a:srgbClr val="E8F5EE"/>
          </a:solidFill>
          <a:ln w="2032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sv-SE" sz="2500" b="1">
                <a:solidFill>
                  <a:srgbClr val="2E8B57"/>
                </a:solidFill>
                <a:latin typeface="Arial"/>
                <a:cs typeface="Arial"/>
              </a:rPr>
              <a:t>128,81 M</a:t>
            </a:r>
            <a:r>
              <a:rPr lang="sv-SE" sz="1100">
                <a:solidFill>
                  <a:srgbClr val="314455"/>
                </a:solidFill>
                <a:latin typeface="Arial"/>
                <a:cs typeface="Arial"/>
              </a:rPr>
              <a:t>
</a:t>
            </a:r>
            <a:r>
              <a:rPr lang="sv-SE" sz="1200" b="1">
                <a:solidFill>
                  <a:srgbClr val="17395C"/>
                </a:solidFill>
                <a:latin typeface="Arial"/>
                <a:cs typeface="Arial"/>
              </a:rPr>
              <a:t>TOKENS SIN STOPWORDS</a:t>
            </a:r>
            <a:r>
              <a:rPr lang="sv-SE" sz="1100">
                <a:solidFill>
                  <a:srgbClr val="314455"/>
                </a:solidFill>
                <a:latin typeface="Arial"/>
                <a:cs typeface="Arial"/>
              </a:rPr>
              <a:t>
Base informativa final</a:t>
            </a:r>
            <a:endParaRPr lang="es-CO" sz="1100">
              <a:solidFill>
                <a:srgbClr val="314455"/>
              </a:solidFill>
              <a:latin typeface="Arial"/>
              <a:cs typeface="Arial"/>
            </a:endParaRPr>
          </a:p>
        </p:txBody>
      </p:sp>
      <p:sp>
        <p:nvSpPr>
          <p:cNvPr id="11" name="Flecha: a la derecha 10">
            <a:extLst>
              <a:ext uri="{FF2B5EF4-FFF2-40B4-BE49-F238E27FC236}">
                <a16:creationId xmlns:a16="http://schemas.microsoft.com/office/drawing/2014/main" id="{2C3111E0-24F1-4860-842C-C90586EA49DE}"/>
              </a:ext>
            </a:extLst>
          </p:cNvPr>
          <p:cNvSpPr/>
          <p:nvPr/>
        </p:nvSpPr>
        <p:spPr>
          <a:xfrm>
            <a:off x="3975100" y="4762500"/>
            <a:ext cx="457200" cy="3556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2" name="Flecha: a la derecha 11">
            <a:extLst>
              <a:ext uri="{FF2B5EF4-FFF2-40B4-BE49-F238E27FC236}">
                <a16:creationId xmlns:a16="http://schemas.microsoft.com/office/drawing/2014/main" id="{4105439A-45C9-4FDB-AC4F-FFDFA0B317D3}"/>
              </a:ext>
            </a:extLst>
          </p:cNvPr>
          <p:cNvSpPr/>
          <p:nvPr/>
        </p:nvSpPr>
        <p:spPr>
          <a:xfrm>
            <a:off x="7721600" y="4762500"/>
            <a:ext cx="457200" cy="3556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3" name="Rectángulo: esquinas redondeadas 12">
            <a:extLst>
              <a:ext uri="{FF2B5EF4-FFF2-40B4-BE49-F238E27FC236}">
                <a16:creationId xmlns:a16="http://schemas.microsoft.com/office/drawing/2014/main" id="{B6D64D34-C392-499E-A4D8-537CC505EBF8}"/>
              </a:ext>
            </a:extLst>
          </p:cNvPr>
          <p:cNvSpPr/>
          <p:nvPr/>
        </p:nvSpPr>
        <p:spPr>
          <a:xfrm>
            <a:off x="787400" y="6019800"/>
            <a:ext cx="10579100" cy="787400"/>
          </a:xfrm>
          <a:prstGeom prst="roundRect">
            <a:avLst/>
          </a:prstGeom>
          <a:solidFill>
            <a:srgbClr val="07365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300" b="1">
                <a:solidFill>
                  <a:srgbClr val="F4B41A"/>
                </a:solidFill>
                <a:latin typeface="Arial"/>
                <a:cs typeface="Arial"/>
              </a:rPr>
              <a:t>HALLAZGO</a:t>
            </a:r>
            <a:r>
              <a:rPr lang="es-ES" sz="1300">
                <a:solidFill>
                  <a:srgbClr val="FFFFFF"/>
                </a:solidFill>
                <a:latin typeface="Arial"/>
                <a:cs typeface="Arial"/>
              </a:rPr>
              <a:t>  |  Las sentencias son documentos extraordinariamente extensos y presentan una alta repetición de estructuras lingüísticas.</a:t>
            </a:r>
            <a:endParaRPr lang="es-CO" sz="1300">
              <a:solidFill>
                <a:srgbClr val="FFFFFF"/>
              </a:solidFill>
              <a:latin typeface="Arial"/>
              <a:cs typeface="Arial"/>
            </a:endParaRPr>
          </a:p>
        </p:txBody>
      </p:sp>
      <p:pic>
        <p:nvPicPr>
          <p:cNvPr id="15" name="Imagen 14">
            <a:extLst>
              <a:ext uri="{FF2B5EF4-FFF2-40B4-BE49-F238E27FC236}">
                <a16:creationId xmlns:a16="http://schemas.microsoft.com/office/drawing/2014/main" id="{109DA6E7-F031-6A41-ACD3-A964EED43BD0}"/>
              </a:ext>
            </a:extLst>
          </p:cNvPr>
          <p:cNvPicPr>
            <a:picLocks noChangeAspect="1"/>
          </p:cNvPicPr>
          <p:nvPr/>
        </p:nvPicPr>
        <p:blipFill>
          <a:blip r:embed="rId4">
            <a:duotone>
              <a:schemeClr val="accent5">
                <a:shade val="45000"/>
                <a:satMod val="135000"/>
              </a:schemeClr>
              <a:prstClr val="white"/>
            </a:duotone>
          </a:blip>
          <a:stretch>
            <a:fillRect/>
          </a:stretch>
        </p:blipFill>
        <p:spPr>
          <a:xfrm>
            <a:off x="1227647" y="1426521"/>
            <a:ext cx="900000" cy="900000"/>
          </a:xfrm>
          <a:prstGeom prst="rect">
            <a:avLst/>
          </a:prstGeom>
        </p:spPr>
      </p:pic>
    </p:spTree>
    <p:extLst>
      <p:ext uri="{BB962C8B-B14F-4D97-AF65-F5344CB8AC3E}">
        <p14:creationId xmlns:p14="http://schemas.microsoft.com/office/powerpoint/2010/main" val="3696204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9912E1D2-B704-BC80-44B4-B9A5E49A7A70}"/>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73CB3BE0-D0E4-5379-96AD-99B769A8DD14}"/>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A493166C-3D5C-311A-0CF8-0297B2DF306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Análisis </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1DA7DFE0-860D-D325-A469-60C685A5406E}"/>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b="1" dirty="0">
                <a:solidFill>
                  <a:schemeClr val="accent4">
                    <a:lumMod val="60000"/>
                    <a:lumOff val="40000"/>
                  </a:schemeClr>
                </a:solidFill>
                <a:ea typeface="Calibri"/>
                <a:sym typeface="Calibri"/>
              </a:rPr>
              <a:t>¿Qué palabras dominan la jurisprudencia?</a:t>
            </a:r>
          </a:p>
        </p:txBody>
      </p:sp>
      <p:pic>
        <p:nvPicPr>
          <p:cNvPr id="3" name="Imagen 2">
            <a:extLst>
              <a:ext uri="{FF2B5EF4-FFF2-40B4-BE49-F238E27FC236}">
                <a16:creationId xmlns:a16="http://schemas.microsoft.com/office/drawing/2014/main" id="{03F7DA57-D268-16E5-9563-B2FAF321C961}"/>
              </a:ext>
            </a:extLst>
          </p:cNvPr>
          <p:cNvPicPr>
            <a:picLocks/>
          </p:cNvPicPr>
          <p:nvPr/>
        </p:nvPicPr>
        <p:blipFill>
          <a:blip r:embed="rId4"/>
          <a:stretch>
            <a:fillRect/>
          </a:stretch>
        </p:blipFill>
        <p:spPr>
          <a:xfrm>
            <a:off x="6486212" y="2461480"/>
            <a:ext cx="5040000" cy="4140000"/>
          </a:xfrm>
          <a:prstGeom prst="rect">
            <a:avLst/>
          </a:prstGeom>
        </p:spPr>
      </p:pic>
      <p:pic>
        <p:nvPicPr>
          <p:cNvPr id="7" name="Imagen 6">
            <a:extLst>
              <a:ext uri="{FF2B5EF4-FFF2-40B4-BE49-F238E27FC236}">
                <a16:creationId xmlns:a16="http://schemas.microsoft.com/office/drawing/2014/main" id="{68433E43-CBA3-D10C-445E-B83808FA25BD}"/>
              </a:ext>
            </a:extLst>
          </p:cNvPr>
          <p:cNvPicPr>
            <a:picLocks/>
          </p:cNvPicPr>
          <p:nvPr/>
        </p:nvPicPr>
        <p:blipFill>
          <a:blip r:embed="rId5"/>
          <a:stretch>
            <a:fillRect/>
          </a:stretch>
        </p:blipFill>
        <p:spPr>
          <a:xfrm>
            <a:off x="725667" y="2461480"/>
            <a:ext cx="5040000" cy="4140000"/>
          </a:xfrm>
          <a:prstGeom prst="rect">
            <a:avLst/>
          </a:prstGeom>
        </p:spPr>
      </p:pic>
      <p:pic>
        <p:nvPicPr>
          <p:cNvPr id="9" name="Imagen 8">
            <a:extLst>
              <a:ext uri="{FF2B5EF4-FFF2-40B4-BE49-F238E27FC236}">
                <a16:creationId xmlns:a16="http://schemas.microsoft.com/office/drawing/2014/main" id="{6E1309C7-5D55-3809-3D46-ACE696AAC477}"/>
              </a:ext>
            </a:extLst>
          </p:cNvPr>
          <p:cNvPicPr>
            <a:picLocks noChangeAspect="1"/>
          </p:cNvPicPr>
          <p:nvPr/>
        </p:nvPicPr>
        <p:blipFill>
          <a:blip r:embed="rId6">
            <a:duotone>
              <a:schemeClr val="accent5">
                <a:shade val="45000"/>
                <a:satMod val="135000"/>
              </a:schemeClr>
              <a:prstClr val="white"/>
            </a:duotone>
          </a:blip>
          <a:stretch>
            <a:fillRect/>
          </a:stretch>
        </p:blipFill>
        <p:spPr>
          <a:xfrm>
            <a:off x="1227647" y="1426521"/>
            <a:ext cx="900000" cy="900000"/>
          </a:xfrm>
          <a:prstGeom prst="rect">
            <a:avLst/>
          </a:prstGeom>
        </p:spPr>
      </p:pic>
    </p:spTree>
    <p:extLst>
      <p:ext uri="{BB962C8B-B14F-4D97-AF65-F5344CB8AC3E}">
        <p14:creationId xmlns:p14="http://schemas.microsoft.com/office/powerpoint/2010/main" val="2769908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A8F405B-F1CA-CAB9-54BE-63E5AB8FBC4D}"/>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F67BE18C-219A-9CB3-D62C-B1BE8BE217F5}"/>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8E677630-E976-B700-6FDC-5FB39A5EDC65}"/>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dirty="0">
                <a:solidFill>
                  <a:schemeClr val="bg1"/>
                </a:solidFill>
                <a:latin typeface="Calibri"/>
                <a:ea typeface="Calibri"/>
                <a:cs typeface="Calibri"/>
                <a:sym typeface="Calibri"/>
              </a:rPr>
              <a:t>Análisis</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5E3063E7-1161-AC08-1EFB-DCC910624934}"/>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b="1" dirty="0">
                <a:solidFill>
                  <a:schemeClr val="accent4">
                    <a:lumMod val="60000"/>
                    <a:lumOff val="40000"/>
                  </a:schemeClr>
                </a:solidFill>
                <a:ea typeface="Calibri"/>
                <a:sym typeface="Calibri"/>
              </a:rPr>
              <a:t>Evolución del corpus en el tiempo</a:t>
            </a:r>
          </a:p>
        </p:txBody>
      </p:sp>
      <p:pic>
        <p:nvPicPr>
          <p:cNvPr id="5" name="Imagen 4">
            <a:extLst>
              <a:ext uri="{FF2B5EF4-FFF2-40B4-BE49-F238E27FC236}">
                <a16:creationId xmlns:a16="http://schemas.microsoft.com/office/drawing/2014/main" id="{7A0DDD24-CFD3-1A83-4208-B5CBF65F03E9}"/>
              </a:ext>
            </a:extLst>
          </p:cNvPr>
          <p:cNvPicPr>
            <a:picLocks noChangeAspect="1"/>
          </p:cNvPicPr>
          <p:nvPr/>
        </p:nvPicPr>
        <p:blipFill>
          <a:blip r:embed="rId4"/>
          <a:stretch>
            <a:fillRect/>
          </a:stretch>
        </p:blipFill>
        <p:spPr>
          <a:xfrm>
            <a:off x="850094" y="2494813"/>
            <a:ext cx="10491811" cy="3965622"/>
          </a:xfrm>
          <a:prstGeom prst="rect">
            <a:avLst/>
          </a:prstGeom>
        </p:spPr>
      </p:pic>
      <p:pic>
        <p:nvPicPr>
          <p:cNvPr id="8" name="Imagen 7">
            <a:extLst>
              <a:ext uri="{FF2B5EF4-FFF2-40B4-BE49-F238E27FC236}">
                <a16:creationId xmlns:a16="http://schemas.microsoft.com/office/drawing/2014/main" id="{FA342ABA-6F9C-5A78-FF0C-4D3172B64A81}"/>
              </a:ext>
            </a:extLst>
          </p:cNvPr>
          <p:cNvPicPr>
            <a:picLocks noChangeAspect="1"/>
          </p:cNvPicPr>
          <p:nvPr/>
        </p:nvPicPr>
        <p:blipFill>
          <a:blip r:embed="rId5">
            <a:duotone>
              <a:schemeClr val="accent5">
                <a:shade val="45000"/>
                <a:satMod val="135000"/>
              </a:schemeClr>
              <a:prstClr val="white"/>
            </a:duotone>
          </a:blip>
          <a:stretch>
            <a:fillRect/>
          </a:stretch>
        </p:blipFill>
        <p:spPr>
          <a:xfrm>
            <a:off x="1227647" y="1426521"/>
            <a:ext cx="900000" cy="900000"/>
          </a:xfrm>
          <a:prstGeom prst="rect">
            <a:avLst/>
          </a:prstGeom>
        </p:spPr>
      </p:pic>
    </p:spTree>
    <p:extLst>
      <p:ext uri="{BB962C8B-B14F-4D97-AF65-F5344CB8AC3E}">
        <p14:creationId xmlns:p14="http://schemas.microsoft.com/office/powerpoint/2010/main" val="3170894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5DE880D-6703-30DD-A371-9D0CB1B28EB6}"/>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4DB429A7-B73E-0E82-3FD4-B8813B9A2BD2}"/>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8FFBB7A6-D97B-8B54-6374-A3C3A94860D0}"/>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dirty="0">
                <a:solidFill>
                  <a:schemeClr val="bg1"/>
                </a:solidFill>
                <a:latin typeface="Calibri"/>
                <a:ea typeface="Calibri"/>
                <a:cs typeface="Calibri"/>
                <a:sym typeface="Calibri"/>
              </a:rPr>
              <a:t>Análisis</a:t>
            </a:r>
            <a:endParaRPr lang="es-CO" sz="3200" b="1" i="0" u="none" strike="noStrike" cap="none" noProof="0" dirty="0">
              <a:solidFill>
                <a:schemeClr val="bg1"/>
              </a:solidFill>
              <a:latin typeface="Calibri"/>
              <a:ea typeface="Calibri"/>
              <a:cs typeface="Calibri"/>
            </a:endParaRPr>
          </a:p>
        </p:txBody>
      </p:sp>
      <p:sp>
        <p:nvSpPr>
          <p:cNvPr id="16" name="TextBox 7">
            <a:extLst>
              <a:ext uri="{FF2B5EF4-FFF2-40B4-BE49-F238E27FC236}">
                <a16:creationId xmlns:a16="http://schemas.microsoft.com/office/drawing/2014/main" id="{CFC384D1-4EAD-0262-9735-AE5AFA2DBB64}"/>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b="1" dirty="0">
                <a:solidFill>
                  <a:schemeClr val="accent4">
                    <a:lumMod val="60000"/>
                    <a:lumOff val="40000"/>
                  </a:schemeClr>
                </a:solidFill>
                <a:ea typeface="Calibri"/>
                <a:sym typeface="Calibri"/>
              </a:rPr>
              <a:t>Más allá del vocabulario jurídico</a:t>
            </a:r>
          </a:p>
        </p:txBody>
      </p:sp>
      <p:pic>
        <p:nvPicPr>
          <p:cNvPr id="7" name="Imagen 6">
            <a:extLst>
              <a:ext uri="{FF2B5EF4-FFF2-40B4-BE49-F238E27FC236}">
                <a16:creationId xmlns:a16="http://schemas.microsoft.com/office/drawing/2014/main" id="{BD54E604-B523-47AE-58B9-0701A60167BC}"/>
              </a:ext>
            </a:extLst>
          </p:cNvPr>
          <p:cNvPicPr>
            <a:picLocks noChangeAspect="1"/>
          </p:cNvPicPr>
          <p:nvPr/>
        </p:nvPicPr>
        <p:blipFill>
          <a:blip r:embed="rId4"/>
          <a:stretch>
            <a:fillRect/>
          </a:stretch>
        </p:blipFill>
        <p:spPr>
          <a:xfrm>
            <a:off x="2499831" y="2133145"/>
            <a:ext cx="7192338" cy="4216594"/>
          </a:xfrm>
          <a:prstGeom prst="rect">
            <a:avLst/>
          </a:prstGeom>
        </p:spPr>
      </p:pic>
      <p:pic>
        <p:nvPicPr>
          <p:cNvPr id="9" name="Imagen 8">
            <a:extLst>
              <a:ext uri="{FF2B5EF4-FFF2-40B4-BE49-F238E27FC236}">
                <a16:creationId xmlns:a16="http://schemas.microsoft.com/office/drawing/2014/main" id="{2E3A047A-FC73-618D-4262-EB2CD786FB87}"/>
              </a:ext>
            </a:extLst>
          </p:cNvPr>
          <p:cNvPicPr>
            <a:picLocks noChangeAspect="1"/>
          </p:cNvPicPr>
          <p:nvPr/>
        </p:nvPicPr>
        <p:blipFill>
          <a:blip r:embed="rId5">
            <a:duotone>
              <a:schemeClr val="accent5">
                <a:shade val="45000"/>
                <a:satMod val="135000"/>
              </a:schemeClr>
              <a:prstClr val="white"/>
            </a:duotone>
          </a:blip>
          <a:stretch>
            <a:fillRect/>
          </a:stretch>
        </p:blipFill>
        <p:spPr>
          <a:xfrm>
            <a:off x="1227647" y="1431746"/>
            <a:ext cx="900000" cy="900000"/>
          </a:xfrm>
          <a:prstGeom prst="rect">
            <a:avLst/>
          </a:prstGeom>
        </p:spPr>
      </p:pic>
    </p:spTree>
    <p:extLst>
      <p:ext uri="{BB962C8B-B14F-4D97-AF65-F5344CB8AC3E}">
        <p14:creationId xmlns:p14="http://schemas.microsoft.com/office/powerpoint/2010/main" val="22601194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88">
          <a:extLst>
            <a:ext uri="{FF2B5EF4-FFF2-40B4-BE49-F238E27FC236}">
              <a16:creationId xmlns:a16="http://schemas.microsoft.com/office/drawing/2014/main" id="{3A313563-0A99-C211-FEDB-E360CDCBCFC8}"/>
            </a:ext>
          </a:extLst>
        </p:cNvPr>
        <p:cNvGrpSpPr/>
        <p:nvPr/>
      </p:nvGrpSpPr>
      <p:grpSpPr>
        <a:xfrm>
          <a:off x="0" y="0"/>
          <a:ext cx="0" cy="0"/>
          <a:chOff x="0" y="0"/>
          <a:chExt cx="0" cy="0"/>
        </a:xfrm>
      </p:grpSpPr>
      <p:pic>
        <p:nvPicPr>
          <p:cNvPr id="89" name="Google Shape;89;p1">
            <a:extLst>
              <a:ext uri="{FF2B5EF4-FFF2-40B4-BE49-F238E27FC236}">
                <a16:creationId xmlns:a16="http://schemas.microsoft.com/office/drawing/2014/main" id="{C1D46BD6-D068-C5C5-4C96-462CB0822D1A}"/>
              </a:ext>
            </a:extLst>
          </p:cNvPr>
          <p:cNvPicPr preferRelativeResize="0"/>
          <p:nvPr/>
        </p:nvPicPr>
        <p:blipFill rotWithShape="1">
          <a:blip r:embed="rId3">
            <a:alphaModFix/>
          </a:blip>
          <a:srcRect/>
          <a:stretch/>
        </p:blipFill>
        <p:spPr>
          <a:xfrm>
            <a:off x="0" y="-14295"/>
            <a:ext cx="12192000" cy="6105540"/>
          </a:xfrm>
          <a:prstGeom prst="rect">
            <a:avLst/>
          </a:prstGeom>
          <a:noFill/>
          <a:ln>
            <a:noFill/>
          </a:ln>
        </p:spPr>
      </p:pic>
      <p:sp>
        <p:nvSpPr>
          <p:cNvPr id="90" name="Google Shape;90;p1">
            <a:extLst>
              <a:ext uri="{FF2B5EF4-FFF2-40B4-BE49-F238E27FC236}">
                <a16:creationId xmlns:a16="http://schemas.microsoft.com/office/drawing/2014/main" id="{377B8EFF-37A4-FE84-F0F9-3EBC2C231F96}"/>
              </a:ext>
            </a:extLst>
          </p:cNvPr>
          <p:cNvSpPr txBox="1">
            <a:spLocks noGrp="1"/>
          </p:cNvSpPr>
          <p:nvPr>
            <p:ph type="subTitle" idx="1"/>
          </p:nvPr>
        </p:nvSpPr>
        <p:spPr>
          <a:xfrm>
            <a:off x="3221420" y="2826829"/>
            <a:ext cx="8843623" cy="1204341"/>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noProof="0" dirty="0">
                <a:solidFill>
                  <a:schemeClr val="accent4">
                    <a:lumMod val="60000"/>
                    <a:lumOff val="40000"/>
                  </a:schemeClr>
                </a:solidFill>
                <a:latin typeface="Arial"/>
                <a:cs typeface="Arial"/>
              </a:rPr>
              <a:t>Conclusiones</a:t>
            </a:r>
          </a:p>
          <a:p>
            <a:pPr marL="0" lvl="0" indent="0" algn="ctr">
              <a:lnSpc>
                <a:spcPct val="90000"/>
              </a:lnSpc>
              <a:spcBef>
                <a:spcPts val="0"/>
              </a:spcBef>
              <a:spcAft>
                <a:spcPts val="0"/>
              </a:spcAft>
              <a:buSzPts val="4800"/>
              <a:buNone/>
            </a:pPr>
            <a:endParaRPr lang="es-CO" sz="4800" b="1" noProof="0" dirty="0">
              <a:solidFill>
                <a:schemeClr val="lt1"/>
              </a:solidFill>
              <a:cs typeface="Arial"/>
            </a:endParaRPr>
          </a:p>
          <a:p>
            <a:pPr marL="0" indent="0">
              <a:buClr>
                <a:srgbClr val="FFC000"/>
              </a:buClr>
              <a:buSzPts val="2800"/>
            </a:pPr>
            <a:endParaRPr lang="es-CO" sz="2800" b="1" dirty="0">
              <a:solidFill>
                <a:srgbClr val="FFC000"/>
              </a:solidFill>
              <a:latin typeface="Arial"/>
              <a:ea typeface="Arial"/>
              <a:cs typeface="Arial"/>
            </a:endParaRPr>
          </a:p>
        </p:txBody>
      </p:sp>
    </p:spTree>
    <p:extLst>
      <p:ext uri="{BB962C8B-B14F-4D97-AF65-F5344CB8AC3E}">
        <p14:creationId xmlns:p14="http://schemas.microsoft.com/office/powerpoint/2010/main" val="2439167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457A7743-A3E3-489E-7FD2-CE49B18AE517}"/>
            </a:ext>
          </a:extLst>
        </p:cNvPr>
        <p:cNvGrpSpPr/>
        <p:nvPr/>
      </p:nvGrpSpPr>
      <p:grpSpPr>
        <a:xfrm>
          <a:off x="0" y="0"/>
          <a:ext cx="0" cy="0"/>
          <a:chOff x="0" y="0"/>
          <a:chExt cx="0" cy="0"/>
        </a:xfrm>
      </p:grpSpPr>
      <p:pic>
        <p:nvPicPr>
          <p:cNvPr id="104" name="Google Shape;104;g393f66bba02_1_6">
            <a:extLst>
              <a:ext uri="{FF2B5EF4-FFF2-40B4-BE49-F238E27FC236}">
                <a16:creationId xmlns:a16="http://schemas.microsoft.com/office/drawing/2014/main" id="{284EFA63-352C-6D82-8A70-0F2A674DD883}"/>
              </a:ext>
            </a:extLst>
          </p:cNvPr>
          <p:cNvPicPr preferRelativeResize="0"/>
          <p:nvPr/>
        </p:nvPicPr>
        <p:blipFill rotWithShape="1">
          <a:blip r:embed="rId3">
            <a:alphaModFix/>
          </a:blip>
          <a:srcRect/>
          <a:stretch/>
        </p:blipFill>
        <p:spPr>
          <a:xfrm>
            <a:off x="-1" y="0"/>
            <a:ext cx="12192004" cy="1623060"/>
          </a:xfrm>
          <a:prstGeom prst="rect">
            <a:avLst/>
          </a:prstGeom>
          <a:noFill/>
          <a:ln>
            <a:noFill/>
          </a:ln>
        </p:spPr>
      </p:pic>
      <p:sp>
        <p:nvSpPr>
          <p:cNvPr id="105" name="Google Shape;105;g393f66bba02_1_6">
            <a:extLst>
              <a:ext uri="{FF2B5EF4-FFF2-40B4-BE49-F238E27FC236}">
                <a16:creationId xmlns:a16="http://schemas.microsoft.com/office/drawing/2014/main" id="{953075AE-5F1E-A375-6FA8-120B4CD4A7A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bodyPr>
          <a:lstStyle/>
          <a:p>
            <a:pPr lvl="0"/>
            <a:r>
              <a:rPr lang="es-CO" sz="3200" b="1" noProof="0" dirty="0">
                <a:solidFill>
                  <a:schemeClr val="bg1"/>
                </a:solidFill>
                <a:latin typeface="Calibri"/>
                <a:ea typeface="Calibri"/>
                <a:cs typeface="Calibri"/>
                <a:sym typeface="Calibri"/>
              </a:rPr>
              <a:t>Conclusiones</a:t>
            </a:r>
            <a:endParaRPr lang="es-CO" sz="3200" b="1" i="0" u="none" strike="noStrike" cap="none" noProof="0" dirty="0">
              <a:solidFill>
                <a:schemeClr val="bg1"/>
              </a:solidFill>
              <a:latin typeface="Calibri"/>
              <a:ea typeface="Calibri"/>
              <a:cs typeface="Calibri"/>
            </a:endParaRPr>
          </a:p>
        </p:txBody>
      </p:sp>
      <p:sp>
        <p:nvSpPr>
          <p:cNvPr id="2" name="CuadroTexto 1">
            <a:extLst>
              <a:ext uri="{FF2B5EF4-FFF2-40B4-BE49-F238E27FC236}">
                <a16:creationId xmlns:a16="http://schemas.microsoft.com/office/drawing/2014/main" id="{B32EF546-B8D7-407E-8154-D2A52EA5587E}"/>
              </a:ext>
            </a:extLst>
          </p:cNvPr>
          <p:cNvSpPr txBox="1"/>
          <p:nvPr/>
        </p:nvSpPr>
        <p:spPr>
          <a:xfrm>
            <a:off x="787400" y="1730441"/>
            <a:ext cx="6350000" cy="254000"/>
          </a:xfrm>
          <a:prstGeom prst="rect">
            <a:avLst/>
          </a:prstGeom>
          <a:noFill/>
        </p:spPr>
        <p:txBody>
          <a:bodyPr vertOverflow="overflow" vert="horz" wrap="square" rtlCol="0" anchor="ctr" anchorCtr="0">
            <a:normAutofit/>
          </a:bodyPr>
          <a:lstStyle/>
          <a:p>
            <a:pPr algn="l"/>
            <a:r>
              <a:rPr lang="es-ES" sz="1000" b="1">
                <a:solidFill>
                  <a:srgbClr val="2F75B5"/>
                </a:solidFill>
              </a:rPr>
              <a:t>RESULTADOS DE LA PRIMERA ENTREGA</a:t>
            </a:r>
            <a:endParaRPr lang="es-CO" sz="1000" b="1">
              <a:solidFill>
                <a:srgbClr val="2F75B5"/>
              </a:solidFill>
            </a:endParaRPr>
          </a:p>
        </p:txBody>
      </p:sp>
      <p:sp>
        <p:nvSpPr>
          <p:cNvPr id="3" name="Rectángulo: esquinas redondeadas 2">
            <a:extLst>
              <a:ext uri="{FF2B5EF4-FFF2-40B4-BE49-F238E27FC236}">
                <a16:creationId xmlns:a16="http://schemas.microsoft.com/office/drawing/2014/main" id="{B7095321-9CDF-4C5C-8BF4-E588A3232D19}"/>
              </a:ext>
            </a:extLst>
          </p:cNvPr>
          <p:cNvSpPr/>
          <p:nvPr/>
        </p:nvSpPr>
        <p:spPr>
          <a:xfrm>
            <a:off x="787400" y="2086041"/>
            <a:ext cx="2184400" cy="180340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2200" b="1">
                <a:solidFill>
                  <a:srgbClr val="2F75B5"/>
                </a:solidFill>
                <a:latin typeface="Arial"/>
                <a:cs typeface="Arial"/>
              </a:rPr>
              <a:t>23.742</a:t>
            </a:r>
            <a:r>
              <a:rPr lang="es-ES" sz="1100">
                <a:solidFill>
                  <a:srgbClr val="314455"/>
                </a:solidFill>
                <a:latin typeface="Arial"/>
                <a:cs typeface="Arial"/>
              </a:rPr>
              <a:t>
</a:t>
            </a:r>
            <a:r>
              <a:rPr lang="es-ES" sz="1100" b="1">
                <a:solidFill>
                  <a:srgbClr val="073654"/>
                </a:solidFill>
                <a:latin typeface="Arial"/>
                <a:cs typeface="Arial"/>
              </a:rPr>
              <a:t>SENTENCIAS</a:t>
            </a:r>
            <a:r>
              <a:rPr lang="es-ES" sz="1100">
                <a:solidFill>
                  <a:srgbClr val="314455"/>
                </a:solidFill>
                <a:latin typeface="Arial"/>
                <a:cs typeface="Arial"/>
              </a:rPr>
              <a:t>
Corpus jurídico depurado, estructurado y reproducible.</a:t>
            </a:r>
            <a:endParaRPr lang="es-CO" sz="1100">
              <a:solidFill>
                <a:srgbClr val="314455"/>
              </a:solidFill>
              <a:latin typeface="Arial"/>
              <a:cs typeface="Arial"/>
            </a:endParaRPr>
          </a:p>
        </p:txBody>
      </p:sp>
      <p:sp>
        <p:nvSpPr>
          <p:cNvPr id="6" name="Rectángulo: esquinas redondeadas 5">
            <a:extLst>
              <a:ext uri="{FF2B5EF4-FFF2-40B4-BE49-F238E27FC236}">
                <a16:creationId xmlns:a16="http://schemas.microsoft.com/office/drawing/2014/main" id="{E5994072-06DD-4394-AF65-650470388358}"/>
              </a:ext>
            </a:extLst>
          </p:cNvPr>
          <p:cNvSpPr/>
          <p:nvPr/>
        </p:nvSpPr>
        <p:spPr>
          <a:xfrm>
            <a:off x="3200400" y="2086041"/>
            <a:ext cx="2184400" cy="1803400"/>
          </a:xfrm>
          <a:prstGeom prst="roundRect">
            <a:avLst/>
          </a:prstGeom>
          <a:solidFill>
            <a:srgbClr val="FFF4D6"/>
          </a:solidFill>
          <a:ln w="19050" cap="flat" cmpd="sng" algn="ctr">
            <a:solidFill>
              <a:srgbClr val="D99A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2200" b="1">
                <a:solidFill>
                  <a:srgbClr val="D99A00"/>
                </a:solidFill>
                <a:latin typeface="Arial"/>
                <a:cs typeface="Arial"/>
              </a:rPr>
              <a:t>≈ 261 M</a:t>
            </a:r>
            <a:r>
              <a:rPr lang="es-ES" sz="1100">
                <a:solidFill>
                  <a:srgbClr val="314455"/>
                </a:solidFill>
                <a:latin typeface="Arial"/>
                <a:cs typeface="Arial"/>
              </a:rPr>
              <a:t>
</a:t>
            </a:r>
            <a:r>
              <a:rPr lang="es-ES" sz="1100" b="1">
                <a:solidFill>
                  <a:srgbClr val="073654"/>
                </a:solidFill>
                <a:latin typeface="Arial"/>
                <a:cs typeface="Arial"/>
              </a:rPr>
              <a:t>PALABRAS</a:t>
            </a:r>
            <a:r>
              <a:rPr lang="es-ES" sz="1100">
                <a:solidFill>
                  <a:srgbClr val="314455"/>
                </a:solidFill>
                <a:latin typeface="Arial"/>
                <a:cs typeface="Arial"/>
              </a:rPr>
              <a:t>
Línea base textométrica para análisis a gran escala.</a:t>
            </a:r>
            <a:endParaRPr lang="es-CO" sz="1100">
              <a:solidFill>
                <a:srgbClr val="314455"/>
              </a:solidFill>
              <a:latin typeface="Arial"/>
              <a:cs typeface="Arial"/>
            </a:endParaRPr>
          </a:p>
        </p:txBody>
      </p:sp>
      <p:sp>
        <p:nvSpPr>
          <p:cNvPr id="7" name="Rectángulo: esquinas redondeadas 6">
            <a:extLst>
              <a:ext uri="{FF2B5EF4-FFF2-40B4-BE49-F238E27FC236}">
                <a16:creationId xmlns:a16="http://schemas.microsoft.com/office/drawing/2014/main" id="{6B8813A4-F989-4948-B04E-74ACCE533990}"/>
              </a:ext>
            </a:extLst>
          </p:cNvPr>
          <p:cNvSpPr/>
          <p:nvPr/>
        </p:nvSpPr>
        <p:spPr>
          <a:xfrm>
            <a:off x="5613400" y="2086041"/>
            <a:ext cx="2184400" cy="1803400"/>
          </a:xfrm>
          <a:prstGeom prst="roundRect">
            <a:avLst/>
          </a:prstGeom>
          <a:solidFill>
            <a:srgbClr val="E8F5EE"/>
          </a:solidFill>
          <a:ln w="19050" cap="flat" cmpd="sng" algn="ctr">
            <a:solidFill>
              <a:srgbClr val="2E8B57"/>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CO" sz="2200" b="1">
                <a:solidFill>
                  <a:srgbClr val="2E8B57"/>
                </a:solidFill>
                <a:latin typeface="Arial"/>
                <a:cs typeface="Arial"/>
              </a:rPr>
              <a:t>30 años</a:t>
            </a:r>
            <a:r>
              <a:rPr lang="es-CO" sz="1100">
                <a:solidFill>
                  <a:srgbClr val="314455"/>
                </a:solidFill>
                <a:latin typeface="Arial"/>
                <a:cs typeface="Arial"/>
              </a:rPr>
              <a:t>
</a:t>
            </a:r>
            <a:r>
              <a:rPr lang="es-CO" sz="1100" b="1">
                <a:solidFill>
                  <a:srgbClr val="073654"/>
                </a:solidFill>
                <a:latin typeface="Arial"/>
                <a:cs typeface="Arial"/>
              </a:rPr>
              <a:t>COBERTURA</a:t>
            </a:r>
            <a:r>
              <a:rPr lang="es-CO" sz="1100">
                <a:solidFill>
                  <a:srgbClr val="314455"/>
                </a:solidFill>
                <a:latin typeface="Arial"/>
                <a:cs typeface="Arial"/>
              </a:rPr>
              <a:t>
Base temporal para estudiar cambios lingüísticos.</a:t>
            </a:r>
          </a:p>
        </p:txBody>
      </p:sp>
      <p:sp>
        <p:nvSpPr>
          <p:cNvPr id="8" name="Rectángulo: esquinas redondeadas 7">
            <a:extLst>
              <a:ext uri="{FF2B5EF4-FFF2-40B4-BE49-F238E27FC236}">
                <a16:creationId xmlns:a16="http://schemas.microsoft.com/office/drawing/2014/main" id="{1D07ABC3-7C74-40EB-B458-4864B1FC780C}"/>
              </a:ext>
            </a:extLst>
          </p:cNvPr>
          <p:cNvSpPr/>
          <p:nvPr/>
        </p:nvSpPr>
        <p:spPr>
          <a:xfrm>
            <a:off x="787400" y="4143441"/>
            <a:ext cx="7010400" cy="1320800"/>
          </a:xfrm>
          <a:prstGeom prst="roundRect">
            <a:avLst/>
          </a:prstGeom>
          <a:solidFill>
            <a:srgbClr val="073654"/>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100" b="1">
                <a:solidFill>
                  <a:srgbClr val="F4B41A"/>
                </a:solidFill>
                <a:latin typeface="Arial"/>
                <a:cs typeface="Arial"/>
              </a:rPr>
              <a:t>CONCLUSIÓN PRINCIPAL</a:t>
            </a:r>
            <a:r>
              <a:rPr lang="es-ES" sz="1300">
                <a:solidFill>
                  <a:srgbClr val="FFFFFF"/>
                </a:solidFill>
                <a:latin typeface="Arial"/>
                <a:cs typeface="Arial"/>
              </a:rPr>
              <a:t>
El lenguaje constitucional es extenso, formulaico y altamente especializado; el corpus permite medir estos patrones de forma reproducible.</a:t>
            </a:r>
            <a:endParaRPr lang="es-CO" sz="1300">
              <a:solidFill>
                <a:srgbClr val="FFFFFF"/>
              </a:solidFill>
              <a:latin typeface="Arial"/>
              <a:cs typeface="Arial"/>
            </a:endParaRPr>
          </a:p>
        </p:txBody>
      </p:sp>
      <p:sp>
        <p:nvSpPr>
          <p:cNvPr id="9" name="Rectángulo: esquinas redondeadas 8">
            <a:extLst>
              <a:ext uri="{FF2B5EF4-FFF2-40B4-BE49-F238E27FC236}">
                <a16:creationId xmlns:a16="http://schemas.microsoft.com/office/drawing/2014/main" id="{E52E7C2B-19F6-45BE-A5B7-4D103B505A11}"/>
              </a:ext>
            </a:extLst>
          </p:cNvPr>
          <p:cNvSpPr/>
          <p:nvPr/>
        </p:nvSpPr>
        <p:spPr>
          <a:xfrm>
            <a:off x="8128000" y="1730441"/>
            <a:ext cx="3238500" cy="3733800"/>
          </a:xfrm>
          <a:prstGeom prst="roundRect">
            <a:avLst/>
          </a:prstGeom>
          <a:solidFill>
            <a:srgbClr val="F4F6F8"/>
          </a:solidFill>
          <a:ln w="15240" cap="flat" cmpd="sng" algn="ctr">
            <a:solidFill>
              <a:srgbClr val="C9D2DA"/>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b="1">
                <a:solidFill>
                  <a:srgbClr val="073654"/>
                </a:solidFill>
                <a:latin typeface="Arial"/>
                <a:cs typeface="Arial"/>
              </a:rPr>
              <a:t>SIGUIENTE ETAPA</a:t>
            </a:r>
            <a:r>
              <a:rPr lang="es-ES" sz="1200">
                <a:solidFill>
                  <a:srgbClr val="223547"/>
                </a:solidFill>
                <a:latin typeface="Arial"/>
                <a:cs typeface="Arial"/>
              </a:rPr>
              <a:t>
01  Lematización + POS
02  TF-IDF y embeddings
03  Diversidad léxica y evolución temporal
04  Clasificación automática
05  Modelos jurídicos: LEGAL-BERT
06  Resumen automático</a:t>
            </a:r>
            <a:endParaRPr lang="es-CO" sz="1200">
              <a:solidFill>
                <a:srgbClr val="223547"/>
              </a:solidFill>
              <a:latin typeface="Arial"/>
              <a:cs typeface="Arial"/>
            </a:endParaRPr>
          </a:p>
        </p:txBody>
      </p:sp>
      <p:sp>
        <p:nvSpPr>
          <p:cNvPr id="10" name="Flecha: a la derecha 9">
            <a:extLst>
              <a:ext uri="{FF2B5EF4-FFF2-40B4-BE49-F238E27FC236}">
                <a16:creationId xmlns:a16="http://schemas.microsoft.com/office/drawing/2014/main" id="{8FD69BFA-EF97-4CA2-ACC9-7C5D28363AD0}"/>
              </a:ext>
            </a:extLst>
          </p:cNvPr>
          <p:cNvSpPr/>
          <p:nvPr/>
        </p:nvSpPr>
        <p:spPr>
          <a:xfrm>
            <a:off x="7835900" y="3279841"/>
            <a:ext cx="254000" cy="431800"/>
          </a:xfrm>
          <a:prstGeom prst="rightArrow">
            <a:avLst/>
          </a:prstGeom>
          <a:solidFill>
            <a:srgbClr val="F4B41A"/>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s-CO"/>
          </a:p>
        </p:txBody>
      </p:sp>
      <p:sp>
        <p:nvSpPr>
          <p:cNvPr id="11" name="Rectángulo: esquinas redondeadas 10">
            <a:extLst>
              <a:ext uri="{FF2B5EF4-FFF2-40B4-BE49-F238E27FC236}">
                <a16:creationId xmlns:a16="http://schemas.microsoft.com/office/drawing/2014/main" id="{A6B32B54-747E-4328-A057-707FC0979022}"/>
              </a:ext>
            </a:extLst>
          </p:cNvPr>
          <p:cNvSpPr/>
          <p:nvPr/>
        </p:nvSpPr>
        <p:spPr>
          <a:xfrm>
            <a:off x="2413000" y="5591241"/>
            <a:ext cx="7366000" cy="381000"/>
          </a:xfrm>
          <a:prstGeom prst="roundRect">
            <a:avLst/>
          </a:prstGeom>
          <a:solidFill>
            <a:srgbClr val="FFF4D6"/>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rmAutofit/>
          </a:bodyPr>
          <a:lstStyle/>
          <a:p>
            <a:pPr algn="l"/>
            <a:r>
              <a:rPr lang="es-ES" sz="1200" b="1">
                <a:solidFill>
                  <a:srgbClr val="7A5700"/>
                </a:solidFill>
                <a:latin typeface="Arial"/>
                <a:cs typeface="Arial"/>
              </a:rPr>
              <a:t>DEL CORPUS LIMPIO  →  A MODELOS LINGÜÍSTICOS Y JURÍDICOS</a:t>
            </a:r>
            <a:endParaRPr lang="es-CO" sz="1200" b="1">
              <a:solidFill>
                <a:srgbClr val="7A5700"/>
              </a:solidFill>
              <a:latin typeface="Arial"/>
              <a:cs typeface="Arial"/>
            </a:endParaRPr>
          </a:p>
        </p:txBody>
      </p:sp>
    </p:spTree>
    <p:extLst>
      <p:ext uri="{BB962C8B-B14F-4D97-AF65-F5344CB8AC3E}">
        <p14:creationId xmlns:p14="http://schemas.microsoft.com/office/powerpoint/2010/main" val="1481905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pic>
        <p:nvPicPr>
          <p:cNvPr id="593" name="Google Shape;593;g39411826e08_2_115"/>
          <p:cNvPicPr preferRelativeResize="0"/>
          <p:nvPr/>
        </p:nvPicPr>
        <p:blipFill rotWithShape="1">
          <a:blip r:embed="rId3">
            <a:alphaModFix/>
          </a:blip>
          <a:srcRect/>
          <a:stretch/>
        </p:blipFill>
        <p:spPr>
          <a:xfrm>
            <a:off x="0" y="-14295"/>
            <a:ext cx="12191999" cy="6105541"/>
          </a:xfrm>
          <a:prstGeom prst="rect">
            <a:avLst/>
          </a:prstGeom>
          <a:noFill/>
          <a:ln>
            <a:noFill/>
          </a:ln>
        </p:spPr>
      </p:pic>
      <p:sp>
        <p:nvSpPr>
          <p:cNvPr id="594" name="Google Shape;594;g39411826e08_2_115"/>
          <p:cNvSpPr txBox="1">
            <a:spLocks noGrp="1"/>
          </p:cNvSpPr>
          <p:nvPr>
            <p:ph type="subTitle" idx="1"/>
          </p:nvPr>
        </p:nvSpPr>
        <p:spPr>
          <a:xfrm>
            <a:off x="3054161" y="2335530"/>
            <a:ext cx="8843700" cy="2605800"/>
          </a:xfrm>
          <a:prstGeom prst="rect">
            <a:avLst/>
          </a:prstGeom>
          <a:noFill/>
          <a:ln>
            <a:noFill/>
          </a:ln>
        </p:spPr>
        <p:txBody>
          <a:bodyPr spcFirstLastPara="1" wrap="square" lIns="91425" tIns="45700" rIns="91425" bIns="45700" anchor="t" anchorCtr="0">
            <a:noAutofit/>
          </a:bodyPr>
          <a:lstStyle/>
          <a:p>
            <a:pPr marL="0" lvl="0" indent="0" algn="ctr" rtl="0">
              <a:lnSpc>
                <a:spcPct val="90000"/>
              </a:lnSpc>
              <a:spcBef>
                <a:spcPts val="0"/>
              </a:spcBef>
              <a:spcAft>
                <a:spcPts val="0"/>
              </a:spcAft>
              <a:buClr>
                <a:schemeClr val="lt1"/>
              </a:buClr>
              <a:buSzPts val="4800"/>
              <a:buNone/>
            </a:pPr>
            <a:r>
              <a:rPr lang="es-CO" sz="10000" noProof="0">
                <a:solidFill>
                  <a:schemeClr val="lt1"/>
                </a:solidFill>
              </a:rPr>
              <a:t>Gracias</a:t>
            </a:r>
          </a:p>
          <a:p>
            <a:pPr marL="0" lvl="0" indent="0" algn="ctr" rtl="0">
              <a:lnSpc>
                <a:spcPct val="90000"/>
              </a:lnSpc>
              <a:spcBef>
                <a:spcPts val="1000"/>
              </a:spcBef>
              <a:spcAft>
                <a:spcPts val="0"/>
              </a:spcAft>
              <a:buClr>
                <a:schemeClr val="lt1"/>
              </a:buClr>
              <a:buSzPts val="3200"/>
              <a:buNone/>
            </a:pPr>
            <a:endParaRPr lang="es-CO" noProof="0"/>
          </a:p>
          <a:p>
            <a:pPr marL="0" lvl="0" indent="0" algn="ctr" rtl="0">
              <a:lnSpc>
                <a:spcPct val="90000"/>
              </a:lnSpc>
              <a:spcBef>
                <a:spcPts val="1000"/>
              </a:spcBef>
              <a:spcAft>
                <a:spcPts val="0"/>
              </a:spcAft>
              <a:buClr>
                <a:srgbClr val="FFC000"/>
              </a:buClr>
              <a:buSzPts val="2800"/>
              <a:buNone/>
            </a:pPr>
            <a:endParaRPr lang="es-CO" sz="2800" b="1" noProof="0">
              <a:solidFill>
                <a:srgbClr val="FFC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595" name=""/>
        <p:cNvGrpSpPr/>
        <p:nvPr/>
      </p:nvGrpSpPr>
      <p:grpSpPr/>
      <p:pic>
        <p:nvPicPr>
          <p:cNvPr id="596" name="Google Shape;104;g393f66bba02_1_6">
            <a:extLst>
              <a:ext uri="{FF2B5EF4-FFF2-40B4-BE49-F238E27FC236}">
                <a16:creationId xmlns:a16="http://schemas.microsoft.com/office/drawing/2014/main" id="{B2A6BCE2-6E28-6B56-1054-5BEF285E50B3}"/>
              </a:ext>
            </a:extLst>
          </p:cNvPr>
          <p:cNvPicPr preferRelativeResize="0"/>
          <p:nvPr/>
        </p:nvPicPr>
        <p:blipFill rotWithShape="1">
          <a:blip r:embed="rId2">
            <a:alphaModFix/>
          </a:blip>
          <a:srcRect/>
          <a:stretch/>
        </p:blipFill>
        <p:spPr>
          <a:xfrm>
            <a:off x="-1" y="0"/>
            <a:ext cx="12192004" cy="1623060"/>
          </a:xfrm>
          <a:prstGeom prst="rect">
            <a:avLst/>
          </a:prstGeom>
          <a:noFill/>
          <a:ln>
            <a:noFill/>
          </a:ln>
        </p:spPr>
      </p:pic>
      <p:sp>
        <p:nvSpPr>
          <p:cNvPr id="597" name="Google Shape;105;g393f66bba02_1_6">
            <a:extLst>
              <a:ext uri="{FF2B5EF4-FFF2-40B4-BE49-F238E27FC236}">
                <a16:creationId xmlns:a16="http://schemas.microsoft.com/office/drawing/2014/main" id="{948F04C9-6A51-0BEF-1B13-A778758E068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noAutofit/>
          </a:bodyPr>
          <a:lstStyle/>
          <a:p>
            <a:pPr lvl="0"/>
            <a:r>
              <a:rPr lang="es-CO" sz="3200" b="1" noProof="0" dirty="0">
                <a:solidFill>
                  <a:schemeClr val="bg1"/>
                </a:solidFill>
                <a:latin typeface="Calibri"/>
                <a:ea typeface="Calibri"/>
                <a:cs typeface="Calibri"/>
                <a:sym typeface="Calibri"/>
              </a:rPr>
              <a:t>Contextualización</a:t>
            </a:r>
            <a:endParaRPr lang="es-CO" sz="3200" b="1" i="0" u="none" strike="noStrike" cap="none" noProof="0" dirty="0">
              <a:solidFill>
                <a:schemeClr val="bg1"/>
              </a:solidFill>
              <a:latin typeface="Calibri"/>
              <a:ea typeface="Calibri"/>
              <a:cs typeface="Calibri"/>
            </a:endParaRPr>
          </a:p>
        </p:txBody>
      </p:sp>
      <p:sp>
        <p:nvSpPr>
          <p:cNvPr id="598" name="Fusion-A-Cuerpo">
            <a:extLst>
              <a:ext uri="{FF2B5EF4-FFF2-40B4-BE49-F238E27FC236}">
                <a16:creationId xmlns:a16="http://schemas.microsoft.com/office/drawing/2014/main" id="{16E20DDD-421D-4927-6980-4ADC4C98852C}"/>
              </a:ext>
            </a:extLst>
          </p:cNvPr>
          <p:cNvSpPr txBox="1"/>
          <p:nvPr/>
        </p:nvSpPr>
        <p:spPr>
          <a:xfrm>
            <a:off x="685800" y="2463393"/>
            <a:ext cx="10442448" cy="25146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marL="742950" indent="-285750">
              <a:buFont typeface="Courier New"/>
              <a:buChar char="o"/>
            </a:pPr>
            <a:r>
              <a:rPr lang="es-ES" dirty="0" sz="1800"/>
              <a:t>El análisis manual de decenas de miles de documentos largos es inviable: el PLN convierte ese contenido en evidencia cuantificable y reproducible.</a:t>
            </a:r>
          </a:p>
          <a:p>
            <a:pPr lvl="1" marL="742950" indent="-285750">
              <a:buFont typeface="Courier New"/>
              <a:buChar char="o"/>
            </a:pPr>
            <a:r>
              <a:rPr lang="es-ES" dirty="0" sz="1800"/>
              <a:t>Escasez de recursos y datasets legales anotados en español para América Latina: un corpus jurídico colombiano depurado y caracterizado textométricamente constituye un aporte en sí mismo.</a:t>
            </a:r>
          </a:p>
          <a:p>
            <a:pPr lvl="1" marL="742950" indent="-285750">
              <a:buFont typeface="Courier New"/>
              <a:buChar char="o"/>
            </a:pPr>
            <a:r>
              <a:rPr lang="es-ES" dirty="0" sz="1800"/>
              <a:t>Línea base para clasificación temática de decisiones, seguimiento de la agenda de la Corte y consulta de jurisprudencia; siempre como apoyo a la interpretación especializada, no como sustituto.</a:t>
            </a:r>
          </a:p>
        </p:txBody>
      </p:sp>
      <p:sp>
        <p:nvSpPr>
          <p:cNvPr id="599" name="TextBox 7">
            <a:extLst>
              <a:ext uri="{FF2B5EF4-FFF2-40B4-BE49-F238E27FC236}">
                <a16:creationId xmlns:a16="http://schemas.microsoft.com/office/drawing/2014/main" id="{A591AF32-1FAC-F577-5000-D81DC610711D}"/>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¿Por qué es relevante?</a:t>
            </a:r>
          </a:p>
        </p:txBody>
      </p:sp>
      <p:pic>
        <p:nvPicPr>
          <p:cNvPr id="600" name="Imagen 2">
            <a:extLst>
              <a:ext uri="{FF2B5EF4-FFF2-40B4-BE49-F238E27FC236}">
                <a16:creationId xmlns:a16="http://schemas.microsoft.com/office/drawing/2014/main" id="{1A94060F-11CB-E96E-F501-02DE30CA434F}"/>
              </a:ext>
            </a:extLst>
          </p:cNvPr>
          <p:cNvPicPr>
            <a:picLocks noChangeAspect="1"/>
          </p:cNvPicPr>
          <p:nvPr/>
        </p:nvPicPr>
        <p:blipFill>
          <a:blip r:embed="rId3">
            <a:duotone>
              <a:schemeClr val="accent5">
                <a:shade val="45000"/>
                <a:satMod val="135000"/>
              </a:schemeClr>
              <a:prstClr val="white"/>
            </a:duotone>
          </a:blip>
          <a:stretch>
            <a:fillRect/>
          </a:stretch>
        </p:blipFill>
        <p:spPr>
          <a:xfrm>
            <a:off x="1227647" y="1426521"/>
            <a:ext cx="900000" cy="900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635" name=""/>
        <p:cNvGrpSpPr/>
        <p:nvPr/>
      </p:nvGrpSpPr>
      <p:grpSpPr/>
      <p:pic>
        <p:nvPicPr>
          <p:cNvPr id="636" name="Google Shape;104;g393f66bba02_1_6">
            <a:extLst>
              <a:ext uri="{FF2B5EF4-FFF2-40B4-BE49-F238E27FC236}">
                <a16:creationId xmlns:a16="http://schemas.microsoft.com/office/drawing/2014/main" id="{A798A495-8659-F628-094C-92BFC98DB830}"/>
              </a:ext>
            </a:extLst>
          </p:cNvPr>
          <p:cNvPicPr preferRelativeResize="0"/>
          <p:nvPr/>
        </p:nvPicPr>
        <p:blipFill rotWithShape="1">
          <a:blip r:embed="rId2">
            <a:alphaModFix/>
          </a:blip>
          <a:srcRect/>
          <a:stretch/>
        </p:blipFill>
        <p:spPr>
          <a:xfrm>
            <a:off x="-1" y="0"/>
            <a:ext cx="12192004" cy="1623060"/>
          </a:xfrm>
          <a:prstGeom prst="rect">
            <a:avLst/>
          </a:prstGeom>
          <a:noFill/>
          <a:ln>
            <a:noFill/>
          </a:ln>
        </p:spPr>
      </p:pic>
      <p:sp>
        <p:nvSpPr>
          <p:cNvPr id="637" name="Google Shape;105;g393f66bba02_1_6">
            <a:extLst>
              <a:ext uri="{FF2B5EF4-FFF2-40B4-BE49-F238E27FC236}">
                <a16:creationId xmlns:a16="http://schemas.microsoft.com/office/drawing/2014/main" id="{A12D3087-07BC-3BF5-7656-03433B159BB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noAutofit/>
          </a:bodyPr>
          <a:lstStyle/>
          <a:p>
            <a:pPr lvl="0"/>
            <a:r>
              <a:rPr lang="es-CO" sz="3200" b="1" noProof="0" dirty="0">
                <a:solidFill>
                  <a:schemeClr val="bg1"/>
                </a:solidFill>
                <a:latin typeface="Calibri"/>
                <a:ea typeface="Calibri"/>
                <a:cs typeface="Calibri"/>
                <a:sym typeface="Calibri"/>
              </a:rPr>
              <a:t>Construcción del corpus</a:t>
            </a:r>
            <a:endParaRPr lang="es-CO" sz="3200" b="1" i="0" u="none" strike="noStrike" cap="none" noProof="0" dirty="0">
              <a:solidFill>
                <a:schemeClr val="bg1"/>
              </a:solidFill>
              <a:latin typeface="Calibri"/>
              <a:ea typeface="Calibri"/>
              <a:cs typeface="Calibri"/>
            </a:endParaRPr>
          </a:p>
        </p:txBody>
      </p:sp>
      <p:sp>
        <p:nvSpPr>
          <p:cNvPr id="638" name="TextBox 7">
            <a:extLst>
              <a:ext uri="{FF2B5EF4-FFF2-40B4-BE49-F238E27FC236}">
                <a16:creationId xmlns:a16="http://schemas.microsoft.com/office/drawing/2014/main" id="{04725269-A24E-8941-A0DD-BC5128E69F9D}"/>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Fragmentos representativos</a:t>
            </a:r>
          </a:p>
        </p:txBody>
      </p:sp>
      <p:pic>
        <p:nvPicPr>
          <p:cNvPr id="639" name="Imagen 3">
            <a:extLst>
              <a:ext uri="{FF2B5EF4-FFF2-40B4-BE49-F238E27FC236}">
                <a16:creationId xmlns:a16="http://schemas.microsoft.com/office/drawing/2014/main" id="{A5C30AB8-B82F-3937-B901-E1B9AC2BA727}"/>
              </a:ext>
            </a:extLst>
          </p:cNvPr>
          <p:cNvPicPr>
            <a:picLocks/>
          </p:cNvPicPr>
          <p:nvPr/>
        </p:nvPicPr>
        <p:blipFill>
          <a:blip r:embed="rId3">
            <a:duotone>
              <a:schemeClr val="accent5">
                <a:shade val="45000"/>
                <a:satMod val="135000"/>
              </a:schemeClr>
              <a:prstClr val="white"/>
            </a:duotone>
          </a:blip>
          <a:stretch>
            <a:fillRect/>
          </a:stretch>
        </p:blipFill>
        <p:spPr>
          <a:xfrm>
            <a:off x="1227647" y="1426521"/>
            <a:ext cx="900000" cy="900000"/>
          </a:xfrm>
          <a:prstGeom prst="rect">
            <a:avLst/>
          </a:prstGeom>
        </p:spPr>
      </p:pic>
      <p:sp>
        <p:nvSpPr>
          <p:cNvPr id="2" name="Fusion-B-Tarjeta1">
            <a:extLst>
              <a:ext uri="{FF2B5EF4-FFF2-40B4-BE49-F238E27FC236}">
                <a16:creationId xmlns:a16="http://schemas.microsoft.com/office/drawing/2014/main" id="{6248FAB2-D42F-4539-9A9B-1C9C09A35860}"/>
              </a:ext>
            </a:extLst>
          </p:cNvPr>
          <p:cNvSpPr/>
          <p:nvPr/>
        </p:nvSpPr>
        <p:spPr>
          <a:xfrm>
            <a:off x="685800" y="2340864"/>
            <a:ext cx="10817352" cy="118872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rmAutofit/>
          </a:bodyPr>
          <a:lstStyle/>
          <a:p>
            <a:pPr lvl="0" marL="0"/>
            <a:r>
              <a:rPr lang="es-ES" dirty="0" sz="1400" b="1">
                <a:solidFill>
                  <a:srgbClr val="2F75B5"/>
                </a:solidFill>
              </a:rPr>
              <a:t>Sentencia T-293/97</a:t>
            </a:r>
          </a:p>
          <a:p>
            <a:pPr lvl="0" marL="0"/>
            <a:r>
              <a:rPr lang="es-ES" dirty="0" sz="1100" i="1">
                <a:solidFill>
                  <a:srgbClr val="162536"/>
                </a:solidFill>
              </a:rPr>
              <a:t>La acción de tutela es mecanismo subsidiario cuyo objeto específico es la protección de los derechos fundamentales violados o amenazados por acción u omisión de una autoridad pública…</a:t>
            </a:r>
          </a:p>
        </p:txBody>
      </p:sp>
      <p:sp>
        <p:nvSpPr>
          <p:cNvPr id="2" name="Fusion-B-Tarjeta2">
            <a:extLst>
              <a:ext uri="{FF2B5EF4-FFF2-40B4-BE49-F238E27FC236}">
                <a16:creationId xmlns:a16="http://schemas.microsoft.com/office/drawing/2014/main" id="{6248FAB2-D42F-4539-9A9B-1C9C09A35860}"/>
              </a:ext>
            </a:extLst>
          </p:cNvPr>
          <p:cNvSpPr/>
          <p:nvPr/>
        </p:nvSpPr>
        <p:spPr>
          <a:xfrm>
            <a:off x="685800" y="3721608"/>
            <a:ext cx="10817352" cy="118872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rmAutofit/>
          </a:bodyPr>
          <a:lstStyle/>
          <a:p>
            <a:pPr lvl="0" marL="0"/>
            <a:r>
              <a:rPr lang="es-ES" dirty="0" sz="1400" b="1">
                <a:solidFill>
                  <a:srgbClr val="2F75B5"/>
                </a:solidFill>
              </a:rPr>
              <a:t>Sentencia C-448/98</a:t>
            </a:r>
          </a:p>
          <a:p>
            <a:pPr lvl="0" marL="0"/>
            <a:r>
              <a:rPr lang="es-ES" dirty="0" sz="1100" i="1">
                <a:solidFill>
                  <a:srgbClr val="162536"/>
                </a:solidFill>
              </a:rPr>
              <a:t>La Corte carece de competencia para conocer sobre la constitucionalidad de las preceptivas que integran el texto normativo contenido en el Decreto 1421 de 1993…</a:t>
            </a:r>
          </a:p>
        </p:txBody>
      </p:sp>
      <p:sp>
        <p:nvSpPr>
          <p:cNvPr id="2" name="Fusion-B-Tarjeta3">
            <a:extLst>
              <a:ext uri="{FF2B5EF4-FFF2-40B4-BE49-F238E27FC236}">
                <a16:creationId xmlns:a16="http://schemas.microsoft.com/office/drawing/2014/main" id="{6248FAB2-D42F-4539-9A9B-1C9C09A35860}"/>
              </a:ext>
            </a:extLst>
          </p:cNvPr>
          <p:cNvSpPr/>
          <p:nvPr/>
        </p:nvSpPr>
        <p:spPr>
          <a:xfrm>
            <a:off x="685800" y="5102352"/>
            <a:ext cx="10817352" cy="1188720"/>
          </a:xfrm>
          <a:prstGeom prst="roundRect">
            <a:avLst/>
          </a:prstGeom>
          <a:solidFill>
            <a:srgbClr val="EAF2F8"/>
          </a:solidFill>
          <a:ln w="19050" cap="flat" cmpd="sng" algn="ctr">
            <a:solidFill>
              <a:srgbClr val="2F75B5"/>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t" anchorCtr="0">
            <a:normAutofit/>
          </a:bodyPr>
          <a:lstStyle/>
          <a:p>
            <a:pPr lvl="0" marL="0"/>
            <a:r>
              <a:rPr lang="es-ES" dirty="0" sz="1400" b="1">
                <a:solidFill>
                  <a:srgbClr val="2F75B5"/>
                </a:solidFill>
              </a:rPr>
              <a:t>Sentencia SU-476/97</a:t>
            </a:r>
          </a:p>
          <a:p>
            <a:pPr lvl="0" marL="0"/>
            <a:r>
              <a:rPr lang="es-ES" dirty="0" sz="1100" i="1">
                <a:solidFill>
                  <a:srgbClr val="162536"/>
                </a:solidFill>
              </a:rPr>
              <a:t>La vida en comunidad conlleva forzosamente el cumplimiento de una serie de deberes recíprocos por parte de los asociados, el primero de los cuales es el de respetar los derechos de los demás.</a:t>
            </a:r>
          </a:p>
        </p:txBody>
      </p:sp>
      <p:sp>
        <p:nvSpPr>
          <p:cNvPr id="640" name="Fusion-B-Nota"/>
          <p:cNvSpPr txBox="1"/>
          <p:nvPr/>
        </p:nvSpPr>
        <p:spPr>
          <a:xfrm>
            <a:off x="914400" y="6336792"/>
            <a:ext cx="10360152" cy="292608"/>
          </a:xfrm>
          <a:prstGeom prst="rect">
            <a:avLst/>
          </a:prstGeom>
          <a:noFill/>
        </p:spPr>
        <p:txBody>
          <a:bodyPr wrap="square">
            <a:spAutoFit/>
          </a:bodyPr>
          <a:lstStyle/>
          <a:p>
            <a:pPr algn="ctr"/>
            <a:r>
              <a:rPr sz="1100" i="1">
                <a:solidFill>
                  <a:srgbClr val="425466"/>
                </a:solidFill>
                <a:latin typeface="Arial"/>
              </a:rPr>
              <a:t>Fragmentos literales del anexo del corpus (muestra de 25 sentencias).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675" name=""/>
        <p:cNvGrpSpPr/>
        <p:nvPr/>
      </p:nvGrpSpPr>
      <p:grpSpPr/>
      <p:pic>
        <p:nvPicPr>
          <p:cNvPr id="676" name="Google Shape;104;g393f66bba02_1_6">
            <a:extLst>
              <a:ext uri="{FF2B5EF4-FFF2-40B4-BE49-F238E27FC236}">
                <a16:creationId xmlns:a16="http://schemas.microsoft.com/office/drawing/2014/main" id="{F67BE18C-219A-9CB3-D62C-B1BE8BE217F5}"/>
              </a:ext>
            </a:extLst>
          </p:cNvPr>
          <p:cNvPicPr preferRelativeResize="0"/>
          <p:nvPr/>
        </p:nvPicPr>
        <p:blipFill rotWithShape="1">
          <a:blip r:embed="rId2">
            <a:alphaModFix/>
          </a:blip>
          <a:srcRect/>
          <a:stretch/>
        </p:blipFill>
        <p:spPr>
          <a:xfrm>
            <a:off x="-1" y="0"/>
            <a:ext cx="12192004" cy="1623060"/>
          </a:xfrm>
          <a:prstGeom prst="rect">
            <a:avLst/>
          </a:prstGeom>
          <a:noFill/>
          <a:ln>
            <a:noFill/>
          </a:ln>
        </p:spPr>
      </p:pic>
      <p:sp>
        <p:nvSpPr>
          <p:cNvPr id="677" name="Google Shape;105;g393f66bba02_1_6">
            <a:extLst>
              <a:ext uri="{FF2B5EF4-FFF2-40B4-BE49-F238E27FC236}">
                <a16:creationId xmlns:a16="http://schemas.microsoft.com/office/drawing/2014/main" id="{8E677630-E976-B700-6FDC-5FB39A5EDC65}"/>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noAutofit/>
          </a:bodyPr>
          <a:lstStyle/>
          <a:p>
            <a:pPr lvl="0"/>
            <a:r>
              <a:rPr lang="es-CO" sz="3200" b="1" dirty="0">
                <a:solidFill>
                  <a:schemeClr val="bg1"/>
                </a:solidFill>
                <a:latin typeface="Calibri"/>
                <a:ea typeface="Calibri"/>
                <a:cs typeface="Calibri"/>
                <a:sym typeface="Calibri"/>
              </a:rPr>
              <a:t>Textometría</a:t>
            </a:r>
            <a:endParaRPr lang="es-CO" sz="3200" b="1" i="0" u="none" strike="noStrike" cap="none" noProof="0" dirty="0">
              <a:solidFill>
                <a:schemeClr val="bg1"/>
              </a:solidFill>
              <a:latin typeface="Calibri"/>
              <a:ea typeface="Calibri"/>
              <a:cs typeface="Calibri"/>
            </a:endParaRPr>
          </a:p>
        </p:txBody>
      </p:sp>
      <p:sp>
        <p:nvSpPr>
          <p:cNvPr id="678" name="TextBox 7">
            <a:extLst>
              <a:ext uri="{FF2B5EF4-FFF2-40B4-BE49-F238E27FC236}">
                <a16:creationId xmlns:a16="http://schemas.microsoft.com/office/drawing/2014/main" id="{5E3063E7-1161-AC08-1EFB-DCC910624934}"/>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ES" sz="2800" b="1" dirty="0">
                <a:solidFill>
                  <a:schemeClr val="accent4">
                    <a:lumMod val="60000"/>
                    <a:lumOff val="40000"/>
                  </a:schemeClr>
                </a:solidFill>
                <a:ea typeface="Calibri"/>
                <a:sym typeface="Calibri"/>
              </a:rPr>
              <a:t>Nubes de palabras por año</a:t>
            </a:r>
          </a:p>
        </p:txBody>
      </p:sp>
      <p:pic>
        <p:nvPicPr>
          <p:cNvPr id="680" name="Imagen 7">
            <a:extLst>
              <a:ext uri="{FF2B5EF4-FFF2-40B4-BE49-F238E27FC236}">
                <a16:creationId xmlns:a16="http://schemas.microsoft.com/office/drawing/2014/main" id="{FA342ABA-6F9C-5A78-FF0C-4D3172B64A81}"/>
              </a:ext>
            </a:extLst>
          </p:cNvPr>
          <p:cNvPicPr>
            <a:picLocks noChangeAspect="1"/>
          </p:cNvPicPr>
          <p:nvPr/>
        </p:nvPicPr>
        <p:blipFill>
          <a:blip r:embed="rId4">
            <a:duotone>
              <a:schemeClr val="accent5">
                <a:shade val="45000"/>
                <a:satMod val="135000"/>
              </a:schemeClr>
              <a:prstClr val="white"/>
            </a:duotone>
          </a:blip>
          <a:stretch>
            <a:fillRect/>
          </a:stretch>
        </p:blipFill>
        <p:spPr>
          <a:xfrm>
            <a:off x="1227647" y="1426521"/>
            <a:ext cx="900000" cy="900000"/>
          </a:xfrm>
          <a:prstGeom prst="rect">
            <a:avLst/>
          </a:prstGeom>
        </p:spPr>
      </p:pic>
      <p:pic>
        <p:nvPicPr>
          <p:cNvPr id="681" name="Fusion-C-Nube-1992-2001" descr="fig_nubes_por_anio_1992_2001.png"/>
          <p:cNvPicPr>
            <a:picLocks noChangeAspect="1"/>
          </p:cNvPicPr>
          <p:nvPr/>
        </p:nvPicPr>
        <p:blipFill>
          <a:blip r:embed="rId5"/>
          <a:stretch>
            <a:fillRect/>
          </a:stretch>
        </p:blipFill>
        <p:spPr>
          <a:xfrm>
            <a:off x="1687976" y="2258568"/>
            <a:ext cx="2677115" cy="3703320"/>
          </a:xfrm>
          <a:prstGeom prst="rect">
            <a:avLst/>
          </a:prstGeom>
        </p:spPr>
      </p:pic>
      <p:sp>
        <p:nvSpPr>
          <p:cNvPr id="682" name="Fusion-C-Etiqueta-1992-2001"/>
          <p:cNvSpPr txBox="1"/>
          <p:nvPr/>
        </p:nvSpPr>
        <p:spPr>
          <a:xfrm>
            <a:off x="1687976" y="6007607"/>
            <a:ext cx="2677115" cy="274320"/>
          </a:xfrm>
          <a:prstGeom prst="rect">
            <a:avLst/>
          </a:prstGeom>
          <a:noFill/>
        </p:spPr>
        <p:txBody>
          <a:bodyPr wrap="none">
            <a:spAutoFit/>
          </a:bodyPr>
          <a:lstStyle/>
          <a:p>
            <a:pPr algn="ctr"/>
            <a:r>
              <a:rPr sz="1300" b="1">
                <a:solidFill>
                  <a:srgbClr val="2F75B5"/>
                </a:solidFill>
                <a:latin typeface="Arial"/>
              </a:rPr>
              <a:t>1992–2001</a:t>
            </a:r>
          </a:p>
        </p:txBody>
      </p:sp>
      <p:pic>
        <p:nvPicPr>
          <p:cNvPr id="683" name="Fusion-C-Nube-2002-2011" descr="fig_nubes_por_anio_2002_2011.png"/>
          <p:cNvPicPr>
            <a:picLocks noChangeAspect="1"/>
          </p:cNvPicPr>
          <p:nvPr/>
        </p:nvPicPr>
        <p:blipFill>
          <a:blip r:embed="rId6"/>
          <a:stretch>
            <a:fillRect/>
          </a:stretch>
        </p:blipFill>
        <p:spPr>
          <a:xfrm>
            <a:off x="4749140" y="2258568"/>
            <a:ext cx="2681181" cy="3703320"/>
          </a:xfrm>
          <a:prstGeom prst="rect">
            <a:avLst/>
          </a:prstGeom>
        </p:spPr>
      </p:pic>
      <p:sp>
        <p:nvSpPr>
          <p:cNvPr id="684" name="Fusion-C-Etiqueta-2002-2011"/>
          <p:cNvSpPr txBox="1"/>
          <p:nvPr/>
        </p:nvSpPr>
        <p:spPr>
          <a:xfrm>
            <a:off x="4749140" y="6007607"/>
            <a:ext cx="2681181" cy="274320"/>
          </a:xfrm>
          <a:prstGeom prst="rect">
            <a:avLst/>
          </a:prstGeom>
          <a:noFill/>
        </p:spPr>
        <p:txBody>
          <a:bodyPr wrap="none">
            <a:spAutoFit/>
          </a:bodyPr>
          <a:lstStyle/>
          <a:p>
            <a:pPr algn="ctr"/>
            <a:r>
              <a:rPr sz="1300" b="1">
                <a:solidFill>
                  <a:srgbClr val="2F75B5"/>
                </a:solidFill>
                <a:latin typeface="Arial"/>
              </a:rPr>
              <a:t>2002–2011</a:t>
            </a:r>
          </a:p>
        </p:txBody>
      </p:sp>
      <p:pic>
        <p:nvPicPr>
          <p:cNvPr id="685" name="Fusion-C-Nube-2012-2020" descr="fig_nubes_por_anio_2012_2020.png"/>
          <p:cNvPicPr>
            <a:picLocks noChangeAspect="1"/>
          </p:cNvPicPr>
          <p:nvPr/>
        </p:nvPicPr>
        <p:blipFill>
          <a:blip r:embed="rId7"/>
          <a:stretch>
            <a:fillRect/>
          </a:stretch>
        </p:blipFill>
        <p:spPr>
          <a:xfrm>
            <a:off x="7814369" y="2258568"/>
            <a:ext cx="2689349" cy="3703320"/>
          </a:xfrm>
          <a:prstGeom prst="rect">
            <a:avLst/>
          </a:prstGeom>
        </p:spPr>
      </p:pic>
      <p:sp>
        <p:nvSpPr>
          <p:cNvPr id="686" name="Fusion-C-Etiqueta-2012-2020"/>
          <p:cNvSpPr txBox="1"/>
          <p:nvPr/>
        </p:nvSpPr>
        <p:spPr>
          <a:xfrm>
            <a:off x="7814369" y="6007607"/>
            <a:ext cx="2689349" cy="274320"/>
          </a:xfrm>
          <a:prstGeom prst="rect">
            <a:avLst/>
          </a:prstGeom>
          <a:noFill/>
        </p:spPr>
        <p:txBody>
          <a:bodyPr wrap="none">
            <a:spAutoFit/>
          </a:bodyPr>
          <a:lstStyle/>
          <a:p>
            <a:pPr algn="ctr"/>
            <a:r>
              <a:rPr sz="1300" b="1">
                <a:solidFill>
                  <a:srgbClr val="2F75B5"/>
                </a:solidFill>
                <a:latin typeface="Arial"/>
              </a:rPr>
              <a:t>2012–2020</a:t>
            </a:r>
          </a:p>
        </p:txBody>
      </p:sp>
      <p:sp>
        <p:nvSpPr>
          <p:cNvPr id="687" name="Fusion-C-Nota"/>
          <p:cNvSpPr txBox="1"/>
          <p:nvPr/>
        </p:nvSpPr>
        <p:spPr>
          <a:xfrm>
            <a:off x="685800" y="6373368"/>
            <a:ext cx="10817352" cy="320040"/>
          </a:xfrm>
          <a:prstGeom prst="rect">
            <a:avLst/>
          </a:prstGeom>
          <a:noFill/>
        </p:spPr>
        <p:txBody>
          <a:bodyPr wrap="square">
            <a:spAutoFit/>
          </a:bodyPr>
          <a:lstStyle/>
          <a:p>
            <a:pPr algn="ctr"/>
            <a:r>
              <a:rPr sz="1100" i="1">
                <a:solidFill>
                  <a:srgbClr val="425466"/>
                </a:solidFill>
                <a:latin typeface="Arial"/>
              </a:rPr>
              <a:t>Top-1.000 términos por año; sin stopwords gramaticales (306 formas) ni de dominio jurídico (65 formas). Año 2021 excluido (&lt;50 documentos).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715" name=""/>
        <p:cNvGrpSpPr/>
        <p:nvPr/>
      </p:nvGrpSpPr>
      <p:grpSpPr/>
      <p:pic>
        <p:nvPicPr>
          <p:cNvPr id="716" name="Google Shape;89;p1">
            <a:extLst>
              <a:ext uri="{FF2B5EF4-FFF2-40B4-BE49-F238E27FC236}">
                <a16:creationId xmlns:a16="http://schemas.microsoft.com/office/drawing/2014/main" id="{C1D46BD6-D068-C5C5-4C96-462CB0822D1A}"/>
              </a:ext>
            </a:extLst>
          </p:cNvPr>
          <p:cNvPicPr preferRelativeResize="0"/>
          <p:nvPr/>
        </p:nvPicPr>
        <p:blipFill rotWithShape="1">
          <a:blip r:embed="rId2">
            <a:alphaModFix/>
          </a:blip>
          <a:srcRect/>
          <a:stretch/>
        </p:blipFill>
        <p:spPr>
          <a:xfrm>
            <a:off x="0" y="-14295"/>
            <a:ext cx="12192000" cy="6105540"/>
          </a:xfrm>
          <a:prstGeom prst="rect">
            <a:avLst/>
          </a:prstGeom>
          <a:noFill/>
          <a:ln>
            <a:noFill/>
          </a:ln>
        </p:spPr>
      </p:pic>
      <p:sp>
        <p:nvSpPr>
          <p:cNvPr id="717" name="Google Shape;90;p1">
            <a:extLst>
              <a:ext uri="{FF2B5EF4-FFF2-40B4-BE49-F238E27FC236}">
                <a16:creationId xmlns:a16="http://schemas.microsoft.com/office/drawing/2014/main" id="{377B8EFF-37A4-FE84-F0F9-3EBC2C231F96}"/>
              </a:ext>
            </a:extLst>
          </p:cNvPr>
          <p:cNvSpPr txBox="1">
            <a:spLocks noGrp="1"/>
          </p:cNvSpPr>
          <p:nvPr>
            <p:ph type="subTitle" idx="1"/>
          </p:nvPr>
        </p:nvSpPr>
        <p:spPr>
          <a:xfrm>
            <a:off x="3221420" y="2826829"/>
            <a:ext cx="8843623" cy="1204341"/>
          </a:xfrm>
          <a:prstGeom prst="rect">
            <a:avLst/>
          </a:prstGeom>
          <a:noFill/>
          <a:ln>
            <a:noFill/>
          </a:ln>
        </p:spPr>
        <p:txBody>
          <a:bodyPr spcFirstLastPara="1" wrap="square" lIns="91425" tIns="45700" rIns="91425" bIns="45700" anchor="t" anchorCtr="0">
            <a:noAutofit/>
          </a:bodyPr>
          <a:lstStyle/>
          <a:p>
            <a:pPr marL="0" indent="0">
              <a:spcBef>
                <a:spcPts val="0"/>
              </a:spcBef>
            </a:pPr>
            <a:r>
              <a:rPr lang="es-CO" sz="4800" b="1" noProof="0" dirty="0">
                <a:solidFill>
                  <a:schemeClr val="accent4">
                    <a:lumMod val="60000"/>
                    <a:lumOff val="40000"/>
                  </a:schemeClr>
                </a:solidFill>
                <a:latin typeface="Arial"/>
                <a:cs typeface="Arial"/>
              </a:rPr>
              <a:t>Antecedentes</a:t>
            </a:r>
          </a:p>
          <a:p>
            <a:pPr marL="0" lvl="0" indent="0" algn="ctr">
              <a:lnSpc>
                <a:spcPct val="90000"/>
              </a:lnSpc>
              <a:spcBef>
                <a:spcPts val="0"/>
              </a:spcBef>
              <a:spcAft>
                <a:spcPts val="0"/>
              </a:spcAft>
              <a:buSzPts val="4800"/>
              <a:buNone/>
            </a:pPr>
            <a:endParaRPr lang="es-CO" sz="4800" b="1" noProof="0" dirty="0">
              <a:solidFill>
                <a:schemeClr val="lt1"/>
              </a:solidFill>
              <a:cs typeface="Arial"/>
            </a:endParaRPr>
          </a:p>
          <a:p>
            <a:pPr marL="0" indent="0">
              <a:buClr>
                <a:srgbClr val="FFC000"/>
              </a:buClr>
              <a:buSzPts val="2800"/>
            </a:pPr>
            <a:endParaRPr lang="es-CO" sz="2800" b="1" dirty="0">
              <a:solidFill>
                <a:srgbClr val="FFC000"/>
              </a:solidFill>
              <a:latin typeface="Arial"/>
              <a:ea typeface="Arial"/>
              <a:cs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755" name=""/>
        <p:cNvGrpSpPr/>
        <p:nvPr/>
      </p:nvGrpSpPr>
      <p:grpSpPr/>
      <p:pic>
        <p:nvPicPr>
          <p:cNvPr id="756" name="Google Shape;104;g393f66bba02_1_6">
            <a:extLst>
              <a:ext uri="{FF2B5EF4-FFF2-40B4-BE49-F238E27FC236}">
                <a16:creationId xmlns:a16="http://schemas.microsoft.com/office/drawing/2014/main" id="{B2A6BCE2-6E28-6B56-1054-5BEF285E50B3}"/>
              </a:ext>
            </a:extLst>
          </p:cNvPr>
          <p:cNvPicPr preferRelativeResize="0"/>
          <p:nvPr/>
        </p:nvPicPr>
        <p:blipFill rotWithShape="1">
          <a:blip r:embed="rId2">
            <a:alphaModFix/>
          </a:blip>
          <a:srcRect/>
          <a:stretch/>
        </p:blipFill>
        <p:spPr>
          <a:xfrm>
            <a:off x="-1" y="0"/>
            <a:ext cx="12192004" cy="1623060"/>
          </a:xfrm>
          <a:prstGeom prst="rect">
            <a:avLst/>
          </a:prstGeom>
          <a:noFill/>
          <a:ln>
            <a:noFill/>
          </a:ln>
        </p:spPr>
      </p:pic>
      <p:sp>
        <p:nvSpPr>
          <p:cNvPr id="757" name="Google Shape;105;g393f66bba02_1_6">
            <a:extLst>
              <a:ext uri="{FF2B5EF4-FFF2-40B4-BE49-F238E27FC236}">
                <a16:creationId xmlns:a16="http://schemas.microsoft.com/office/drawing/2014/main" id="{948F04C9-6A51-0BEF-1B13-A778758E068E}"/>
              </a:ext>
            </a:extLst>
          </p:cNvPr>
          <p:cNvSpPr/>
          <p:nvPr/>
        </p:nvSpPr>
        <p:spPr>
          <a:xfrm>
            <a:off x="1496965" y="324857"/>
            <a:ext cx="6824075" cy="923400"/>
          </a:xfrm>
          <a:prstGeom prst="rect">
            <a:avLst/>
          </a:prstGeom>
          <a:noFill/>
          <a:ln>
            <a:noFill/>
          </a:ln>
        </p:spPr>
        <p:txBody>
          <a:bodyPr spcFirstLastPara="1" wrap="square" lIns="91425" tIns="45700" rIns="91425" bIns="45700" anchor="t" anchorCtr="0">
            <a:noAutofit/>
            <a:noAutofit/>
          </a:bodyPr>
          <a:lstStyle/>
          <a:p>
            <a:pPr lvl="0"/>
            <a:r>
              <a:rPr lang="es-CO" sz="3200" b="1" noProof="0" dirty="0">
                <a:solidFill>
                  <a:schemeClr val="bg1"/>
                </a:solidFill>
                <a:latin typeface="Calibri"/>
                <a:ea typeface="Calibri"/>
                <a:cs typeface="Calibri"/>
                <a:sym typeface="Calibri"/>
              </a:rPr>
              <a:t>Antecedentes</a:t>
            </a:r>
            <a:endParaRPr lang="es-CO" sz="3200" b="1" i="0" u="none" strike="noStrike" cap="none" noProof="0" dirty="0">
              <a:solidFill>
                <a:schemeClr val="bg1"/>
              </a:solidFill>
              <a:latin typeface="Calibri"/>
              <a:ea typeface="Calibri"/>
              <a:cs typeface="Calibri"/>
            </a:endParaRPr>
          </a:p>
        </p:txBody>
      </p:sp>
      <p:sp>
        <p:nvSpPr>
          <p:cNvPr id="758" name="Fusion-D2-Cuerpo">
            <a:extLst>
              <a:ext uri="{FF2B5EF4-FFF2-40B4-BE49-F238E27FC236}">
                <a16:creationId xmlns:a16="http://schemas.microsoft.com/office/drawing/2014/main" id="{16E20DDD-421D-4927-6980-4ADC4C98852C}"/>
              </a:ext>
            </a:extLst>
          </p:cNvPr>
          <p:cNvSpPr txBox="1"/>
          <p:nvPr/>
        </p:nvSpPr>
        <p:spPr>
          <a:xfrm>
            <a:off x="685800" y="2463393"/>
            <a:ext cx="10442448" cy="42519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lvl="1" marL="742950" indent="-285750">
              <a:buFont typeface="Courier New"/>
              <a:buChar char="o"/>
            </a:pPr>
            <a:r>
              <a:rPr lang="es-ES" dirty="0" sz="1800" b="1"/>
              <a:t>Anzola Cortés (2021): </a:t>
            </a:r>
            <a:r>
              <a:rPr lang="es-ES" dirty="0" sz="1800"/>
              <a:t>minería de datos sobre más de 6.000 sentencias de constitucionalidad de la Corte Constitucional colombiana (1992-2020): el mismo universo documental del corpus.</a:t>
            </a:r>
          </a:p>
          <a:p>
            <a:pPr lvl="1" marL="742950" indent="-285750">
              <a:buFont typeface="Courier New"/>
              <a:buChar char="o"/>
            </a:pPr>
            <a:r>
              <a:rPr lang="es-ES" dirty="0" sz="1800" b="1"/>
              <a:t>Barbosa Becerra (2021): </a:t>
            </a:r>
            <a:r>
              <a:rPr lang="es-ES" dirty="0" sz="1800"/>
              <a:t>análisis léxico-discursivo de sentencias de la misma Corte; evidencia fórmulas discursivas estables y léxico especializado.</a:t>
            </a:r>
          </a:p>
          <a:p>
            <a:pPr lvl="1" marL="742950" indent="-285750">
              <a:buFont typeface="Courier New"/>
              <a:buChar char="o"/>
            </a:pPr>
            <a:r>
              <a:rPr lang="es-ES" dirty="0" sz="1800" b="1"/>
              <a:t>HaCohen-Kerner et al. (2020): </a:t>
            </a:r>
            <a:r>
              <a:rPr lang="es-ES" dirty="0" sz="1800"/>
              <a:t>la elección del preprocesamiento (minúsculas, números, stopwords, normalización) cambia los resultados según el corpus y la tarea: por eso esta entrega documenta cada paso.</a:t>
            </a:r>
          </a:p>
          <a:p>
            <a:pPr lvl="1" marL="742950" indent="-285750">
              <a:buFont typeface="Courier New"/>
              <a:buChar char="o"/>
            </a:pPr>
            <a:r>
              <a:rPr lang="es-ES" dirty="0" sz="1800" b="1"/>
              <a:t>González-González et al. (2023): </a:t>
            </a:r>
            <a:r>
              <a:rPr lang="es-ES" dirty="0" sz="1800"/>
              <a:t>clasificación automática de sentencias judiciales en español con diccionarios de dominio construidos con expertos legales.</a:t>
            </a:r>
          </a:p>
          <a:p>
            <a:pPr lvl="1" marL="742950" indent="-285750">
              <a:buFont typeface="Courier New"/>
              <a:buChar char="o"/>
            </a:pPr>
            <a:r>
              <a:rPr lang="es-ES" dirty="0" sz="1800" b="1"/>
              <a:t>Chalkidis et al. (2020) (LEGAL-BERT) y Raj et al. (2026): </a:t>
            </a:r>
            <a:r>
              <a:rPr lang="es-ES" dirty="0" sz="1800"/>
              <a:t>vocabulario jurídico distinto del general y cambios léxicos medibles en el tiempo motivan la adaptación de dominio y el análisis diacrónico en entregas siguientes.</a:t>
            </a:r>
          </a:p>
          <a:p>
            <a:pPr lvl="1" marL="457200"/>
            <a:r>
              <a:rPr lang="es-ES" dirty="0" sz="1200" i="1">
                <a:solidFill>
                  <a:srgbClr val="425466"/>
                </a:solidFill>
              </a:rPr>
              <a:t>No hay trabajos indexados que usen el dataset exacto de Hugging Face (verificado 2026-09-05); los antecedentes cubren el corpus subyacente y la metodología.</a:t>
            </a:r>
          </a:p>
        </p:txBody>
      </p:sp>
      <p:sp>
        <p:nvSpPr>
          <p:cNvPr id="759" name="TextBox 7">
            <a:extLst>
              <a:ext uri="{FF2B5EF4-FFF2-40B4-BE49-F238E27FC236}">
                <a16:creationId xmlns:a16="http://schemas.microsoft.com/office/drawing/2014/main" id="{A591AF32-1FAC-F577-5000-D81DC610711D}"/>
              </a:ext>
            </a:extLst>
          </p:cNvPr>
          <p:cNvSpPr txBox="1"/>
          <p:nvPr/>
        </p:nvSpPr>
        <p:spPr>
          <a:xfrm>
            <a:off x="2127647" y="1609925"/>
            <a:ext cx="8896906"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s-CO" sz="2800" b="1" dirty="0">
                <a:solidFill>
                  <a:schemeClr val="accent4">
                    <a:lumMod val="60000"/>
                    <a:lumOff val="40000"/>
                  </a:schemeClr>
                </a:solidFill>
                <a:ea typeface="Calibri"/>
                <a:sym typeface="Calibri"/>
              </a:rPr>
              <a:t>Estado del arte</a:t>
            </a:r>
          </a:p>
        </p:txBody>
      </p:sp>
      <p:pic>
        <p:nvPicPr>
          <p:cNvPr id="760" name="Imagen 2">
            <a:extLst>
              <a:ext uri="{FF2B5EF4-FFF2-40B4-BE49-F238E27FC236}">
                <a16:creationId xmlns:a16="http://schemas.microsoft.com/office/drawing/2014/main" id="{1A94060F-11CB-E96E-F501-02DE30CA434F}"/>
              </a:ext>
            </a:extLst>
          </p:cNvPr>
          <p:cNvPicPr>
            <a:picLocks noChangeAspect="1"/>
          </p:cNvPicPr>
          <p:nvPr/>
        </p:nvPicPr>
        <p:blipFill>
          <a:blip r:embed="rId3">
            <a:duotone>
              <a:schemeClr val="accent5">
                <a:shade val="45000"/>
                <a:satMod val="135000"/>
              </a:schemeClr>
              <a:prstClr val="white"/>
            </a:duotone>
          </a:blip>
          <a:stretch>
            <a:fillRect/>
          </a:stretch>
        </p:blipFill>
        <p:spPr>
          <a:xfrm>
            <a:off x="1227647" y="1426521"/>
            <a:ext cx="900000" cy="9000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081BC4-8B55-497A-B1C1-29D740900FB4}">
  <we:reference id="wa200010215" version="2.0.0.0" store="es-ES" storeType="OMEX"/>
  <we:alternateReferences>
    <we:reference id="WA200010215" version="2.0.0.0" store="WA200010215" storeType="OMEX"/>
  </we:alternateReferences>
  <we:properties>
    <we:property name="bps.codex_control.document_id" value="&quot;843f1c62-20bd-4e41-811e-b679a01aafc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160</TotalTime>
  <Words>669</Words>
  <Application>Microsoft Office PowerPoint</Application>
  <PresentationFormat>Panorámica</PresentationFormat>
  <Paragraphs>114</Paragraphs>
  <Slides>17</Slides>
  <Notes>17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17</vt:i4>
      </vt:variant>
    </vt:vector>
  </HeadingPairs>
  <TitlesOfParts>
    <vt:vector size="21" baseType="lpstr">
      <vt:lpstr>Arial</vt:lpstr>
      <vt:lpstr>Calibri</vt:lpstr>
      <vt:lpstr>Courier New</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wilperiodista86@gmail.com</dc:creator>
  <cp:lastModifiedBy>Julian Carrillo</cp:lastModifiedBy>
  <cp:revision>16</cp:revision>
  <dcterms:created xsi:type="dcterms:W3CDTF">2017-03-01T15:55:36Z</dcterms:created>
  <dcterms:modified xsi:type="dcterms:W3CDTF">2026-09-07T04:19:51Z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0x010100A17391D12170B6429D211C2FD773B5B7</vt:lpwstr>
  </property>
</Properties>
</file>