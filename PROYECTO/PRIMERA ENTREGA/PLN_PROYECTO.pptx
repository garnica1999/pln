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3.xml" ContentType="application/vnd.openxmlformats-officedocument.presentationml.slideLayout+xml"/>
  <Override PartName="/ppt/slideLayouts/slideLayout9.xml" ContentType="application/vnd.openxmlformats-officedocument.presentationml.slideLayout+xml"/>
  <Override PartName="/ppt/slides/slide13.xml" ContentType="application/vnd.openxmlformats-officedocument.presentationml.slide+xml"/>
  <Override PartName="/ppt/theme/theme2.xml" ContentType="application/vnd.openxmlformats-officedocument.theme+xml"/>
  <Override PartName="/ppt/theme/theme1.xml" ContentType="application/vnd.openxmlformats-officedocument.theme+xml"/>
  <Override PartName="/ppt/slides/slide3.xml" ContentType="application/vnd.openxmlformats-officedocument.presentationml.slide+xml"/>
  <Override PartName="/ppt/notesSlides/notesSlide22.xml" ContentType="application/vnd.openxmlformats-officedocument.presentationml.notesSlide+xml"/>
  <Override PartName="/ppt/slideLayouts/slideLayout4.xml" ContentType="application/vnd.openxmlformats-officedocument.presentationml.slideLayout+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21.xml" ContentType="application/vnd.openxmlformats-officedocument.presentationml.slide+xml"/>
  <Override PartName="/ppt/slideLayouts/slideLayout1.xml" ContentType="application/vnd.openxmlformats-officedocument.presentationml.slideLayout+xml"/>
  <Override PartName="/ppt/slides/slide12.xml" ContentType="application/vnd.openxmlformats-officedocument.presentationml.slide+xml"/>
  <Override PartName="/ppt/slideLayouts/slideLayout5.xml" ContentType="application/vnd.openxmlformats-officedocument.presentationml.slideLayout+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tableStyles.xml" ContentType="application/vnd.openxmlformats-officedocument.presentationml.tableStyles+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docProps/core.xml" ContentType="application/vnd.openxmlformats-package.core-properties+xml"/>
  <Override PartName="/docProps/custom.xml" ContentType="application/vnd.openxmlformats-officedocument.custom-properties+xml"/>
  <Override PartName="/ppt/slideLayouts/slideLayout8.xml" ContentType="application/vnd.openxmlformats-officedocument.presentationml.slideLayout+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6.xml" ContentType="application/vnd.openxmlformats-officedocument.presentationml.slideLayout+xml"/>
  <Override PartName="/ppt/notesSlides/notesSlide11.xml" ContentType="application/vnd.openxmlformats-officedocument.presentationml.notesSlide+xml"/>
  <Override PartName="/ppt/slides/slide10.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6.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slides/slide1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98" d="100"/>
          <a:sy n="98" d="100"/>
        </p:scale>
        <p:origin x="1038" y="78"/>
      </p:cViewPr>
      <p:guideLst>
        <p:guide pos="2257" orient="horz"/>
        <p:guide pos="3840"/>
        <p:guide orient="horz"/>
        <p:guide pos="5443"/>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1774855475" name="Google Shape;3;n"/>
          <p:cNvSpPr txBox="1">
            <a:spLocks noGrp="1"/>
          </p:cNvSpPr>
          <p:nvPr>
            <p:ph type="hdr" idx="2"/>
          </p:nvPr>
        </p:nvSpPr>
        <p:spPr bwMode="auto">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defRPr>
            </a:lvl9pPr>
          </a:lstStyle>
          <a:p>
            <a:pPr>
              <a:defRPr/>
            </a:pPr>
            <a:endParaRPr/>
          </a:p>
        </p:txBody>
      </p:sp>
      <p:sp>
        <p:nvSpPr>
          <p:cNvPr id="1441775432" name="Google Shape;4;n"/>
          <p:cNvSpPr txBox="1">
            <a:spLocks noGrp="1"/>
          </p:cNvSpPr>
          <p:nvPr>
            <p:ph type="dt" idx="10"/>
          </p:nvPr>
        </p:nvSpPr>
        <p:spPr bwMode="auto">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defRPr>
            </a:lvl9pPr>
          </a:lstStyle>
          <a:p>
            <a:pPr>
              <a:defRPr/>
            </a:pPr>
            <a:endParaRPr/>
          </a:p>
        </p:txBody>
      </p:sp>
      <p:sp>
        <p:nvSpPr>
          <p:cNvPr id="76018968" name="Google Shape;5;n"/>
          <p:cNvSpPr>
            <a:spLocks noChangeAspect="1" noGrp="1" noRot="1"/>
          </p:cNvSpPr>
          <p:nvPr>
            <p:ph type="sldImg" idx="3"/>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2031427153" name="Google Shape;6;n"/>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defRPr>
            </a:lvl9pPr>
          </a:lstStyle>
          <a:p>
            <a:pPr>
              <a:defRPr/>
            </a:pPr>
            <a:endParaRPr/>
          </a:p>
        </p:txBody>
      </p:sp>
      <p:sp>
        <p:nvSpPr>
          <p:cNvPr id="886750658" name="Google Shape;7;n"/>
          <p:cNvSpPr txBox="1">
            <a:spLocks noGrp="1"/>
          </p:cNvSpPr>
          <p:nvPr>
            <p:ph type="ftr" idx="11"/>
          </p:nvPr>
        </p:nvSpPr>
        <p:spPr bwMode="auto">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defRPr>
            </a:lvl9pPr>
          </a:lstStyle>
          <a:p>
            <a:pPr>
              <a:defRPr/>
            </a:pPr>
            <a:endParaRPr/>
          </a:p>
        </p:txBody>
      </p:sp>
      <p:sp>
        <p:nvSpPr>
          <p:cNvPr id="388081559" name="Google Shape;8;n"/>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defRPr/>
            </a:pPr>
            <a:fld id="{00000000-1234-1234-1234-123412341234}" type="slidenum">
              <a:rPr lang="es-ES" sz="1200" b="0" i="0" u="none" strike="noStrike" cap="none">
                <a:solidFill>
                  <a:schemeClr val="dk1"/>
                </a:solidFill>
                <a:latin typeface="Calibri"/>
                <a:ea typeface="Calibri"/>
                <a:cs typeface="Calibri"/>
              </a:rPr>
              <a:t>‹Nº›</a:t>
            </a:fld>
            <a:endParaRPr sz="1200" b="0" i="0" u="none" strike="noStrike" cap="none">
              <a:solidFill>
                <a:schemeClr val="dk1"/>
              </a:solidFill>
              <a:latin typeface="Calibri"/>
              <a:ea typeface="Calibri"/>
              <a:cs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42596975" name="Google Shape;85;p1: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732337601" name="Google Shape;86;p1:notes"/>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436613924" name="Google Shape;87;p1:notes"/>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34271199" name="Google Shape;93;p2:notes"/>
          <p:cNvSpPr txBox="1">
            <a:spLocks noGrp="1"/>
          </p:cNvSpPr>
          <p:nvPr>
            <p:ph type="body" idx="1"/>
          </p:nvPr>
        </p:nvSpPr>
        <p:spPr bwMode="auto">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966946621" name="Google Shape;94;p2: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73330759" name="Google Shape;85;p1: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822253243" name="Google Shape;86;p1:notes"/>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36240308" name="Google Shape;87;p1:notes"/>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638823"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698367616"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597591"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792521133"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5010503" name="Slide Image Placeholder 1"/>
          <p:cNvSpPr>
            <a:spLocks noChangeAspect="1" noGrp="1" noRot="1"/>
          </p:cNvSpPr>
          <p:nvPr>
            <p:ph type="sldImg"/>
          </p:nvPr>
        </p:nvSpPr>
        <p:spPr bwMode="auto"/>
      </p:sp>
      <p:sp>
        <p:nvSpPr>
          <p:cNvPr id="624202376" name="Notes Placeholder 2"/>
          <p:cNvSpPr>
            <a:spLocks noGrp="1"/>
          </p:cNvSpPr>
          <p:nvPr>
            <p:ph type="body" idx="1"/>
          </p:nvPr>
        </p:nvSpPr>
        <p:spPr bwMode="auto"/>
        <p:txBody>
          <a:bodyPr/>
          <a:lstStyle/>
          <a:p>
            <a:pPr>
              <a:defRPr/>
            </a:pPr>
            <a:endParaRPr/>
          </a:p>
        </p:txBody>
      </p:sp>
      <p:sp>
        <p:nvSpPr>
          <p:cNvPr id="1586819854" name="Slide Number Placeholder 3"/>
          <p:cNvSpPr>
            <a:spLocks noGrp="1"/>
          </p:cNvSpPr>
          <p:nvPr>
            <p:ph type="sldNum" sz="quarter" idx="10"/>
          </p:nvPr>
        </p:nvSpPr>
        <p:spPr bwMode="auto"/>
        <p:txBody>
          <a:bodyPr/>
          <a:lstStyle/>
          <a:p>
            <a:pPr>
              <a:defRPr/>
            </a:pPr>
            <a:fld id="{76BDA98F-AF89-62FE-B99A-8A7AC53B4ABC}"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9332561" name="Slide Image Placeholder 1"/>
          <p:cNvSpPr>
            <a:spLocks noChangeAspect="1" noGrp="1" noRot="1"/>
          </p:cNvSpPr>
          <p:nvPr>
            <p:ph type="sldImg"/>
          </p:nvPr>
        </p:nvSpPr>
        <p:spPr bwMode="auto"/>
      </p:sp>
      <p:sp>
        <p:nvSpPr>
          <p:cNvPr id="695396621" name="Notes Placeholder 2"/>
          <p:cNvSpPr>
            <a:spLocks noGrp="1"/>
          </p:cNvSpPr>
          <p:nvPr>
            <p:ph type="body" idx="1"/>
          </p:nvPr>
        </p:nvSpPr>
        <p:spPr bwMode="auto"/>
        <p:txBody>
          <a:bodyPr/>
          <a:lstStyle/>
          <a:p>
            <a:pPr>
              <a:defRPr/>
            </a:pPr>
            <a:endParaRPr/>
          </a:p>
        </p:txBody>
      </p:sp>
      <p:sp>
        <p:nvSpPr>
          <p:cNvPr id="79380225" name="Slide Number Placeholder 3"/>
          <p:cNvSpPr>
            <a:spLocks noGrp="1"/>
          </p:cNvSpPr>
          <p:nvPr>
            <p:ph type="sldNum" sz="quarter" idx="10"/>
          </p:nvPr>
        </p:nvSpPr>
        <p:spPr bwMode="auto"/>
        <p:txBody>
          <a:bodyPr/>
          <a:lstStyle/>
          <a:p>
            <a:pPr>
              <a:defRPr/>
            </a:pPr>
            <a:fld id="{65F201D7-FF0B-BBA5-F7E0-8F4DAD9F1B69}"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698585" name="Slide Image Placeholder 1"/>
          <p:cNvSpPr>
            <a:spLocks noChangeAspect="1" noGrp="1" noRot="1"/>
          </p:cNvSpPr>
          <p:nvPr>
            <p:ph type="sldImg"/>
          </p:nvPr>
        </p:nvSpPr>
        <p:spPr bwMode="auto"/>
      </p:sp>
      <p:sp>
        <p:nvSpPr>
          <p:cNvPr id="241734709" name="Notes Placeholder 2"/>
          <p:cNvSpPr>
            <a:spLocks noGrp="1"/>
          </p:cNvSpPr>
          <p:nvPr>
            <p:ph type="body" idx="1"/>
          </p:nvPr>
        </p:nvSpPr>
        <p:spPr bwMode="auto"/>
        <p:txBody>
          <a:bodyPr/>
          <a:lstStyle/>
          <a:p>
            <a:pPr>
              <a:defRPr/>
            </a:pPr>
            <a:endParaRPr/>
          </a:p>
        </p:txBody>
      </p:sp>
      <p:sp>
        <p:nvSpPr>
          <p:cNvPr id="1000536703" name="Slide Number Placeholder 3"/>
          <p:cNvSpPr>
            <a:spLocks noGrp="1"/>
          </p:cNvSpPr>
          <p:nvPr>
            <p:ph type="sldNum" sz="quarter" idx="10"/>
          </p:nvPr>
        </p:nvSpPr>
        <p:spPr bwMode="auto"/>
        <p:txBody>
          <a:bodyPr/>
          <a:lstStyle/>
          <a:p>
            <a:pPr>
              <a:defRPr/>
            </a:pPr>
            <a:fld id="{D0A1F325-23E7-69A9-8FCE-8A345CE514ED}"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37180360" name="Google Shape;85;p1: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991178862" name="Google Shape;86;p1:notes"/>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976011275" name="Google Shape;87;p1:notes"/>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6</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2109452"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13876335"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815226225"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2013535387"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02460" name="Slide Image Placeholder 1"/>
          <p:cNvSpPr>
            <a:spLocks noChangeAspect="1" noGrp="1" noRot="1"/>
          </p:cNvSpPr>
          <p:nvPr>
            <p:ph type="sldImg"/>
          </p:nvPr>
        </p:nvSpPr>
        <p:spPr bwMode="auto"/>
      </p:sp>
      <p:sp>
        <p:nvSpPr>
          <p:cNvPr id="453366046" name="Notes Placeholder 2"/>
          <p:cNvSpPr>
            <a:spLocks noGrp="1"/>
          </p:cNvSpPr>
          <p:nvPr>
            <p:ph type="body" idx="1"/>
          </p:nvPr>
        </p:nvSpPr>
        <p:spPr bwMode="auto"/>
        <p:txBody>
          <a:bodyPr/>
          <a:lstStyle/>
          <a:p>
            <a:pPr>
              <a:defRPr/>
            </a:pPr>
            <a:endParaRPr/>
          </a:p>
        </p:txBody>
      </p:sp>
      <p:sp>
        <p:nvSpPr>
          <p:cNvPr id="24334604" name="Slide Number Placeholder 3"/>
          <p:cNvSpPr>
            <a:spLocks noGrp="1"/>
          </p:cNvSpPr>
          <p:nvPr>
            <p:ph type="sldNum" sz="quarter" idx="10"/>
          </p:nvPr>
        </p:nvSpPr>
        <p:spPr bwMode="auto"/>
        <p:txBody>
          <a:bodyPr/>
          <a:lstStyle/>
          <a:p>
            <a:pPr>
              <a:defRPr/>
            </a:pPr>
            <a:fld id="{6AEE3530-1B35-2A47-5401-096399225356}"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41015904" name="Google Shape;85;p1: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1374604182" name="Google Shape;86;p1:notes"/>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367309511" name="Google Shape;87;p1:notes"/>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9</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92575229"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167395516"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59966929"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372376956"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7845301"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313690778"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4858821"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709679483"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18682996"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662057239"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3271113" name="Slide Image Placeholder 1"/>
          <p:cNvSpPr>
            <a:spLocks noChangeAspect="1" noGrp="1" noRot="1"/>
          </p:cNvSpPr>
          <p:nvPr>
            <p:ph type="sldImg"/>
          </p:nvPr>
        </p:nvSpPr>
        <p:spPr bwMode="auto"/>
      </p:sp>
      <p:sp>
        <p:nvSpPr>
          <p:cNvPr id="117413721" name="Notes Placeholder 2"/>
          <p:cNvSpPr>
            <a:spLocks noGrp="1"/>
          </p:cNvSpPr>
          <p:nvPr>
            <p:ph type="body" idx="1"/>
          </p:nvPr>
        </p:nvSpPr>
        <p:spPr bwMode="auto"/>
        <p:txBody>
          <a:bodyPr/>
          <a:lstStyle/>
          <a:p>
            <a:pPr>
              <a:defRPr/>
            </a:pPr>
            <a:endParaRPr/>
          </a:p>
        </p:txBody>
      </p:sp>
      <p:sp>
        <p:nvSpPr>
          <p:cNvPr id="620588635" name="Slide Number Placeholder 3"/>
          <p:cNvSpPr>
            <a:spLocks noGrp="1"/>
          </p:cNvSpPr>
          <p:nvPr>
            <p:ph type="sldNum" sz="quarter" idx="10"/>
          </p:nvPr>
        </p:nvSpPr>
        <p:spPr bwMode="auto"/>
        <p:txBody>
          <a:bodyPr/>
          <a:lstStyle/>
          <a:p>
            <a:pPr>
              <a:defRPr/>
            </a:pPr>
            <a:fld id="{590D402F-E8D2-D912-1C5F-D9D5BA59788B}"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67781876" name="Google Shape;85;p1: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349295255" name="Google Shape;86;p1:notes"/>
          <p:cNvSpPr txBox="1">
            <a:spLocks noGrp="1"/>
          </p:cNvSpPr>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738526156" name="Google Shape;87;p1:notes"/>
          <p:cNvSpPr txBox="1">
            <a:spLocks noGrp="1"/>
          </p:cNvSpPr>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15</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818919695" name="Google Shape;101;g393f66bba02_1_6:notes"/>
          <p:cNvSpPr txBox="1">
            <a:spLocks noGrp="1"/>
          </p:cNvSpPr>
          <p:nvPr>
            <p:ph type="body" idx="1"/>
          </p:nvPr>
        </p:nvSpPr>
        <p:spPr bwMode="auto">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818697324" name="Google Shape;102;g393f66bba02_1_6: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p:spPr>
        <p:txBody>
          <a:bodyPr/>
          <a:lstStyle/>
          <a:p>
            <a:pPr>
              <a:defRPr/>
            </a:pPr>
            <a:endParaRPr lang="es-CO"/>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55279089" name="Google Shape;589;g39411826e08_2_115:notes"/>
          <p:cNvSpPr>
            <a:spLocks noChangeAspect="1" noGrp="1" noRot="1"/>
          </p:cNvSpPr>
          <p:nvPr>
            <p:ph type="sldImg" idx="2"/>
          </p:nvPr>
        </p:nvSpPr>
        <p:spPr bwMode="auto">
          <a:xfrm>
            <a:off x="685800" y="1143000"/>
            <a:ext cx="5486400" cy="30861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pPr>
              <a:defRPr/>
            </a:pPr>
            <a:endParaRPr lang="es-CO"/>
          </a:p>
        </p:txBody>
      </p:sp>
      <p:sp>
        <p:nvSpPr>
          <p:cNvPr id="1857857008" name="Google Shape;590;g39411826e08_2_115:notes"/>
          <p:cNvSpPr txBox="1">
            <a:spLocks noGrp="1"/>
          </p:cNvSpPr>
          <p:nvPr>
            <p:ph type="body" idx="1"/>
          </p:nvPr>
        </p:nvSpPr>
        <p:spPr bwMode="auto">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
        <p:nvSpPr>
          <p:cNvPr id="1980287039" name="Google Shape;591;g39411826e08_2_115:notes"/>
          <p:cNvSpPr txBox="1">
            <a:spLocks noGrp="1"/>
          </p:cNvSpPr>
          <p:nvPr>
            <p:ph type="sldNum" idx="12"/>
          </p:nvPr>
        </p:nvSpPr>
        <p:spPr bwMode="auto">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defRPr/>
            </a:pPr>
            <a:fld id="{00000000-1234-1234-1234-123412341234}" type="slidenum">
              <a:rPr lang="es-ES"/>
              <a:t>17</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iapositiva de título" preserve="0" showMasterPhAnim="0" showMasterSp="1" type="title" userDrawn="1">
  <p:cSld name="TITLE">
    <p:spTree>
      <p:nvGrpSpPr>
        <p:cNvPr id="1" name=""/>
        <p:cNvGrpSpPr/>
        <p:nvPr/>
      </p:nvGrpSpPr>
      <p:grpSpPr bwMode="auto">
        <a:xfrm>
          <a:off x="0" y="0"/>
          <a:ext cx="0" cy="0"/>
          <a:chOff x="0" y="0"/>
          <a:chExt cx="0" cy="0"/>
        </a:xfrm>
      </p:grpSpPr>
      <p:sp>
        <p:nvSpPr>
          <p:cNvPr id="643247815" name="Google Shape;16;p24"/>
          <p:cNvSpPr txBox="1">
            <a:spLocks noGrp="1"/>
          </p:cNvSpPr>
          <p:nvPr>
            <p:ph type="ctrTitle"/>
          </p:nvPr>
        </p:nvSpPr>
        <p:spPr bwMode="auto">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670978581" name="Google Shape;17;p24"/>
          <p:cNvSpPr txBox="1">
            <a:spLocks noGrp="1"/>
          </p:cNvSpPr>
          <p:nvPr>
            <p:ph type="subTitle" idx="1"/>
          </p:nvPr>
        </p:nvSpPr>
        <p:spPr bwMode="auto">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pPr>
              <a:defRPr/>
            </a:pPr>
            <a:endParaRPr/>
          </a:p>
        </p:txBody>
      </p:sp>
      <p:sp>
        <p:nvSpPr>
          <p:cNvPr id="1142794985" name="Google Shape;18;p24"/>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448260698" name="Google Shape;19;p24"/>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2033445810" name="Google Shape;20;p24"/>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ítulo y objetos" preserve="0" showMasterPhAnim="0" showMasterSp="1" type="obj" userDrawn="1">
  <p:cSld name="OBJECT">
    <p:spTree>
      <p:nvGrpSpPr>
        <p:cNvPr id="1" name=""/>
        <p:cNvGrpSpPr/>
        <p:nvPr/>
      </p:nvGrpSpPr>
      <p:grpSpPr bwMode="auto">
        <a:xfrm>
          <a:off x="0" y="0"/>
          <a:ext cx="0" cy="0"/>
          <a:chOff x="0" y="0"/>
          <a:chExt cx="0" cy="0"/>
        </a:xfrm>
      </p:grpSpPr>
      <p:sp>
        <p:nvSpPr>
          <p:cNvPr id="400087925" name="Google Shape;22;p25"/>
          <p:cNvSpPr txBox="1">
            <a:spLocks noGrp="1"/>
          </p:cNvSpPr>
          <p:nvPr>
            <p:ph type="title"/>
          </p:nvPr>
        </p:nvSpPr>
        <p:spPr bwMode="auto">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1510778967" name="Google Shape;23;p25"/>
          <p:cNvSpPr txBox="1">
            <a:spLocks noGrp="1"/>
          </p:cNvSpPr>
          <p:nvPr>
            <p:ph type="body" idx="1"/>
          </p:nvPr>
        </p:nvSpPr>
        <p:spPr bwMode="auto">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281331597" name="Google Shape;24;p25"/>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777279116" name="Google Shape;25;p25"/>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642005329" name="Google Shape;26;p25"/>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Encabezado de sección" preserve="0" showMasterPhAnim="0" showMasterSp="1" type="secHead" userDrawn="1">
  <p:cSld name="SECTION_HEADER">
    <p:spTree>
      <p:nvGrpSpPr>
        <p:cNvPr id="1" name=""/>
        <p:cNvGrpSpPr/>
        <p:nvPr/>
      </p:nvGrpSpPr>
      <p:grpSpPr bwMode="auto">
        <a:xfrm>
          <a:off x="0" y="0"/>
          <a:ext cx="0" cy="0"/>
          <a:chOff x="0" y="0"/>
          <a:chExt cx="0" cy="0"/>
        </a:xfrm>
      </p:grpSpPr>
      <p:sp>
        <p:nvSpPr>
          <p:cNvPr id="2049360373" name="Google Shape;28;p26"/>
          <p:cNvSpPr txBox="1">
            <a:spLocks noGrp="1"/>
          </p:cNvSpPr>
          <p:nvPr>
            <p:ph type="title"/>
          </p:nvPr>
        </p:nvSpPr>
        <p:spPr bwMode="auto">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460160291" name="Google Shape;29;p26"/>
          <p:cNvSpPr txBox="1">
            <a:spLocks noGrp="1"/>
          </p:cNvSpPr>
          <p:nvPr>
            <p:ph type="body" idx="1"/>
          </p:nvPr>
        </p:nvSpPr>
        <p:spPr bwMode="auto">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pPr>
              <a:defRPr/>
            </a:pPr>
            <a:endParaRPr/>
          </a:p>
        </p:txBody>
      </p:sp>
      <p:sp>
        <p:nvSpPr>
          <p:cNvPr id="1494688972" name="Google Shape;30;p26"/>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249589719" name="Google Shape;31;p26"/>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675217382" name="Google Shape;32;p26"/>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os objetos" preserve="0" showMasterPhAnim="0" showMasterSp="1" type="twoObj" userDrawn="1">
  <p:cSld name="TWO_OBJECTS">
    <p:spTree>
      <p:nvGrpSpPr>
        <p:cNvPr id="1" name=""/>
        <p:cNvGrpSpPr/>
        <p:nvPr/>
      </p:nvGrpSpPr>
      <p:grpSpPr bwMode="auto">
        <a:xfrm>
          <a:off x="0" y="0"/>
          <a:ext cx="0" cy="0"/>
          <a:chOff x="0" y="0"/>
          <a:chExt cx="0" cy="0"/>
        </a:xfrm>
      </p:grpSpPr>
      <p:sp>
        <p:nvSpPr>
          <p:cNvPr id="833482899" name="Google Shape;34;p27"/>
          <p:cNvSpPr txBox="1">
            <a:spLocks noGrp="1"/>
          </p:cNvSpPr>
          <p:nvPr>
            <p:ph type="title"/>
          </p:nvPr>
        </p:nvSpPr>
        <p:spPr bwMode="auto">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1579222356" name="Google Shape;35;p27"/>
          <p:cNvSpPr txBox="1">
            <a:spLocks noGrp="1"/>
          </p:cNvSpPr>
          <p:nvPr>
            <p:ph type="body" idx="1"/>
          </p:nvPr>
        </p:nvSpPr>
        <p:spPr bwMode="auto">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611355420" name="Google Shape;36;p27"/>
          <p:cNvSpPr txBox="1">
            <a:spLocks noGrp="1"/>
          </p:cNvSpPr>
          <p:nvPr>
            <p:ph type="body" idx="2"/>
          </p:nvPr>
        </p:nvSpPr>
        <p:spPr bwMode="auto">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188763784" name="Google Shape;37;p27"/>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885376842" name="Google Shape;38;p27"/>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279959029" name="Google Shape;39;p27"/>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Comparación" preserve="0" showMasterPhAnim="0" showMasterSp="1" type="twoTxTwoObj" userDrawn="1">
  <p:cSld name="TWO_OBJECTS_WITH_TEXT">
    <p:spTree>
      <p:nvGrpSpPr>
        <p:cNvPr id="1" name=""/>
        <p:cNvGrpSpPr/>
        <p:nvPr/>
      </p:nvGrpSpPr>
      <p:grpSpPr bwMode="auto">
        <a:xfrm>
          <a:off x="0" y="0"/>
          <a:ext cx="0" cy="0"/>
          <a:chOff x="0" y="0"/>
          <a:chExt cx="0" cy="0"/>
        </a:xfrm>
      </p:grpSpPr>
      <p:sp>
        <p:nvSpPr>
          <p:cNvPr id="665148575" name="Google Shape;41;p28"/>
          <p:cNvSpPr txBox="1">
            <a:spLocks noGrp="1"/>
          </p:cNvSpPr>
          <p:nvPr>
            <p:ph type="title"/>
          </p:nvPr>
        </p:nvSpPr>
        <p:spPr bwMode="auto">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632046195" name="Google Shape;42;p28"/>
          <p:cNvSpPr txBox="1">
            <a:spLocks noGrp="1"/>
          </p:cNvSpPr>
          <p:nvPr>
            <p:ph type="body" idx="1"/>
          </p:nvPr>
        </p:nvSpPr>
        <p:spPr bwMode="auto">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pPr>
              <a:defRPr/>
            </a:pPr>
            <a:endParaRPr/>
          </a:p>
        </p:txBody>
      </p:sp>
      <p:sp>
        <p:nvSpPr>
          <p:cNvPr id="2095830449" name="Google Shape;43;p28"/>
          <p:cNvSpPr txBox="1">
            <a:spLocks noGrp="1"/>
          </p:cNvSpPr>
          <p:nvPr>
            <p:ph type="body" idx="2"/>
          </p:nvPr>
        </p:nvSpPr>
        <p:spPr bwMode="auto">
          <a:xfrm>
            <a:off x="839788" y="2505074"/>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748118239" name="Google Shape;44;p28"/>
          <p:cNvSpPr txBox="1">
            <a:spLocks noGrp="1"/>
          </p:cNvSpPr>
          <p:nvPr>
            <p:ph type="body" idx="3"/>
          </p:nvPr>
        </p:nvSpPr>
        <p:spPr bwMode="auto">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pPr>
              <a:defRPr/>
            </a:pPr>
            <a:endParaRPr/>
          </a:p>
        </p:txBody>
      </p:sp>
      <p:sp>
        <p:nvSpPr>
          <p:cNvPr id="1513021191" name="Google Shape;45;p28"/>
          <p:cNvSpPr txBox="1">
            <a:spLocks noGrp="1"/>
          </p:cNvSpPr>
          <p:nvPr>
            <p:ph type="body" idx="4"/>
          </p:nvPr>
        </p:nvSpPr>
        <p:spPr bwMode="auto">
          <a:xfrm>
            <a:off x="6172200" y="2505074"/>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1456226543" name="Google Shape;46;p28"/>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394095354" name="Google Shape;47;p28"/>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390538512" name="Google Shape;48;p28"/>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olo el título" preserve="0" showMasterPhAnim="0" showMasterSp="1" type="titleOnly" userDrawn="1">
  <p:cSld name="TITLE_ONLY">
    <p:spTree>
      <p:nvGrpSpPr>
        <p:cNvPr id="1" name=""/>
        <p:cNvGrpSpPr/>
        <p:nvPr/>
      </p:nvGrpSpPr>
      <p:grpSpPr bwMode="auto">
        <a:xfrm>
          <a:off x="0" y="0"/>
          <a:ext cx="0" cy="0"/>
          <a:chOff x="0" y="0"/>
          <a:chExt cx="0" cy="0"/>
        </a:xfrm>
      </p:grpSpPr>
      <p:sp>
        <p:nvSpPr>
          <p:cNvPr id="669596872" name="Google Shape;50;p29"/>
          <p:cNvSpPr txBox="1">
            <a:spLocks noGrp="1"/>
          </p:cNvSpPr>
          <p:nvPr>
            <p:ph type="title"/>
          </p:nvPr>
        </p:nvSpPr>
        <p:spPr bwMode="auto">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1663373840" name="Google Shape;51;p29"/>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607069819" name="Google Shape;52;p29"/>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939489108" name="Google Shape;53;p29"/>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En blanco" preserve="0" showMasterPhAnim="0" showMasterSp="1" type="blank" userDrawn="1">
  <p:cSld name="BLANK">
    <p:spTree>
      <p:nvGrpSpPr>
        <p:cNvPr id="1" name=""/>
        <p:cNvGrpSpPr/>
        <p:nvPr/>
      </p:nvGrpSpPr>
      <p:grpSpPr bwMode="auto">
        <a:xfrm>
          <a:off x="0" y="0"/>
          <a:ext cx="0" cy="0"/>
          <a:chOff x="0" y="0"/>
          <a:chExt cx="0" cy="0"/>
        </a:xfrm>
      </p:grpSpPr>
      <p:sp>
        <p:nvSpPr>
          <p:cNvPr id="135800705" name="Google Shape;55;p30"/>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493215058" name="Google Shape;56;p30"/>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385902450" name="Google Shape;57;p30"/>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Contenido con título" preserve="0" showMasterPhAnim="0" showMasterSp="1" type="objTx" userDrawn="1">
  <p:cSld name="OBJECT_WITH_CAPTION_TEXT">
    <p:spTree>
      <p:nvGrpSpPr>
        <p:cNvPr id="1" name=""/>
        <p:cNvGrpSpPr/>
        <p:nvPr/>
      </p:nvGrpSpPr>
      <p:grpSpPr bwMode="auto">
        <a:xfrm>
          <a:off x="0" y="0"/>
          <a:ext cx="0" cy="0"/>
          <a:chOff x="0" y="0"/>
          <a:chExt cx="0" cy="0"/>
        </a:xfrm>
      </p:grpSpPr>
      <p:sp>
        <p:nvSpPr>
          <p:cNvPr id="559397483" name="Google Shape;59;p31"/>
          <p:cNvSpPr txBox="1">
            <a:spLocks noGrp="1"/>
          </p:cNvSpPr>
          <p:nvPr>
            <p:ph type="title"/>
          </p:nvPr>
        </p:nvSpPr>
        <p:spPr bwMode="auto">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2056810161" name="Google Shape;60;p31"/>
          <p:cNvSpPr txBox="1">
            <a:spLocks noGrp="1"/>
          </p:cNvSpPr>
          <p:nvPr>
            <p:ph type="body" idx="1"/>
          </p:nvPr>
        </p:nvSpPr>
        <p:spPr bwMode="auto">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799"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pPr>
              <a:defRPr/>
            </a:pPr>
            <a:endParaRPr/>
          </a:p>
        </p:txBody>
      </p:sp>
      <p:sp>
        <p:nvSpPr>
          <p:cNvPr id="1477731381" name="Google Shape;61;p31"/>
          <p:cNvSpPr txBox="1">
            <a:spLocks noGrp="1"/>
          </p:cNvSpPr>
          <p:nvPr>
            <p:ph type="body" idx="2"/>
          </p:nvPr>
        </p:nvSpPr>
        <p:spPr bwMode="auto">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pPr>
              <a:defRPr/>
            </a:pPr>
            <a:endParaRPr/>
          </a:p>
        </p:txBody>
      </p:sp>
      <p:sp>
        <p:nvSpPr>
          <p:cNvPr id="766502671" name="Google Shape;62;p31"/>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2099657907" name="Google Shape;63;p31"/>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566011046" name="Google Shape;64;p31"/>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Imagen con título" preserve="0" showMasterPhAnim="0" showMasterSp="1" type="picTx" userDrawn="1">
  <p:cSld name="PICTURE_WITH_CAPTION_TEXT">
    <p:spTree>
      <p:nvGrpSpPr>
        <p:cNvPr id="1" name=""/>
        <p:cNvGrpSpPr/>
        <p:nvPr/>
      </p:nvGrpSpPr>
      <p:grpSpPr bwMode="auto">
        <a:xfrm>
          <a:off x="0" y="0"/>
          <a:ext cx="0" cy="0"/>
          <a:chOff x="0" y="0"/>
          <a:chExt cx="0" cy="0"/>
        </a:xfrm>
      </p:grpSpPr>
      <p:sp>
        <p:nvSpPr>
          <p:cNvPr id="2132157467" name="Google Shape;66;p32"/>
          <p:cNvSpPr txBox="1">
            <a:spLocks noGrp="1"/>
          </p:cNvSpPr>
          <p:nvPr>
            <p:ph type="title"/>
          </p:nvPr>
        </p:nvSpPr>
        <p:spPr bwMode="auto">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1461835089" name="Google Shape;67;p32"/>
          <p:cNvSpPr>
            <a:spLocks noGrp="1"/>
          </p:cNvSpPr>
          <p:nvPr>
            <p:ph type="pic" idx="2"/>
          </p:nvPr>
        </p:nvSpPr>
        <p:spPr bwMode="auto">
          <a:xfrm>
            <a:off x="5183188" y="987425"/>
            <a:ext cx="6172200" cy="4873625"/>
          </a:xfrm>
          <a:prstGeom prst="rect">
            <a:avLst/>
          </a:prstGeom>
          <a:noFill/>
          <a:ln>
            <a:noFill/>
          </a:ln>
        </p:spPr>
        <p:txBody>
          <a:bodyPr/>
          <a:lstStyle/>
          <a:p>
            <a:pPr>
              <a:defRPr/>
            </a:pPr>
            <a:endParaRPr lang="es-CO"/>
          </a:p>
        </p:txBody>
      </p:sp>
      <p:sp>
        <p:nvSpPr>
          <p:cNvPr id="1874191071" name="Google Shape;68;p32"/>
          <p:cNvSpPr txBox="1">
            <a:spLocks noGrp="1"/>
          </p:cNvSpPr>
          <p:nvPr>
            <p:ph type="body" idx="1"/>
          </p:nvPr>
        </p:nvSpPr>
        <p:spPr bwMode="auto">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pPr>
              <a:defRPr/>
            </a:pPr>
            <a:endParaRPr/>
          </a:p>
        </p:txBody>
      </p:sp>
      <p:sp>
        <p:nvSpPr>
          <p:cNvPr id="1013510678" name="Google Shape;69;p32"/>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325089940" name="Google Shape;70;p32"/>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240522454" name="Google Shape;71;p32"/>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ítulo y texto vertical" preserve="0" showMasterPhAnim="0" showMasterSp="1" type="vertTx" userDrawn="1">
  <p:cSld name="VERTICAL_TEXT">
    <p:spTree>
      <p:nvGrpSpPr>
        <p:cNvPr id="1" name=""/>
        <p:cNvGrpSpPr/>
        <p:nvPr/>
      </p:nvGrpSpPr>
      <p:grpSpPr bwMode="auto">
        <a:xfrm>
          <a:off x="0" y="0"/>
          <a:ext cx="0" cy="0"/>
          <a:chOff x="0" y="0"/>
          <a:chExt cx="0" cy="0"/>
        </a:xfrm>
      </p:grpSpPr>
      <p:sp>
        <p:nvSpPr>
          <p:cNvPr id="2073490823" name="Google Shape;73;p33"/>
          <p:cNvSpPr txBox="1">
            <a:spLocks noGrp="1"/>
          </p:cNvSpPr>
          <p:nvPr>
            <p:ph type="title"/>
          </p:nvPr>
        </p:nvSpPr>
        <p:spPr bwMode="auto">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884130782" name="Google Shape;74;p33"/>
          <p:cNvSpPr txBox="1">
            <a:spLocks noGrp="1"/>
          </p:cNvSpPr>
          <p:nvPr>
            <p:ph type="body" idx="1"/>
          </p:nvPr>
        </p:nvSpPr>
        <p:spPr bwMode="auto">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1899472093" name="Google Shape;75;p33"/>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578918344" name="Google Shape;76;p33"/>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936366219" name="Google Shape;77;p33"/>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ítulo vertical y texto" preserve="0" showMasterPhAnim="0" showMasterSp="1" type="vertTitleAndTx" userDrawn="1">
  <p:cSld name="VERTICAL_TITLE_AND_VERTICAL_TEXT">
    <p:spTree>
      <p:nvGrpSpPr>
        <p:cNvPr id="1" name=""/>
        <p:cNvGrpSpPr/>
        <p:nvPr/>
      </p:nvGrpSpPr>
      <p:grpSpPr bwMode="auto">
        <a:xfrm>
          <a:off x="0" y="0"/>
          <a:ext cx="0" cy="0"/>
          <a:chOff x="0" y="0"/>
          <a:chExt cx="0" cy="0"/>
        </a:xfrm>
      </p:grpSpPr>
      <p:sp>
        <p:nvSpPr>
          <p:cNvPr id="1567107367" name="Google Shape;79;p34"/>
          <p:cNvSpPr txBox="1">
            <a:spLocks noGrp="1"/>
          </p:cNvSpPr>
          <p:nvPr>
            <p:ph type="title"/>
          </p:nvPr>
        </p:nvSpPr>
        <p:spPr bwMode="auto">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defRPr/>
            </a:pPr>
            <a:endParaRPr/>
          </a:p>
        </p:txBody>
      </p:sp>
      <p:sp>
        <p:nvSpPr>
          <p:cNvPr id="2014092205" name="Google Shape;80;p34"/>
          <p:cNvSpPr txBox="1">
            <a:spLocks noGrp="1"/>
          </p:cNvSpPr>
          <p:nvPr>
            <p:ph type="body" idx="1"/>
          </p:nvPr>
        </p:nvSpPr>
        <p:spPr bwMode="auto">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a:defRPr/>
            </a:pPr>
            <a:endParaRPr/>
          </a:p>
        </p:txBody>
      </p:sp>
      <p:sp>
        <p:nvSpPr>
          <p:cNvPr id="415335316" name="Google Shape;81;p34"/>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708076010" name="Google Shape;82;p34"/>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a:defRPr/>
            </a:pPr>
            <a:endParaRPr/>
          </a:p>
        </p:txBody>
      </p:sp>
      <p:sp>
        <p:nvSpPr>
          <p:cNvPr id="1182873014" name="Google Shape;83;p34"/>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defRPr/>
            </a:pPr>
            <a:fld id="{00000000-1234-1234-1234-123412341234}" type="slidenum">
              <a:rPr lang="es-ES"/>
              <a:t>‹Nº›</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chemeClr val="lt1"/>
        </a:solidFill>
      </p:bgPr>
    </p:bg>
    <p:spTree>
      <p:nvGrpSpPr>
        <p:cNvPr id="1" name=""/>
        <p:cNvGrpSpPr/>
        <p:nvPr/>
      </p:nvGrpSpPr>
      <p:grpSpPr bwMode="auto">
        <a:xfrm>
          <a:off x="0" y="0"/>
          <a:ext cx="0" cy="0"/>
          <a:chOff x="0" y="0"/>
          <a:chExt cx="0" cy="0"/>
        </a:xfrm>
      </p:grpSpPr>
      <p:sp>
        <p:nvSpPr>
          <p:cNvPr id="2034777180" name="Google Shape;10;p23"/>
          <p:cNvSpPr txBox="1">
            <a:spLocks noGrp="1"/>
          </p:cNvSpPr>
          <p:nvPr>
            <p:ph type="title"/>
          </p:nvPr>
        </p:nvSpPr>
        <p:spPr bwMode="auto">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pPr>
              <a:defRPr/>
            </a:pPr>
            <a:endParaRPr/>
          </a:p>
        </p:txBody>
      </p:sp>
      <p:sp>
        <p:nvSpPr>
          <p:cNvPr id="711276602" name="Google Shape;11;p23"/>
          <p:cNvSpPr txBox="1">
            <a:spLocks noGrp="1"/>
          </p:cNvSpPr>
          <p:nvPr>
            <p:ph type="body" idx="1"/>
          </p:nvPr>
        </p:nvSpPr>
        <p:spPr bwMode="auto">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defRPr>
            </a:lvl9pPr>
          </a:lstStyle>
          <a:p>
            <a:pPr>
              <a:defRPr/>
            </a:pPr>
            <a:endParaRPr/>
          </a:p>
        </p:txBody>
      </p:sp>
      <p:sp>
        <p:nvSpPr>
          <p:cNvPr id="1913277534" name="Google Shape;12;p23"/>
          <p:cNvSpPr txBox="1">
            <a:spLocks noGrp="1"/>
          </p:cNvSpPr>
          <p:nvPr>
            <p:ph type="dt" idx="10"/>
          </p:nvPr>
        </p:nvSpPr>
        <p:spPr bwMode="auto">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defRPr>
            </a:lvl9pPr>
          </a:lstStyle>
          <a:p>
            <a:pPr>
              <a:defRPr/>
            </a:pPr>
            <a:endParaRPr/>
          </a:p>
        </p:txBody>
      </p:sp>
      <p:sp>
        <p:nvSpPr>
          <p:cNvPr id="679576772" name="Google Shape;13;p23"/>
          <p:cNvSpPr txBox="1">
            <a:spLocks noGrp="1"/>
          </p:cNvSpPr>
          <p:nvPr>
            <p:ph type="ftr" idx="11"/>
          </p:nvPr>
        </p:nvSpPr>
        <p:spPr bwMode="auto">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defRPr>
            </a:lvl9pPr>
          </a:lstStyle>
          <a:p>
            <a:pPr>
              <a:defRPr/>
            </a:pPr>
            <a:endParaRPr/>
          </a:p>
        </p:txBody>
      </p:sp>
      <p:sp>
        <p:nvSpPr>
          <p:cNvPr id="568338809" name="Google Shape;14;p23"/>
          <p:cNvSpPr txBox="1">
            <a:spLocks noGrp="1"/>
          </p:cNvSpPr>
          <p:nvPr>
            <p:ph type="sldNum" idx="12"/>
          </p:nvPr>
        </p:nvSpPr>
        <p:spPr bwMode="auto">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defRPr>
            </a:lvl1pPr>
            <a:lvl2pPr marL="0" marR="0" lvl="1" indent="0" algn="r" rtl="0">
              <a:spcBef>
                <a:spcPts val="0"/>
              </a:spcBef>
              <a:buNone/>
              <a:defRPr sz="1200" b="0" i="0" u="none" strike="noStrike" cap="none">
                <a:solidFill>
                  <a:srgbClr val="888888"/>
                </a:solidFill>
                <a:latin typeface="Calibri"/>
                <a:ea typeface="Calibri"/>
                <a:cs typeface="Calibri"/>
              </a:defRPr>
            </a:lvl2pPr>
            <a:lvl3pPr marL="0" marR="0" lvl="2" indent="0" algn="r" rtl="0">
              <a:spcBef>
                <a:spcPts val="0"/>
              </a:spcBef>
              <a:buNone/>
              <a:defRPr sz="1200" b="0" i="0" u="none" strike="noStrike" cap="none">
                <a:solidFill>
                  <a:srgbClr val="888888"/>
                </a:solidFill>
                <a:latin typeface="Calibri"/>
                <a:ea typeface="Calibri"/>
                <a:cs typeface="Calibri"/>
              </a:defRPr>
            </a:lvl3pPr>
            <a:lvl4pPr marL="0" marR="0" lvl="3" indent="0" algn="r" rtl="0">
              <a:spcBef>
                <a:spcPts val="0"/>
              </a:spcBef>
              <a:buNone/>
              <a:defRPr sz="1200" b="0" i="0" u="none" strike="noStrike" cap="none">
                <a:solidFill>
                  <a:srgbClr val="888888"/>
                </a:solidFill>
                <a:latin typeface="Calibri"/>
                <a:ea typeface="Calibri"/>
                <a:cs typeface="Calibri"/>
              </a:defRPr>
            </a:lvl4pPr>
            <a:lvl5pPr marL="0" marR="0" lvl="4" indent="0" algn="r" rtl="0">
              <a:spcBef>
                <a:spcPts val="0"/>
              </a:spcBef>
              <a:buNone/>
              <a:defRPr sz="1200" b="0" i="0" u="none" strike="noStrike" cap="none">
                <a:solidFill>
                  <a:srgbClr val="888888"/>
                </a:solidFill>
                <a:latin typeface="Calibri"/>
                <a:ea typeface="Calibri"/>
                <a:cs typeface="Calibri"/>
              </a:defRPr>
            </a:lvl5pPr>
            <a:lvl6pPr marL="0" marR="0" lvl="5" indent="0" algn="r" rtl="0">
              <a:spcBef>
                <a:spcPts val="0"/>
              </a:spcBef>
              <a:buNone/>
              <a:defRPr sz="1200" b="0" i="0" u="none" strike="noStrike" cap="none">
                <a:solidFill>
                  <a:srgbClr val="888888"/>
                </a:solidFill>
                <a:latin typeface="Calibri"/>
                <a:ea typeface="Calibri"/>
                <a:cs typeface="Calibri"/>
              </a:defRPr>
            </a:lvl6pPr>
            <a:lvl7pPr marL="0" marR="0" lvl="6" indent="0" algn="r" rtl="0">
              <a:spcBef>
                <a:spcPts val="0"/>
              </a:spcBef>
              <a:buNone/>
              <a:defRPr sz="1200" b="0" i="0" u="none" strike="noStrike" cap="none">
                <a:solidFill>
                  <a:srgbClr val="888888"/>
                </a:solidFill>
                <a:latin typeface="Calibri"/>
                <a:ea typeface="Calibri"/>
                <a:cs typeface="Calibri"/>
              </a:defRPr>
            </a:lvl7pPr>
            <a:lvl8pPr marL="0" marR="0" lvl="7" indent="0" algn="r" rtl="0">
              <a:spcBef>
                <a:spcPts val="0"/>
              </a:spcBef>
              <a:buNone/>
              <a:defRPr sz="1200" b="0" i="0" u="none" strike="noStrike" cap="none">
                <a:solidFill>
                  <a:srgbClr val="888888"/>
                </a:solidFill>
                <a:latin typeface="Calibri"/>
                <a:ea typeface="Calibri"/>
                <a:cs typeface="Calibri"/>
              </a:defRPr>
            </a:lvl8pPr>
            <a:lvl9pPr marL="0" marR="0" lvl="8" indent="0" algn="r" rtl="0">
              <a:spcBef>
                <a:spcPts val="0"/>
              </a:spcBef>
              <a:buNone/>
              <a:defRPr sz="1200" b="0" i="0" u="none" strike="noStrike" cap="none">
                <a:solidFill>
                  <a:srgbClr val="888888"/>
                </a:solidFill>
                <a:latin typeface="Calibri"/>
                <a:ea typeface="Calibri"/>
                <a:cs typeface="Calibri"/>
              </a:defRPr>
            </a:lvl9pPr>
          </a:lstStyle>
          <a:p>
            <a:pPr marL="0" lvl="0" indent="0" algn="r" rtl="0">
              <a:spcBef>
                <a:spcPts val="0"/>
              </a:spcBef>
              <a:spcAft>
                <a:spcPts val="0"/>
              </a:spcAft>
              <a:buNone/>
              <a:defRPr/>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4.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hyperlink" Target="https://huggingface.co/datasets/Manuel/sentencias-corte-cons-colombia-1992-2021" TargetMode="Externa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6.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5.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7.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8.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5.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21909786"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29876715" name="Google Shape;90;p1"/>
          <p:cNvSpPr txBox="1">
            <a:spLocks noGrp="1"/>
          </p:cNvSpPr>
          <p:nvPr>
            <p:ph type="subTitle" idx="1"/>
          </p:nvPr>
        </p:nvSpPr>
        <p:spPr bwMode="auto">
          <a:xfrm>
            <a:off x="3120836" y="2351525"/>
            <a:ext cx="8843623" cy="2605897"/>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Análisis de sentencias de la Corte Constitucional de Colombia (1992-2021)</a:t>
            </a:r>
            <a:endParaRPr/>
          </a:p>
        </p:txBody>
      </p:sp>
      <p:sp>
        <p:nvSpPr>
          <p:cNvPr id="1167814308" name="Google Shape;91;p1"/>
          <p:cNvSpPr txBox="1"/>
          <p:nvPr/>
        </p:nvSpPr>
        <p:spPr bwMode="auto">
          <a:xfrm>
            <a:off x="5398379" y="5284794"/>
            <a:ext cx="4029086" cy="1180014"/>
          </a:xfrm>
          <a:prstGeom prst="rect">
            <a:avLst/>
          </a:prstGeom>
          <a:solidFill>
            <a:schemeClr val="lt1"/>
          </a:solidFill>
          <a:ln>
            <a:noFill/>
          </a:ln>
        </p:spPr>
        <p:txBody>
          <a:bodyPr spcFirstLastPara="1" wrap="square" lIns="91425" tIns="45700" rIns="91425" bIns="45700" anchor="t" anchorCtr="0">
            <a:noAutofit/>
          </a:bodyPr>
          <a:lstStyle/>
          <a:p>
            <a:pPr marL="342900" indent="-342900">
              <a:lnSpc>
                <a:spcPct val="90000"/>
              </a:lnSpc>
              <a:buFont typeface="Arial"/>
              <a:buChar char="•"/>
              <a:defRPr/>
            </a:pPr>
            <a:r>
              <a:rPr lang="es-CO" sz="1800">
                <a:solidFill>
                  <a:srgbClr val="002060"/>
                </a:solidFill>
                <a:latin typeface="Arial"/>
                <a:ea typeface="Calibri"/>
                <a:cs typeface="Arial"/>
              </a:rPr>
              <a:t>Erika Valeria Rivera Jiménez</a:t>
            </a:r>
            <a:endParaRPr/>
          </a:p>
          <a:p>
            <a:pPr marL="342900" indent="-342900">
              <a:lnSpc>
                <a:spcPct val="90000"/>
              </a:lnSpc>
              <a:buFont typeface="Arial"/>
              <a:buChar char="•"/>
              <a:defRPr/>
            </a:pPr>
            <a:r>
              <a:rPr lang="es-CO" sz="1800">
                <a:solidFill>
                  <a:srgbClr val="002060"/>
                </a:solidFill>
                <a:latin typeface="Arial"/>
                <a:ea typeface="Calibri"/>
                <a:cs typeface="Arial"/>
              </a:rPr>
              <a:t>Julian Guillermo Carrillo Meneses</a:t>
            </a:r>
            <a:endParaRPr/>
          </a:p>
          <a:p>
            <a:pPr marL="342900" indent="-342900">
              <a:lnSpc>
                <a:spcPct val="90000"/>
              </a:lnSpc>
              <a:buFont typeface="Arial"/>
              <a:buChar char="•"/>
              <a:defRPr/>
            </a:pPr>
            <a:r>
              <a:rPr lang="es-CO" sz="1800">
                <a:solidFill>
                  <a:srgbClr val="002060"/>
                </a:solidFill>
                <a:latin typeface="Arial"/>
                <a:ea typeface="Calibri"/>
                <a:cs typeface="Arial"/>
              </a:rPr>
              <a:t>Carlos Andrés Garnica Salazar</a:t>
            </a:r>
            <a:endParaRPr/>
          </a:p>
          <a:p>
            <a:pPr marL="342900" indent="-342900">
              <a:lnSpc>
                <a:spcPct val="90000"/>
              </a:lnSpc>
              <a:buFont typeface="Arial"/>
              <a:buChar char="•"/>
              <a:defRPr/>
            </a:pPr>
            <a:r>
              <a:rPr lang="es-CO" sz="1800">
                <a:solidFill>
                  <a:srgbClr val="002060"/>
                </a:solidFill>
                <a:latin typeface="Arial"/>
                <a:ea typeface="Calibri"/>
                <a:cs typeface="Arial"/>
              </a:rPr>
              <a:t>Oscar Andrés Prieto Moreno</a:t>
            </a:r>
            <a:endParaRPr lang="en-US" sz="1800">
              <a:solidFill>
                <a:srgbClr val="002060"/>
              </a:solidFill>
              <a:latin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99345526" name="Google Shape;96;p2"/>
          <p:cNvPicPr/>
          <p:nvPr/>
        </p:nvPicPr>
        <p:blipFill rotWithShape="1">
          <a:blip r:embed="rId3">
            <a:alphaModFix/>
          </a:blip>
          <a:stretch/>
        </p:blipFill>
        <p:spPr bwMode="auto">
          <a:xfrm>
            <a:off x="0" y="0"/>
            <a:ext cx="12192005" cy="1623060"/>
          </a:xfrm>
          <a:prstGeom prst="rect">
            <a:avLst/>
          </a:prstGeom>
          <a:noFill/>
          <a:ln>
            <a:noFill/>
          </a:ln>
        </p:spPr>
      </p:pic>
      <p:sp>
        <p:nvSpPr>
          <p:cNvPr id="584643799"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i="0" u="none" strike="noStrike" cap="none">
                <a:solidFill>
                  <a:schemeClr val="bg1"/>
                </a:solidFill>
                <a:latin typeface="Arial"/>
                <a:ea typeface="Calibri"/>
                <a:cs typeface="Arial"/>
              </a:rPr>
              <a:t>Contenido</a:t>
            </a:r>
            <a:endParaRPr lang="es-CO" sz="3200" b="1" i="0" u="none" strike="noStrike" cap="none">
              <a:solidFill>
                <a:schemeClr val="bg1"/>
              </a:solidFill>
              <a:latin typeface="Arial"/>
              <a:ea typeface="Calibri"/>
              <a:cs typeface="Arial"/>
            </a:endParaRPr>
          </a:p>
        </p:txBody>
      </p:sp>
      <p:sp>
        <p:nvSpPr>
          <p:cNvPr id="757795571" name="CuadroTexto 4"/>
          <p:cNvSpPr txBox="1"/>
          <p:nvPr/>
        </p:nvSpPr>
        <p:spPr bwMode="auto">
          <a:xfrm>
            <a:off x="914400" y="1917700"/>
            <a:ext cx="5080000" cy="228600"/>
          </a:xfrm>
          <a:prstGeom prst="rect">
            <a:avLst/>
          </a:prstGeom>
          <a:noFill/>
        </p:spPr>
        <p:txBody>
          <a:bodyPr vertOverflow="overflow" vert="horz" wrap="square" rtlCol="0" anchor="t">
            <a:spAutoFit/>
          </a:bodyPr>
          <a:lstStyle/>
          <a:p>
            <a:pPr algn="l">
              <a:defRPr/>
            </a:pPr>
            <a:r>
              <a:rPr lang="es-CO" sz="1000" b="1">
                <a:solidFill>
                  <a:srgbClr val="2F75B5"/>
                </a:solidFill>
              </a:rPr>
              <a:t>RUTA DE LA PRESENTACIÓN</a:t>
            </a:r>
            <a:endParaRPr/>
          </a:p>
        </p:txBody>
      </p:sp>
      <p:sp>
        <p:nvSpPr>
          <p:cNvPr id="1860038710" name="Rectángulo: esquinas redondeadas 5"/>
          <p:cNvSpPr/>
          <p:nvPr/>
        </p:nvSpPr>
        <p:spPr bwMode="auto">
          <a:xfrm>
            <a:off x="914400" y="2260600"/>
            <a:ext cx="10363200" cy="812800"/>
          </a:xfrm>
          <a:prstGeom prst="roundRect">
            <a:avLst>
              <a:gd name="adj" fmla="val 16667"/>
            </a:avLst>
          </a:prstGeom>
          <a:solidFill>
            <a:srgbClr val="EAF2F8"/>
          </a:solidFill>
          <a:ln w="1524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6651183" name="Rectángulo: esquinas redondeadas 6"/>
          <p:cNvSpPr/>
          <p:nvPr/>
        </p:nvSpPr>
        <p:spPr bwMode="auto">
          <a:xfrm>
            <a:off x="1066800" y="2387600"/>
            <a:ext cx="609600" cy="558800"/>
          </a:xfrm>
          <a:prstGeom prst="roundRect">
            <a:avLst>
              <a:gd name="adj" fmla="val 16667"/>
            </a:avLst>
          </a:prstGeom>
          <a:solidFill>
            <a:srgbClr val="2F75B5"/>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defRPr/>
            </a:pPr>
            <a:r>
              <a:rPr lang="es-CO" sz="1700" b="1">
                <a:solidFill>
                  <a:srgbClr val="FFFFFF"/>
                </a:solidFill>
                <a:latin typeface="Arial"/>
                <a:cs typeface="Arial"/>
              </a:rPr>
              <a:t>01</a:t>
            </a:r>
            <a:endParaRPr/>
          </a:p>
        </p:txBody>
      </p:sp>
      <p:sp>
        <p:nvSpPr>
          <p:cNvPr id="1735013349" name="CuadroTexto 7"/>
          <p:cNvSpPr txBox="1"/>
          <p:nvPr/>
        </p:nvSpPr>
        <p:spPr bwMode="auto">
          <a:xfrm>
            <a:off x="1905000" y="2362199"/>
            <a:ext cx="7493000" cy="609600"/>
          </a:xfrm>
          <a:prstGeom prst="rect">
            <a:avLst/>
          </a:prstGeom>
          <a:noFill/>
        </p:spPr>
        <p:txBody>
          <a:bodyPr vertOverflow="overflow" vert="horz" wrap="square" rtlCol="0" anchor="ctr" anchorCtr="0">
            <a:spAutoFit/>
          </a:bodyPr>
          <a:lstStyle/>
          <a:p>
            <a:pPr algn="l">
              <a:defRPr/>
            </a:pPr>
            <a:r>
              <a:rPr lang="es-ES" sz="1800" b="1">
                <a:solidFill>
                  <a:srgbClr val="073654"/>
                </a:solidFill>
              </a:rPr>
              <a:t>Contextualización</a:t>
            </a:r>
            <a:br>
              <a:rPr lang="es-ES" sz="1200">
                <a:solidFill>
                  <a:srgbClr val="425466"/>
                </a:solidFill>
              </a:rPr>
            </a:br>
            <a:r>
              <a:rPr lang="es-ES" sz="1200">
                <a:solidFill>
                  <a:srgbClr val="425466"/>
                </a:solidFill>
              </a:rPr>
              <a:t>Reto, justificación, objetivo y preguntas</a:t>
            </a:r>
            <a:endParaRPr lang="es-CO" sz="1200">
              <a:solidFill>
                <a:srgbClr val="425466"/>
              </a:solidFill>
            </a:endParaRPr>
          </a:p>
        </p:txBody>
      </p:sp>
      <p:sp>
        <p:nvSpPr>
          <p:cNvPr id="451321856" name="CuadroTexto 8"/>
          <p:cNvSpPr txBox="1"/>
          <p:nvPr/>
        </p:nvSpPr>
        <p:spPr bwMode="auto">
          <a:xfrm>
            <a:off x="9906000" y="2413000"/>
            <a:ext cx="1041400" cy="508000"/>
          </a:xfrm>
          <a:prstGeom prst="rect">
            <a:avLst/>
          </a:prstGeom>
          <a:noFill/>
        </p:spPr>
        <p:txBody>
          <a:bodyPr vertOverflow="overflow" vert="horz" wrap="square" rtlCol="0" anchor="ctr" anchorCtr="0">
            <a:spAutoFit/>
          </a:bodyPr>
          <a:lstStyle/>
          <a:p>
            <a:pPr algn="l">
              <a:defRPr/>
            </a:pPr>
            <a:r>
              <a:rPr lang="es-CO" sz="1500" b="1">
                <a:solidFill>
                  <a:srgbClr val="2F75B5"/>
                </a:solidFill>
              </a:rPr>
              <a:t>03–06</a:t>
            </a:r>
            <a:endParaRPr/>
          </a:p>
        </p:txBody>
      </p:sp>
      <p:sp>
        <p:nvSpPr>
          <p:cNvPr id="283016945" name="Rectángulo: esquinas redondeadas 9"/>
          <p:cNvSpPr/>
          <p:nvPr/>
        </p:nvSpPr>
        <p:spPr bwMode="auto">
          <a:xfrm>
            <a:off x="914400" y="3174390"/>
            <a:ext cx="10363200" cy="812800"/>
          </a:xfrm>
          <a:prstGeom prst="roundRect">
            <a:avLst>
              <a:gd name="adj" fmla="val 16667"/>
            </a:avLst>
          </a:prstGeom>
          <a:solidFill>
            <a:srgbClr val="FFF4D6"/>
          </a:solidFill>
          <a:ln w="15240" cap="flat" cmpd="sng" algn="ctr">
            <a:solidFill>
              <a:srgbClr val="D99A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057720322" name="Rectángulo: esquinas redondeadas 10"/>
          <p:cNvSpPr/>
          <p:nvPr/>
        </p:nvSpPr>
        <p:spPr bwMode="auto">
          <a:xfrm>
            <a:off x="1066800" y="3301390"/>
            <a:ext cx="609600" cy="558800"/>
          </a:xfrm>
          <a:prstGeom prst="roundRect">
            <a:avLst>
              <a:gd name="adj" fmla="val 16667"/>
            </a:avLst>
          </a:prstGeom>
          <a:solidFill>
            <a:srgbClr val="D99A0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defRPr/>
            </a:pPr>
            <a:r>
              <a:rPr lang="es-CO" sz="1700" b="1">
                <a:solidFill>
                  <a:srgbClr val="FFFFFF"/>
                </a:solidFill>
                <a:latin typeface="Arial"/>
                <a:cs typeface="Arial"/>
              </a:rPr>
              <a:t>02</a:t>
            </a:r>
            <a:endParaRPr/>
          </a:p>
        </p:txBody>
      </p:sp>
      <p:sp>
        <p:nvSpPr>
          <p:cNvPr id="1235857380" name="CuadroTexto 11"/>
          <p:cNvSpPr txBox="1"/>
          <p:nvPr/>
        </p:nvSpPr>
        <p:spPr bwMode="auto">
          <a:xfrm>
            <a:off x="1905000" y="3275990"/>
            <a:ext cx="7493000" cy="609600"/>
          </a:xfrm>
          <a:prstGeom prst="rect">
            <a:avLst/>
          </a:prstGeom>
          <a:noFill/>
        </p:spPr>
        <p:txBody>
          <a:bodyPr vertOverflow="overflow" vert="horz" wrap="square" rtlCol="0" anchor="ctr" anchorCtr="0">
            <a:spAutoFit/>
          </a:bodyPr>
          <a:lstStyle/>
          <a:p>
            <a:pPr algn="l">
              <a:defRPr/>
            </a:pPr>
            <a:r>
              <a:rPr lang="es-ES" sz="1800" b="1">
                <a:solidFill>
                  <a:srgbClr val="073654"/>
                </a:solidFill>
              </a:rPr>
              <a:t>Construcción del corpus</a:t>
            </a:r>
            <a:br>
              <a:rPr lang="es-ES" sz="1200">
                <a:solidFill>
                  <a:srgbClr val="425466"/>
                </a:solidFill>
              </a:rPr>
            </a:br>
            <a:r>
              <a:rPr lang="es-ES" sz="1200">
                <a:solidFill>
                  <a:srgbClr val="425466"/>
                </a:solidFill>
              </a:rPr>
              <a:t>Fuente, depuración, fragmentos y validación</a:t>
            </a:r>
            <a:endParaRPr lang="es-CO" sz="1200">
              <a:solidFill>
                <a:srgbClr val="425466"/>
              </a:solidFill>
            </a:endParaRPr>
          </a:p>
        </p:txBody>
      </p:sp>
      <p:sp>
        <p:nvSpPr>
          <p:cNvPr id="159974123" name="CuadroTexto 12"/>
          <p:cNvSpPr txBox="1"/>
          <p:nvPr/>
        </p:nvSpPr>
        <p:spPr bwMode="auto">
          <a:xfrm>
            <a:off x="9906000" y="3326790"/>
            <a:ext cx="1041400" cy="508000"/>
          </a:xfrm>
          <a:prstGeom prst="rect">
            <a:avLst/>
          </a:prstGeom>
          <a:noFill/>
        </p:spPr>
        <p:txBody>
          <a:bodyPr vertOverflow="overflow" vert="horz" wrap="square" rtlCol="0" anchor="ctr" anchorCtr="0">
            <a:spAutoFit/>
          </a:bodyPr>
          <a:lstStyle/>
          <a:p>
            <a:pPr algn="l">
              <a:defRPr/>
            </a:pPr>
            <a:r>
              <a:rPr lang="es-CO" sz="1500" b="1">
                <a:solidFill>
                  <a:srgbClr val="D99A00"/>
                </a:solidFill>
              </a:rPr>
              <a:t>07–10</a:t>
            </a:r>
            <a:endParaRPr/>
          </a:p>
        </p:txBody>
      </p:sp>
      <p:sp>
        <p:nvSpPr>
          <p:cNvPr id="907583244" name="Rectángulo: esquinas redondeadas 13"/>
          <p:cNvSpPr/>
          <p:nvPr/>
        </p:nvSpPr>
        <p:spPr bwMode="auto">
          <a:xfrm>
            <a:off x="914400" y="4089095"/>
            <a:ext cx="10363200" cy="812800"/>
          </a:xfrm>
          <a:prstGeom prst="roundRect">
            <a:avLst>
              <a:gd name="adj" fmla="val 16667"/>
            </a:avLst>
          </a:prstGeom>
          <a:solidFill>
            <a:srgbClr val="E8F5EE"/>
          </a:solidFill>
          <a:ln w="1524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136928843" name="Rectángulo: esquinas redondeadas 14"/>
          <p:cNvSpPr/>
          <p:nvPr/>
        </p:nvSpPr>
        <p:spPr bwMode="auto">
          <a:xfrm>
            <a:off x="1066800" y="4216095"/>
            <a:ext cx="609600" cy="558800"/>
          </a:xfrm>
          <a:prstGeom prst="roundRect">
            <a:avLst>
              <a:gd name="adj" fmla="val 16667"/>
            </a:avLst>
          </a:prstGeom>
          <a:solidFill>
            <a:srgbClr val="2E8B5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defRPr/>
            </a:pPr>
            <a:r>
              <a:rPr lang="es-CO" sz="1700" b="1">
                <a:solidFill>
                  <a:srgbClr val="FFFFFF"/>
                </a:solidFill>
                <a:latin typeface="Arial"/>
                <a:cs typeface="Arial"/>
              </a:rPr>
              <a:t>03</a:t>
            </a:r>
            <a:endParaRPr/>
          </a:p>
        </p:txBody>
      </p:sp>
      <p:sp>
        <p:nvSpPr>
          <p:cNvPr id="1988974961" name="CuadroTexto 15"/>
          <p:cNvSpPr txBox="1"/>
          <p:nvPr/>
        </p:nvSpPr>
        <p:spPr bwMode="auto">
          <a:xfrm>
            <a:off x="1905000" y="4190695"/>
            <a:ext cx="7493000" cy="609600"/>
          </a:xfrm>
          <a:prstGeom prst="rect">
            <a:avLst/>
          </a:prstGeom>
          <a:noFill/>
        </p:spPr>
        <p:txBody>
          <a:bodyPr vertOverflow="overflow" vert="horz" wrap="square" rtlCol="0" anchor="ctr" anchorCtr="0">
            <a:spAutoFit/>
          </a:bodyPr>
          <a:lstStyle/>
          <a:p>
            <a:pPr algn="l">
              <a:defRPr/>
            </a:pPr>
            <a:r>
              <a:rPr lang="es-ES" sz="1800" b="1">
                <a:solidFill>
                  <a:srgbClr val="073654"/>
                </a:solidFill>
              </a:rPr>
              <a:t>Textometría</a:t>
            </a:r>
            <a:br>
              <a:rPr lang="es-ES" sz="1200">
                <a:solidFill>
                  <a:srgbClr val="425466"/>
                </a:solidFill>
              </a:rPr>
            </a:br>
            <a:r>
              <a:rPr lang="es-ES" sz="1200">
                <a:solidFill>
                  <a:srgbClr val="425466"/>
                </a:solidFill>
              </a:rPr>
              <a:t>Procesamiento, dimensiones y resultados léxicos</a:t>
            </a:r>
            <a:endParaRPr lang="es-CO" sz="1200">
              <a:solidFill>
                <a:srgbClr val="425466"/>
              </a:solidFill>
            </a:endParaRPr>
          </a:p>
        </p:txBody>
      </p:sp>
      <p:sp>
        <p:nvSpPr>
          <p:cNvPr id="47125433" name="CuadroTexto 16"/>
          <p:cNvSpPr txBox="1"/>
          <p:nvPr/>
        </p:nvSpPr>
        <p:spPr bwMode="auto">
          <a:xfrm>
            <a:off x="9906000" y="4241495"/>
            <a:ext cx="1041400" cy="508000"/>
          </a:xfrm>
          <a:prstGeom prst="rect">
            <a:avLst/>
          </a:prstGeom>
          <a:noFill/>
        </p:spPr>
        <p:txBody>
          <a:bodyPr vertOverflow="overflow" vert="horz" wrap="square" rtlCol="0" anchor="ctr" anchorCtr="0">
            <a:spAutoFit/>
          </a:bodyPr>
          <a:lstStyle/>
          <a:p>
            <a:pPr algn="l">
              <a:defRPr/>
            </a:pPr>
            <a:r>
              <a:rPr lang="es-CO" sz="1500" b="1">
                <a:solidFill>
                  <a:srgbClr val="2E8B57"/>
                </a:solidFill>
              </a:rPr>
              <a:t>11–17</a:t>
            </a:r>
            <a:endParaRPr/>
          </a:p>
        </p:txBody>
      </p:sp>
      <p:sp>
        <p:nvSpPr>
          <p:cNvPr id="388648585" name="Rectángulo: esquinas redondeadas 17"/>
          <p:cNvSpPr/>
          <p:nvPr/>
        </p:nvSpPr>
        <p:spPr bwMode="auto">
          <a:xfrm>
            <a:off x="914400" y="5003800"/>
            <a:ext cx="10363200" cy="812800"/>
          </a:xfrm>
          <a:prstGeom prst="roundRect">
            <a:avLst>
              <a:gd name="adj" fmla="val 16667"/>
            </a:avLst>
          </a:prstGeom>
          <a:solidFill>
            <a:srgbClr val="EAF2F8"/>
          </a:solidFill>
          <a:ln w="1524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483071233" name="Rectángulo: esquinas redondeadas 18"/>
          <p:cNvSpPr/>
          <p:nvPr/>
        </p:nvSpPr>
        <p:spPr bwMode="auto">
          <a:xfrm>
            <a:off x="1066800" y="5130800"/>
            <a:ext cx="609600" cy="558800"/>
          </a:xfrm>
          <a:prstGeom prst="roundRect">
            <a:avLst>
              <a:gd name="adj" fmla="val 16667"/>
            </a:avLst>
          </a:prstGeom>
          <a:solidFill>
            <a:srgbClr val="2F75B5"/>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defRPr/>
            </a:pPr>
            <a:r>
              <a:rPr lang="es-CO" sz="1700" b="1">
                <a:solidFill>
                  <a:srgbClr val="FFFFFF"/>
                </a:solidFill>
                <a:latin typeface="Arial"/>
                <a:cs typeface="Arial"/>
              </a:rPr>
              <a:t>04</a:t>
            </a:r>
            <a:endParaRPr/>
          </a:p>
        </p:txBody>
      </p:sp>
      <p:sp>
        <p:nvSpPr>
          <p:cNvPr id="279856753" name="CuadroTexto 19"/>
          <p:cNvSpPr txBox="1"/>
          <p:nvPr/>
        </p:nvSpPr>
        <p:spPr bwMode="auto">
          <a:xfrm>
            <a:off x="1905000" y="5105400"/>
            <a:ext cx="7493000" cy="609600"/>
          </a:xfrm>
          <a:prstGeom prst="rect">
            <a:avLst/>
          </a:prstGeom>
          <a:noFill/>
        </p:spPr>
        <p:txBody>
          <a:bodyPr vertOverflow="overflow" vert="horz" wrap="square" rtlCol="0" anchor="ctr" anchorCtr="0">
            <a:spAutoFit/>
          </a:bodyPr>
          <a:lstStyle/>
          <a:p>
            <a:pPr algn="l">
              <a:defRPr/>
            </a:pPr>
            <a:r>
              <a:rPr lang="es-ES" sz="1800" b="1">
                <a:solidFill>
                  <a:srgbClr val="073654"/>
                </a:solidFill>
              </a:rPr>
              <a:t>Antecedentes</a:t>
            </a:r>
            <a:br>
              <a:rPr lang="es-ES" sz="1200">
                <a:solidFill>
                  <a:srgbClr val="425466"/>
                </a:solidFill>
              </a:rPr>
            </a:br>
            <a:r>
              <a:rPr lang="es-ES" sz="1200">
                <a:solidFill>
                  <a:srgbClr val="425466"/>
                </a:solidFill>
              </a:rPr>
              <a:t>Estado del arte</a:t>
            </a:r>
            <a:endParaRPr lang="es-CO" sz="1200">
              <a:solidFill>
                <a:srgbClr val="425466"/>
              </a:solidFill>
            </a:endParaRPr>
          </a:p>
        </p:txBody>
      </p:sp>
      <p:sp>
        <p:nvSpPr>
          <p:cNvPr id="669258529" name="CuadroTexto 20"/>
          <p:cNvSpPr txBox="1"/>
          <p:nvPr/>
        </p:nvSpPr>
        <p:spPr bwMode="auto">
          <a:xfrm>
            <a:off x="9906000" y="5156200"/>
            <a:ext cx="1041400" cy="508000"/>
          </a:xfrm>
          <a:prstGeom prst="rect">
            <a:avLst/>
          </a:prstGeom>
          <a:noFill/>
        </p:spPr>
        <p:txBody>
          <a:bodyPr vertOverflow="overflow" vert="horz" wrap="square" rtlCol="0" anchor="ctr" anchorCtr="0">
            <a:spAutoFit/>
          </a:bodyPr>
          <a:lstStyle/>
          <a:p>
            <a:pPr algn="l">
              <a:defRPr/>
            </a:pPr>
            <a:r>
              <a:rPr lang="es-CO" sz="1500" b="1">
                <a:solidFill>
                  <a:srgbClr val="2F75B5"/>
                </a:solidFill>
              </a:rPr>
              <a:t>18–19</a:t>
            </a:r>
            <a:endParaRPr/>
          </a:p>
        </p:txBody>
      </p:sp>
      <p:sp>
        <p:nvSpPr>
          <p:cNvPr id="1851806784" name="Fusion-G-Fila5-Rectángulo: esquinas redo"/>
          <p:cNvSpPr/>
          <p:nvPr/>
        </p:nvSpPr>
        <p:spPr bwMode="auto">
          <a:xfrm>
            <a:off x="914400" y="5918200"/>
            <a:ext cx="10363200" cy="812800"/>
          </a:xfrm>
          <a:prstGeom prst="roundRect">
            <a:avLst>
              <a:gd name="adj" fmla="val 16667"/>
            </a:avLst>
          </a:prstGeom>
          <a:solidFill>
            <a:srgbClr val="EEEAF8"/>
          </a:solidFill>
          <a:ln w="15240" cap="flat" cmpd="sng" algn="ctr">
            <a:solidFill>
              <a:srgbClr val="6554A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715073770" name="Fusion-G-Fila5-Rectángulo: esquinas redo"/>
          <p:cNvSpPr/>
          <p:nvPr/>
        </p:nvSpPr>
        <p:spPr bwMode="auto">
          <a:xfrm>
            <a:off x="1066800" y="6045200"/>
            <a:ext cx="609600" cy="558800"/>
          </a:xfrm>
          <a:prstGeom prst="roundRect">
            <a:avLst>
              <a:gd name="adj" fmla="val 16667"/>
            </a:avLst>
          </a:prstGeom>
          <a:solidFill>
            <a:srgbClr val="6554A4"/>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defRPr/>
            </a:pPr>
            <a:r>
              <a:rPr lang="es-CO" sz="1700" b="1">
                <a:solidFill>
                  <a:srgbClr val="FFFFFF"/>
                </a:solidFill>
                <a:latin typeface="Arial"/>
                <a:cs typeface="Arial"/>
              </a:rPr>
              <a:t>05</a:t>
            </a:r>
            <a:endParaRPr/>
          </a:p>
        </p:txBody>
      </p:sp>
      <p:sp>
        <p:nvSpPr>
          <p:cNvPr id="834721718" name="Fusion-G-Fila5-CuadroTexto 19"/>
          <p:cNvSpPr txBox="1"/>
          <p:nvPr/>
        </p:nvSpPr>
        <p:spPr bwMode="auto">
          <a:xfrm>
            <a:off x="1905000" y="6019800"/>
            <a:ext cx="7493000" cy="609600"/>
          </a:xfrm>
          <a:prstGeom prst="rect">
            <a:avLst/>
          </a:prstGeom>
          <a:noFill/>
        </p:spPr>
        <p:txBody>
          <a:bodyPr vertOverflow="overflow" vert="horz" wrap="square" rtlCol="0" anchor="ctr" anchorCtr="0">
            <a:spAutoFit/>
          </a:bodyPr>
          <a:lstStyle/>
          <a:p>
            <a:pPr algn="l">
              <a:defRPr/>
            </a:pPr>
            <a:r>
              <a:rPr lang="es-ES" sz="1800" b="1">
                <a:solidFill>
                  <a:srgbClr val="073654"/>
                </a:solidFill>
              </a:rPr>
              <a:t>Conclusiones</a:t>
            </a:r>
            <a:br>
              <a:rPr lang="es-ES" sz="1200">
                <a:solidFill>
                  <a:srgbClr val="425466"/>
                </a:solidFill>
              </a:rPr>
            </a:br>
            <a:r>
              <a:rPr lang="es-ES" sz="1200">
                <a:solidFill>
                  <a:srgbClr val="425466"/>
                </a:solidFill>
              </a:rPr>
              <a:t>Hallazgos y siguientes etapas</a:t>
            </a:r>
            <a:endParaRPr lang="es-CO" sz="1200">
              <a:solidFill>
                <a:srgbClr val="425466"/>
              </a:solidFill>
            </a:endParaRPr>
          </a:p>
        </p:txBody>
      </p:sp>
      <p:sp>
        <p:nvSpPr>
          <p:cNvPr id="725098802" name="Fusion-G-Fila5-CuadroTexto 20"/>
          <p:cNvSpPr txBox="1"/>
          <p:nvPr/>
        </p:nvSpPr>
        <p:spPr bwMode="auto">
          <a:xfrm>
            <a:off x="9906000" y="6070600"/>
            <a:ext cx="1041400" cy="508000"/>
          </a:xfrm>
          <a:prstGeom prst="rect">
            <a:avLst/>
          </a:prstGeom>
          <a:noFill/>
        </p:spPr>
        <p:txBody>
          <a:bodyPr vertOverflow="overflow" vert="horz" wrap="square" rtlCol="0" anchor="ctr" anchorCtr="0">
            <a:spAutoFit/>
          </a:bodyPr>
          <a:lstStyle/>
          <a:p>
            <a:pPr algn="l">
              <a:defRPr/>
            </a:pPr>
            <a:r>
              <a:rPr lang="es-CO" sz="1500" b="1">
                <a:solidFill>
                  <a:srgbClr val="6554A4"/>
                </a:solidFill>
              </a:rPr>
              <a:t>20–21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985762708"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1266537353" name="Google Shape;90;p1"/>
          <p:cNvSpPr txBox="1">
            <a:spLocks noGrp="1"/>
          </p:cNvSpPr>
          <p:nvPr>
            <p:ph type="subTitle" idx="1"/>
          </p:nvPr>
        </p:nvSpPr>
        <p:spPr bwMode="auto">
          <a:xfrm>
            <a:off x="3221420" y="2826829"/>
            <a:ext cx="8843623" cy="1204341"/>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Contextualización</a:t>
            </a:r>
            <a:endParaRPr lang="es-CO" sz="4800" b="1">
              <a:solidFill>
                <a:schemeClr val="accent4">
                  <a:lumMod val="60000"/>
                  <a:lumOff val="40000"/>
                </a:schemeClr>
              </a:solidFill>
              <a:latin typeface="Arial"/>
              <a:cs typeface="Arial"/>
            </a:endParaRPr>
          </a:p>
          <a:p>
            <a:pPr marL="0" lvl="0" indent="0" algn="ctr">
              <a:lnSpc>
                <a:spcPct val="90000"/>
              </a:lnSpc>
              <a:spcBef>
                <a:spcPts val="0"/>
              </a:spcBef>
              <a:spcAft>
                <a:spcPts val="0"/>
              </a:spcAft>
              <a:buSzPts val="4800"/>
              <a:buNone/>
              <a:defRPr/>
            </a:pPr>
            <a:endParaRPr lang="es-CO" sz="4800" b="1">
              <a:solidFill>
                <a:schemeClr val="lt1"/>
              </a:solidFill>
              <a:cs typeface="Arial"/>
            </a:endParaRPr>
          </a:p>
          <a:p>
            <a:pPr marL="0" indent="0">
              <a:buClr>
                <a:srgbClr val="FFC000"/>
              </a:buClr>
              <a:buSzPts val="2800"/>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431202566"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1706468606"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Arial"/>
                <a:ea typeface="Calibri"/>
                <a:cs typeface="Arial"/>
              </a:rPr>
              <a:t>Contextualización</a:t>
            </a:r>
            <a:r>
              <a:rPr lang="es-CO" sz="3200" b="1">
                <a:solidFill>
                  <a:schemeClr val="bg1"/>
                </a:solidFill>
                <a:latin typeface="Calibri"/>
                <a:ea typeface="Calibri"/>
                <a:cs typeface="Calibri"/>
              </a:rPr>
              <a:t> </a:t>
            </a:r>
            <a:endParaRPr lang="es-CO" sz="3200" b="1" i="0" u="none" strike="noStrike" cap="none">
              <a:solidFill>
                <a:schemeClr val="bg1"/>
              </a:solidFill>
              <a:latin typeface="Calibri"/>
              <a:ea typeface="Calibri"/>
              <a:cs typeface="Calibri"/>
            </a:endParaRPr>
          </a:p>
        </p:txBody>
      </p:sp>
      <p:sp>
        <p:nvSpPr>
          <p:cNvPr id="1538860266" name="CuadroTexto 10"/>
          <p:cNvSpPr txBox="1"/>
          <p:nvPr/>
        </p:nvSpPr>
        <p:spPr bwMode="auto">
          <a:xfrm>
            <a:off x="686006" y="2462988"/>
            <a:ext cx="10442241"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marL="457200" lvl="1">
              <a:defRPr/>
            </a:pPr>
            <a:r>
              <a:rPr lang="es-ES" sz="1800"/>
              <a:t>Aplicar PLN para transformar jurisprudencia extensa en información analizable, comparable y potencialmente clasificable.</a:t>
            </a:r>
            <a:endParaRPr/>
          </a:p>
          <a:p>
            <a:pPr marL="742950" lvl="1" indent="-285750">
              <a:buFont typeface="Courier New"/>
              <a:buChar char="o"/>
              <a:defRPr/>
            </a:pPr>
            <a:endParaRPr lang="es-ES" sz="1800"/>
          </a:p>
          <a:p>
            <a:pPr marL="742950" lvl="1" indent="-285750">
              <a:buFont typeface="Courier New"/>
              <a:buChar char="o"/>
              <a:defRPr/>
            </a:pPr>
            <a:r>
              <a:rPr lang="es-ES" sz="1800"/>
              <a:t>Las sentencias son documentos extensos, formales y altamente especializados.</a:t>
            </a:r>
            <a:endParaRPr/>
          </a:p>
          <a:p>
            <a:pPr marL="742950" lvl="1" indent="-285750">
              <a:buFont typeface="Courier New"/>
              <a:buChar char="o"/>
              <a:defRPr/>
            </a:pPr>
            <a:r>
              <a:rPr lang="es-ES" sz="1800"/>
              <a:t>La información relevante está distribuida entre hechos, argumentos, normas, jurisprudencia y decisiones.</a:t>
            </a:r>
            <a:endParaRPr/>
          </a:p>
          <a:p>
            <a:pPr marL="742950" lvl="1" indent="-285750">
              <a:buFont typeface="Courier New"/>
              <a:buChar char="o"/>
              <a:defRPr/>
            </a:pPr>
            <a:r>
              <a:rPr lang="es-ES" sz="1800"/>
              <a:t>El volumen documental dificulta la consulta, comparación y análisis manual.</a:t>
            </a:r>
            <a:endParaRPr/>
          </a:p>
          <a:p>
            <a:pPr marL="742950" lvl="1" indent="-285750">
              <a:buFont typeface="Courier New"/>
              <a:buChar char="o"/>
              <a:defRPr/>
            </a:pPr>
            <a:r>
              <a:rPr lang="es-ES" sz="1800"/>
              <a:t>El corpus no posee metadatos temáticos estructurados.</a:t>
            </a:r>
            <a:endParaRPr/>
          </a:p>
        </p:txBody>
      </p:sp>
      <p:sp>
        <p:nvSpPr>
          <p:cNvPr id="2025009156"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Lenguaje jurídico como reto de PLN</a:t>
            </a:r>
            <a:endParaRPr/>
          </a:p>
        </p:txBody>
      </p:sp>
      <p:pic>
        <p:nvPicPr>
          <p:cNvPr id="783309119" name="Imagen 20"/>
          <p:cNvPicPr>
            <a:picLocks noChangeAspect="1"/>
          </p:cNvPicPr>
          <p:nvPr/>
        </p:nvPicPr>
        <p:blipFill rotWithShape="1">
          <a:blip r:embed="rId4">
            <a:duotone>
              <a:schemeClr val="accent5">
                <a:shade val="45000"/>
                <a:satMod val="135000"/>
              </a:schemeClr>
              <a:prstClr val="white"/>
            </a:duotone>
          </a:blip>
          <a:stretch/>
        </p:blipFill>
        <p:spPr bwMode="auto">
          <a:xfrm>
            <a:off x="11674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67246768"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494593680"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Objetivo y pregunta de investigación </a:t>
            </a:r>
            <a:endParaRPr lang="es-CO" sz="3200" b="1" i="0" u="none" strike="noStrike" cap="none">
              <a:solidFill>
                <a:schemeClr val="bg1"/>
              </a:solidFill>
              <a:latin typeface="Calibri"/>
              <a:ea typeface="Calibri"/>
              <a:cs typeface="Calibri"/>
            </a:endParaRPr>
          </a:p>
        </p:txBody>
      </p:sp>
      <p:sp>
        <p:nvSpPr>
          <p:cNvPr id="1338548812" name="CuadroTexto 10"/>
          <p:cNvSpPr txBox="1"/>
          <p:nvPr/>
        </p:nvSpPr>
        <p:spPr bwMode="auto">
          <a:xfrm>
            <a:off x="686005" y="2462987"/>
            <a:ext cx="10446200" cy="33836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marL="457200" lvl="1">
              <a:defRPr/>
            </a:pPr>
            <a:r>
              <a:rPr lang="es-ES" sz="1800"/>
              <a:t>Caracterizar computacionalmente la jurisprudencia de la Corte Constitucional y establecer una línea base para tareas posteriores de PLN.</a:t>
            </a:r>
            <a:endParaRPr/>
          </a:p>
          <a:p>
            <a:pPr marL="457200" lvl="1">
              <a:defRPr/>
            </a:pPr>
            <a:endParaRPr lang="es-ES" sz="1800"/>
          </a:p>
          <a:p>
            <a:pPr marL="457200" lvl="1">
              <a:defRPr/>
            </a:pPr>
            <a:r>
              <a:rPr lang="es-ES" sz="1800" b="1"/>
              <a:t>Preguntas guía:</a:t>
            </a:r>
            <a:endParaRPr/>
          </a:p>
          <a:p>
            <a:pPr marL="283879" indent="-283879">
              <a:buFont typeface="Arial"/>
              <a:buChar char="•"/>
              <a:defRPr/>
            </a:pPr>
            <a:r>
              <a:rPr lang="es-ES" sz="1800" b="0" i="0" u="none" strike="noStrike" cap="none" spc="0">
                <a:solidFill>
                  <a:srgbClr val="000000"/>
                </a:solidFill>
                <a:latin typeface="Arial"/>
                <a:ea typeface="Arial"/>
                <a:cs typeface="Arial"/>
              </a:rPr>
              <a:t>¿Qué propiedades léxicas y estilométricas caracterizan las sentencias y permiten diferenciar los tipos de providencia (T, C y SU) y los distintos periodos?</a:t>
            </a:r>
            <a:endParaRPr lang="es-ES" sz="1800" b="0" i="0" u="none" strike="noStrike" cap="none" spc="0">
              <a:solidFill>
                <a:srgbClr val="000000"/>
              </a:solidFill>
              <a:latin typeface="Times New Roman"/>
              <a:cs typeface="Times New Roman"/>
            </a:endParaRPr>
          </a:p>
          <a:p>
            <a:pPr marL="283879" indent="-283879">
              <a:buFont typeface="Arial"/>
              <a:buChar char="•"/>
              <a:defRPr/>
            </a:pPr>
            <a:r>
              <a:rPr lang="es-ES" sz="1800" b="0" i="0" u="none" strike="noStrike" cap="none" spc="0">
                <a:solidFill>
                  <a:srgbClr val="000000"/>
                </a:solidFill>
                <a:latin typeface="Arial"/>
                <a:ea typeface="Arial"/>
                <a:cs typeface="Arial"/>
              </a:rPr>
              <a:t>¿Cómo evoluciona el vocabulario de la Corte entre 1992 y 2021 en términos de riqueza léxica, términos dominantes y temas recurrentes</a:t>
            </a:r>
            <a:endParaRPr lang="es-ES" sz="1800" b="0" i="0" u="none" strike="noStrike" cap="none" spc="0">
              <a:solidFill>
                <a:srgbClr val="000000"/>
              </a:solidFill>
              <a:latin typeface="Times New Roman"/>
              <a:cs typeface="Times New Roman"/>
            </a:endParaRPr>
          </a:p>
          <a:p>
            <a:pPr marL="283879" indent="-283879">
              <a:buFont typeface="Arial"/>
              <a:buChar char="•"/>
              <a:defRPr/>
            </a:pPr>
            <a:r>
              <a:rPr lang="es-ES" sz="1800" b="0" i="0" u="none" strike="noStrike" cap="none" spc="0">
                <a:solidFill>
                  <a:srgbClr val="000000"/>
                </a:solidFill>
                <a:latin typeface="Arial"/>
                <a:ea typeface="Arial"/>
                <a:cs typeface="Arial"/>
              </a:rPr>
              <a:t>¿Es posible clasificar automáticamente las sentencias según su tipo o su temática utilizando técnicas de PLN?</a:t>
            </a:r>
            <a:endParaRPr lang="es-ES" sz="1800" b="0" i="0" u="none" strike="noStrike" cap="none" spc="0">
              <a:solidFill>
                <a:srgbClr val="000000"/>
              </a:solidFill>
              <a:latin typeface="Times New Roman"/>
              <a:cs typeface="Times New Roman"/>
            </a:endParaRPr>
          </a:p>
          <a:p>
            <a:pPr marL="283879" indent="-283879">
              <a:buFont typeface="Arial"/>
              <a:buChar char="•"/>
              <a:defRPr/>
            </a:pPr>
            <a:r>
              <a:rPr lang="es-ES" sz="1800" b="0" i="0" u="none" strike="noStrike" cap="none" spc="0">
                <a:solidFill>
                  <a:srgbClr val="000000"/>
                </a:solidFill>
                <a:latin typeface="Arial"/>
                <a:ea typeface="Arial"/>
                <a:cs typeface="Arial"/>
              </a:rPr>
              <a:t>¿En qué medida pueden los métodos automáticos apoyar la consulta de sentencias extensas mediante resúmenes extractivos o abstractivos?</a:t>
            </a:r>
            <a:endParaRPr sz="1800" b="0" i="0" u="none" strike="noStrike" cap="none" spc="0">
              <a:solidFill>
                <a:srgbClr val="000000"/>
              </a:solidFill>
              <a:latin typeface="Arial"/>
              <a:cs typeface="Arial"/>
            </a:endParaRPr>
          </a:p>
        </p:txBody>
      </p:sp>
      <p:sp>
        <p:nvSpPr>
          <p:cNvPr id="258462071"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¿Qué queremos estudiar?</a:t>
            </a:r>
            <a:endParaRPr/>
          </a:p>
        </p:txBody>
      </p:sp>
      <p:pic>
        <p:nvPicPr>
          <p:cNvPr id="796723344" name="Imagen 2"/>
          <p:cNvPicPr>
            <a:picLocks noChangeAspect="1"/>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01394809"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1015030885"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Contextualización</a:t>
            </a:r>
            <a:endParaRPr lang="es-CO" sz="3200" b="1" i="0" u="none" strike="noStrike" cap="none">
              <a:solidFill>
                <a:schemeClr val="bg1"/>
              </a:solidFill>
              <a:latin typeface="Calibri"/>
              <a:ea typeface="Calibri"/>
              <a:cs typeface="Calibri"/>
            </a:endParaRPr>
          </a:p>
        </p:txBody>
      </p:sp>
      <p:sp>
        <p:nvSpPr>
          <p:cNvPr id="958794256" name="Fusion-A-Cuerpo"/>
          <p:cNvSpPr txBox="1"/>
          <p:nvPr/>
        </p:nvSpPr>
        <p:spPr bwMode="auto">
          <a:xfrm>
            <a:off x="685800" y="2463393"/>
            <a:ext cx="10442448" cy="25146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marL="742950" lvl="1" indent="-285750">
              <a:buFont typeface="Courier New"/>
              <a:buChar char="o"/>
              <a:defRPr/>
            </a:pPr>
            <a:r>
              <a:rPr lang="es-ES" sz="1800"/>
              <a:t>El análisis manual de decenas de miles de documentos largos es inviable: el PLN convierte ese contenido en evidencia cuantificable y reproducible.</a:t>
            </a:r>
            <a:endParaRPr/>
          </a:p>
          <a:p>
            <a:pPr marL="742950" lvl="1" indent="-285750">
              <a:buFont typeface="Courier New"/>
              <a:buChar char="o"/>
              <a:defRPr/>
            </a:pPr>
            <a:r>
              <a:rPr lang="es-ES" sz="1800"/>
              <a:t>Escasez de recursos y datasets legales anotados en español para América Latina: un corpus jurídico colombiano depurado y caracterizado textométricamente constituye un aporte en sí mismo.</a:t>
            </a:r>
            <a:endParaRPr/>
          </a:p>
          <a:p>
            <a:pPr marL="742950" lvl="1" indent="-285750">
              <a:buFont typeface="Courier New"/>
              <a:buChar char="o"/>
              <a:defRPr/>
            </a:pPr>
            <a:r>
              <a:rPr lang="es-ES" sz="1800"/>
              <a:t>Línea base para clasificación temática de decisiones, seguimiento de la agenda de la Corte y consulta de jurisprudencia; siempre como apoyo a la interpretación especializada, no como sustituto.</a:t>
            </a:r>
            <a:endParaRPr/>
          </a:p>
        </p:txBody>
      </p:sp>
      <p:sp>
        <p:nvSpPr>
          <p:cNvPr id="1927624186"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¿Por qué es relevante?</a:t>
            </a:r>
            <a:endParaRPr/>
          </a:p>
        </p:txBody>
      </p:sp>
      <p:pic>
        <p:nvPicPr>
          <p:cNvPr id="1330682355" name="Imagen 2"/>
          <p:cNvPicPr>
            <a:picLocks noChangeAspect="1"/>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53575178"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59035308" name="Google Shape;90;p1"/>
          <p:cNvSpPr txBox="1">
            <a:spLocks noGrp="1"/>
          </p:cNvSpPr>
          <p:nvPr>
            <p:ph type="subTitle" idx="1"/>
          </p:nvPr>
        </p:nvSpPr>
        <p:spPr bwMode="auto">
          <a:xfrm>
            <a:off x="3221420" y="2826829"/>
            <a:ext cx="8843623" cy="1204341"/>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Antecedentes</a:t>
            </a:r>
            <a:endParaRPr/>
          </a:p>
          <a:p>
            <a:pPr marL="0" lvl="0" indent="0" algn="ctr">
              <a:lnSpc>
                <a:spcPct val="90000"/>
              </a:lnSpc>
              <a:spcBef>
                <a:spcPts val="0"/>
              </a:spcBef>
              <a:spcAft>
                <a:spcPts val="0"/>
              </a:spcAft>
              <a:buSzPts val="4800"/>
              <a:buNone/>
              <a:defRPr/>
            </a:pPr>
            <a:endParaRPr lang="es-CO" sz="4800" b="1">
              <a:solidFill>
                <a:schemeClr val="lt1"/>
              </a:solidFill>
              <a:cs typeface="Arial"/>
            </a:endParaRPr>
          </a:p>
          <a:p>
            <a:pPr marL="0" indent="0">
              <a:buClr>
                <a:srgbClr val="FFC000"/>
              </a:buClr>
              <a:buSzPts val="2800"/>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51904517"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1542807390"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Antecedentes</a:t>
            </a:r>
            <a:endParaRPr lang="es-CO" sz="3200" b="1" i="0" u="none" strike="noStrike" cap="none">
              <a:solidFill>
                <a:schemeClr val="bg1"/>
              </a:solidFill>
              <a:latin typeface="Calibri"/>
              <a:ea typeface="Calibri"/>
              <a:cs typeface="Calibri"/>
            </a:endParaRPr>
          </a:p>
        </p:txBody>
      </p:sp>
      <p:sp>
        <p:nvSpPr>
          <p:cNvPr id="1366726821" name="Fusion-D2-Cuerpo"/>
          <p:cNvSpPr txBox="1"/>
          <p:nvPr/>
        </p:nvSpPr>
        <p:spPr bwMode="auto">
          <a:xfrm>
            <a:off x="685800" y="2463393"/>
            <a:ext cx="10442448" cy="42519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marL="742950" lvl="1" indent="-285750">
              <a:buFont typeface="Courier New"/>
              <a:buChar char="o"/>
              <a:defRPr/>
            </a:pPr>
            <a:r>
              <a:rPr lang="es-ES" sz="1800" b="1"/>
              <a:t>Anzola Cortés (2021): </a:t>
            </a:r>
            <a:r>
              <a:rPr lang="es-ES" sz="1800"/>
              <a:t>minería de datos sobre más de 6.000 sentencias de constitucionalidad de la Corte Constitucional colombiana (1992-2020): el mismo universo documental del corpus.</a:t>
            </a:r>
            <a:endParaRPr/>
          </a:p>
          <a:p>
            <a:pPr marL="742950" lvl="1" indent="-285750">
              <a:buFont typeface="Courier New"/>
              <a:buChar char="o"/>
              <a:defRPr/>
            </a:pPr>
            <a:r>
              <a:rPr lang="es-ES" sz="1800" b="1"/>
              <a:t>Barbosa Becerra (2021): </a:t>
            </a:r>
            <a:r>
              <a:rPr lang="es-ES" sz="1800"/>
              <a:t>análisis léxico-discursivo de sentencias de la misma Corte; evidencia fórmulas discursivas estables y léxico especializado.</a:t>
            </a:r>
            <a:endParaRPr/>
          </a:p>
          <a:p>
            <a:pPr marL="742950" lvl="1" indent="-285750">
              <a:buFont typeface="Courier New"/>
              <a:buChar char="o"/>
              <a:defRPr/>
            </a:pPr>
            <a:r>
              <a:rPr lang="es-ES" sz="1800" b="1"/>
              <a:t>HaCohen-Kerner et al. (2020): </a:t>
            </a:r>
            <a:r>
              <a:rPr lang="es-ES" sz="1800"/>
              <a:t>la elección del preprocesamiento (minúsculas, números, stopwords, normalización) cambia los resultados según el corpus y la tarea: por eso esta entrega documenta cada paso.</a:t>
            </a:r>
            <a:endParaRPr/>
          </a:p>
          <a:p>
            <a:pPr marL="742950" lvl="1" indent="-285750">
              <a:buFont typeface="Courier New"/>
              <a:buChar char="o"/>
              <a:defRPr/>
            </a:pPr>
            <a:r>
              <a:rPr lang="es-ES" sz="1800" b="1"/>
              <a:t>González-González et al. (2023): </a:t>
            </a:r>
            <a:r>
              <a:rPr lang="es-ES" sz="1800"/>
              <a:t>clasificación automática de sentencias judiciales en español con diccionarios de dominio construidos con expertos legales.</a:t>
            </a:r>
            <a:endParaRPr/>
          </a:p>
          <a:p>
            <a:pPr marL="742950" lvl="1" indent="-285750">
              <a:buFont typeface="Courier New"/>
              <a:buChar char="o"/>
              <a:defRPr/>
            </a:pPr>
            <a:r>
              <a:rPr lang="es-ES" sz="1800" b="1"/>
              <a:t>Chalkidis et al. (2020) (LEGAL-BERT) y Raj et al. (2026): </a:t>
            </a:r>
            <a:r>
              <a:rPr lang="es-ES" sz="1800"/>
              <a:t>vocabulario jurídico distinto del general y cambios léxicos medibles en el tiempo motivan la adaptación de dominio y el análisis diacrónico en entregas siguientes.</a:t>
            </a:r>
            <a:endParaRPr/>
          </a:p>
          <a:p>
            <a:pPr marL="457200" lvl="1">
              <a:defRPr/>
            </a:pPr>
            <a:r>
              <a:rPr lang="es-ES" sz="1200" i="1">
                <a:solidFill>
                  <a:srgbClr val="425466"/>
                </a:solidFill>
              </a:rPr>
              <a:t>No hay trabajos indexados que usen el dataset exacto de Hugging Face (verificado 2026-09-05); los antecedentes cubren el corpus subyacente y la metodología.</a:t>
            </a:r>
            <a:endParaRPr/>
          </a:p>
        </p:txBody>
      </p:sp>
      <p:sp>
        <p:nvSpPr>
          <p:cNvPr id="1691476195"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Estado del arte</a:t>
            </a:r>
            <a:endParaRPr/>
          </a:p>
        </p:txBody>
      </p:sp>
      <p:pic>
        <p:nvPicPr>
          <p:cNvPr id="1575936189" name="Imagen 2"/>
          <p:cNvPicPr>
            <a:picLocks noChangeAspect="1"/>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547656101"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822536989" name="Google Shape;90;p1"/>
          <p:cNvSpPr txBox="1">
            <a:spLocks noGrp="1"/>
          </p:cNvSpPr>
          <p:nvPr>
            <p:ph type="subTitle" idx="1"/>
          </p:nvPr>
        </p:nvSpPr>
        <p:spPr bwMode="auto">
          <a:xfrm>
            <a:off x="3221420" y="2826829"/>
            <a:ext cx="8843623" cy="1204341"/>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Construcción del corpus</a:t>
            </a:r>
            <a:endParaRPr/>
          </a:p>
          <a:p>
            <a:pPr marL="0" lvl="0" indent="0" algn="ctr">
              <a:lnSpc>
                <a:spcPct val="90000"/>
              </a:lnSpc>
              <a:spcBef>
                <a:spcPts val="0"/>
              </a:spcBef>
              <a:spcAft>
                <a:spcPts val="0"/>
              </a:spcAft>
              <a:buSzPts val="4800"/>
              <a:buNone/>
              <a:defRPr/>
            </a:pPr>
            <a:endParaRPr lang="es-CO" sz="4800" b="1">
              <a:solidFill>
                <a:schemeClr val="lt1"/>
              </a:solidFill>
              <a:cs typeface="Arial"/>
            </a:endParaRPr>
          </a:p>
          <a:p>
            <a:pPr marL="0" indent="0">
              <a:buClr>
                <a:srgbClr val="FFC000"/>
              </a:buClr>
              <a:buSzPts val="2800"/>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55080066"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351203313"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Corpus</a:t>
            </a:r>
            <a:endParaRPr lang="es-CO" sz="3200" b="1" i="0" u="none" strike="noStrike" cap="none">
              <a:solidFill>
                <a:schemeClr val="bg1"/>
              </a:solidFill>
              <a:latin typeface="Calibri"/>
              <a:ea typeface="Calibri"/>
              <a:cs typeface="Calibri"/>
            </a:endParaRPr>
          </a:p>
        </p:txBody>
      </p:sp>
      <p:sp>
        <p:nvSpPr>
          <p:cNvPr id="2133675818"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Características y dimensiones</a:t>
            </a:r>
            <a:endParaRPr/>
          </a:p>
        </p:txBody>
      </p:sp>
      <p:pic>
        <p:nvPicPr>
          <p:cNvPr id="1261289131" name="Imagen 3"/>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
        <p:nvSpPr>
          <p:cNvPr id="221196228" name="Fusion-F-Ficha"/>
          <p:cNvSpPr txBox="1"/>
          <p:nvPr/>
        </p:nvSpPr>
        <p:spPr bwMode="auto">
          <a:xfrm>
            <a:off x="687600" y="2462400"/>
            <a:ext cx="10419408" cy="3767328"/>
          </a:xfrm>
          <a:prstGeom prst="rect">
            <a:avLst/>
          </a:prstGeom>
          <a:noFill/>
        </p:spPr>
        <p:txBody>
          <a:bodyPr wrap="square" rtlCol="0">
            <a:spAutoFit/>
          </a:bodyPr>
          <a:lstStyle/>
          <a:p>
            <a:pPr marL="457200" lvl="1">
              <a:lnSpc>
                <a:spcPct val="92000"/>
              </a:lnSpc>
              <a:defRPr/>
            </a:pPr>
            <a:r>
              <a:rPr lang="es-ES" sz="1800" b="1">
                <a:solidFill>
                  <a:srgbClr val="002060"/>
                </a:solidFill>
              </a:rPr>
              <a:t>Fuente: </a:t>
            </a:r>
            <a:endParaRPr/>
          </a:p>
          <a:p>
            <a:pPr marL="457200" lvl="1">
              <a:lnSpc>
                <a:spcPct val="92000"/>
              </a:lnSpc>
              <a:defRPr/>
            </a:pPr>
            <a:r>
              <a:rPr lang="es-ES" sz="1800" u="sng">
                <a:solidFill>
                  <a:srgbClr val="0070C0"/>
                </a:solidFill>
                <a:hlinkClick r:id="rId5" tooltip=""/>
              </a:rPr>
              <a:t>https://huggingface.co/datasets/Manuel/sentencias-corte-cons-colombia-1992-2021</a:t>
            </a:r>
            <a:endParaRPr lang="es-ES" sz="1800">
              <a:solidFill>
                <a:srgbClr val="0070C0"/>
              </a:solidFill>
            </a:endParaRPr>
          </a:p>
          <a:p>
            <a:pPr marL="457200" lvl="1">
              <a:lnSpc>
                <a:spcPct val="92000"/>
              </a:lnSpc>
              <a:defRPr/>
            </a:pPr>
            <a:endParaRPr lang="es-ES" sz="1800"/>
          </a:p>
          <a:p>
            <a:pPr marL="457200" lvl="1">
              <a:lnSpc>
                <a:spcPct val="92000"/>
              </a:lnSpc>
              <a:defRPr/>
            </a:pPr>
            <a:r>
              <a:rPr lang="es-ES" sz="1800" b="1">
                <a:solidFill>
                  <a:srgbClr val="002060"/>
                </a:solidFill>
              </a:rPr>
              <a:t>Ficha técnica: </a:t>
            </a:r>
            <a:endParaRPr lang="es-ES" sz="1800">
              <a:solidFill>
                <a:srgbClr val="002060"/>
              </a:solidFill>
            </a:endParaRPr>
          </a:p>
          <a:p>
            <a:pPr marL="742950" lvl="1" indent="-285750">
              <a:lnSpc>
                <a:spcPct val="92000"/>
              </a:lnSpc>
              <a:buFont typeface="Courier New"/>
              <a:buChar char="o"/>
              <a:defRPr/>
            </a:pPr>
            <a:r>
              <a:rPr lang="es-ES" sz="1800" b="1"/>
              <a:t>Dominio: </a:t>
            </a:r>
            <a:r>
              <a:rPr lang="es-ES" sz="1800"/>
              <a:t>Jurisprudencia Constitucional Colombiana (1992–2021).</a:t>
            </a:r>
            <a:endParaRPr/>
          </a:p>
          <a:p>
            <a:pPr marL="742950" lvl="1" indent="-285750">
              <a:lnSpc>
                <a:spcPct val="92000"/>
              </a:lnSpc>
              <a:buFont typeface="Courier New"/>
              <a:buChar char="o"/>
              <a:defRPr/>
            </a:pPr>
            <a:r>
              <a:rPr lang="es-ES" sz="1800" b="1"/>
              <a:t>Idioma: </a:t>
            </a:r>
            <a:r>
              <a:rPr lang="es-ES" sz="1800"/>
              <a:t>Español.</a:t>
            </a:r>
            <a:endParaRPr/>
          </a:p>
          <a:p>
            <a:pPr marL="742950" lvl="1" indent="-285750">
              <a:lnSpc>
                <a:spcPct val="92000"/>
              </a:lnSpc>
              <a:buFont typeface="Courier New"/>
              <a:buChar char="o"/>
              <a:defRPr/>
            </a:pPr>
            <a:r>
              <a:rPr lang="es-ES" sz="1800" b="1"/>
              <a:t>Volumen Total: </a:t>
            </a:r>
            <a:r>
              <a:rPr lang="es-ES" sz="1800"/>
              <a:t>23.742 sentencias.</a:t>
            </a:r>
            <a:endParaRPr/>
          </a:p>
          <a:p>
            <a:pPr marL="742950" lvl="2" indent="-285750">
              <a:lnSpc>
                <a:spcPct val="92000"/>
              </a:lnSpc>
              <a:buFont typeface="Courier New"/>
              <a:buChar char="o"/>
              <a:defRPr/>
            </a:pPr>
            <a:r>
              <a:rPr lang="es-ES" sz="1800" b="1"/>
              <a:t>Distribución por Tipo de Sentencia:</a:t>
            </a:r>
            <a:endParaRPr/>
          </a:p>
          <a:p>
            <a:pPr marL="457200" lvl="7">
              <a:lnSpc>
                <a:spcPct val="92000"/>
              </a:lnSpc>
              <a:defRPr/>
            </a:pPr>
            <a:r>
              <a:rPr lang="es-ES" sz="1800"/>
              <a:t>	- Tutela (T): 17.099 (72,0 % )</a:t>
            </a:r>
            <a:endParaRPr/>
          </a:p>
          <a:p>
            <a:pPr marL="457200" lvl="7">
              <a:lnSpc>
                <a:spcPct val="92000"/>
              </a:lnSpc>
              <a:defRPr/>
            </a:pPr>
            <a:r>
              <a:rPr lang="es-ES" sz="1800"/>
              <a:t>	- Constitucionalidad (C): 6.246 (26,3 % )</a:t>
            </a:r>
            <a:endParaRPr/>
          </a:p>
          <a:p>
            <a:pPr marL="457200" lvl="7">
              <a:lnSpc>
                <a:spcPct val="92000"/>
              </a:lnSpc>
              <a:defRPr/>
            </a:pPr>
            <a:r>
              <a:rPr lang="es-ES" sz="1800"/>
              <a:t>	- Unificación (SU): 397 (1,7 % )</a:t>
            </a:r>
            <a:endParaRPr/>
          </a:p>
          <a:p>
            <a:pPr>
              <a:lnSpc>
                <a:spcPct val="92000"/>
              </a:lnSpc>
              <a:defRPr/>
            </a:pPr>
            <a:endParaRPr lang="es-CO"/>
          </a:p>
          <a:p>
            <a:pPr marL="457200" lvl="1">
              <a:lnSpc>
                <a:spcPct val="92000"/>
              </a:lnSpc>
              <a:defRPr/>
            </a:pPr>
            <a:r>
              <a:rPr lang="es-ES" sz="1800" b="1"/>
              <a:t>Formato de almacenamiento: </a:t>
            </a:r>
            <a:r>
              <a:rPr lang="es-ES" sz="1800"/>
              <a:t>CSV UTF-8 (1,68 GB), dos columnas (identificador + texto completo).</a:t>
            </a:r>
            <a:endParaRPr/>
          </a:p>
          <a:p>
            <a:pPr marL="457200" lvl="1">
              <a:lnSpc>
                <a:spcPct val="92000"/>
              </a:lnSpc>
              <a:defRPr/>
            </a:pPr>
            <a:r>
              <a:rPr lang="es-ES" sz="1800" b="1"/>
              <a:t>Nota: </a:t>
            </a:r>
            <a:r>
              <a:rPr lang="es-ES" sz="1800"/>
              <a:t>el archivo del repositorio se llama Juris1992_2022.csv, pero la cobertura real es 1992-2021 (2021 parcial: 20 sentencias).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645338140"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687728455"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ES" sz="3200" b="1">
                <a:solidFill>
                  <a:schemeClr val="bg1"/>
                </a:solidFill>
                <a:latin typeface="Calibri"/>
                <a:ea typeface="Calibri"/>
                <a:cs typeface="Calibri"/>
              </a:rPr>
              <a:t>Depuración y enriquecimiento del corpus</a:t>
            </a:r>
            <a:endParaRPr lang="es-CO" sz="3200" b="1" i="0" u="none" strike="noStrike" cap="none">
              <a:solidFill>
                <a:schemeClr val="bg1"/>
              </a:solidFill>
              <a:latin typeface="Calibri"/>
              <a:ea typeface="Calibri"/>
              <a:cs typeface="Calibri"/>
            </a:endParaRPr>
          </a:p>
        </p:txBody>
      </p:sp>
      <p:sp>
        <p:nvSpPr>
          <p:cNvPr id="254107470"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Del dato crudo al corpus analizable</a:t>
            </a:r>
            <a:endParaRPr/>
          </a:p>
        </p:txBody>
      </p:sp>
      <p:sp>
        <p:nvSpPr>
          <p:cNvPr id="946114908" name="Rectángulo: esquinas redondeadas 1"/>
          <p:cNvSpPr/>
          <p:nvPr/>
        </p:nvSpPr>
        <p:spPr bwMode="auto">
          <a:xfrm>
            <a:off x="533400" y="2730500"/>
            <a:ext cx="1905000" cy="198120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1200" b="1">
                <a:solidFill>
                  <a:srgbClr val="2F75B5"/>
                </a:solidFill>
                <a:latin typeface="+mj-lt"/>
                <a:cs typeface="Arial"/>
              </a:rPr>
              <a:t>INGESTA</a:t>
            </a:r>
            <a:endParaRPr/>
          </a:p>
          <a:p>
            <a:pPr algn="l">
              <a:defRPr/>
            </a:pPr>
            <a:br>
              <a:rPr lang="es-CO" sz="1200">
                <a:solidFill>
                  <a:srgbClr val="162536"/>
                </a:solidFill>
                <a:latin typeface="+mj-lt"/>
                <a:cs typeface="Arial"/>
              </a:rPr>
            </a:br>
            <a:r>
              <a:rPr lang="es-CO" sz="1200" b="1">
                <a:solidFill>
                  <a:srgbClr val="162536"/>
                </a:solidFill>
                <a:latin typeface="+mj-lt"/>
                <a:cs typeface="Arial"/>
              </a:rPr>
              <a:t>23.750</a:t>
            </a:r>
            <a:r>
              <a:rPr lang="es-CO" sz="1200">
                <a:solidFill>
                  <a:srgbClr val="162536"/>
                </a:solidFill>
                <a:latin typeface="+mj-lt"/>
                <a:cs typeface="Arial"/>
              </a:rPr>
              <a:t> registros</a:t>
            </a:r>
            <a:br>
              <a:rPr lang="es-CO" sz="1200">
                <a:solidFill>
                  <a:srgbClr val="162536"/>
                </a:solidFill>
                <a:latin typeface="+mj-lt"/>
                <a:cs typeface="Arial"/>
              </a:rPr>
            </a:br>
            <a:r>
              <a:rPr lang="es-CO" sz="1200">
                <a:solidFill>
                  <a:srgbClr val="162536"/>
                </a:solidFill>
                <a:latin typeface="+mj-lt"/>
                <a:cs typeface="Arial"/>
              </a:rPr>
              <a:t>Texto crudo no estructurado</a:t>
            </a:r>
            <a:endParaRPr/>
          </a:p>
        </p:txBody>
      </p:sp>
      <p:sp>
        <p:nvSpPr>
          <p:cNvPr id="1454272911" name="Rectángulo: esquinas redondeadas 2"/>
          <p:cNvSpPr/>
          <p:nvPr/>
        </p:nvSpPr>
        <p:spPr bwMode="auto">
          <a:xfrm>
            <a:off x="2743200" y="2730500"/>
            <a:ext cx="1905000" cy="1981200"/>
          </a:xfrm>
          <a:prstGeom prst="roundRect">
            <a:avLst>
              <a:gd name="adj" fmla="val 16667"/>
            </a:avLst>
          </a:prstGeom>
          <a:solidFill>
            <a:srgbClr val="FFF4D6"/>
          </a:solidFill>
          <a:ln w="19050" cap="flat" cmpd="sng" algn="ctr">
            <a:solidFill>
              <a:srgbClr val="F4B41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200" b="1">
                <a:solidFill>
                  <a:srgbClr val="F4B41A"/>
                </a:solidFill>
                <a:latin typeface="+mj-lt"/>
                <a:cs typeface="Arial"/>
              </a:rPr>
              <a:t>EXTRACCIÓN</a:t>
            </a:r>
            <a:endParaRPr/>
          </a:p>
          <a:p>
            <a:pPr algn="l">
              <a:defRPr/>
            </a:pPr>
            <a:br>
              <a:rPr lang="es-ES" sz="1200">
                <a:solidFill>
                  <a:srgbClr val="162536"/>
                </a:solidFill>
                <a:latin typeface="+mj-lt"/>
                <a:cs typeface="Arial"/>
              </a:rPr>
            </a:br>
            <a:r>
              <a:rPr lang="es-ES" sz="1200">
                <a:solidFill>
                  <a:srgbClr val="162536"/>
                </a:solidFill>
                <a:latin typeface="+mj-lt"/>
                <a:cs typeface="Arial"/>
              </a:rPr>
              <a:t>Extracción mediante expresiones regulares:</a:t>
            </a:r>
            <a:br>
              <a:rPr lang="es-ES" sz="1200">
                <a:solidFill>
                  <a:srgbClr val="162536"/>
                </a:solidFill>
                <a:latin typeface="+mj-lt"/>
                <a:cs typeface="Arial"/>
              </a:rPr>
            </a:br>
            <a:r>
              <a:rPr lang="es-ES" sz="1200">
                <a:solidFill>
                  <a:srgbClr val="162536"/>
                </a:solidFill>
                <a:latin typeface="+mj-lt"/>
                <a:cs typeface="Arial"/>
              </a:rPr>
              <a:t>- ID</a:t>
            </a:r>
            <a:endParaRPr/>
          </a:p>
          <a:p>
            <a:pPr algn="l">
              <a:defRPr/>
            </a:pPr>
            <a:r>
              <a:rPr lang="es-ES" sz="1200">
                <a:solidFill>
                  <a:srgbClr val="162536"/>
                </a:solidFill>
                <a:latin typeface="+mj-lt"/>
                <a:cs typeface="Arial"/>
              </a:rPr>
              <a:t>- Tipo</a:t>
            </a:r>
            <a:endParaRPr/>
          </a:p>
          <a:p>
            <a:pPr algn="l">
              <a:defRPr/>
            </a:pPr>
            <a:r>
              <a:rPr lang="es-ES" sz="1200">
                <a:solidFill>
                  <a:srgbClr val="162536"/>
                </a:solidFill>
                <a:latin typeface="+mj-lt"/>
                <a:cs typeface="Arial"/>
              </a:rPr>
              <a:t>- Año</a:t>
            </a:r>
            <a:endParaRPr/>
          </a:p>
          <a:p>
            <a:pPr algn="ctr">
              <a:defRPr/>
            </a:pPr>
            <a:br>
              <a:rPr lang="es-ES" sz="1200">
                <a:solidFill>
                  <a:srgbClr val="162536"/>
                </a:solidFill>
                <a:latin typeface="+mj-lt"/>
                <a:cs typeface="Arial"/>
              </a:rPr>
            </a:br>
            <a:r>
              <a:rPr lang="es-ES" sz="1200">
                <a:solidFill>
                  <a:srgbClr val="0070C0"/>
                </a:solidFill>
                <a:latin typeface="+mj-lt"/>
                <a:cs typeface="Arial"/>
              </a:rPr>
              <a:t>99,97 % eficacia</a:t>
            </a:r>
            <a:endParaRPr lang="es-CO" sz="1200">
              <a:solidFill>
                <a:srgbClr val="0070C0"/>
              </a:solidFill>
              <a:latin typeface="+mj-lt"/>
              <a:cs typeface="Arial"/>
            </a:endParaRPr>
          </a:p>
        </p:txBody>
      </p:sp>
      <p:sp>
        <p:nvSpPr>
          <p:cNvPr id="838281659" name="Rectángulo: esquinas redondeadas 5"/>
          <p:cNvSpPr/>
          <p:nvPr/>
        </p:nvSpPr>
        <p:spPr bwMode="auto">
          <a:xfrm>
            <a:off x="4953000" y="2730500"/>
            <a:ext cx="1905000" cy="1981200"/>
          </a:xfrm>
          <a:prstGeom prst="roundRect">
            <a:avLst>
              <a:gd name="adj" fmla="val 16667"/>
            </a:avLst>
          </a:prstGeom>
          <a:solidFill>
            <a:srgbClr val="FDEBEC"/>
          </a:solidFill>
          <a:ln w="19050" cap="flat" cmpd="sng" algn="ctr">
            <a:solidFill>
              <a:srgbClr val="C94C4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200" b="1">
                <a:solidFill>
                  <a:srgbClr val="C94C4C"/>
                </a:solidFill>
                <a:latin typeface="+mj-lt"/>
                <a:cs typeface="Arial"/>
              </a:rPr>
              <a:t>DEPURACIÓN</a:t>
            </a:r>
            <a:endParaRPr/>
          </a:p>
          <a:p>
            <a:pPr algn="l">
              <a:defRPr/>
            </a:pPr>
            <a:br>
              <a:rPr lang="es-ES" sz="1200">
                <a:solidFill>
                  <a:srgbClr val="162536"/>
                </a:solidFill>
                <a:latin typeface="+mj-lt"/>
                <a:cs typeface="Arial"/>
              </a:rPr>
            </a:br>
            <a:r>
              <a:rPr lang="es-ES" sz="1200">
                <a:solidFill>
                  <a:srgbClr val="162536"/>
                </a:solidFill>
                <a:latin typeface="+mj-lt"/>
                <a:cs typeface="Arial"/>
              </a:rPr>
              <a:t>- 8 exclusiones (0,03 %)</a:t>
            </a:r>
            <a:br>
              <a:rPr lang="es-ES" sz="1200">
                <a:solidFill>
                  <a:srgbClr val="162536"/>
                </a:solidFill>
                <a:latin typeface="+mj-lt"/>
                <a:cs typeface="Arial"/>
              </a:rPr>
            </a:br>
            <a:r>
              <a:rPr lang="es-ES" sz="1200">
                <a:solidFill>
                  <a:srgbClr val="162536"/>
                </a:solidFill>
                <a:latin typeface="+mj-lt"/>
                <a:cs typeface="Arial"/>
              </a:rPr>
              <a:t>- 6 autos + 2 HTML</a:t>
            </a:r>
            <a:endParaRPr lang="es-CO" sz="1200">
              <a:solidFill>
                <a:srgbClr val="162536"/>
              </a:solidFill>
              <a:latin typeface="+mj-lt"/>
              <a:cs typeface="Arial"/>
            </a:endParaRPr>
          </a:p>
        </p:txBody>
      </p:sp>
      <p:sp>
        <p:nvSpPr>
          <p:cNvPr id="160046340" name="Rectángulo: esquinas redondeadas 6"/>
          <p:cNvSpPr/>
          <p:nvPr/>
        </p:nvSpPr>
        <p:spPr bwMode="auto">
          <a:xfrm>
            <a:off x="7162800" y="2730500"/>
            <a:ext cx="1905000" cy="1981200"/>
          </a:xfrm>
          <a:prstGeom prst="roundRect">
            <a:avLst>
              <a:gd name="adj" fmla="val 16667"/>
            </a:avLst>
          </a:prstGeom>
          <a:solidFill>
            <a:srgbClr val="E8F5EE"/>
          </a:solidFill>
          <a:ln w="1905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200" b="1">
                <a:solidFill>
                  <a:srgbClr val="2E8B57"/>
                </a:solidFill>
                <a:latin typeface="+mj-lt"/>
                <a:cs typeface="Arial"/>
              </a:rPr>
              <a:t>CONSOLIDACIÓN</a:t>
            </a:r>
            <a:endParaRPr/>
          </a:p>
          <a:p>
            <a:pPr algn="l">
              <a:defRPr/>
            </a:pPr>
            <a:br>
              <a:rPr lang="es-ES" sz="1200">
                <a:solidFill>
                  <a:srgbClr val="162536"/>
                </a:solidFill>
                <a:latin typeface="+mj-lt"/>
                <a:cs typeface="Arial"/>
              </a:rPr>
            </a:br>
            <a:r>
              <a:rPr lang="es-ES" sz="1200" b="1">
                <a:solidFill>
                  <a:srgbClr val="162536"/>
                </a:solidFill>
                <a:latin typeface="+mj-lt"/>
                <a:cs typeface="Arial"/>
              </a:rPr>
              <a:t>23.742 </a:t>
            </a:r>
            <a:r>
              <a:rPr lang="es-ES" sz="1200">
                <a:solidFill>
                  <a:srgbClr val="162536"/>
                </a:solidFill>
                <a:latin typeface="+mj-lt"/>
                <a:cs typeface="Arial"/>
              </a:rPr>
              <a:t>sentencias</a:t>
            </a:r>
            <a:br>
              <a:rPr lang="es-ES" sz="1200">
                <a:solidFill>
                  <a:srgbClr val="162536"/>
                </a:solidFill>
                <a:latin typeface="+mj-lt"/>
                <a:cs typeface="Arial"/>
              </a:rPr>
            </a:br>
            <a:r>
              <a:rPr lang="es-ES" sz="1200">
                <a:solidFill>
                  <a:srgbClr val="162536"/>
                </a:solidFill>
                <a:latin typeface="+mj-lt"/>
                <a:cs typeface="Arial"/>
              </a:rPr>
              <a:t>Corpus limpio y estructurado</a:t>
            </a:r>
            <a:endParaRPr lang="es-CO" sz="1200">
              <a:solidFill>
                <a:srgbClr val="162536"/>
              </a:solidFill>
              <a:latin typeface="+mj-lt"/>
              <a:cs typeface="Arial"/>
            </a:endParaRPr>
          </a:p>
        </p:txBody>
      </p:sp>
      <p:sp>
        <p:nvSpPr>
          <p:cNvPr id="721962220" name="Rectángulo: esquinas redondeadas 7"/>
          <p:cNvSpPr/>
          <p:nvPr/>
        </p:nvSpPr>
        <p:spPr bwMode="auto">
          <a:xfrm>
            <a:off x="9372600" y="2730500"/>
            <a:ext cx="1905000" cy="1981200"/>
          </a:xfrm>
          <a:prstGeom prst="roundRect">
            <a:avLst>
              <a:gd name="adj" fmla="val 16667"/>
            </a:avLst>
          </a:prstGeom>
          <a:solidFill>
            <a:srgbClr val="EEEAF8"/>
          </a:solidFill>
          <a:ln w="19050" cap="flat" cmpd="sng" algn="ctr">
            <a:solidFill>
              <a:srgbClr val="6554A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200" b="1">
                <a:solidFill>
                  <a:srgbClr val="6554A4"/>
                </a:solidFill>
                <a:latin typeface="+mj-lt"/>
                <a:cs typeface="Arial"/>
              </a:rPr>
              <a:t>VALIDACIÓN</a:t>
            </a:r>
            <a:endParaRPr/>
          </a:p>
          <a:p>
            <a:pPr algn="l">
              <a:defRPr/>
            </a:pPr>
            <a:br>
              <a:rPr lang="es-ES" sz="1200">
                <a:solidFill>
                  <a:srgbClr val="162536"/>
                </a:solidFill>
                <a:latin typeface="+mj-lt"/>
                <a:cs typeface="Arial"/>
              </a:rPr>
            </a:br>
            <a:r>
              <a:rPr lang="es-ES" sz="1200">
                <a:solidFill>
                  <a:srgbClr val="162536"/>
                </a:solidFill>
                <a:latin typeface="+mj-lt"/>
                <a:cs typeface="Arial"/>
              </a:rPr>
              <a:t>Muestra estratificada de 25 documentos</a:t>
            </a:r>
            <a:br>
              <a:rPr lang="es-ES" sz="1200">
                <a:solidFill>
                  <a:srgbClr val="162536"/>
                </a:solidFill>
                <a:latin typeface="+mj-lt"/>
                <a:cs typeface="Arial"/>
              </a:rPr>
            </a:br>
            <a:r>
              <a:rPr lang="es-ES" sz="1200">
                <a:solidFill>
                  <a:srgbClr val="162536"/>
                </a:solidFill>
                <a:latin typeface="+mj-lt"/>
                <a:cs typeface="Arial"/>
              </a:rPr>
              <a:t>para facilitar la inspección del corpus.</a:t>
            </a:r>
            <a:endParaRPr lang="es-CO" sz="1200">
              <a:solidFill>
                <a:srgbClr val="162536"/>
              </a:solidFill>
              <a:latin typeface="+mj-lt"/>
              <a:cs typeface="Arial"/>
            </a:endParaRPr>
          </a:p>
        </p:txBody>
      </p:sp>
      <p:sp>
        <p:nvSpPr>
          <p:cNvPr id="917909169" name="Flecha: cheurón 8"/>
          <p:cNvSpPr/>
          <p:nvPr/>
        </p:nvSpPr>
        <p:spPr bwMode="auto">
          <a:xfrm>
            <a:off x="2463800" y="3492500"/>
            <a:ext cx="228600" cy="431799"/>
          </a:xfrm>
          <a:prstGeom prst="chevron">
            <a:avLst>
              <a:gd name="adj"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sz="1200">
              <a:solidFill>
                <a:schemeClr val="tx1"/>
              </a:solidFill>
              <a:latin typeface="+mj-lt"/>
            </a:endParaRPr>
          </a:p>
        </p:txBody>
      </p:sp>
      <p:sp>
        <p:nvSpPr>
          <p:cNvPr id="1340579592" name="Flecha: cheurón 9"/>
          <p:cNvSpPr/>
          <p:nvPr/>
        </p:nvSpPr>
        <p:spPr bwMode="auto">
          <a:xfrm>
            <a:off x="4673600" y="3492500"/>
            <a:ext cx="228600" cy="431799"/>
          </a:xfrm>
          <a:prstGeom prst="chevron">
            <a:avLst>
              <a:gd name="adj"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sz="1200">
              <a:solidFill>
                <a:schemeClr val="tx1"/>
              </a:solidFill>
              <a:latin typeface="+mj-lt"/>
            </a:endParaRPr>
          </a:p>
        </p:txBody>
      </p:sp>
      <p:sp>
        <p:nvSpPr>
          <p:cNvPr id="55260420" name="Flecha: cheurón 10"/>
          <p:cNvSpPr/>
          <p:nvPr/>
        </p:nvSpPr>
        <p:spPr bwMode="auto">
          <a:xfrm>
            <a:off x="6883400" y="3492500"/>
            <a:ext cx="228600" cy="431799"/>
          </a:xfrm>
          <a:prstGeom prst="chevron">
            <a:avLst>
              <a:gd name="adj"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sz="1200">
              <a:solidFill>
                <a:schemeClr val="tx1"/>
              </a:solidFill>
              <a:latin typeface="+mj-lt"/>
            </a:endParaRPr>
          </a:p>
        </p:txBody>
      </p:sp>
      <p:sp>
        <p:nvSpPr>
          <p:cNvPr id="1251672931" name="Flecha: cheurón 11"/>
          <p:cNvSpPr/>
          <p:nvPr/>
        </p:nvSpPr>
        <p:spPr bwMode="auto">
          <a:xfrm>
            <a:off x="9093200" y="3492500"/>
            <a:ext cx="228600" cy="431799"/>
          </a:xfrm>
          <a:prstGeom prst="chevron">
            <a:avLst>
              <a:gd name="adj"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sz="1200">
              <a:solidFill>
                <a:schemeClr val="tx1"/>
              </a:solidFill>
              <a:latin typeface="+mj-lt"/>
            </a:endParaRPr>
          </a:p>
        </p:txBody>
      </p:sp>
      <p:sp>
        <p:nvSpPr>
          <p:cNvPr id="1231742581" name="Rectángulo: esquinas redondeadas 12"/>
          <p:cNvSpPr/>
          <p:nvPr/>
        </p:nvSpPr>
        <p:spPr bwMode="auto">
          <a:xfrm>
            <a:off x="1905000" y="5041900"/>
            <a:ext cx="8382000" cy="609600"/>
          </a:xfrm>
          <a:prstGeom prst="roundRect">
            <a:avLst>
              <a:gd name="adj" fmla="val 16667"/>
            </a:avLst>
          </a:prstGeom>
          <a:solidFill>
            <a:srgbClr val="073654"/>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rmAutofit/>
          </a:bodyPr>
          <a:lstStyle/>
          <a:p>
            <a:pPr algn="l">
              <a:defRPr/>
            </a:pPr>
            <a:r>
              <a:rPr lang="es-ES" sz="1800" b="1">
                <a:solidFill>
                  <a:srgbClr val="FFFFFF"/>
                </a:solidFill>
                <a:latin typeface="Arial"/>
                <a:cs typeface="Arial"/>
              </a:rPr>
              <a:t>RESULTADO  →  corpus analizable, trazable y preparado para vectorización o modelado</a:t>
            </a:r>
            <a:endParaRPr lang="es-CO" sz="1800" b="1">
              <a:solidFill>
                <a:srgbClr val="FFFFFF"/>
              </a:solidFill>
              <a:latin typeface="Arial"/>
              <a:cs typeface="Arial"/>
            </a:endParaRPr>
          </a:p>
        </p:txBody>
      </p:sp>
      <p:pic>
        <p:nvPicPr>
          <p:cNvPr id="1521654999" name="Imagen 14"/>
          <p:cNvPicPr>
            <a:picLocks noChangeAspect="1"/>
          </p:cNvPicPr>
          <p:nvPr/>
        </p:nvPicPr>
        <p:blipFill rotWithShape="1">
          <a:blip r:embed="rId4">
            <a:duotone>
              <a:schemeClr val="accent5">
                <a:shade val="45000"/>
                <a:satMod val="135000"/>
              </a:schemeClr>
              <a:prstClr val="white"/>
            </a:duotone>
          </a:blip>
          <a:stretch/>
        </p:blipFill>
        <p:spPr bwMode="auto">
          <a:xfrm>
            <a:off x="1230395"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08744192"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681059455"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Construcción del corpus</a:t>
            </a:r>
            <a:endParaRPr lang="es-CO" sz="3200" b="1" i="0" u="none" strike="noStrike" cap="none">
              <a:solidFill>
                <a:schemeClr val="bg1"/>
              </a:solidFill>
              <a:latin typeface="Calibri"/>
              <a:ea typeface="Calibri"/>
              <a:cs typeface="Calibri"/>
            </a:endParaRPr>
          </a:p>
        </p:txBody>
      </p:sp>
      <p:sp>
        <p:nvSpPr>
          <p:cNvPr id="534120211"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Fragmentos representativos</a:t>
            </a:r>
            <a:endParaRPr/>
          </a:p>
        </p:txBody>
      </p:sp>
      <p:pic>
        <p:nvPicPr>
          <p:cNvPr id="19938396" name="Imagen 3"/>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
        <p:nvSpPr>
          <p:cNvPr id="848175772" name="Fusion-B-Tarjeta1"/>
          <p:cNvSpPr/>
          <p:nvPr/>
        </p:nvSpPr>
        <p:spPr bwMode="auto">
          <a:xfrm>
            <a:off x="685800" y="2340864"/>
            <a:ext cx="10817352" cy="118872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rmAutofit/>
          </a:bodyPr>
          <a:lstStyle/>
          <a:p>
            <a:pPr marL="0" lvl="0">
              <a:defRPr/>
            </a:pPr>
            <a:r>
              <a:rPr lang="es-ES" sz="1400" b="1">
                <a:solidFill>
                  <a:srgbClr val="2F75B5"/>
                </a:solidFill>
              </a:rPr>
              <a:t>Sentencia T-293/97</a:t>
            </a:r>
            <a:endParaRPr/>
          </a:p>
          <a:p>
            <a:pPr marL="0" lvl="0">
              <a:defRPr/>
            </a:pPr>
            <a:r>
              <a:rPr lang="es-ES" sz="1100" i="1">
                <a:solidFill>
                  <a:srgbClr val="162536"/>
                </a:solidFill>
              </a:rPr>
              <a:t>La acción de tutela es mecanismo subsidiario cuyo objeto específico es la protección de los derechos fundamentales violados o amenazados por acción u omisión de una autoridad pública…</a:t>
            </a:r>
            <a:endParaRPr/>
          </a:p>
        </p:txBody>
      </p:sp>
      <p:sp>
        <p:nvSpPr>
          <p:cNvPr id="67546861" name="Fusion-B-Tarjeta2"/>
          <p:cNvSpPr/>
          <p:nvPr/>
        </p:nvSpPr>
        <p:spPr bwMode="auto">
          <a:xfrm>
            <a:off x="685800" y="3721608"/>
            <a:ext cx="10817352" cy="118872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rmAutofit/>
          </a:bodyPr>
          <a:lstStyle/>
          <a:p>
            <a:pPr marL="0" lvl="0">
              <a:defRPr/>
            </a:pPr>
            <a:r>
              <a:rPr lang="es-ES" sz="1400" b="1">
                <a:solidFill>
                  <a:srgbClr val="2F75B5"/>
                </a:solidFill>
              </a:rPr>
              <a:t>Sentencia C-448/98</a:t>
            </a:r>
            <a:endParaRPr/>
          </a:p>
          <a:p>
            <a:pPr marL="0" lvl="0">
              <a:defRPr/>
            </a:pPr>
            <a:r>
              <a:rPr lang="es-ES" sz="1100" i="1">
                <a:solidFill>
                  <a:srgbClr val="162536"/>
                </a:solidFill>
              </a:rPr>
              <a:t>La Corte carece de competencia para conocer sobre la constitucionalidad de las preceptivas que integran el texto normativo contenido en el Decreto 1421 de 1993…</a:t>
            </a:r>
            <a:endParaRPr/>
          </a:p>
        </p:txBody>
      </p:sp>
      <p:sp>
        <p:nvSpPr>
          <p:cNvPr id="946791752" name="Fusion-B-Tarjeta3"/>
          <p:cNvSpPr/>
          <p:nvPr/>
        </p:nvSpPr>
        <p:spPr bwMode="auto">
          <a:xfrm>
            <a:off x="685800" y="5102352"/>
            <a:ext cx="10817352" cy="118872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rmAutofit/>
          </a:bodyPr>
          <a:lstStyle/>
          <a:p>
            <a:pPr marL="0" lvl="0">
              <a:defRPr/>
            </a:pPr>
            <a:r>
              <a:rPr lang="es-ES" sz="1400" b="1">
                <a:solidFill>
                  <a:srgbClr val="2F75B5"/>
                </a:solidFill>
              </a:rPr>
              <a:t>Sentencia SU-476/97</a:t>
            </a:r>
            <a:endParaRPr/>
          </a:p>
          <a:p>
            <a:pPr marL="0" lvl="0">
              <a:defRPr/>
            </a:pPr>
            <a:r>
              <a:rPr lang="es-ES" sz="1100" i="1">
                <a:solidFill>
                  <a:srgbClr val="162536"/>
                </a:solidFill>
              </a:rPr>
              <a:t>La vida en comunidad conlleva forzosamente el cumplimiento de una serie de deberes recíprocos por parte de los asociados, el primero de los cuales es el de respetar los derechos de los demás.</a:t>
            </a:r>
            <a:endParaRPr/>
          </a:p>
        </p:txBody>
      </p:sp>
      <p:sp>
        <p:nvSpPr>
          <p:cNvPr id="213910142" name="Fusion-B-Nota"/>
          <p:cNvSpPr txBox="1"/>
          <p:nvPr/>
        </p:nvSpPr>
        <p:spPr bwMode="auto">
          <a:xfrm>
            <a:off x="914400" y="6336792"/>
            <a:ext cx="10360152" cy="292608"/>
          </a:xfrm>
          <a:prstGeom prst="rect">
            <a:avLst/>
          </a:prstGeom>
          <a:noFill/>
        </p:spPr>
        <p:txBody>
          <a:bodyPr wrap="square">
            <a:spAutoFit/>
          </a:bodyPr>
          <a:lstStyle/>
          <a:p>
            <a:pPr algn="ctr">
              <a:defRPr/>
            </a:pPr>
            <a:r>
              <a:rPr sz="1100" i="1">
                <a:solidFill>
                  <a:srgbClr val="425466"/>
                </a:solidFill>
                <a:latin typeface="Arial"/>
              </a:rPr>
              <a:t>Fragmentos literales del anexo del corpus (muestra de 25 sentencias).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56420698"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899572373" name="Google Shape;90;p1"/>
          <p:cNvSpPr txBox="1">
            <a:spLocks noGrp="1"/>
          </p:cNvSpPr>
          <p:nvPr>
            <p:ph type="subTitle" idx="1"/>
          </p:nvPr>
        </p:nvSpPr>
        <p:spPr bwMode="auto">
          <a:xfrm>
            <a:off x="3221420" y="2826829"/>
            <a:ext cx="8843623" cy="1204341"/>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Textometría</a:t>
            </a:r>
            <a:endParaRPr lang="es-CO" sz="4800" b="1">
              <a:solidFill>
                <a:schemeClr val="accent4">
                  <a:lumMod val="60000"/>
                  <a:lumOff val="40000"/>
                </a:schemeClr>
              </a:solidFill>
              <a:latin typeface="Arial"/>
              <a:cs typeface="Arial"/>
            </a:endParaRPr>
          </a:p>
          <a:p>
            <a:pPr marL="0" lvl="0" indent="0" algn="ctr">
              <a:lnSpc>
                <a:spcPct val="90000"/>
              </a:lnSpc>
              <a:spcBef>
                <a:spcPts val="0"/>
              </a:spcBef>
              <a:spcAft>
                <a:spcPts val="0"/>
              </a:spcAft>
              <a:buSzPts val="4800"/>
              <a:buNone/>
              <a:defRPr/>
            </a:pPr>
            <a:endParaRPr lang="es-CO" sz="4800" b="1">
              <a:solidFill>
                <a:schemeClr val="lt1"/>
              </a:solidFill>
              <a:cs typeface="Arial"/>
            </a:endParaRPr>
          </a:p>
          <a:p>
            <a:pPr marL="0" indent="0">
              <a:buClr>
                <a:srgbClr val="FFC000"/>
              </a:buClr>
              <a:buSzPts val="2800"/>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067004531"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1292215481"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Procesamiento</a:t>
            </a:r>
            <a:endParaRPr lang="es-CO" sz="3200" b="1" i="0" u="none" strike="noStrike" cap="none">
              <a:solidFill>
                <a:schemeClr val="bg1"/>
              </a:solidFill>
              <a:latin typeface="Calibri"/>
              <a:ea typeface="Calibri"/>
              <a:cs typeface="Calibri"/>
            </a:endParaRPr>
          </a:p>
        </p:txBody>
      </p:sp>
      <p:sp>
        <p:nvSpPr>
          <p:cNvPr id="856051705"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Procesamiento textual</a:t>
            </a:r>
            <a:endParaRPr/>
          </a:p>
        </p:txBody>
      </p:sp>
      <p:sp>
        <p:nvSpPr>
          <p:cNvPr id="1368780604" name="Rectángulo: esquinas redondeadas 1"/>
          <p:cNvSpPr/>
          <p:nvPr/>
        </p:nvSpPr>
        <p:spPr bwMode="auto">
          <a:xfrm>
            <a:off x="825500" y="2603500"/>
            <a:ext cx="3048000" cy="914400"/>
          </a:xfrm>
          <a:prstGeom prst="roundRect">
            <a:avLst>
              <a:gd name="adj" fmla="val 16667"/>
            </a:avLst>
          </a:prstGeom>
          <a:solidFill>
            <a:srgbClr val="EAF2F8"/>
          </a:solidFill>
          <a:ln w="1778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b="1">
                <a:solidFill>
                  <a:srgbClr val="2F75B5"/>
                </a:solidFill>
                <a:latin typeface="Arial"/>
                <a:cs typeface="Arial"/>
              </a:rPr>
              <a:t>01  Texto original</a:t>
            </a:r>
            <a:br>
              <a:rPr lang="es-CO" sz="1200">
                <a:solidFill>
                  <a:srgbClr val="153047"/>
                </a:solidFill>
                <a:latin typeface="Arial"/>
                <a:cs typeface="Arial"/>
              </a:rPr>
            </a:br>
            <a:r>
              <a:rPr lang="es-CO" sz="1200">
                <a:solidFill>
                  <a:srgbClr val="153047"/>
                </a:solidFill>
                <a:latin typeface="Arial"/>
                <a:cs typeface="Arial"/>
              </a:rPr>
              <a:t>Entrada sin transformar</a:t>
            </a:r>
            <a:endParaRPr/>
          </a:p>
        </p:txBody>
      </p:sp>
      <p:sp>
        <p:nvSpPr>
          <p:cNvPr id="1820224175" name="Rectángulo: esquinas redondeadas 2"/>
          <p:cNvSpPr/>
          <p:nvPr/>
        </p:nvSpPr>
        <p:spPr bwMode="auto">
          <a:xfrm>
            <a:off x="4572000" y="2603500"/>
            <a:ext cx="3048000" cy="914400"/>
          </a:xfrm>
          <a:prstGeom prst="roundRect">
            <a:avLst>
              <a:gd name="adj" fmla="val 16667"/>
            </a:avLst>
          </a:prstGeom>
          <a:solidFill>
            <a:srgbClr val="EAF2F8"/>
          </a:solidFill>
          <a:ln w="1778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2F75B5"/>
                </a:solidFill>
                <a:latin typeface="Arial"/>
                <a:cs typeface="Arial"/>
              </a:rPr>
              <a:t>02  Minúsculas</a:t>
            </a:r>
            <a:br>
              <a:rPr lang="es-ES" sz="1200">
                <a:solidFill>
                  <a:srgbClr val="153047"/>
                </a:solidFill>
                <a:latin typeface="Arial"/>
                <a:cs typeface="Arial"/>
              </a:rPr>
            </a:br>
            <a:r>
              <a:rPr lang="es-ES" sz="1200">
                <a:solidFill>
                  <a:srgbClr val="153047"/>
                </a:solidFill>
                <a:latin typeface="Arial"/>
                <a:cs typeface="Arial"/>
              </a:rPr>
              <a:t>Unificación de caja</a:t>
            </a:r>
            <a:endParaRPr lang="es-CO" sz="1200">
              <a:solidFill>
                <a:srgbClr val="153047"/>
              </a:solidFill>
              <a:latin typeface="Arial"/>
              <a:cs typeface="Arial"/>
            </a:endParaRPr>
          </a:p>
        </p:txBody>
      </p:sp>
      <p:sp>
        <p:nvSpPr>
          <p:cNvPr id="1469728152" name="Rectángulo: esquinas redondeadas 5"/>
          <p:cNvSpPr/>
          <p:nvPr/>
        </p:nvSpPr>
        <p:spPr bwMode="auto">
          <a:xfrm>
            <a:off x="8318500" y="2603500"/>
            <a:ext cx="3048000" cy="914400"/>
          </a:xfrm>
          <a:prstGeom prst="roundRect">
            <a:avLst>
              <a:gd name="adj" fmla="val 16667"/>
            </a:avLst>
          </a:prstGeom>
          <a:solidFill>
            <a:srgbClr val="EAF2F8"/>
          </a:solidFill>
          <a:ln w="1778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2F75B5"/>
                </a:solidFill>
                <a:latin typeface="Arial"/>
                <a:cs typeface="Arial"/>
              </a:rPr>
              <a:t>03  Normalización Unicode</a:t>
            </a:r>
            <a:br>
              <a:rPr lang="es-ES" sz="1200">
                <a:solidFill>
                  <a:srgbClr val="153047"/>
                </a:solidFill>
                <a:latin typeface="Arial"/>
                <a:cs typeface="Arial"/>
              </a:rPr>
            </a:br>
            <a:r>
              <a:rPr lang="es-ES" sz="1200">
                <a:solidFill>
                  <a:srgbClr val="153047"/>
                </a:solidFill>
                <a:latin typeface="Arial"/>
                <a:cs typeface="Arial"/>
              </a:rPr>
              <a:t>Codificación consistente</a:t>
            </a:r>
            <a:endParaRPr lang="es-CO" sz="1200">
              <a:solidFill>
                <a:srgbClr val="153047"/>
              </a:solidFill>
              <a:latin typeface="Arial"/>
              <a:cs typeface="Arial"/>
            </a:endParaRPr>
          </a:p>
        </p:txBody>
      </p:sp>
      <p:sp>
        <p:nvSpPr>
          <p:cNvPr id="614679941" name="Rectángulo: esquinas redondeadas 6"/>
          <p:cNvSpPr/>
          <p:nvPr/>
        </p:nvSpPr>
        <p:spPr bwMode="auto">
          <a:xfrm>
            <a:off x="8318500" y="4000500"/>
            <a:ext cx="3048000" cy="914400"/>
          </a:xfrm>
          <a:prstGeom prst="roundRect">
            <a:avLst>
              <a:gd name="adj" fmla="val 16667"/>
            </a:avLst>
          </a:prstGeom>
          <a:solidFill>
            <a:srgbClr val="FFF4D6"/>
          </a:solidFill>
          <a:ln w="17780" cap="flat" cmpd="sng" algn="ctr">
            <a:solidFill>
              <a:srgbClr val="E6A7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E6A700"/>
                </a:solidFill>
                <a:latin typeface="Arial"/>
                <a:cs typeface="Arial"/>
              </a:rPr>
              <a:t>04  Eliminar tildes</a:t>
            </a:r>
            <a:br>
              <a:rPr lang="es-ES" sz="1200">
                <a:solidFill>
                  <a:srgbClr val="153047"/>
                </a:solidFill>
                <a:latin typeface="Arial"/>
                <a:cs typeface="Arial"/>
              </a:rPr>
            </a:br>
            <a:r>
              <a:rPr lang="es-ES" sz="1200">
                <a:solidFill>
                  <a:srgbClr val="153047"/>
                </a:solidFill>
                <a:latin typeface="Arial"/>
                <a:cs typeface="Arial"/>
              </a:rPr>
              <a:t>Normalización diacrítica</a:t>
            </a:r>
            <a:endParaRPr lang="es-CO" sz="1200">
              <a:solidFill>
                <a:srgbClr val="153047"/>
              </a:solidFill>
              <a:latin typeface="Arial"/>
              <a:cs typeface="Arial"/>
            </a:endParaRPr>
          </a:p>
        </p:txBody>
      </p:sp>
      <p:sp>
        <p:nvSpPr>
          <p:cNvPr id="983251796" name="Rectángulo: esquinas redondeadas 7"/>
          <p:cNvSpPr/>
          <p:nvPr/>
        </p:nvSpPr>
        <p:spPr bwMode="auto">
          <a:xfrm>
            <a:off x="4572000" y="4000500"/>
            <a:ext cx="3048000" cy="914400"/>
          </a:xfrm>
          <a:prstGeom prst="roundRect">
            <a:avLst>
              <a:gd name="adj" fmla="val 16667"/>
            </a:avLst>
          </a:prstGeom>
          <a:solidFill>
            <a:srgbClr val="FFF4D6"/>
          </a:solidFill>
          <a:ln w="17780" cap="flat" cmpd="sng" algn="ctr">
            <a:solidFill>
              <a:srgbClr val="E6A7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E6A700"/>
                </a:solidFill>
                <a:latin typeface="Arial"/>
                <a:cs typeface="Arial"/>
              </a:rPr>
              <a:t>05  Preservar la ñ</a:t>
            </a:r>
            <a:br>
              <a:rPr lang="es-ES" sz="1200">
                <a:solidFill>
                  <a:srgbClr val="153047"/>
                </a:solidFill>
                <a:latin typeface="Arial"/>
                <a:cs typeface="Arial"/>
              </a:rPr>
            </a:br>
            <a:r>
              <a:rPr lang="es-ES" sz="1200">
                <a:solidFill>
                  <a:srgbClr val="153047"/>
                </a:solidFill>
                <a:latin typeface="Arial"/>
                <a:cs typeface="Arial"/>
              </a:rPr>
              <a:t>Excepción lingüística</a:t>
            </a:r>
            <a:endParaRPr lang="es-CO" sz="1200">
              <a:solidFill>
                <a:srgbClr val="153047"/>
              </a:solidFill>
              <a:latin typeface="Arial"/>
              <a:cs typeface="Arial"/>
            </a:endParaRPr>
          </a:p>
        </p:txBody>
      </p:sp>
      <p:sp>
        <p:nvSpPr>
          <p:cNvPr id="1544065107" name="Rectángulo: esquinas redondeadas 8"/>
          <p:cNvSpPr/>
          <p:nvPr/>
        </p:nvSpPr>
        <p:spPr bwMode="auto">
          <a:xfrm>
            <a:off x="825500" y="4000500"/>
            <a:ext cx="3048000" cy="914400"/>
          </a:xfrm>
          <a:prstGeom prst="roundRect">
            <a:avLst>
              <a:gd name="adj" fmla="val 16667"/>
            </a:avLst>
          </a:prstGeom>
          <a:solidFill>
            <a:srgbClr val="FFF4D6"/>
          </a:solidFill>
          <a:ln w="17780" cap="flat" cmpd="sng" algn="ctr">
            <a:solidFill>
              <a:srgbClr val="E6A7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E6A700"/>
                </a:solidFill>
                <a:latin typeface="Arial"/>
                <a:cs typeface="Arial"/>
              </a:rPr>
              <a:t>06  Eliminar ruido</a:t>
            </a:r>
            <a:br>
              <a:rPr lang="es-ES" sz="1200">
                <a:solidFill>
                  <a:srgbClr val="153047"/>
                </a:solidFill>
                <a:latin typeface="Arial"/>
                <a:cs typeface="Arial"/>
              </a:rPr>
            </a:br>
            <a:r>
              <a:rPr lang="es-ES" sz="1200">
                <a:solidFill>
                  <a:srgbClr val="153047"/>
                </a:solidFill>
                <a:latin typeface="Arial"/>
                <a:cs typeface="Arial"/>
              </a:rPr>
              <a:t>Números, símbolos y puntuación</a:t>
            </a:r>
            <a:endParaRPr lang="es-CO" sz="1200">
              <a:solidFill>
                <a:srgbClr val="153047"/>
              </a:solidFill>
              <a:latin typeface="Arial"/>
              <a:cs typeface="Arial"/>
            </a:endParaRPr>
          </a:p>
        </p:txBody>
      </p:sp>
      <p:sp>
        <p:nvSpPr>
          <p:cNvPr id="109490074" name="Rectángulo: esquinas redondeadas 9"/>
          <p:cNvSpPr/>
          <p:nvPr/>
        </p:nvSpPr>
        <p:spPr bwMode="auto">
          <a:xfrm>
            <a:off x="825500" y="5397500"/>
            <a:ext cx="3048000" cy="914400"/>
          </a:xfrm>
          <a:prstGeom prst="roundRect">
            <a:avLst>
              <a:gd name="adj" fmla="val 16667"/>
            </a:avLst>
          </a:prstGeom>
          <a:solidFill>
            <a:srgbClr val="E8F5EE"/>
          </a:solidFill>
          <a:ln w="1778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2E8B57"/>
                </a:solidFill>
                <a:latin typeface="Arial"/>
                <a:cs typeface="Arial"/>
              </a:rPr>
              <a:t>07  Tokenización</a:t>
            </a:r>
            <a:br>
              <a:rPr lang="es-ES" sz="1200">
                <a:solidFill>
                  <a:srgbClr val="153047"/>
                </a:solidFill>
                <a:latin typeface="Arial"/>
                <a:cs typeface="Arial"/>
              </a:rPr>
            </a:br>
            <a:r>
              <a:rPr lang="es-ES" sz="1200">
                <a:solidFill>
                  <a:srgbClr val="153047"/>
                </a:solidFill>
                <a:latin typeface="Arial"/>
                <a:cs typeface="Arial"/>
              </a:rPr>
              <a:t>Separación en unidades</a:t>
            </a:r>
            <a:endParaRPr lang="es-CO" sz="1200">
              <a:solidFill>
                <a:srgbClr val="153047"/>
              </a:solidFill>
              <a:latin typeface="Arial"/>
              <a:cs typeface="Arial"/>
            </a:endParaRPr>
          </a:p>
        </p:txBody>
      </p:sp>
      <p:sp>
        <p:nvSpPr>
          <p:cNvPr id="416341393" name="Rectángulo: esquinas redondeadas 10"/>
          <p:cNvSpPr/>
          <p:nvPr/>
        </p:nvSpPr>
        <p:spPr bwMode="auto">
          <a:xfrm>
            <a:off x="4572000" y="5397500"/>
            <a:ext cx="3048000" cy="914400"/>
          </a:xfrm>
          <a:prstGeom prst="roundRect">
            <a:avLst>
              <a:gd name="adj" fmla="val 16667"/>
            </a:avLst>
          </a:prstGeom>
          <a:solidFill>
            <a:srgbClr val="E8F5EE"/>
          </a:solidFill>
          <a:ln w="1778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2E8B57"/>
                </a:solidFill>
                <a:latin typeface="Arial"/>
                <a:cs typeface="Arial"/>
              </a:rPr>
              <a:t>08  Filtrar residuos</a:t>
            </a:r>
            <a:br>
              <a:rPr lang="es-ES" sz="1200">
                <a:solidFill>
                  <a:srgbClr val="153047"/>
                </a:solidFill>
                <a:latin typeface="Arial"/>
                <a:cs typeface="Arial"/>
              </a:rPr>
            </a:br>
            <a:r>
              <a:rPr lang="es-ES" sz="1200">
                <a:solidFill>
                  <a:srgbClr val="153047"/>
                </a:solidFill>
                <a:latin typeface="Arial"/>
                <a:cs typeface="Arial"/>
              </a:rPr>
              <a:t>Depuración de tokens</a:t>
            </a:r>
            <a:endParaRPr lang="es-CO" sz="1200">
              <a:solidFill>
                <a:srgbClr val="153047"/>
              </a:solidFill>
              <a:latin typeface="Arial"/>
              <a:cs typeface="Arial"/>
            </a:endParaRPr>
          </a:p>
        </p:txBody>
      </p:sp>
      <p:sp>
        <p:nvSpPr>
          <p:cNvPr id="426189414" name="Fusion-E-Paso09"/>
          <p:cNvSpPr/>
          <p:nvPr/>
        </p:nvSpPr>
        <p:spPr bwMode="auto">
          <a:xfrm>
            <a:off x="8318500" y="5397500"/>
            <a:ext cx="3048000" cy="914400"/>
          </a:xfrm>
          <a:prstGeom prst="roundRect">
            <a:avLst>
              <a:gd name="adj" fmla="val 16667"/>
            </a:avLst>
          </a:prstGeom>
          <a:solidFill>
            <a:srgbClr val="E8F5EE"/>
          </a:solidFill>
          <a:ln w="1778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b="1">
                <a:solidFill>
                  <a:srgbClr val="2E8B57"/>
                </a:solidFill>
                <a:latin typeface="Arial"/>
                <a:cs typeface="Arial"/>
              </a:rPr>
              <a:t>09  Eliminar stopwords</a:t>
            </a:r>
            <a:br>
              <a:rPr lang="es-CO" sz="1100">
                <a:solidFill>
                  <a:srgbClr val="153047"/>
                </a:solidFill>
                <a:latin typeface="Arial"/>
                <a:cs typeface="Arial"/>
              </a:rPr>
            </a:br>
            <a:r>
              <a:rPr lang="es-CO" sz="1100">
                <a:solidFill>
                  <a:srgbClr val="153047"/>
                </a:solidFill>
                <a:latin typeface="Arial"/>
                <a:cs typeface="Arial"/>
              </a:rPr>
              <a:t>Conservar términos informativos · 306 formas normalizadas (sin tildes)</a:t>
            </a:r>
            <a:endParaRPr/>
          </a:p>
        </p:txBody>
      </p:sp>
      <p:sp>
        <p:nvSpPr>
          <p:cNvPr id="810173532" name="Flecha: a la derecha 12"/>
          <p:cNvSpPr/>
          <p:nvPr/>
        </p:nvSpPr>
        <p:spPr bwMode="auto">
          <a:xfrm>
            <a:off x="3962400" y="2895600"/>
            <a:ext cx="508000" cy="3048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567231771" name="Flecha: a la derecha 13"/>
          <p:cNvSpPr/>
          <p:nvPr/>
        </p:nvSpPr>
        <p:spPr bwMode="auto">
          <a:xfrm>
            <a:off x="7708900" y="2895600"/>
            <a:ext cx="508000" cy="3048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901401793" name="Flecha: hacia abajo 14"/>
          <p:cNvSpPr/>
          <p:nvPr/>
        </p:nvSpPr>
        <p:spPr bwMode="auto">
          <a:xfrm>
            <a:off x="9613900" y="3581400"/>
            <a:ext cx="304800" cy="330200"/>
          </a:xfrm>
          <a:prstGeom prst="down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502295044" name="Flecha: hacia la izquierda 16"/>
          <p:cNvSpPr/>
          <p:nvPr/>
        </p:nvSpPr>
        <p:spPr bwMode="auto">
          <a:xfrm>
            <a:off x="7708900" y="4292600"/>
            <a:ext cx="508000" cy="304800"/>
          </a:xfrm>
          <a:prstGeom prst="lef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2025115213" name="Flecha: hacia la izquierda 17"/>
          <p:cNvSpPr/>
          <p:nvPr/>
        </p:nvSpPr>
        <p:spPr bwMode="auto">
          <a:xfrm>
            <a:off x="3962400" y="4292600"/>
            <a:ext cx="508000" cy="304800"/>
          </a:xfrm>
          <a:prstGeom prst="lef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473920852" name="Flecha: hacia abajo 18"/>
          <p:cNvSpPr/>
          <p:nvPr/>
        </p:nvSpPr>
        <p:spPr bwMode="auto">
          <a:xfrm>
            <a:off x="2120900" y="4978400"/>
            <a:ext cx="304800" cy="330200"/>
          </a:xfrm>
          <a:prstGeom prst="down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789714641" name="Flecha: a la derecha 19"/>
          <p:cNvSpPr/>
          <p:nvPr/>
        </p:nvSpPr>
        <p:spPr bwMode="auto">
          <a:xfrm>
            <a:off x="3962400" y="5689600"/>
            <a:ext cx="508000" cy="3048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773150679" name="Flecha: a la derecha 20"/>
          <p:cNvSpPr/>
          <p:nvPr/>
        </p:nvSpPr>
        <p:spPr bwMode="auto">
          <a:xfrm>
            <a:off x="7708900" y="5689600"/>
            <a:ext cx="508000" cy="3048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306379405" name="CuadroTexto 21"/>
          <p:cNvSpPr txBox="1"/>
          <p:nvPr/>
        </p:nvSpPr>
        <p:spPr bwMode="auto">
          <a:xfrm>
            <a:off x="825500" y="2349500"/>
            <a:ext cx="3048000" cy="228600"/>
          </a:xfrm>
          <a:prstGeom prst="rect">
            <a:avLst/>
          </a:prstGeom>
          <a:noFill/>
        </p:spPr>
        <p:txBody>
          <a:bodyPr vertOverflow="overflow" vert="horz" wrap="square" rtlCol="0" anchor="t">
            <a:spAutoFit/>
          </a:bodyPr>
          <a:lstStyle/>
          <a:p>
            <a:pPr algn="l">
              <a:defRPr/>
            </a:pPr>
            <a:r>
              <a:rPr lang="es-CO" sz="900" b="1">
                <a:solidFill>
                  <a:srgbClr val="2F75B5"/>
                </a:solidFill>
              </a:rPr>
              <a:t>PREPARACIÓN</a:t>
            </a:r>
            <a:endParaRPr/>
          </a:p>
        </p:txBody>
      </p:sp>
      <p:sp>
        <p:nvSpPr>
          <p:cNvPr id="1862234882" name="CuadroTexto 22"/>
          <p:cNvSpPr txBox="1"/>
          <p:nvPr/>
        </p:nvSpPr>
        <p:spPr bwMode="auto">
          <a:xfrm>
            <a:off x="825500" y="3746500"/>
            <a:ext cx="3048000" cy="228600"/>
          </a:xfrm>
          <a:prstGeom prst="rect">
            <a:avLst/>
          </a:prstGeom>
          <a:noFill/>
        </p:spPr>
        <p:txBody>
          <a:bodyPr vertOverflow="overflow" vert="horz" wrap="square" rtlCol="0" anchor="t">
            <a:spAutoFit/>
          </a:bodyPr>
          <a:lstStyle/>
          <a:p>
            <a:pPr algn="l">
              <a:defRPr/>
            </a:pPr>
            <a:r>
              <a:rPr lang="es-CO" sz="900" b="1">
                <a:solidFill>
                  <a:srgbClr val="C58B00"/>
                </a:solidFill>
              </a:rPr>
              <a:t>NORMALIZACIÓN Y LIMPIEZA</a:t>
            </a:r>
            <a:endParaRPr/>
          </a:p>
        </p:txBody>
      </p:sp>
      <p:sp>
        <p:nvSpPr>
          <p:cNvPr id="1986120730" name="CuadroTexto 23"/>
          <p:cNvSpPr txBox="1"/>
          <p:nvPr/>
        </p:nvSpPr>
        <p:spPr bwMode="auto">
          <a:xfrm>
            <a:off x="4572000" y="5143500"/>
            <a:ext cx="3048000" cy="228600"/>
          </a:xfrm>
          <a:prstGeom prst="rect">
            <a:avLst/>
          </a:prstGeom>
          <a:noFill/>
        </p:spPr>
        <p:txBody>
          <a:bodyPr vertOverflow="overflow" vert="horz" wrap="square" rtlCol="0" anchor="t">
            <a:spAutoFit/>
          </a:bodyPr>
          <a:lstStyle/>
          <a:p>
            <a:pPr algn="l">
              <a:defRPr/>
            </a:pPr>
            <a:r>
              <a:rPr lang="es-CO" sz="900" b="1">
                <a:solidFill>
                  <a:srgbClr val="2E8B57"/>
                </a:solidFill>
              </a:rPr>
              <a:t>TOKENIZACIÓN Y FILTRADO</a:t>
            </a:r>
            <a:endParaRPr/>
          </a:p>
        </p:txBody>
      </p:sp>
      <p:pic>
        <p:nvPicPr>
          <p:cNvPr id="715980073" name="Imagen 26"/>
          <p:cNvPicPr>
            <a:picLocks noChangeAspect="1"/>
          </p:cNvPicPr>
          <p:nvPr/>
        </p:nvPicPr>
        <p:blipFill rotWithShape="1">
          <a:blip r:embed="rId4">
            <a:duotone>
              <a:schemeClr val="accent5">
                <a:shade val="45000"/>
                <a:satMod val="135000"/>
              </a:schemeClr>
              <a:prstClr val="white"/>
            </a:duotone>
          </a:blip>
          <a:stretch/>
        </p:blipFill>
        <p:spPr bwMode="auto">
          <a:xfrm>
            <a:off x="1227647" y="142033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661007419"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996876051"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Procesamiento</a:t>
            </a:r>
            <a:endParaRPr lang="es-CO" sz="3200" b="1" i="0" u="none" strike="noStrike" cap="none">
              <a:solidFill>
                <a:schemeClr val="bg1"/>
              </a:solidFill>
              <a:latin typeface="Calibri"/>
              <a:ea typeface="Calibri"/>
              <a:cs typeface="Calibri"/>
            </a:endParaRPr>
          </a:p>
        </p:txBody>
      </p:sp>
      <p:sp>
        <p:nvSpPr>
          <p:cNvPr id="1509703651"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CO" sz="2800" b="1">
                <a:solidFill>
                  <a:schemeClr val="accent4">
                    <a:lumMod val="60000"/>
                    <a:lumOff val="40000"/>
                  </a:schemeClr>
                </a:solidFill>
                <a:ea typeface="Calibri"/>
              </a:rPr>
              <a:t>Dimensión del corpus</a:t>
            </a:r>
            <a:endParaRPr/>
          </a:p>
        </p:txBody>
      </p:sp>
      <p:sp>
        <p:nvSpPr>
          <p:cNvPr id="576815381" name="Rectángulo: esquinas redondeadas 1"/>
          <p:cNvSpPr/>
          <p:nvPr/>
        </p:nvSpPr>
        <p:spPr bwMode="auto">
          <a:xfrm>
            <a:off x="787400" y="2603500"/>
            <a:ext cx="3111500" cy="990600"/>
          </a:xfrm>
          <a:prstGeom prst="roundRect">
            <a:avLst>
              <a:gd name="adj" fmla="val 16667"/>
            </a:avLst>
          </a:prstGeom>
          <a:solidFill>
            <a:srgbClr val="073654"/>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2600" b="1">
                <a:solidFill>
                  <a:srgbClr val="F4B41A"/>
                </a:solidFill>
                <a:latin typeface="Arial"/>
                <a:cs typeface="Arial"/>
              </a:rPr>
              <a:t>23.742</a:t>
            </a:r>
            <a:br>
              <a:rPr lang="es-CO" sz="1600" b="1">
                <a:solidFill>
                  <a:srgbClr val="FFFFFF"/>
                </a:solidFill>
                <a:latin typeface="Arial"/>
                <a:cs typeface="Arial"/>
              </a:rPr>
            </a:br>
            <a:r>
              <a:rPr lang="es-CO" sz="1600" b="1">
                <a:solidFill>
                  <a:srgbClr val="FFFFFF"/>
                </a:solidFill>
                <a:latin typeface="Arial"/>
                <a:cs typeface="Arial"/>
              </a:rPr>
              <a:t>SENTENCIAS</a:t>
            </a:r>
            <a:endParaRPr lang="es-CO" sz="1600" b="1">
              <a:solidFill>
                <a:srgbClr val="FFFFFF"/>
              </a:solidFill>
              <a:latin typeface="Arial"/>
              <a:cs typeface="Arial"/>
            </a:endParaRPr>
          </a:p>
        </p:txBody>
      </p:sp>
      <p:sp>
        <p:nvSpPr>
          <p:cNvPr id="871466597" name="Rectángulo: esquinas redondeadas 2"/>
          <p:cNvSpPr/>
          <p:nvPr/>
        </p:nvSpPr>
        <p:spPr bwMode="auto">
          <a:xfrm>
            <a:off x="4140200" y="2603500"/>
            <a:ext cx="3111500" cy="99060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2400" b="1">
                <a:solidFill>
                  <a:srgbClr val="2F75B5"/>
                </a:solidFill>
                <a:latin typeface="Arial"/>
                <a:cs typeface="Arial"/>
              </a:rPr>
              <a:t>≈ 10.993</a:t>
            </a:r>
            <a:br>
              <a:rPr lang="es-CO" sz="1200" b="1">
                <a:solidFill>
                  <a:srgbClr val="17395C"/>
                </a:solidFill>
                <a:latin typeface="Arial"/>
                <a:cs typeface="Arial"/>
              </a:rPr>
            </a:br>
            <a:r>
              <a:rPr lang="es-CO" sz="1200" b="1">
                <a:solidFill>
                  <a:srgbClr val="17395C"/>
                </a:solidFill>
                <a:latin typeface="Arial"/>
                <a:cs typeface="Arial"/>
              </a:rPr>
              <a:t>PALABRAS POR SENTENCIA</a:t>
            </a:r>
            <a:endParaRPr/>
          </a:p>
        </p:txBody>
      </p:sp>
      <p:sp>
        <p:nvSpPr>
          <p:cNvPr id="1738862656" name="Rectángulo: esquinas redondeadas 5"/>
          <p:cNvSpPr/>
          <p:nvPr/>
        </p:nvSpPr>
        <p:spPr bwMode="auto">
          <a:xfrm>
            <a:off x="7493000" y="2603500"/>
            <a:ext cx="3873500" cy="990600"/>
          </a:xfrm>
          <a:prstGeom prst="roundRect">
            <a:avLst>
              <a:gd name="adj" fmla="val 16667"/>
            </a:avLst>
          </a:prstGeom>
          <a:solidFill>
            <a:srgbClr val="FFF4D6"/>
          </a:solidFill>
          <a:ln w="19050" cap="flat" cmpd="sng" algn="ctr">
            <a:solidFill>
              <a:srgbClr val="E6A7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2400" b="1">
                <a:solidFill>
                  <a:srgbClr val="D49400"/>
                </a:solidFill>
                <a:latin typeface="Arial"/>
                <a:cs typeface="Arial"/>
              </a:rPr>
              <a:t>≈ 48 %</a:t>
            </a:r>
            <a:br>
              <a:rPr lang="es-CO" sz="1200" b="1">
                <a:solidFill>
                  <a:srgbClr val="5D4700"/>
                </a:solidFill>
                <a:latin typeface="Arial"/>
                <a:cs typeface="Arial"/>
              </a:rPr>
            </a:br>
            <a:r>
              <a:rPr lang="es-CO" sz="1200" b="1">
                <a:solidFill>
                  <a:srgbClr val="5D4700"/>
                </a:solidFill>
                <a:latin typeface="Arial"/>
                <a:cs typeface="Arial"/>
              </a:rPr>
              <a:t>TOKENS FUNCIONALES IDENTIFICADOS</a:t>
            </a:r>
            <a:endParaRPr/>
          </a:p>
        </p:txBody>
      </p:sp>
      <p:sp>
        <p:nvSpPr>
          <p:cNvPr id="332360201" name="CuadroTexto 6"/>
          <p:cNvSpPr txBox="1"/>
          <p:nvPr/>
        </p:nvSpPr>
        <p:spPr bwMode="auto">
          <a:xfrm>
            <a:off x="787400" y="3898900"/>
            <a:ext cx="4445000" cy="254000"/>
          </a:xfrm>
          <a:prstGeom prst="rect">
            <a:avLst/>
          </a:prstGeom>
          <a:noFill/>
        </p:spPr>
        <p:txBody>
          <a:bodyPr vertOverflow="overflow" vert="horz" wrap="square" rtlCol="0" anchor="ctr" anchorCtr="0">
            <a:normAutofit/>
          </a:bodyPr>
          <a:lstStyle/>
          <a:p>
            <a:pPr algn="l">
              <a:defRPr/>
            </a:pPr>
            <a:r>
              <a:rPr lang="es-CO" sz="1000" b="1">
                <a:solidFill>
                  <a:srgbClr val="667788"/>
                </a:solidFill>
              </a:rPr>
              <a:t>REDUCCIÓN DEL VOLUMEN TEXTUAL</a:t>
            </a:r>
            <a:endParaRPr/>
          </a:p>
        </p:txBody>
      </p:sp>
      <p:sp>
        <p:nvSpPr>
          <p:cNvPr id="654659784" name="Rectángulo: esquinas redondeadas 7"/>
          <p:cNvSpPr/>
          <p:nvPr/>
        </p:nvSpPr>
        <p:spPr bwMode="auto">
          <a:xfrm>
            <a:off x="787400" y="4254500"/>
            <a:ext cx="3086100" cy="1422400"/>
          </a:xfrm>
          <a:prstGeom prst="roundRect">
            <a:avLst>
              <a:gd name="adj" fmla="val 16667"/>
            </a:avLst>
          </a:prstGeom>
          <a:solidFill>
            <a:srgbClr val="EAF2F8"/>
          </a:solidFill>
          <a:ln w="2032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2500" b="1">
                <a:solidFill>
                  <a:srgbClr val="2F75B5"/>
                </a:solidFill>
                <a:latin typeface="Arial"/>
                <a:cs typeface="Arial"/>
              </a:rPr>
              <a:t>260,99 M</a:t>
            </a:r>
            <a:br>
              <a:rPr lang="es-CO" sz="1100">
                <a:solidFill>
                  <a:srgbClr val="314455"/>
                </a:solidFill>
                <a:latin typeface="Arial"/>
                <a:cs typeface="Arial"/>
              </a:rPr>
            </a:br>
            <a:r>
              <a:rPr lang="es-CO" sz="1200" b="1">
                <a:solidFill>
                  <a:srgbClr val="17395C"/>
                </a:solidFill>
                <a:latin typeface="Arial"/>
                <a:cs typeface="Arial"/>
              </a:rPr>
              <a:t>PALABRAS CRUDAS</a:t>
            </a:r>
            <a:br>
              <a:rPr lang="es-CO" sz="1100">
                <a:solidFill>
                  <a:srgbClr val="314455"/>
                </a:solidFill>
                <a:latin typeface="Arial"/>
                <a:cs typeface="Arial"/>
              </a:rPr>
            </a:br>
            <a:r>
              <a:rPr lang="es-CO" sz="1100">
                <a:solidFill>
                  <a:srgbClr val="314455"/>
                </a:solidFill>
                <a:latin typeface="Arial"/>
                <a:cs typeface="Arial"/>
              </a:rPr>
              <a:t>Volumen de entrada</a:t>
            </a:r>
            <a:endParaRPr/>
          </a:p>
        </p:txBody>
      </p:sp>
      <p:sp>
        <p:nvSpPr>
          <p:cNvPr id="1930721494" name="Rectángulo: esquinas redondeadas 8"/>
          <p:cNvSpPr/>
          <p:nvPr/>
        </p:nvSpPr>
        <p:spPr bwMode="auto">
          <a:xfrm>
            <a:off x="4533900" y="4254500"/>
            <a:ext cx="3086100" cy="1422400"/>
          </a:xfrm>
          <a:prstGeom prst="roundRect">
            <a:avLst>
              <a:gd name="adj" fmla="val 16667"/>
            </a:avLst>
          </a:prstGeom>
          <a:solidFill>
            <a:srgbClr val="FFF4D6"/>
          </a:solidFill>
          <a:ln w="20320" cap="flat" cmpd="sng" algn="ctr">
            <a:solidFill>
              <a:srgbClr val="E6A7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2500" b="1">
                <a:solidFill>
                  <a:srgbClr val="E6A700"/>
                </a:solidFill>
                <a:latin typeface="Arial"/>
                <a:cs typeface="Arial"/>
              </a:rPr>
              <a:t>250,01 M</a:t>
            </a:r>
            <a:br>
              <a:rPr lang="es-ES" sz="1100">
                <a:solidFill>
                  <a:srgbClr val="314455"/>
                </a:solidFill>
                <a:latin typeface="Arial"/>
                <a:cs typeface="Arial"/>
              </a:rPr>
            </a:br>
            <a:r>
              <a:rPr lang="es-ES" sz="1200" b="1">
                <a:solidFill>
                  <a:srgbClr val="17395C"/>
                </a:solidFill>
                <a:latin typeface="Arial"/>
                <a:cs typeface="Arial"/>
              </a:rPr>
              <a:t>TOKENS NORMALIZADOS</a:t>
            </a:r>
            <a:br>
              <a:rPr lang="es-ES" sz="1100">
                <a:solidFill>
                  <a:srgbClr val="314455"/>
                </a:solidFill>
                <a:latin typeface="Arial"/>
                <a:cs typeface="Arial"/>
              </a:rPr>
            </a:br>
            <a:r>
              <a:rPr lang="es-ES" sz="1100">
                <a:solidFill>
                  <a:srgbClr val="314455"/>
                </a:solidFill>
                <a:latin typeface="Arial"/>
                <a:cs typeface="Arial"/>
              </a:rPr>
              <a:t>Después de limpieza</a:t>
            </a:r>
            <a:endParaRPr lang="es-CO" sz="1100">
              <a:solidFill>
                <a:srgbClr val="314455"/>
              </a:solidFill>
              <a:latin typeface="Arial"/>
              <a:cs typeface="Arial"/>
            </a:endParaRPr>
          </a:p>
        </p:txBody>
      </p:sp>
      <p:sp>
        <p:nvSpPr>
          <p:cNvPr id="683644843" name="Rectángulo: esquinas redondeadas 9"/>
          <p:cNvSpPr/>
          <p:nvPr/>
        </p:nvSpPr>
        <p:spPr bwMode="auto">
          <a:xfrm>
            <a:off x="8280400" y="4254500"/>
            <a:ext cx="3086100" cy="1422400"/>
          </a:xfrm>
          <a:prstGeom prst="roundRect">
            <a:avLst>
              <a:gd name="adj" fmla="val 16667"/>
            </a:avLst>
          </a:prstGeom>
          <a:solidFill>
            <a:srgbClr val="E8F5EE"/>
          </a:solidFill>
          <a:ln w="2032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sv-SE" sz="2500" b="1">
                <a:solidFill>
                  <a:srgbClr val="2E8B57"/>
                </a:solidFill>
                <a:latin typeface="Arial"/>
                <a:cs typeface="Arial"/>
              </a:rPr>
              <a:t>128,81 M</a:t>
            </a:r>
            <a:br>
              <a:rPr lang="sv-SE" sz="1100">
                <a:solidFill>
                  <a:srgbClr val="314455"/>
                </a:solidFill>
                <a:latin typeface="Arial"/>
                <a:cs typeface="Arial"/>
              </a:rPr>
            </a:br>
            <a:r>
              <a:rPr lang="sv-SE" sz="1200" b="1">
                <a:solidFill>
                  <a:srgbClr val="17395C"/>
                </a:solidFill>
                <a:latin typeface="Arial"/>
                <a:cs typeface="Arial"/>
              </a:rPr>
              <a:t>TOKENS SIN STOPWORDS</a:t>
            </a:r>
            <a:br>
              <a:rPr lang="sv-SE" sz="1100">
                <a:solidFill>
                  <a:srgbClr val="314455"/>
                </a:solidFill>
                <a:latin typeface="Arial"/>
                <a:cs typeface="Arial"/>
              </a:rPr>
            </a:br>
            <a:r>
              <a:rPr lang="sv-SE" sz="1100">
                <a:solidFill>
                  <a:srgbClr val="314455"/>
                </a:solidFill>
                <a:latin typeface="Arial"/>
                <a:cs typeface="Arial"/>
              </a:rPr>
              <a:t>Base informativa final</a:t>
            </a:r>
            <a:endParaRPr lang="es-CO" sz="1100">
              <a:solidFill>
                <a:srgbClr val="314455"/>
              </a:solidFill>
              <a:latin typeface="Arial"/>
              <a:cs typeface="Arial"/>
            </a:endParaRPr>
          </a:p>
        </p:txBody>
      </p:sp>
      <p:sp>
        <p:nvSpPr>
          <p:cNvPr id="1261835441" name="Flecha: a la derecha 10"/>
          <p:cNvSpPr/>
          <p:nvPr/>
        </p:nvSpPr>
        <p:spPr bwMode="auto">
          <a:xfrm>
            <a:off x="3975100" y="4762500"/>
            <a:ext cx="457200" cy="3556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982331082" name="Flecha: a la derecha 11"/>
          <p:cNvSpPr/>
          <p:nvPr/>
        </p:nvSpPr>
        <p:spPr bwMode="auto">
          <a:xfrm>
            <a:off x="7721600" y="4762500"/>
            <a:ext cx="457200" cy="355600"/>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631093514" name="Rectángulo: esquinas redondeadas 12"/>
          <p:cNvSpPr/>
          <p:nvPr/>
        </p:nvSpPr>
        <p:spPr bwMode="auto">
          <a:xfrm>
            <a:off x="787400" y="6019800"/>
            <a:ext cx="10579100" cy="787400"/>
          </a:xfrm>
          <a:prstGeom prst="roundRect">
            <a:avLst>
              <a:gd name="adj" fmla="val 16667"/>
            </a:avLst>
          </a:prstGeom>
          <a:solidFill>
            <a:srgbClr val="073654"/>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300" b="1">
                <a:solidFill>
                  <a:srgbClr val="F4B41A"/>
                </a:solidFill>
                <a:latin typeface="Arial"/>
                <a:cs typeface="Arial"/>
              </a:rPr>
              <a:t>HALLAZGO</a:t>
            </a:r>
            <a:r>
              <a:rPr lang="es-ES" sz="1300">
                <a:solidFill>
                  <a:srgbClr val="FFFFFF"/>
                </a:solidFill>
                <a:latin typeface="Arial"/>
                <a:cs typeface="Arial"/>
              </a:rPr>
              <a:t>  |  Las sentencias son documentos extraordinariamente extensos y presentan una alta repetición de estructuras lingüísticas.</a:t>
            </a:r>
            <a:endParaRPr lang="es-CO" sz="1300">
              <a:solidFill>
                <a:srgbClr val="FFFFFF"/>
              </a:solidFill>
              <a:latin typeface="Arial"/>
              <a:cs typeface="Arial"/>
            </a:endParaRPr>
          </a:p>
        </p:txBody>
      </p:sp>
      <p:pic>
        <p:nvPicPr>
          <p:cNvPr id="1518472144" name="Imagen 14"/>
          <p:cNvPicPr>
            <a:picLocks noChangeAspect="1"/>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339847449"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933649286"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Análisis </a:t>
            </a:r>
            <a:endParaRPr lang="es-CO" sz="3200" b="1" i="0" u="none" strike="noStrike" cap="none">
              <a:solidFill>
                <a:schemeClr val="bg1"/>
              </a:solidFill>
              <a:latin typeface="Calibri"/>
              <a:ea typeface="Calibri"/>
              <a:cs typeface="Calibri"/>
            </a:endParaRPr>
          </a:p>
        </p:txBody>
      </p:sp>
      <p:sp>
        <p:nvSpPr>
          <p:cNvPr id="1175230157"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ES" sz="2800" b="1">
                <a:solidFill>
                  <a:schemeClr val="accent4">
                    <a:lumMod val="60000"/>
                    <a:lumOff val="40000"/>
                  </a:schemeClr>
                </a:solidFill>
                <a:ea typeface="Calibri"/>
              </a:rPr>
              <a:t>¿Qué palabras dominan la jurisprudencia?</a:t>
            </a:r>
            <a:endParaRPr/>
          </a:p>
        </p:txBody>
      </p:sp>
      <p:pic>
        <p:nvPicPr>
          <p:cNvPr id="226456333" name="Imagen 2"/>
          <p:cNvPicPr/>
          <p:nvPr/>
        </p:nvPicPr>
        <p:blipFill rotWithShape="1">
          <a:blip r:embed="rId4"/>
          <a:stretch/>
        </p:blipFill>
        <p:spPr bwMode="auto">
          <a:xfrm>
            <a:off x="6486212" y="2461480"/>
            <a:ext cx="5040000" cy="4140000"/>
          </a:xfrm>
          <a:prstGeom prst="rect">
            <a:avLst/>
          </a:prstGeom>
        </p:spPr>
      </p:pic>
      <p:pic>
        <p:nvPicPr>
          <p:cNvPr id="399917902" name="Imagen 6"/>
          <p:cNvPicPr/>
          <p:nvPr/>
        </p:nvPicPr>
        <p:blipFill rotWithShape="1">
          <a:blip r:embed="rId5"/>
          <a:stretch/>
        </p:blipFill>
        <p:spPr bwMode="auto">
          <a:xfrm>
            <a:off x="725667" y="2461480"/>
            <a:ext cx="5040000" cy="4140000"/>
          </a:xfrm>
          <a:prstGeom prst="rect">
            <a:avLst/>
          </a:prstGeom>
        </p:spPr>
      </p:pic>
      <p:pic>
        <p:nvPicPr>
          <p:cNvPr id="306593303" name="Imagen 8"/>
          <p:cNvPicPr>
            <a:picLocks noChangeAspect="1"/>
          </p:cNvPicPr>
          <p:nvPr/>
        </p:nvPicPr>
        <p:blipFill rotWithShape="1">
          <a:blip r:embed="rId6">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45420897"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681812210"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Análisis</a:t>
            </a:r>
            <a:endParaRPr lang="es-CO" sz="3200" b="1" i="0" u="none" strike="noStrike" cap="none">
              <a:solidFill>
                <a:schemeClr val="bg1"/>
              </a:solidFill>
              <a:latin typeface="Calibri"/>
              <a:ea typeface="Calibri"/>
              <a:cs typeface="Calibri"/>
            </a:endParaRPr>
          </a:p>
        </p:txBody>
      </p:sp>
      <p:sp>
        <p:nvSpPr>
          <p:cNvPr id="44964745"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ES" sz="2800" b="1">
                <a:solidFill>
                  <a:schemeClr val="accent4">
                    <a:lumMod val="60000"/>
                    <a:lumOff val="40000"/>
                  </a:schemeClr>
                </a:solidFill>
                <a:ea typeface="Calibri"/>
              </a:rPr>
              <a:t>Evolución del corpus en el tiempo</a:t>
            </a:r>
            <a:endParaRPr/>
          </a:p>
        </p:txBody>
      </p:sp>
      <p:pic>
        <p:nvPicPr>
          <p:cNvPr id="862041369" name="Imagen 4"/>
          <p:cNvPicPr>
            <a:picLocks noChangeAspect="1"/>
          </p:cNvPicPr>
          <p:nvPr/>
        </p:nvPicPr>
        <p:blipFill rotWithShape="1">
          <a:blip r:embed="rId4"/>
          <a:stretch/>
        </p:blipFill>
        <p:spPr bwMode="auto">
          <a:xfrm>
            <a:off x="850094" y="2494813"/>
            <a:ext cx="10491811" cy="3965622"/>
          </a:xfrm>
          <a:prstGeom prst="rect">
            <a:avLst/>
          </a:prstGeom>
        </p:spPr>
      </p:pic>
      <p:pic>
        <p:nvPicPr>
          <p:cNvPr id="1713308853" name="Imagen 7"/>
          <p:cNvPicPr>
            <a:picLocks noChangeAspect="1"/>
          </p:cNvPicPr>
          <p:nvPr/>
        </p:nvPicPr>
        <p:blipFill rotWithShape="1">
          <a:blip r:embed="rId5">
            <a:duotone>
              <a:schemeClr val="accent5">
                <a:shade val="45000"/>
                <a:satMod val="135000"/>
              </a:schemeClr>
              <a:prstClr val="white"/>
            </a:duotone>
          </a:blip>
          <a:stretch/>
        </p:blipFill>
        <p:spPr bwMode="auto">
          <a:xfrm>
            <a:off x="1227647" y="1426521"/>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76706057"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888500277"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Análisis</a:t>
            </a:r>
            <a:endParaRPr lang="es-CO" sz="3200" b="1" i="0" u="none" strike="noStrike" cap="none">
              <a:solidFill>
                <a:schemeClr val="bg1"/>
              </a:solidFill>
              <a:latin typeface="Calibri"/>
              <a:ea typeface="Calibri"/>
              <a:cs typeface="Calibri"/>
            </a:endParaRPr>
          </a:p>
        </p:txBody>
      </p:sp>
      <p:sp>
        <p:nvSpPr>
          <p:cNvPr id="875092996"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ES" sz="2800" b="1">
                <a:solidFill>
                  <a:schemeClr val="accent4">
                    <a:lumMod val="60000"/>
                    <a:lumOff val="40000"/>
                  </a:schemeClr>
                </a:solidFill>
                <a:ea typeface="Calibri"/>
              </a:rPr>
              <a:t>Más allá del vocabulario jurídico</a:t>
            </a:r>
            <a:endParaRPr/>
          </a:p>
        </p:txBody>
      </p:sp>
      <p:pic>
        <p:nvPicPr>
          <p:cNvPr id="707159702" name="Imagen 6"/>
          <p:cNvPicPr>
            <a:picLocks noChangeAspect="1"/>
          </p:cNvPicPr>
          <p:nvPr/>
        </p:nvPicPr>
        <p:blipFill rotWithShape="1">
          <a:blip r:embed="rId4"/>
          <a:stretch/>
        </p:blipFill>
        <p:spPr bwMode="auto">
          <a:xfrm>
            <a:off x="2499831" y="2133145"/>
            <a:ext cx="7192338" cy="4216594"/>
          </a:xfrm>
          <a:prstGeom prst="rect">
            <a:avLst/>
          </a:prstGeom>
        </p:spPr>
      </p:pic>
      <p:pic>
        <p:nvPicPr>
          <p:cNvPr id="856033083" name="Imagen 8"/>
          <p:cNvPicPr>
            <a:picLocks noChangeAspect="1"/>
          </p:cNvPicPr>
          <p:nvPr/>
        </p:nvPicPr>
        <p:blipFill rotWithShape="1">
          <a:blip r:embed="rId5">
            <a:duotone>
              <a:schemeClr val="accent5">
                <a:shade val="45000"/>
                <a:satMod val="135000"/>
              </a:schemeClr>
              <a:prstClr val="white"/>
            </a:duotone>
          </a:blip>
          <a:stretch/>
        </p:blipFill>
        <p:spPr bwMode="auto">
          <a:xfrm>
            <a:off x="1227647" y="1431746"/>
            <a:ext cx="900000" cy="900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19203445"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191561880"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Textometría</a:t>
            </a:r>
            <a:endParaRPr lang="es-CO" sz="3200" b="1" i="0" u="none" strike="noStrike" cap="none">
              <a:solidFill>
                <a:schemeClr val="bg1"/>
              </a:solidFill>
              <a:latin typeface="Calibri"/>
              <a:ea typeface="Calibri"/>
              <a:cs typeface="Calibri"/>
            </a:endParaRPr>
          </a:p>
        </p:txBody>
      </p:sp>
      <p:sp>
        <p:nvSpPr>
          <p:cNvPr id="1573689402" name="TextBox 7"/>
          <p:cNvSpPr txBox="1"/>
          <p:nvPr/>
        </p:nvSpPr>
        <p:spPr bwMode="auto">
          <a:xfrm>
            <a:off x="2127647" y="1609925"/>
            <a:ext cx="889690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es-ES" sz="2800" b="1">
                <a:solidFill>
                  <a:schemeClr val="accent4">
                    <a:lumMod val="60000"/>
                    <a:lumOff val="40000"/>
                  </a:schemeClr>
                </a:solidFill>
                <a:ea typeface="Calibri"/>
              </a:rPr>
              <a:t>Nubes de palabras por año</a:t>
            </a:r>
            <a:endParaRPr/>
          </a:p>
        </p:txBody>
      </p:sp>
      <p:pic>
        <p:nvPicPr>
          <p:cNvPr id="1201019460" name="Imagen 7"/>
          <p:cNvPicPr>
            <a:picLocks noChangeAspect="1"/>
          </p:cNvPicPr>
          <p:nvPr/>
        </p:nvPicPr>
        <p:blipFill rotWithShape="1">
          <a:blip r:embed="rId4">
            <a:duotone>
              <a:schemeClr val="accent5">
                <a:shade val="45000"/>
                <a:satMod val="135000"/>
              </a:schemeClr>
              <a:prstClr val="white"/>
            </a:duotone>
          </a:blip>
          <a:stretch/>
        </p:blipFill>
        <p:spPr bwMode="auto">
          <a:xfrm>
            <a:off x="1227647" y="1426521"/>
            <a:ext cx="900000" cy="900000"/>
          </a:xfrm>
          <a:prstGeom prst="rect">
            <a:avLst/>
          </a:prstGeom>
        </p:spPr>
      </p:pic>
      <p:pic>
        <p:nvPicPr>
          <p:cNvPr id="2006371614" name="Fusion-C-Nube-1992-2001" descr="fig_nubes_por_anio_1992_2001.png"/>
          <p:cNvPicPr>
            <a:picLocks noChangeAspect="1"/>
          </p:cNvPicPr>
          <p:nvPr/>
        </p:nvPicPr>
        <p:blipFill rotWithShape="1">
          <a:blip r:embed="rId5"/>
          <a:stretch/>
        </p:blipFill>
        <p:spPr bwMode="auto">
          <a:xfrm>
            <a:off x="1687976" y="2258568"/>
            <a:ext cx="2677115" cy="3703320"/>
          </a:xfrm>
          <a:prstGeom prst="rect">
            <a:avLst/>
          </a:prstGeom>
        </p:spPr>
      </p:pic>
      <p:sp>
        <p:nvSpPr>
          <p:cNvPr id="756651463" name="Fusion-C-Etiqueta-1992-2001"/>
          <p:cNvSpPr txBox="1"/>
          <p:nvPr/>
        </p:nvSpPr>
        <p:spPr bwMode="auto">
          <a:xfrm>
            <a:off x="1687976" y="6007607"/>
            <a:ext cx="2677115" cy="274320"/>
          </a:xfrm>
          <a:prstGeom prst="rect">
            <a:avLst/>
          </a:prstGeom>
          <a:noFill/>
        </p:spPr>
        <p:txBody>
          <a:bodyPr wrap="none">
            <a:spAutoFit/>
          </a:bodyPr>
          <a:lstStyle/>
          <a:p>
            <a:pPr algn="ctr">
              <a:defRPr/>
            </a:pPr>
            <a:r>
              <a:rPr sz="1300" b="1">
                <a:solidFill>
                  <a:srgbClr val="2F75B5"/>
                </a:solidFill>
                <a:latin typeface="Arial"/>
              </a:rPr>
              <a:t>1992–2001</a:t>
            </a:r>
            <a:endParaRPr/>
          </a:p>
        </p:txBody>
      </p:sp>
      <p:pic>
        <p:nvPicPr>
          <p:cNvPr id="1108666536" name="Fusion-C-Nube-2002-2011" descr="fig_nubes_por_anio_2002_2011.png"/>
          <p:cNvPicPr>
            <a:picLocks noChangeAspect="1"/>
          </p:cNvPicPr>
          <p:nvPr/>
        </p:nvPicPr>
        <p:blipFill rotWithShape="1">
          <a:blip r:embed="rId6"/>
          <a:stretch/>
        </p:blipFill>
        <p:spPr bwMode="auto">
          <a:xfrm>
            <a:off x="4749140" y="2258568"/>
            <a:ext cx="2681181" cy="3703320"/>
          </a:xfrm>
          <a:prstGeom prst="rect">
            <a:avLst/>
          </a:prstGeom>
        </p:spPr>
      </p:pic>
      <p:sp>
        <p:nvSpPr>
          <p:cNvPr id="925707493" name="Fusion-C-Etiqueta-2002-2011"/>
          <p:cNvSpPr txBox="1"/>
          <p:nvPr/>
        </p:nvSpPr>
        <p:spPr bwMode="auto">
          <a:xfrm>
            <a:off x="4749140" y="6007607"/>
            <a:ext cx="2681181" cy="274320"/>
          </a:xfrm>
          <a:prstGeom prst="rect">
            <a:avLst/>
          </a:prstGeom>
          <a:noFill/>
        </p:spPr>
        <p:txBody>
          <a:bodyPr wrap="none">
            <a:spAutoFit/>
          </a:bodyPr>
          <a:lstStyle/>
          <a:p>
            <a:pPr algn="ctr">
              <a:defRPr/>
            </a:pPr>
            <a:r>
              <a:rPr sz="1300" b="1">
                <a:solidFill>
                  <a:srgbClr val="2F75B5"/>
                </a:solidFill>
                <a:latin typeface="Arial"/>
              </a:rPr>
              <a:t>2002–2011</a:t>
            </a:r>
            <a:endParaRPr/>
          </a:p>
        </p:txBody>
      </p:sp>
      <p:pic>
        <p:nvPicPr>
          <p:cNvPr id="1406110644" name="Fusion-C-Nube-2012-2020" descr="fig_nubes_por_anio_2012_2020.png"/>
          <p:cNvPicPr>
            <a:picLocks noChangeAspect="1"/>
          </p:cNvPicPr>
          <p:nvPr/>
        </p:nvPicPr>
        <p:blipFill rotWithShape="1">
          <a:blip r:embed="rId7"/>
          <a:stretch/>
        </p:blipFill>
        <p:spPr bwMode="auto">
          <a:xfrm>
            <a:off x="7814369" y="2258568"/>
            <a:ext cx="2689349" cy="3703320"/>
          </a:xfrm>
          <a:prstGeom prst="rect">
            <a:avLst/>
          </a:prstGeom>
        </p:spPr>
      </p:pic>
      <p:sp>
        <p:nvSpPr>
          <p:cNvPr id="1610064863" name="Fusion-C-Etiqueta-2012-2020"/>
          <p:cNvSpPr txBox="1"/>
          <p:nvPr/>
        </p:nvSpPr>
        <p:spPr bwMode="auto">
          <a:xfrm>
            <a:off x="7814369" y="6007607"/>
            <a:ext cx="2689349" cy="274320"/>
          </a:xfrm>
          <a:prstGeom prst="rect">
            <a:avLst/>
          </a:prstGeom>
          <a:noFill/>
        </p:spPr>
        <p:txBody>
          <a:bodyPr wrap="none">
            <a:spAutoFit/>
          </a:bodyPr>
          <a:lstStyle/>
          <a:p>
            <a:pPr algn="ctr">
              <a:defRPr/>
            </a:pPr>
            <a:r>
              <a:rPr sz="1300" b="1">
                <a:solidFill>
                  <a:srgbClr val="2F75B5"/>
                </a:solidFill>
                <a:latin typeface="Arial"/>
              </a:rPr>
              <a:t>2012–2020</a:t>
            </a:r>
            <a:endParaRPr/>
          </a:p>
        </p:txBody>
      </p:sp>
      <p:sp>
        <p:nvSpPr>
          <p:cNvPr id="1614401032" name="Fusion-C-Nota"/>
          <p:cNvSpPr txBox="1"/>
          <p:nvPr/>
        </p:nvSpPr>
        <p:spPr bwMode="auto">
          <a:xfrm>
            <a:off x="685800" y="6373368"/>
            <a:ext cx="10817352" cy="320040"/>
          </a:xfrm>
          <a:prstGeom prst="rect">
            <a:avLst/>
          </a:prstGeom>
          <a:noFill/>
        </p:spPr>
        <p:txBody>
          <a:bodyPr wrap="square">
            <a:spAutoFit/>
          </a:bodyPr>
          <a:lstStyle/>
          <a:p>
            <a:pPr algn="ctr">
              <a:defRPr/>
            </a:pPr>
            <a:r>
              <a:rPr sz="1100" i="1">
                <a:solidFill>
                  <a:srgbClr val="425466"/>
                </a:solidFill>
                <a:latin typeface="Arial"/>
              </a:rPr>
              <a:t>Top-1.000 términos por año; sin stopwords gramaticales (306 formas) ni de dominio jurídico (65 formas). Año 2021 excluido (&lt;50 documentos).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32633102" name="Google Shape;89;p1"/>
          <p:cNvPicPr/>
          <p:nvPr/>
        </p:nvPicPr>
        <p:blipFill rotWithShape="1">
          <a:blip r:embed="rId3">
            <a:alphaModFix/>
          </a:blip>
          <a:stretch/>
        </p:blipFill>
        <p:spPr bwMode="auto">
          <a:xfrm>
            <a:off x="0" y="-14295"/>
            <a:ext cx="12192000" cy="6105540"/>
          </a:xfrm>
          <a:prstGeom prst="rect">
            <a:avLst/>
          </a:prstGeom>
          <a:noFill/>
          <a:ln>
            <a:noFill/>
          </a:ln>
        </p:spPr>
      </p:pic>
      <p:sp>
        <p:nvSpPr>
          <p:cNvPr id="1868014427" name="Google Shape;90;p1"/>
          <p:cNvSpPr txBox="1">
            <a:spLocks noGrp="1"/>
          </p:cNvSpPr>
          <p:nvPr>
            <p:ph type="subTitle" idx="1"/>
          </p:nvPr>
        </p:nvSpPr>
        <p:spPr bwMode="auto">
          <a:xfrm>
            <a:off x="3221420" y="2826829"/>
            <a:ext cx="8843623" cy="1204341"/>
          </a:xfrm>
          <a:prstGeom prst="rect">
            <a:avLst/>
          </a:prstGeom>
          <a:noFill/>
          <a:ln>
            <a:noFill/>
          </a:ln>
        </p:spPr>
        <p:txBody>
          <a:bodyPr spcFirstLastPara="1" wrap="square" lIns="91425" tIns="45700" rIns="91425" bIns="45700" anchor="t" anchorCtr="0">
            <a:noAutofit/>
          </a:bodyPr>
          <a:lstStyle/>
          <a:p>
            <a:pPr marL="0" indent="0">
              <a:spcBef>
                <a:spcPts val="0"/>
              </a:spcBef>
              <a:defRPr/>
            </a:pPr>
            <a:r>
              <a:rPr lang="es-CO" sz="4800" b="1">
                <a:solidFill>
                  <a:schemeClr val="accent4">
                    <a:lumMod val="60000"/>
                    <a:lumOff val="40000"/>
                  </a:schemeClr>
                </a:solidFill>
                <a:latin typeface="Arial"/>
                <a:cs typeface="Arial"/>
              </a:rPr>
              <a:t>Conclusiones</a:t>
            </a:r>
            <a:endParaRPr/>
          </a:p>
          <a:p>
            <a:pPr marL="0" lvl="0" indent="0" algn="ctr">
              <a:lnSpc>
                <a:spcPct val="90000"/>
              </a:lnSpc>
              <a:spcBef>
                <a:spcPts val="0"/>
              </a:spcBef>
              <a:spcAft>
                <a:spcPts val="0"/>
              </a:spcAft>
              <a:buSzPts val="4800"/>
              <a:buNone/>
              <a:defRPr/>
            </a:pPr>
            <a:endParaRPr lang="es-CO" sz="4800" b="1">
              <a:solidFill>
                <a:schemeClr val="lt1"/>
              </a:solidFill>
              <a:cs typeface="Arial"/>
            </a:endParaRPr>
          </a:p>
          <a:p>
            <a:pPr marL="0" indent="0">
              <a:buClr>
                <a:srgbClr val="FFC000"/>
              </a:buClr>
              <a:buSzPts val="2800"/>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52730206" name="Google Shape;104;g393f66bba02_1_6"/>
          <p:cNvPicPr/>
          <p:nvPr/>
        </p:nvPicPr>
        <p:blipFill rotWithShape="1">
          <a:blip r:embed="rId3">
            <a:alphaModFix/>
          </a:blip>
          <a:stretch/>
        </p:blipFill>
        <p:spPr bwMode="auto">
          <a:xfrm>
            <a:off x="-1" y="0"/>
            <a:ext cx="12192004" cy="1623060"/>
          </a:xfrm>
          <a:prstGeom prst="rect">
            <a:avLst/>
          </a:prstGeom>
          <a:noFill/>
          <a:ln>
            <a:noFill/>
          </a:ln>
        </p:spPr>
      </p:pic>
      <p:sp>
        <p:nvSpPr>
          <p:cNvPr id="2091961695" name="Google Shape;105;g393f66bba02_1_6"/>
          <p:cNvSpPr/>
          <p:nvPr/>
        </p:nvSpPr>
        <p:spPr bwMode="auto">
          <a:xfrm>
            <a:off x="1496965" y="324857"/>
            <a:ext cx="6824075" cy="923400"/>
          </a:xfrm>
          <a:prstGeom prst="rect">
            <a:avLst/>
          </a:prstGeom>
          <a:noFill/>
          <a:ln>
            <a:noFill/>
          </a:ln>
        </p:spPr>
        <p:txBody>
          <a:bodyPr spcFirstLastPara="1" wrap="square" lIns="91425" tIns="45700" rIns="91425" bIns="45700" anchor="t" anchorCtr="0">
            <a:noAutofit/>
          </a:bodyPr>
          <a:lstStyle/>
          <a:p>
            <a:pPr lvl="0">
              <a:defRPr/>
            </a:pPr>
            <a:r>
              <a:rPr lang="es-CO" sz="3200" b="1">
                <a:solidFill>
                  <a:schemeClr val="bg1"/>
                </a:solidFill>
                <a:latin typeface="Calibri"/>
                <a:ea typeface="Calibri"/>
                <a:cs typeface="Calibri"/>
              </a:rPr>
              <a:t>Conclusiones</a:t>
            </a:r>
            <a:endParaRPr lang="es-CO" sz="3200" b="1" i="0" u="none" strike="noStrike" cap="none">
              <a:solidFill>
                <a:schemeClr val="bg1"/>
              </a:solidFill>
              <a:latin typeface="Calibri"/>
              <a:ea typeface="Calibri"/>
              <a:cs typeface="Calibri"/>
            </a:endParaRPr>
          </a:p>
        </p:txBody>
      </p:sp>
      <p:sp>
        <p:nvSpPr>
          <p:cNvPr id="274125200" name="CuadroTexto 1"/>
          <p:cNvSpPr txBox="1"/>
          <p:nvPr/>
        </p:nvSpPr>
        <p:spPr bwMode="auto">
          <a:xfrm>
            <a:off x="787400" y="1730441"/>
            <a:ext cx="6350000" cy="254000"/>
          </a:xfrm>
          <a:prstGeom prst="rect">
            <a:avLst/>
          </a:prstGeom>
          <a:noFill/>
        </p:spPr>
        <p:txBody>
          <a:bodyPr vertOverflow="overflow" vert="horz" wrap="square" rtlCol="0" anchor="ctr" anchorCtr="0">
            <a:normAutofit/>
          </a:bodyPr>
          <a:lstStyle/>
          <a:p>
            <a:pPr algn="l">
              <a:defRPr/>
            </a:pPr>
            <a:r>
              <a:rPr lang="es-ES" sz="1000" b="1">
                <a:solidFill>
                  <a:srgbClr val="2F75B5"/>
                </a:solidFill>
              </a:rPr>
              <a:t>RESULTADOS DE LA PRIMERA ENTREGA</a:t>
            </a:r>
            <a:endParaRPr lang="es-CO" sz="1000" b="1">
              <a:solidFill>
                <a:srgbClr val="2F75B5"/>
              </a:solidFill>
            </a:endParaRPr>
          </a:p>
        </p:txBody>
      </p:sp>
      <p:sp>
        <p:nvSpPr>
          <p:cNvPr id="2002908940" name="Rectángulo: esquinas redondeadas 2"/>
          <p:cNvSpPr/>
          <p:nvPr/>
        </p:nvSpPr>
        <p:spPr bwMode="auto">
          <a:xfrm>
            <a:off x="787400" y="2086041"/>
            <a:ext cx="2184400" cy="1803400"/>
          </a:xfrm>
          <a:prstGeom prst="roundRect">
            <a:avLst>
              <a:gd name="adj" fmla="val 16667"/>
            </a:avLst>
          </a:prstGeom>
          <a:solidFill>
            <a:srgbClr val="EAF2F8"/>
          </a:solidFill>
          <a:ln w="19050" cap="flat" cmpd="sng" algn="ctr">
            <a:solidFill>
              <a:srgbClr val="2F75B5"/>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2200" b="1">
                <a:solidFill>
                  <a:srgbClr val="2F75B5"/>
                </a:solidFill>
                <a:latin typeface="Arial"/>
                <a:cs typeface="Arial"/>
              </a:rPr>
              <a:t>23.742</a:t>
            </a:r>
            <a:br>
              <a:rPr lang="es-ES" sz="1100">
                <a:solidFill>
                  <a:srgbClr val="314455"/>
                </a:solidFill>
                <a:latin typeface="Arial"/>
                <a:cs typeface="Arial"/>
              </a:rPr>
            </a:br>
            <a:r>
              <a:rPr lang="es-ES" sz="1100" b="1">
                <a:solidFill>
                  <a:srgbClr val="073654"/>
                </a:solidFill>
                <a:latin typeface="Arial"/>
                <a:cs typeface="Arial"/>
              </a:rPr>
              <a:t>SENTENCIAS</a:t>
            </a:r>
            <a:br>
              <a:rPr lang="es-ES" sz="1100">
                <a:solidFill>
                  <a:srgbClr val="314455"/>
                </a:solidFill>
                <a:latin typeface="Arial"/>
                <a:cs typeface="Arial"/>
              </a:rPr>
            </a:br>
            <a:r>
              <a:rPr lang="es-ES" sz="1100">
                <a:solidFill>
                  <a:srgbClr val="314455"/>
                </a:solidFill>
                <a:latin typeface="Arial"/>
                <a:cs typeface="Arial"/>
              </a:rPr>
              <a:t>Corpus jurídico depurado, estructurado y reproducible.</a:t>
            </a:r>
            <a:endParaRPr lang="es-CO" sz="1100">
              <a:solidFill>
                <a:srgbClr val="314455"/>
              </a:solidFill>
              <a:latin typeface="Arial"/>
              <a:cs typeface="Arial"/>
            </a:endParaRPr>
          </a:p>
        </p:txBody>
      </p:sp>
      <p:sp>
        <p:nvSpPr>
          <p:cNvPr id="688348859" name="Rectángulo: esquinas redondeadas 5"/>
          <p:cNvSpPr/>
          <p:nvPr/>
        </p:nvSpPr>
        <p:spPr bwMode="auto">
          <a:xfrm>
            <a:off x="3200400" y="2086041"/>
            <a:ext cx="2184400" cy="1803400"/>
          </a:xfrm>
          <a:prstGeom prst="roundRect">
            <a:avLst>
              <a:gd name="adj" fmla="val 16667"/>
            </a:avLst>
          </a:prstGeom>
          <a:solidFill>
            <a:srgbClr val="FFF4D6"/>
          </a:solidFill>
          <a:ln w="19050" cap="flat" cmpd="sng" algn="ctr">
            <a:solidFill>
              <a:srgbClr val="D99A0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2200" b="1">
                <a:solidFill>
                  <a:srgbClr val="D99A00"/>
                </a:solidFill>
                <a:latin typeface="Arial"/>
                <a:cs typeface="Arial"/>
              </a:rPr>
              <a:t>≈ 261 M</a:t>
            </a:r>
            <a:br>
              <a:rPr lang="es-ES" sz="1100">
                <a:solidFill>
                  <a:srgbClr val="314455"/>
                </a:solidFill>
                <a:latin typeface="Arial"/>
                <a:cs typeface="Arial"/>
              </a:rPr>
            </a:br>
            <a:r>
              <a:rPr lang="es-ES" sz="1100" b="1">
                <a:solidFill>
                  <a:srgbClr val="073654"/>
                </a:solidFill>
                <a:latin typeface="Arial"/>
                <a:cs typeface="Arial"/>
              </a:rPr>
              <a:t>PALABRAS</a:t>
            </a:r>
            <a:br>
              <a:rPr lang="es-ES" sz="1100">
                <a:solidFill>
                  <a:srgbClr val="314455"/>
                </a:solidFill>
                <a:latin typeface="Arial"/>
                <a:cs typeface="Arial"/>
              </a:rPr>
            </a:br>
            <a:r>
              <a:rPr lang="es-ES" sz="1100">
                <a:solidFill>
                  <a:srgbClr val="314455"/>
                </a:solidFill>
                <a:latin typeface="Arial"/>
                <a:cs typeface="Arial"/>
              </a:rPr>
              <a:t>Línea base textométrica para análisis a gran escala.</a:t>
            </a:r>
            <a:endParaRPr lang="es-CO" sz="1100">
              <a:solidFill>
                <a:srgbClr val="314455"/>
              </a:solidFill>
              <a:latin typeface="Arial"/>
              <a:cs typeface="Arial"/>
            </a:endParaRPr>
          </a:p>
        </p:txBody>
      </p:sp>
      <p:sp>
        <p:nvSpPr>
          <p:cNvPr id="1186637403" name="Rectángulo: esquinas redondeadas 6"/>
          <p:cNvSpPr/>
          <p:nvPr/>
        </p:nvSpPr>
        <p:spPr bwMode="auto">
          <a:xfrm>
            <a:off x="5613400" y="2086041"/>
            <a:ext cx="2184400" cy="1803400"/>
          </a:xfrm>
          <a:prstGeom prst="roundRect">
            <a:avLst>
              <a:gd name="adj" fmla="val 16667"/>
            </a:avLst>
          </a:prstGeom>
          <a:solidFill>
            <a:srgbClr val="E8F5EE"/>
          </a:solidFill>
          <a:ln w="19050" cap="flat" cmpd="sng" algn="ctr">
            <a:solidFill>
              <a:srgbClr val="2E8B57"/>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CO" sz="2200" b="1">
                <a:solidFill>
                  <a:srgbClr val="2E8B57"/>
                </a:solidFill>
                <a:latin typeface="Arial"/>
                <a:cs typeface="Arial"/>
              </a:rPr>
              <a:t>30 años</a:t>
            </a:r>
            <a:br>
              <a:rPr lang="es-CO" sz="1100">
                <a:solidFill>
                  <a:srgbClr val="314455"/>
                </a:solidFill>
                <a:latin typeface="Arial"/>
                <a:cs typeface="Arial"/>
              </a:rPr>
            </a:br>
            <a:r>
              <a:rPr lang="es-CO" sz="1100" b="1">
                <a:solidFill>
                  <a:srgbClr val="073654"/>
                </a:solidFill>
                <a:latin typeface="Arial"/>
                <a:cs typeface="Arial"/>
              </a:rPr>
              <a:t>COBERTURA</a:t>
            </a:r>
            <a:br>
              <a:rPr lang="es-CO" sz="1100">
                <a:solidFill>
                  <a:srgbClr val="314455"/>
                </a:solidFill>
                <a:latin typeface="Arial"/>
                <a:cs typeface="Arial"/>
              </a:rPr>
            </a:br>
            <a:r>
              <a:rPr lang="es-CO" sz="1100">
                <a:solidFill>
                  <a:srgbClr val="314455"/>
                </a:solidFill>
                <a:latin typeface="Arial"/>
                <a:cs typeface="Arial"/>
              </a:rPr>
              <a:t>Base temporal para estudiar cambios lingüísticos.</a:t>
            </a:r>
            <a:endParaRPr/>
          </a:p>
        </p:txBody>
      </p:sp>
      <p:sp>
        <p:nvSpPr>
          <p:cNvPr id="166904317" name="Rectángulo: esquinas redondeadas 7"/>
          <p:cNvSpPr/>
          <p:nvPr/>
        </p:nvSpPr>
        <p:spPr bwMode="auto">
          <a:xfrm>
            <a:off x="787400" y="4143441"/>
            <a:ext cx="7010399" cy="1320800"/>
          </a:xfrm>
          <a:prstGeom prst="roundRect">
            <a:avLst>
              <a:gd name="adj" fmla="val 16667"/>
            </a:avLst>
          </a:prstGeom>
          <a:solidFill>
            <a:srgbClr val="073654"/>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100" b="1">
                <a:solidFill>
                  <a:srgbClr val="F4B41A"/>
                </a:solidFill>
                <a:latin typeface="Arial"/>
                <a:cs typeface="Arial"/>
              </a:rPr>
              <a:t>CONCLUSIÓN PRINCIPAL</a:t>
            </a:r>
            <a:br>
              <a:rPr lang="es-ES" sz="1300">
                <a:solidFill>
                  <a:srgbClr val="FFFFFF"/>
                </a:solidFill>
                <a:latin typeface="Arial"/>
                <a:cs typeface="Arial"/>
              </a:rPr>
            </a:br>
            <a:r>
              <a:rPr lang="es-ES" sz="1300">
                <a:solidFill>
                  <a:srgbClr val="FFFFFF"/>
                </a:solidFill>
                <a:latin typeface="Arial"/>
                <a:cs typeface="Arial"/>
              </a:rPr>
              <a:t>El lenguaje constitucional es extenso, formulaico y altamente especializado; el corpus permite medir estos patrones de forma reproducible.</a:t>
            </a:r>
            <a:endParaRPr lang="es-CO" sz="1300">
              <a:solidFill>
                <a:srgbClr val="FFFFFF"/>
              </a:solidFill>
              <a:latin typeface="Arial"/>
              <a:cs typeface="Arial"/>
            </a:endParaRPr>
          </a:p>
        </p:txBody>
      </p:sp>
      <p:sp>
        <p:nvSpPr>
          <p:cNvPr id="1238168600" name="Rectángulo: esquinas redondeadas 8"/>
          <p:cNvSpPr/>
          <p:nvPr/>
        </p:nvSpPr>
        <p:spPr bwMode="auto">
          <a:xfrm>
            <a:off x="8128000" y="1730441"/>
            <a:ext cx="3238500" cy="3733800"/>
          </a:xfrm>
          <a:prstGeom prst="roundRect">
            <a:avLst>
              <a:gd name="adj" fmla="val 16667"/>
            </a:avLst>
          </a:prstGeom>
          <a:solidFill>
            <a:srgbClr val="F4F6F8"/>
          </a:solidFill>
          <a:ln w="15240" cap="flat" cmpd="sng" algn="ctr">
            <a:solidFill>
              <a:srgbClr val="C9D2D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b="1">
                <a:solidFill>
                  <a:srgbClr val="073654"/>
                </a:solidFill>
                <a:latin typeface="Arial"/>
                <a:cs typeface="Arial"/>
              </a:rPr>
              <a:t>SIGUIENTE ETAPA</a:t>
            </a:r>
            <a:br>
              <a:rPr lang="es-ES" sz="1200">
                <a:solidFill>
                  <a:srgbClr val="223547"/>
                </a:solidFill>
                <a:latin typeface="Arial"/>
                <a:cs typeface="Arial"/>
              </a:rPr>
            </a:br>
            <a:br>
              <a:rPr lang="es-ES" sz="1200">
                <a:solidFill>
                  <a:srgbClr val="223547"/>
                </a:solidFill>
                <a:latin typeface="Arial"/>
                <a:cs typeface="Arial"/>
              </a:rPr>
            </a:br>
            <a:r>
              <a:rPr lang="es-ES" sz="1200">
                <a:solidFill>
                  <a:srgbClr val="223547"/>
                </a:solidFill>
                <a:latin typeface="Arial"/>
                <a:cs typeface="Arial"/>
              </a:rPr>
              <a:t>01  Lematización + POS</a:t>
            </a:r>
            <a:br>
              <a:rPr lang="es-ES" sz="1200">
                <a:solidFill>
                  <a:srgbClr val="223547"/>
                </a:solidFill>
                <a:latin typeface="Arial"/>
                <a:cs typeface="Arial"/>
              </a:rPr>
            </a:br>
            <a:r>
              <a:rPr lang="es-ES" sz="1200">
                <a:solidFill>
                  <a:srgbClr val="223547"/>
                </a:solidFill>
                <a:latin typeface="Arial"/>
                <a:cs typeface="Arial"/>
              </a:rPr>
              <a:t>02  TF-IDF y embeddings</a:t>
            </a:r>
            <a:br>
              <a:rPr lang="es-ES" sz="1200">
                <a:solidFill>
                  <a:srgbClr val="223547"/>
                </a:solidFill>
                <a:latin typeface="Arial"/>
                <a:cs typeface="Arial"/>
              </a:rPr>
            </a:br>
            <a:r>
              <a:rPr lang="es-ES" sz="1200">
                <a:solidFill>
                  <a:srgbClr val="223547"/>
                </a:solidFill>
                <a:latin typeface="Arial"/>
                <a:cs typeface="Arial"/>
              </a:rPr>
              <a:t>03  Diversidad léxica y evolución temporal</a:t>
            </a:r>
            <a:br>
              <a:rPr lang="es-ES" sz="1200">
                <a:solidFill>
                  <a:srgbClr val="223547"/>
                </a:solidFill>
                <a:latin typeface="Arial"/>
                <a:cs typeface="Arial"/>
              </a:rPr>
            </a:br>
            <a:r>
              <a:rPr lang="es-ES" sz="1200">
                <a:solidFill>
                  <a:srgbClr val="223547"/>
                </a:solidFill>
                <a:latin typeface="Arial"/>
                <a:cs typeface="Arial"/>
              </a:rPr>
              <a:t>04  Clasificación automática</a:t>
            </a:r>
            <a:br>
              <a:rPr lang="es-ES" sz="1200">
                <a:solidFill>
                  <a:srgbClr val="223547"/>
                </a:solidFill>
                <a:latin typeface="Arial"/>
                <a:cs typeface="Arial"/>
              </a:rPr>
            </a:br>
            <a:r>
              <a:rPr lang="es-ES" sz="1200">
                <a:solidFill>
                  <a:srgbClr val="223547"/>
                </a:solidFill>
                <a:latin typeface="Arial"/>
                <a:cs typeface="Arial"/>
              </a:rPr>
              <a:t>05  Modelos jurídicos: LEGAL-BERT</a:t>
            </a:r>
            <a:br>
              <a:rPr lang="es-ES" sz="1200">
                <a:solidFill>
                  <a:srgbClr val="223547"/>
                </a:solidFill>
                <a:latin typeface="Arial"/>
                <a:cs typeface="Arial"/>
              </a:rPr>
            </a:br>
            <a:r>
              <a:rPr lang="es-ES" sz="1200">
                <a:solidFill>
                  <a:srgbClr val="223547"/>
                </a:solidFill>
                <a:latin typeface="Arial"/>
                <a:cs typeface="Arial"/>
              </a:rPr>
              <a:t>06  Resumen automático</a:t>
            </a:r>
            <a:endParaRPr lang="es-CO" sz="1200">
              <a:solidFill>
                <a:srgbClr val="223547"/>
              </a:solidFill>
              <a:latin typeface="Arial"/>
              <a:cs typeface="Arial"/>
            </a:endParaRPr>
          </a:p>
        </p:txBody>
      </p:sp>
      <p:sp>
        <p:nvSpPr>
          <p:cNvPr id="27806128" name="Flecha: a la derecha 9"/>
          <p:cNvSpPr/>
          <p:nvPr/>
        </p:nvSpPr>
        <p:spPr bwMode="auto">
          <a:xfrm>
            <a:off x="7835900" y="3279841"/>
            <a:ext cx="254000" cy="431799"/>
          </a:xfrm>
          <a:prstGeom prst="rightArrow">
            <a:avLst>
              <a:gd name="adj1" fmla="val 50000"/>
              <a:gd name="adj2" fmla="val 50000"/>
            </a:avLst>
          </a:prstGeom>
          <a:solidFill>
            <a:srgbClr val="F4B41A"/>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defRPr/>
            </a:pPr>
            <a:endParaRPr lang="es-CO"/>
          </a:p>
        </p:txBody>
      </p:sp>
      <p:sp>
        <p:nvSpPr>
          <p:cNvPr id="1949420825" name="Rectángulo: esquinas redondeadas 10"/>
          <p:cNvSpPr/>
          <p:nvPr/>
        </p:nvSpPr>
        <p:spPr bwMode="auto">
          <a:xfrm>
            <a:off x="2413000" y="5591241"/>
            <a:ext cx="7366000" cy="381000"/>
          </a:xfrm>
          <a:prstGeom prst="roundRect">
            <a:avLst>
              <a:gd name="adj" fmla="val 16667"/>
            </a:avLst>
          </a:prstGeom>
          <a:solidFill>
            <a:srgbClr val="FFF4D6"/>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rmAutofit/>
          </a:bodyPr>
          <a:lstStyle/>
          <a:p>
            <a:pPr algn="l">
              <a:defRPr/>
            </a:pPr>
            <a:r>
              <a:rPr lang="es-ES" sz="1200" b="1">
                <a:solidFill>
                  <a:srgbClr val="7A5700"/>
                </a:solidFill>
                <a:latin typeface="Arial"/>
                <a:cs typeface="Arial"/>
              </a:rPr>
              <a:t>DEL CORPUS LIMPIO  →  A MODELOS LINGÜÍSTICOS Y JURÍDICOS</a:t>
            </a:r>
            <a:endParaRPr lang="es-CO" sz="1200" b="1">
              <a:solidFill>
                <a:srgbClr val="7A5700"/>
              </a:solidFill>
              <a:latin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817148031" name="Google Shape;593;g39411826e08_2_115"/>
          <p:cNvPicPr/>
          <p:nvPr/>
        </p:nvPicPr>
        <p:blipFill rotWithShape="1">
          <a:blip r:embed="rId3">
            <a:alphaModFix/>
          </a:blip>
          <a:stretch/>
        </p:blipFill>
        <p:spPr bwMode="auto">
          <a:xfrm>
            <a:off x="0" y="-14295"/>
            <a:ext cx="12191999" cy="6105541"/>
          </a:xfrm>
          <a:prstGeom prst="rect">
            <a:avLst/>
          </a:prstGeom>
          <a:noFill/>
          <a:ln>
            <a:noFill/>
          </a:ln>
        </p:spPr>
      </p:pic>
      <p:sp>
        <p:nvSpPr>
          <p:cNvPr id="1559597693" name="Google Shape;594;g39411826e08_2_115"/>
          <p:cNvSpPr txBox="1">
            <a:spLocks noGrp="1"/>
          </p:cNvSpPr>
          <p:nvPr>
            <p:ph type="subTitle" idx="1"/>
          </p:nvPr>
        </p:nvSpPr>
        <p:spPr bwMode="auto">
          <a:xfrm>
            <a:off x="3054161" y="2335530"/>
            <a:ext cx="8843700" cy="2605800"/>
          </a:xfrm>
          <a:prstGeom prst="rect">
            <a:avLst/>
          </a:prstGeom>
          <a:noFill/>
          <a:ln>
            <a:noFill/>
          </a:ln>
        </p:spPr>
        <p:txBody>
          <a:bodyPr spcFirstLastPara="1" wrap="square" lIns="91425" tIns="45700" rIns="91425" bIns="45700" anchor="t" anchorCtr="0">
            <a:noAutofit/>
          </a:bodyPr>
          <a:lstStyle/>
          <a:p>
            <a:pPr marL="0" lvl="0" indent="0" algn="ctr" rtl="0">
              <a:lnSpc>
                <a:spcPct val="90000"/>
              </a:lnSpc>
              <a:spcBef>
                <a:spcPts val="0"/>
              </a:spcBef>
              <a:spcAft>
                <a:spcPts val="0"/>
              </a:spcAft>
              <a:buClr>
                <a:schemeClr val="lt1"/>
              </a:buClr>
              <a:buSzPts val="4800"/>
              <a:buNone/>
              <a:defRPr/>
            </a:pPr>
            <a:r>
              <a:rPr lang="es-CO" sz="10000">
                <a:solidFill>
                  <a:schemeClr val="lt1"/>
                </a:solidFill>
              </a:rPr>
              <a:t>Gracias</a:t>
            </a:r>
            <a:endParaRPr/>
          </a:p>
          <a:p>
            <a:pPr marL="0" lvl="0" indent="0" algn="ctr" rtl="0">
              <a:lnSpc>
                <a:spcPct val="90000"/>
              </a:lnSpc>
              <a:spcBef>
                <a:spcPts val="1000"/>
              </a:spcBef>
              <a:spcAft>
                <a:spcPts val="0"/>
              </a:spcAft>
              <a:buClr>
                <a:schemeClr val="lt1"/>
              </a:buClr>
              <a:buSzPts val="3200"/>
              <a:buNone/>
              <a:defRPr/>
            </a:pPr>
            <a:endParaRPr lang="es-CO"/>
          </a:p>
          <a:p>
            <a:pPr marL="0" lvl="0" indent="0" algn="ctr" rtl="0">
              <a:lnSpc>
                <a:spcPct val="90000"/>
              </a:lnSpc>
              <a:spcBef>
                <a:spcPts val="1000"/>
              </a:spcBef>
              <a:spcAft>
                <a:spcPts val="0"/>
              </a:spcAft>
              <a:buClr>
                <a:srgbClr val="FFC000"/>
              </a:buClr>
              <a:buSzPts val="2800"/>
              <a:buNone/>
              <a:defRPr/>
            </a:pPr>
            <a:endParaRPr lang="es-CO" sz="2800" b="1">
              <a:solidFill>
                <a:srgbClr val="FFC000"/>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wilperiodista86@gmail.com</dc:creator>
  <cp:lastModifiedBy/>
  <cp:revision>18</cp:revision>
  <dcterms:created xsi:type="dcterms:W3CDTF">2017-03-01T15:55:36Z</dcterms:created>
  <dcterms:modified xsi:type="dcterms:W3CDTF">2026-09-07T05:14:10Z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0x010100A17391D12170B6429D211C2FD773B5B7</vt:lpwstr>
  </property>
</Properties>
</file>