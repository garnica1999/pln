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la Entrega 2 del proyecto de Procesamiento de Lenguaje Natural sobre jurisprudencia constitucional colombiana. La entrega profundiza el analisis del corpus, entrega el conjunto de datos medido, define la representacion de los textos y propone la metodologia de modelado.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es de PLN aplicado: extraer conocimiento de un acervo enorme y sin metadatos. El objetivo del proyecto es un sistema de apoyo que valide la providencia, determine su area tematica, identifique los articulos de la Constitucion que la sustentan y la situe en su contexto jurisprudencial. Esta entrega cubre los requisitos 1 a 5 y 7: EDA avanzado, dataset medido, representacion y propuesta metodologica.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corpus se mantiene identico en cifras: 23.742 sentencias T/C/SU, 1992-2021, con 8 exclusiones documentadas. Los cambios frente a la Entrega 1 son extensiones verificadas: dataset medido, EDA extendido, siete figuras nuevas, unidad de analisis validada, analisis por periodos y la representacion con la propuesta metodologica.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limpieza tiene ocho pasos medibles y documentados, aplicados al corpus completo. La misma transformacion se aplica al corpus y a la lista de stopwords: quedan 306 formas efectivas. El filtro de ruido descarta restos de claves de relatoria y citas de pagina antes de contar.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conteos son reales sobre el corpus completo: 260 millones de palabras crudas y 250 millones limpias. Las stopwords pesan 48,48 por ciento de los tokens limpios. El volumen anual es estable entre 1999 y 2014 y desciende despues; 2021 es parcial. Sin stopwords emerge el lexico juridico dominante.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corpus es fuertemente formulaico: accion de tutela es el trigrama mas frecuente y el 82,7 por ciento de los trigramas tiene palabra intermedia vacia. La validacion manual de 20 colocaciones da 75 por ciento de formulas validas con la razon de verosimilitud, frente a 55 por ciento de la frecuencia y 0 por ciento del PMI; por eso la LLR sera la medida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diversidad lexica desciende de forma sostenida en las tres decadas: de 64,32 a 58,53, con una pendiente de menos 0,32 por ano. La lematizacion reduce el vocabulario de 224.468 formas a 195.959 lemas conservando la legibilidad, y la distribucion POS es coherente con el registro juridico.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Evaluamos cuatro candidatas internacionales. Ninguna cubre el espanol juridico colombiano: EuroVoc es parcial, LKIF es un patron de modelado, ELI/ECLI no son vocabularios tematicos y LegalRuleML exige anotacion manual costosa. La decision es derivar una taxonomia ligera de la propia Constitucion Politica.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dataset medido es un parquet de 23.742 filas por 12 columnas con el texto, el texto limpio y las metricas por documento. La construccion se valido con aserciones duras: sin nulos, ids unicos y sumas reconciliadas con las cifras canonicas. Se adjuntan muestra estratificada, diccionario de datos y copia de lemas por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representacion principal es TF-IDF sobre lemas, interpretable y de bajo costo: la matriz tiene 95,66 por ciento de esparsidad y se ajusto en poco mas de tres minutos. Los embeddings contextuales se evaluaron como comparacion: capturan cercania semantica con mayor costo y menor interpretabilidad.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tarea es una clasificacion supervisada multi-clase: el tipo de providencia funciona como categoria inicial y el area tematica derivada de la Constitucion como objetivo principal, con etiquetas por validar. Las particiones son 70/15/15 estratificadas con prueba intocable y criterios anti-leakage. Se compararan la linea base mayoritaria, TF-IDF con modelos lineales y un transformer en espanol, con macro-F1 y analisis de errores como criterios.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los cinco hallazgos principales: corpus y dataset consolidados, genero formulaico con LLR como mejor medida, diversidad decreciente con recambio tematico, unidad de analisis validada y representacion con metodologia definidas. El plan inmediato: validar etiquetas, comparar modelos, analizar errores y explorar embeddings y resumenes.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5D8A"/>
                </a:solidFill>
                <a:latin typeface="Calibri"/>
              </a:rPr>
              <a:t>PONTIFICIA UNIVERSIDAD JAVERIANA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Procesamiento de Lenguaje Natural · Entrega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448" y="1444752"/>
            <a:ext cx="2743200" cy="411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F3864"/>
                </a:solidFill>
                <a:latin typeface="Calibri"/>
              </a:rPr>
              <a:t>EDA avanzado, representación de textos
y propuesta metodológica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Análisis computacional de la jurisprudencia de la Corte Constitucional de Colombia (1992–2021)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2F5D8A"/>
                </a:solidFill>
                <a:latin typeface="Calibri"/>
              </a:rPr>
              <a:t>23.742 sentencias · 1992–2021 · corpus público Hugging Face (CC-BY-4.0)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1"/>
            <a:ext cx="1072865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Integrantes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Erika Valeria Rivera Jiménez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Julián Guillermo Carrillo Meneses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Carlos Andrés Garnica Salazar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Oscar Andrés Prieto Moreno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72784"/>
            <a:ext cx="107286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Problema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•  </a:t>
            </a:r>
            <a:r>
              <a:rPr sz="1350" b="1">
                <a:solidFill>
                  <a:srgbClr val="333333"/>
                </a:solidFill>
                <a:latin typeface="Calibri"/>
              </a:rPr>
              <a:t>Corpus extenso y formulaico. </a:t>
            </a:r>
            <a:r>
              <a:rPr sz="1350">
                <a:solidFill>
                  <a:srgbClr val="333333"/>
                </a:solidFill>
                <a:latin typeface="Calibri"/>
              </a:rPr>
              <a:t>≈11.000 palabras por documento; estructura formal, fórmulas de estilo y citas repetidas.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•  </a:t>
            </a:r>
            <a:r>
              <a:rPr sz="1350" b="1">
                <a:solidFill>
                  <a:srgbClr val="333333"/>
                </a:solidFill>
                <a:latin typeface="Calibri"/>
              </a:rPr>
              <a:t>Sin anotaciones. </a:t>
            </a:r>
            <a:r>
              <a:rPr sz="1350">
                <a:solidFill>
                  <a:srgbClr val="333333"/>
                </a:solidFill>
                <a:latin typeface="Calibri"/>
              </a:rPr>
              <a:t>el tipo de providencia y el año deben inferirse del texto; no hay etiquetas temáticas.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•  </a:t>
            </a:r>
            <a:r>
              <a:rPr sz="1350" b="1">
                <a:solidFill>
                  <a:srgbClr val="333333"/>
                </a:solidFill>
                <a:latin typeface="Calibri"/>
              </a:rPr>
              <a:t>Lectura manual inviable. </a:t>
            </a:r>
            <a:r>
              <a:rPr sz="1350">
                <a:solidFill>
                  <a:srgbClr val="333333"/>
                </a:solidFill>
                <a:latin typeface="Calibri"/>
              </a:rPr>
              <a:t>23.742 documentos y ≈261 millones de palabras; la información relevante se dispersa entre plantillas.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•  </a:t>
            </a:r>
            <a:r>
              <a:rPr sz="1350" b="1">
                <a:solidFill>
                  <a:srgbClr val="333333"/>
                </a:solidFill>
                <a:latin typeface="Calibri"/>
              </a:rPr>
              <a:t>Recursos escasos. </a:t>
            </a:r>
            <a:r>
              <a:rPr sz="1350">
                <a:solidFill>
                  <a:srgbClr val="333333"/>
                </a:solidFill>
                <a:latin typeface="Calibri"/>
              </a:rPr>
              <a:t>la literatura documenta escasez de recursos legales anotados en español para América Latina.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▪  </a:t>
            </a:r>
            <a:r>
              <a:rPr sz="1350" b="1">
                <a:solidFill>
                  <a:srgbClr val="333333"/>
                </a:solidFill>
                <a:latin typeface="Calibri"/>
              </a:rPr>
              <a:t>Aporte. </a:t>
            </a:r>
            <a:r>
              <a:rPr sz="1350">
                <a:solidFill>
                  <a:srgbClr val="333333"/>
                </a:solidFill>
                <a:latin typeface="Calibri"/>
              </a:rPr>
              <a:t>un corpus depurado, medido y documentado es un aporte en sí mismo.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234440"/>
            <a:ext cx="4892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Objetivo del proyecto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–  Validar que la entrada sea una providencia.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–  Determinar su área temática constitucional.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–  Identificar los artículos de la Constitución Política que la sustentan.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–  Situarla en su contexto jurisprudencial.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3931920"/>
            <a:ext cx="4892040" cy="239572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3931920"/>
            <a:ext cx="48920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3959352"/>
            <a:ext cx="452627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Esta entrega (requisitos 1–5 y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553712"/>
            <a:ext cx="4434840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Correcciones y modificaciones vs E1.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EDA avanzado sobre el corpus completo.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Conjunto de datos medido (parquet + muestra).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Representación de los textos (TF-IDF sobre lemas).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Propuesta metodológica de modelado.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•  Alcance: 1992–2021 (2021 parcial: 20 documentos).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Corpus y correcciones respecto a la Entrega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4160520" cy="48920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416052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37947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Corpus de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703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23.742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sentencias depuradas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T 17.099 · C 6.246 · SU 397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tutela · constitucionalidad · unificación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1992–2021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2021 parcial: 20 documentos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8 exclusiones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6 autos · 2 fragmentos 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99,97 %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extracción de id y año por regex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F3864"/>
                </a:solidFill>
                <a:latin typeface="Calibri"/>
              </a:rPr>
              <a:t>Hugging Face (CC-BY-4.0)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relatoría de la Corte Constitucional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207008"/>
            <a:ext cx="6263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Modificaciones reales respecto a la E1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Dataset medido. </a:t>
            </a:r>
            <a:r>
              <a:rPr sz="1250">
                <a:solidFill>
                  <a:srgbClr val="333333"/>
                </a:solidFill>
                <a:latin typeface="Calibri"/>
              </a:rPr>
              <a:t>parquet de 23.742 filas × 12 columnas con texto, texto limpio y métricas por documento.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EDA extendido. </a:t>
            </a:r>
            <a:r>
              <a:rPr sz="1250">
                <a:solidFill>
                  <a:srgbClr val="333333"/>
                </a:solidFill>
                <a:latin typeface="Calibri"/>
              </a:rPr>
              <a:t>n-gramas, colocaciones, lemas/stems/POS, MTLD, granularidad y recursos léxicos.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Visualizaciones. </a:t>
            </a:r>
            <a:r>
              <a:rPr sz="1250">
                <a:solidFill>
                  <a:srgbClr val="333333"/>
                </a:solidFill>
                <a:latin typeface="Calibri"/>
              </a:rPr>
              <a:t>siete figuras nuevas; las de la E1 se conservan.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Unidad validada. </a:t>
            </a:r>
            <a:r>
              <a:rPr sz="1250">
                <a:solidFill>
                  <a:srgbClr val="333333"/>
                </a:solidFill>
                <a:latin typeface="Calibri"/>
              </a:rPr>
              <a:t>sentencia 97,17 % vs subsentencia 4,64 % (criterio pre-registrado de +15 pp).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Periodos. </a:t>
            </a:r>
            <a:r>
              <a:rPr sz="1250">
                <a:solidFill>
                  <a:srgbClr val="333333"/>
                </a:solidFill>
                <a:latin typeface="Calibri"/>
              </a:rPr>
              <a:t>contraste léxico 1992–2001 / 2002–2011 / 2012–2021 ejecutado (log-odds).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Representación y metodología. </a:t>
            </a:r>
            <a:r>
              <a:rPr sz="1250">
                <a:solidFill>
                  <a:srgbClr val="333333"/>
                </a:solidFill>
                <a:latin typeface="Calibri"/>
              </a:rPr>
              <a:t>TF-IDF sobre lemas y propuesta de modelado definidas.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5349240"/>
            <a:ext cx="626364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546811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Las cifras canónicas de la E1 (23.742 documentos; 260.988.316 / 250.012.101 palabras) no requirieron corrección.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Limpieza del texto: pipeline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Calibri"/>
              </a:rPr>
              <a:t>Decisión. </a:t>
            </a:r>
            <a:r>
              <a:rPr sz="1350">
                <a:solidFill>
                  <a:srgbClr val="333333"/>
                </a:solidFill>
                <a:latin typeface="Calibri"/>
              </a:rPr>
              <a:t>ocho pasos medibles sobre el corpus completo; la misma transformación se aplica al corpus y a las stopwords (306 formas efectivas).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1.  </a:t>
            </a:r>
            <a:r>
              <a:rPr sz="1350">
                <a:solidFill>
                  <a:srgbClr val="333333"/>
                </a:solidFill>
                <a:latin typeface="Calibri"/>
              </a:rPr>
              <a:t>Conversión del texto a minúsculas.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2.  </a:t>
            </a:r>
            <a:r>
              <a:rPr sz="1350">
                <a:solidFill>
                  <a:srgbClr val="333333"/>
                </a:solidFill>
                <a:latin typeface="Calibri"/>
              </a:rPr>
              <a:t>Protección temporal de la ñ para que no se pierda en NFD.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3.  </a:t>
            </a:r>
            <a:r>
              <a:rPr sz="1350">
                <a:solidFill>
                  <a:srgbClr val="333333"/>
                </a:solidFill>
                <a:latin typeface="Calibri"/>
              </a:rPr>
              <a:t>Normalización Unicode (NFD) y eliminación de diacríticos (artículo → articulo).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4.  </a:t>
            </a:r>
            <a:r>
              <a:rPr sz="1350">
                <a:solidFill>
                  <a:srgbClr val="333333"/>
                </a:solidFill>
                <a:latin typeface="Calibri"/>
              </a:rPr>
              <a:t>Filtro de caracteres: solo letras [a-zñ]; fuera dígitos, puntuación y símbolos.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011680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5.  </a:t>
            </a:r>
            <a:r>
              <a:rPr sz="1350">
                <a:solidFill>
                  <a:srgbClr val="333333"/>
                </a:solidFill>
                <a:latin typeface="Calibri"/>
              </a:rPr>
              <a:t>Colapso de espacios múltiples.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6.  </a:t>
            </a:r>
            <a:r>
              <a:rPr sz="1350">
                <a:solidFill>
                  <a:srgbClr val="333333"/>
                </a:solidFill>
                <a:latin typeface="Calibri"/>
              </a:rPr>
              <a:t>Tokenización por separación en espacios (exacta tras limpiar).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7.  </a:t>
            </a:r>
            <a:r>
              <a:rPr sz="1350">
                <a:solidFill>
                  <a:srgbClr val="333333"/>
                </a:solidFill>
                <a:latin typeface="Calibri"/>
              </a:rPr>
              <a:t>Filtro de ruido: descarta t, c, p (claves y citas de página) y la abreviatura art.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2F5D8A"/>
                </a:solidFill>
                <a:latin typeface="Calibri"/>
              </a:rPr>
              <a:t>8.  </a:t>
            </a:r>
            <a:r>
              <a:rPr sz="1350">
                <a:solidFill>
                  <a:srgbClr val="333333"/>
                </a:solidFill>
                <a:latin typeface="Calibri"/>
              </a:rPr>
              <a:t>Stopwords NLTK del español normalizadas con el mismo criterio: 306 formas (84 acentuadas corregidas).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394960"/>
            <a:ext cx="1078992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Por qué así: la literatura muestra que el preprocesamiento altera los resultados y depende del corpus y la tarea (HaCohen-Kerner et al., 2020); cada paso queda documentado y es reproducible.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Medidas globales y distribución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0292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Medidas globales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Documentos. </a:t>
            </a:r>
            <a:r>
              <a:rPr sz="1250">
                <a:solidFill>
                  <a:srgbClr val="333333"/>
                </a:solidFill>
                <a:latin typeface="Calibri"/>
              </a:rPr>
              <a:t>23.742 (T 17.099 · C 6.246 · SU 397).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Palabras crudas. </a:t>
            </a:r>
            <a:r>
              <a:rPr sz="1250">
                <a:solidFill>
                  <a:srgbClr val="333333"/>
                </a:solidFill>
                <a:latin typeface="Calibri"/>
              </a:rPr>
              <a:t>260.988.316.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Palabras limpias. </a:t>
            </a:r>
            <a:r>
              <a:rPr sz="1250">
                <a:solidFill>
                  <a:srgbClr val="333333"/>
                </a:solidFill>
                <a:latin typeface="Calibri"/>
              </a:rPr>
              <a:t>250.012.101.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Stopwords. </a:t>
            </a:r>
            <a:r>
              <a:rPr sz="1250">
                <a:solidFill>
                  <a:srgbClr val="333333"/>
                </a:solidFill>
                <a:latin typeface="Calibri"/>
              </a:rPr>
              <a:t>121.205.437 (48,48 % de las limpias).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Sin stopwords. </a:t>
            </a:r>
            <a:r>
              <a:rPr sz="1250">
                <a:solidFill>
                  <a:srgbClr val="333333"/>
                </a:solidFill>
                <a:latin typeface="Calibri"/>
              </a:rPr>
              <a:t>128.806.664.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Promedios por documento. </a:t>
            </a:r>
            <a:r>
              <a:rPr sz="1250">
                <a:solidFill>
                  <a:srgbClr val="333333"/>
                </a:solidFill>
                <a:latin typeface="Calibri"/>
              </a:rPr>
              <a:t>10.992,68 crudas / 10.530,37 limpias.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Mediana de lemas. </a:t>
            </a:r>
            <a:r>
              <a:rPr sz="1250">
                <a:solidFill>
                  <a:srgbClr val="333333"/>
                </a:solidFill>
                <a:latin typeface="Calibri"/>
              </a:rPr>
              <a:t>7.116 (p25: 3.959; p75: 12.654); palabras limpias: mediana 7.158.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Vocabulario. </a:t>
            </a:r>
            <a:r>
              <a:rPr sz="1250">
                <a:solidFill>
                  <a:srgbClr val="333333"/>
                </a:solidFill>
                <a:latin typeface="Calibri"/>
              </a:rPr>
              <a:t>224.468 formas · 195.959 lemas · 121.696 stems.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Distribución temporal: estable 1999–2014 (rango de 941 en 2013 a 992 en 2002); descenso 2015–2020; 2021 parcial (20 documentos).</a:t>
            </a:r>
          </a:p>
        </p:txBody>
      </p:sp>
      <p:pic>
        <p:nvPicPr>
          <p:cNvPr id="5" name="Picture 4" descr="fig_sentencias_por_an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18" y="1234440"/>
            <a:ext cx="5322283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291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Sentencias por año de emisión (1992–2021).</a:t>
            </a:r>
          </a:p>
        </p:txBody>
      </p:sp>
      <p:pic>
        <p:nvPicPr>
          <p:cNvPr id="7" name="Picture 6" descr="fig_top20_sin_stopw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66" y="3611880"/>
            <a:ext cx="3435387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Top-20 de palabras sin stopwords.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N-gramas y colocaciones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49377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N-gramas más frecuentes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Bigramas. </a:t>
            </a:r>
            <a:r>
              <a:rPr sz="1250">
                <a:solidFill>
                  <a:srgbClr val="333333"/>
                </a:solidFill>
                <a:latin typeface="Calibri"/>
              </a:rPr>
              <a:t>corte constitucional (286.786) · derechos fundamentales (241.467) · seguridad social (131.119).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Trigramas. </a:t>
            </a:r>
            <a:r>
              <a:rPr sz="1250">
                <a:solidFill>
                  <a:srgbClr val="333333"/>
                </a:solidFill>
                <a:latin typeface="Calibri"/>
              </a:rPr>
              <a:t>accion de tutela (344.893) · articulo del decreto (89.352) · juez de tutela (42.253).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Fórmulas. </a:t>
            </a:r>
            <a:r>
              <a:rPr sz="1250">
                <a:solidFill>
                  <a:srgbClr val="333333"/>
                </a:solidFill>
                <a:latin typeface="Calibri"/>
              </a:rPr>
              <a:t>el 82,7 % de los trigramas guardados tiene palabra intermedia vacía (accion de tutela).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Validación manual (20 colocaciones)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Frecuencia. </a:t>
            </a:r>
            <a:r>
              <a:rPr sz="1250">
                <a:solidFill>
                  <a:srgbClr val="333333"/>
                </a:solidFill>
                <a:latin typeface="Calibri"/>
              </a:rPr>
              <a:t>55 % de fórmulas válidas.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PMI. </a:t>
            </a:r>
            <a:r>
              <a:rPr sz="1250">
                <a:solidFill>
                  <a:srgbClr val="333333"/>
                </a:solidFill>
                <a:latin typeface="Calibri"/>
              </a:rPr>
              <a:t>0 %: ordena ruido y fragmentos no españoles.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LLR. </a:t>
            </a:r>
            <a:r>
              <a:rPr sz="1250">
                <a:solidFill>
                  <a:srgbClr val="333333"/>
                </a:solidFill>
                <a:latin typeface="Calibri"/>
              </a:rPr>
              <a:t>75 %: equilibra frecuencia y asociación → medida principal.</a:t>
            </a:r>
          </a:p>
        </p:txBody>
      </p:sp>
      <p:pic>
        <p:nvPicPr>
          <p:cNvPr id="5" name="Picture 4" descr="fig_ngramas_bi_t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128" y="1234440"/>
            <a:ext cx="5234863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520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Top-15 de bigramas y trigramas.</a:t>
            </a:r>
          </a:p>
        </p:txBody>
      </p:sp>
      <p:pic>
        <p:nvPicPr>
          <p:cNvPr id="7" name="Picture 6" descr="fig_coloca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871" y="3840480"/>
            <a:ext cx="5237377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6126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Colocaciones por razón de verosimilitud (top-10).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Diversidad léxica (MTLD) y morfología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0292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Diversidad léxica (MTLD)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Global. </a:t>
            </a:r>
            <a:r>
              <a:rPr sz="1250">
                <a:solidFill>
                  <a:srgbClr val="333333"/>
                </a:solidFill>
                <a:latin typeface="Calibri"/>
              </a:rPr>
              <a:t>61,03; por tipo: T 61,63 &gt; C 59,54 &gt; SU 58,88.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Periodos. </a:t>
            </a:r>
            <a:r>
              <a:rPr sz="1250">
                <a:solidFill>
                  <a:srgbClr val="333333"/>
                </a:solidFill>
                <a:latin typeface="Calibri"/>
              </a:rPr>
              <a:t>64,32 → 60,37 → 58,53 (1992–2001 / 2002–2011 / 2012–2021).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Tendencia. </a:t>
            </a:r>
            <a:r>
              <a:rPr sz="1250">
                <a:solidFill>
                  <a:srgbClr val="333333"/>
                </a:solidFill>
                <a:latin typeface="Calibri"/>
              </a:rPr>
              <a:t>pendiente −0,32 por año (r = −0,328; p &lt; 0,001).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Morfología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Vocabulario. </a:t>
            </a:r>
            <a:r>
              <a:rPr sz="1250">
                <a:solidFill>
                  <a:srgbClr val="333333"/>
                </a:solidFill>
                <a:latin typeface="Calibri"/>
              </a:rPr>
              <a:t>224.468 formas → 195.959 lemas (87,3 %) → 121.696 stems (54,2 %).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POS. </a:t>
            </a:r>
            <a:r>
              <a:rPr sz="1250">
                <a:solidFill>
                  <a:srgbClr val="333333"/>
                </a:solidFill>
                <a:latin typeface="Calibri"/>
              </a:rPr>
              <a:t>NOUN 22,58 % · ADP 20,45 % · DET 15,57 %.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Lectura. </a:t>
            </a:r>
            <a:r>
              <a:rPr sz="1250">
                <a:solidFill>
                  <a:srgbClr val="333333"/>
                </a:solidFill>
                <a:latin typeface="Calibri"/>
              </a:rPr>
              <a:t>lematizar reduce el vocabulario manteniendo la legibilidad: base del TF-IDF.</a:t>
            </a:r>
          </a:p>
        </p:txBody>
      </p:sp>
      <p:pic>
        <p:nvPicPr>
          <p:cNvPr id="5" name="Picture 4" descr="fig_mtld_distrib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54" y="1234440"/>
            <a:ext cx="5407811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2004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MTLD por tipo de providencia y por año.</a:t>
            </a:r>
          </a:p>
        </p:txBody>
      </p:sp>
      <p:pic>
        <p:nvPicPr>
          <p:cNvPr id="7" name="Picture 6" descr="fig_lemma_vs_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016" y="3520440"/>
            <a:ext cx="4623087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48640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Compresión del vocabulario: formas, lemas y 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Recursos léxicos y ontologías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943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Candidatas evaluadas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EuroVoc / MultiEURLEX. </a:t>
            </a:r>
            <a:r>
              <a:rPr sz="1250">
                <a:solidFill>
                  <a:srgbClr val="333333"/>
                </a:solidFill>
                <a:latin typeface="Calibri"/>
              </a:rPr>
              <a:t>tesauro multilingüe (español) de derecho de la UE; multietiqueta; aplicabilidad parcial (no mapea la CP ni la tutela).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LKIF. </a:t>
            </a:r>
            <a:r>
              <a:rPr sz="1250">
                <a:solidFill>
                  <a:srgbClr val="333333"/>
                </a:solidFill>
                <a:latin typeface="Calibri"/>
              </a:rPr>
              <a:t>ontología formal OWL de conceptos jurídicos; aplicabilidad baja; útil como patrón de modelado.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ELI / ECLI. </a:t>
            </a:r>
            <a:r>
              <a:rPr sz="1250">
                <a:solidFill>
                  <a:srgbClr val="333333"/>
                </a:solidFill>
                <a:latin typeface="Calibri"/>
              </a:rPr>
              <a:t>esquemas de identificación y metadatos; no son vocabularios temáticos (aplicabilidad nula como contenido).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LegalRuleML / Akoma Ntoso. </a:t>
            </a:r>
            <a:r>
              <a:rPr sz="1250">
                <a:solidFill>
                  <a:srgbClr val="333333"/>
                </a:solidFill>
                <a:latin typeface="Calibri"/>
              </a:rPr>
              <a:t>marcado de reglas y estructura; baja a corto plazo (anotación manual costosa).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188720"/>
            <a:ext cx="4617720" cy="42062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1188720"/>
            <a:ext cx="461772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216152"/>
            <a:ext cx="42519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10512"/>
            <a:ext cx="416052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No se adopta ninguna ontología externa tal cual.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Taxonomía ligera derivada de la Constitución Política: títulos y capítulos → bloques temáticos.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Artículos 1–380 → etiquetas finas.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Respaldo “derecho a X” para las tutelas.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EuroVoc en español: solo referencia de comparación.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5532120"/>
            <a:ext cx="4617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614416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Condiciona el diseño de etiquetas de la propuesta metodológica (diapositiva 11).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Conjunto de datos medido (requisito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60350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corpus_medido.parquet — 23.742 filas × 12 columnas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Identificación. </a:t>
            </a:r>
            <a:r>
              <a:rPr sz="1300">
                <a:solidFill>
                  <a:srgbClr val="333333"/>
                </a:solidFill>
                <a:latin typeface="Calibri"/>
              </a:rPr>
              <a:t>id · tipo · numero · ano.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Textos. </a:t>
            </a:r>
            <a:r>
              <a:rPr sz="1300">
                <a:solidFill>
                  <a:srgbClr val="333333"/>
                </a:solidFill>
                <a:latin typeface="Calibri"/>
              </a:rPr>
              <a:t>texto (crudo) · texto_limpio (normalizado; tokens de ruido filtrados).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Métricas. </a:t>
            </a:r>
            <a:r>
              <a:rPr sz="1300">
                <a:solidFill>
                  <a:srgbClr val="333333"/>
                </a:solidFill>
                <a:latin typeface="Calibri"/>
              </a:rPr>
              <a:t>n_chars_texto · n_palabras_raw · n_palabras_clean · n_stopwords · n_lemas · mtld.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</a:t>
            </a:r>
            <a:r>
              <a:rPr sz="1300" b="1">
                <a:solidFill>
                  <a:srgbClr val="333333"/>
                </a:solidFill>
                <a:latin typeface="Calibri"/>
              </a:rPr>
              <a:t>Adjuntos. </a:t>
            </a:r>
            <a:r>
              <a:rPr sz="1300">
                <a:solidFill>
                  <a:srgbClr val="333333"/>
                </a:solidFill>
                <a:latin typeface="Calibri"/>
              </a:rPr>
              <a:t>corpus_medido_muestra.csv (100 filas por tipo y década) · diccionario_datos.md (14 variables) · lemas_por_doc.parquet.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188720"/>
            <a:ext cx="4572000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1188720"/>
            <a:ext cx="457200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216152"/>
            <a:ext cx="4206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Verificación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10512"/>
            <a:ext cx="411480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23.742 filas · 23.742 ids únicos.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Sin nulos en claves ni en n_lemas/mtld.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Sumas reconciliadas: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crudas 260.988.316 · limpias 250.012.101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stopwords 121.205.437 · lemas 248.533.344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caracteres 1.640.749.780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 Tamaño del archivo: 1.544,7 MB.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623560"/>
            <a:ext cx="10835640" cy="502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9671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El archivo se adjunta en la carpeta datos/ junto al informe (formato legible y variables relevantes).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Representación: TF-IDF y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1206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TF-IDF sobre lemas (representación principal)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Configuración. </a:t>
            </a:r>
            <a:r>
              <a:rPr sz="1250">
                <a:solidFill>
                  <a:srgbClr val="333333"/>
                </a:solidFill>
                <a:latin typeface="Calibri"/>
              </a:rPr>
              <a:t>1–2 gramos · min_df=3 · 100.000 rasgos · frecuencia sublineal.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Matriz. </a:t>
            </a:r>
            <a:r>
              <a:rPr sz="1250">
                <a:solidFill>
                  <a:srgbClr val="333333"/>
                </a:solidFill>
                <a:latin typeface="Calibri"/>
              </a:rPr>
              <a:t>23.742 × 100.000 · nnz 103.045.759 · esparsidad 95,66 % · ajuste 192,5 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Cola larga. </a:t>
            </a:r>
            <a:r>
              <a:rPr sz="1250">
                <a:solidFill>
                  <a:srgbClr val="333333"/>
                </a:solidFill>
                <a:latin typeface="Calibri"/>
              </a:rPr>
              <a:t>≈2 % de la masa de frecuencia documental en los 100 primeros rasgos, ≈17 % en los 1.000 y ≈60 % en los 10.000.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Ejemplo T-001/2021. </a:t>
            </a:r>
            <a:r>
              <a:rPr sz="1250">
                <a:solidFill>
                  <a:srgbClr val="333333"/>
                </a:solidFill>
                <a:latin typeface="Calibri"/>
              </a:rPr>
              <a:t>7.712 rasgos activos; mayor peso: capital salud (0,065) · valero (0,056) · de calle (0,052).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Similitud T/C/SU. </a:t>
            </a:r>
            <a:r>
              <a:rPr sz="1250">
                <a:solidFill>
                  <a:srgbClr val="333333"/>
                </a:solidFill>
                <a:latin typeface="Calibri"/>
              </a:rPr>
              <a:t>0,24–0,25 con TF-IDF: discrimina por solapamiento léxico.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Embeddings contextuales (comparación)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e5 multilingüe. </a:t>
            </a:r>
            <a:r>
              <a:rPr sz="1250">
                <a:solidFill>
                  <a:srgbClr val="333333"/>
                </a:solidFill>
                <a:latin typeface="Calibri"/>
              </a:rPr>
              <a:t>768 dimensiones · 5 documentos · 512 tokens · GPU.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Similitud media. </a:t>
            </a:r>
            <a:r>
              <a:rPr sz="1250">
                <a:solidFill>
                  <a:srgbClr val="333333"/>
                </a:solidFill>
                <a:latin typeface="Calibri"/>
              </a:rPr>
              <a:t>0,899; en los mismos documentos 0,91–0,92 → complementarios (mayor costo, menor interpretabilidad).</a:t>
            </a:r>
          </a:p>
        </p:txBody>
      </p:sp>
      <p:pic>
        <p:nvPicPr>
          <p:cNvPr id="5" name="Picture 4" descr="fig_representacion_tfi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292" y="1234440"/>
            <a:ext cx="5770535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36118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TF-IDF: cola larga del vocabulario y top-15 rasgos del documento T-001/2021.</a:t>
            </a:r>
          </a:p>
        </p:txBody>
      </p:sp>
      <p:pic>
        <p:nvPicPr>
          <p:cNvPr id="7" name="Picture 6" descr="fig_embeddings_ejemp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735" y="3977639"/>
            <a:ext cx="2633649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64465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95959"/>
                </a:solidFill>
                <a:latin typeface="Calibri"/>
              </a:rPr>
              <a:t>Similitud coseno e5-base (5 documentos).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Propuesta metodológica de los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Tarea. </a:t>
            </a:r>
            <a:r>
              <a:rPr sz="1250">
                <a:solidFill>
                  <a:srgbClr val="333333"/>
                </a:solidFill>
                <a:latin typeface="Calibri"/>
              </a:rPr>
              <a:t>clasificación supervisada multi-clase: tipo de providencia (T/C/SU) como categoría inicial; área temática derivada de la CP como objetivo principal (etiquetas a validar).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Particiones. </a:t>
            </a:r>
            <a:r>
              <a:rPr sz="1250">
                <a:solidFill>
                  <a:srgbClr val="333333"/>
                </a:solidFill>
                <a:latin typeface="Calibri"/>
              </a:rPr>
              <a:t>70/15/15 estratificado (semilla 42, prueba intocable) · vectorizador ajustado solo con entrenamiento · partición a nivel de documento · evaluación cronológica complementaria.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514600"/>
          <a:ext cx="1078992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92608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marL="109728" marR="10972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Representación</a:t>
                      </a:r>
                    </a:p>
                  </a:txBody>
                  <a:tcPr marL="109728" marR="10972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Fortalezas y criterios</a:t>
                      </a:r>
                    </a:p>
                  </a:txBody>
                  <a:tcPr marL="109728" marR="109728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Línea base mayoritaria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Piso de comparación; macro-F1 y F1 por clase.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Clásica: modelos lineales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TF-IDF sobre lemas (1–2 gramos)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Interpretable, bajo costo; macro-F1, matriz de confusión, análisis de errores, costo.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Transformer en español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BETO con segmentación y agregación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Contexto y composicionalidad; costo de GPU y ventana de 512; robustez por periodo.</a:t>
                      </a:r>
                    </a:p>
                  </a:txBody>
                  <a:tcPr marL="109728" marR="109728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074920"/>
            <a:ext cx="1078992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230368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Criterios de evaluación: macro-F1 (principal, por el desbalance T 72,02 %) · F1 por clase · matriz de confusión · análisis cualitativo de errores · robustez por periodo y tipo · costo (tiempo, memoria, GPU).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85855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486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Conclusiones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Corpus y dataset. </a:t>
            </a:r>
            <a:r>
              <a:rPr sz="1250">
                <a:solidFill>
                  <a:srgbClr val="333333"/>
                </a:solidFill>
                <a:latin typeface="Calibri"/>
              </a:rPr>
              <a:t>23.742 sentencias consolidadas; dataset medido verificado (12 columnas); cifras E1 sin corrección.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Género formulaico. </a:t>
            </a:r>
            <a:r>
              <a:rPr sz="1250">
                <a:solidFill>
                  <a:srgbClr val="333333"/>
                </a:solidFill>
                <a:latin typeface="Calibri"/>
              </a:rPr>
              <a:t>accion de tutela (344.893) domina; LLR 75 % como mejor medida de colocaciones.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Diversidad y diacronía. </a:t>
            </a:r>
            <a:r>
              <a:rPr sz="1250">
                <a:solidFill>
                  <a:srgbClr val="333333"/>
                </a:solidFill>
                <a:latin typeface="Calibri"/>
              </a:rPr>
              <a:t>MTLD 64,32 → 58,53; recambio temático: incoder/rupd → uariv/jep/coronavirus.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Unidad validada. </a:t>
            </a:r>
            <a:r>
              <a:rPr sz="1250">
                <a:solidFill>
                  <a:srgbClr val="333333"/>
                </a:solidFill>
                <a:latin typeface="Calibri"/>
              </a:rPr>
              <a:t>sentencia 97,17 % vs subsentencia 4,64 %.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•  </a:t>
            </a:r>
            <a:r>
              <a:rPr sz="1250" b="1">
                <a:solidFill>
                  <a:srgbClr val="333333"/>
                </a:solidFill>
                <a:latin typeface="Calibri"/>
              </a:rPr>
              <a:t>Representación y método. </a:t>
            </a:r>
            <a:r>
              <a:rPr sz="1250">
                <a:solidFill>
                  <a:srgbClr val="333333"/>
                </a:solidFill>
                <a:latin typeface="Calibri"/>
              </a:rPr>
              <a:t>TF-IDF sobre lemas calculado (95,66 % de esparsidad); propuesta metodológica definida.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188720"/>
            <a:ext cx="4983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Trabajo futuro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Validar las etiquetas temáticas con personas expertas.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Comparar modelos (lineales vs transformer) con macro-F1 y análisis de errores.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Evaluar embeddings de dominio y recuperación de fragmentos.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•  Explorar resúmenes y extracción para la consulta de sentencias extensas.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4892040"/>
            <a:ext cx="49834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5029200"/>
            <a:ext cx="45262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2F5D8A"/>
                </a:solidFill>
                <a:latin typeface="Calibri"/>
              </a:rPr>
              <a:t>El dataset medido, el EDA avanzado y la metodología dejan al proyecto listo para su fase de modelado.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5D8A"/>
                </a:solidFill>
                <a:latin typeface="Calibri"/>
              </a:rPr>
              <a:t>Gracias · Preguntas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PLN · Entrega 2 · Pontificia Universidad Javeriana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 2 - EDA avanzado, representacion de textos y propuesta metodologica</dc:title>
  <dc:subject>Procesamiento de Lenguaje Natural - PUJ</dc:subject>
  <dc:creator>Rivera, Carrillo, Garnica y Prieto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