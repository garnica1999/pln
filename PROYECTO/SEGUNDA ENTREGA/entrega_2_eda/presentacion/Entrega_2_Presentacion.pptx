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92" r:id="rId44"/>
    <p:sldId id="278" r:id="rId30"/>
    <p:sldId id="279" r:id="rId31"/>
    <p:sldId id="280" r:id="rId32"/>
    <p:sldId id="281" r:id="rId33"/>
    <p:sldId id="291" r:id="rId4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3" r:id="rId45"/>
    <p:sldId id="290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8" d="100"/>
          <a:sy n="98" d="100"/>
        </p:scale>
        <p:origin x="1038" y="78"/>
      </p:cViewPr>
      <p:guideLst>
        <p:guide pos="2257" orient="horz"/>
        <p:guide pos="3840"/>
        <p:guide orient="horz"/>
        <p:guide pos="5443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tableStyles" Target="tableStyles.xml"/><Relationship Id="rId29" Type="http://schemas.openxmlformats.org/officeDocument/2006/relationships/viewProps" Target="view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855475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41775432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6018968" name="Google Shape;5;n"/>
          <p:cNvSpPr>
            <a:spLocks noChangeAspect="1" noGrp="1" noRot="1"/>
          </p:cNvSpPr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2031427153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86750658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8081559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596975" name="Google Shape;85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732337601" name="Google Shape;86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Presentamos la Entrega 2: EDA avanzado, representacion de textos y propuesta metodologica del proyecto de PLN sobre jurisprudencia constitucional colombiana.</a:t>
            </a:r>
          </a:p>
        </p:txBody>
      </p:sp>
      <p:sp>
        <p:nvSpPr>
          <p:cNvPr id="1436613924" name="Google Shape;87;p1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271199" name="Google Shape;93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ruta de la presentacion: objetivo del proyecto, resumen de la Entrega 1, estado del arte, la metodologia de trabajo, el trabajo de la Entrega 2, los trabajos futuros y las conclusiones.</a:t>
            </a:r>
          </a:p>
        </p:txBody>
      </p:sp>
      <p:sp>
        <p:nvSpPr>
          <p:cNvPr id="966946621" name="Google Shape;94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pPr>
              <a:defRPr/>
            </a:pPr>
            <a:endParaRPr lang="es-C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objetivo general del proyecto es un sistema de apoyo al analisis y la consulta de la jurisprudencia constitucional, con cuatro componentes: validar la providencia, clasificar su area tematica, identificar los articulos de la Constitucion que la sustentan y situarla en su contexto jurisprudencial. Esta entrega avanza en el corpus caracterizado y medido, la representacion y la metodologia de clasificacion; el vinculo con los articulos y el contexto jurisprudencial se plantean como trabajo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Sintesis de la Entrega 1: el corpus se depuro desde 23.750 registros crudos; la extraccion por expresiones regulares logro 99,97 % de eficacia; se excluyeron 8 filas (6 autos y 2 HTML) y quedaron 23.742 sentencias con una muestra estratificada de 25 documentos para inspeccion.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limpieza en ocho pasos normalizo el texto (minusculas, NFD, preservacion de la ene, filtro de ruido y 306 stopwords normalizadas). La textometria basica midio 260,99 millones de palabras crudas, 250,01 millones de tokens normalizados y 128,81 millones de tokens sin stopwords: las sentencias son documentos muy extensos y formulaicos.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estado del arte de esta entrega se apoya en el trabajo sobre el mismo corpus, la evidencia de que el preprocesamiento importa y los antecedentes de clasificacion de sentencias largas y en espanol.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la representacion y la diacronia nos apoyamos en los fundamentos de recuperacion de informacion, la razon de verosimilitud, la MTLD, el log-odds y los modelos contextuales en espanol y de dominio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Además de los resultados, la entrega documenta el método de trabajo: un proceso por fases con puertas de calidad (comprensión de datos, preparación, análisis y representación), reproducibilidad de punta a punta (limpieza por etapas, semilla fija 42 y análisis ejecutado y sellado) y control de calidad con revisiones y auditorías que recomputan las cifras. El modelado es la siguiente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Respecto a la Entrega 1 no hay rectificaciones de cifras: los cambios son extensiones verificadas, del dataset medido al EDA extendido, la unidad validada, la diacronia y la representacion con la propuesta metodologica.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requisito 3 se cumple con un conjunto de datos medido de 23.742 filas por 12 columnas, verificado con aserciones duras: sin nulos, ids unicos y sumas reconciliadas con las cifras canonicas. Se adjuntan muestra estratificada, diccionario de datos y lemas por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corpus es fuertemente formulaico: accion de tutela domina y el 82,7 por ciento de los trigramas guardados son formulas; la validacion manual de 20 colocaciones favorecio la razon de verosimilitud (75 por ciento de formulas validas frente a 55 por ciento de la frecuencia y 0 por ciento del PMI). El espectro de frecuencias confirma la concentracion del vocabulario: un tercio de los tipos son hapax y el 4,4 por ciento de los tipos concentra el 93,5 por ciento de los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diversidad lexica desciende de forma sostenida en las tres decadas y la lematizacion reduce el vocabulario conservando la legibilidad: es la base de la representacion TF-IDF.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contraste por periodos cumple la promesa de la Entrega 1: en la ultima decada gana peso el vocabulario del conflicto armado y la pandemia. Los extremos incluyen siglas y ruido de OCR; el metodo es fiel a la referencia interna y se reporta el 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Ninguna ontologia internacional cubre el espanol juridico colombiano: se evaluaron cuatro candidatas y se decidio derivar una taxonomia ligera de la propia Constitucion Politica.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representacion principal es TF-IDF sobre lemas: interpretable, de bajo costo y con 95,66 por ciento de esparsidad. Casi todos los documentos (99,95 por ciento) exceden la ventana de 512 tokens de los modelos contextuales, que exigiran segmentacion; TF-IDF, que representa el documento completo, queda como base de la fase de modelado.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propuesta define la tarea, las particiones con prueba intocable, los modelos a comparar y los criterios: macro-F1, analisis de errores y costo. Sin resultados de modelos: es una propuesta metodologica.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trabajo posterior se plantea como continuidad de lo construido, con herramientas concretas por etapa. Etiquetas: etiquetado debil por citas a la Constitucion y tesauro EuroVoc, auditoria de ruido con cleanlab, preanotacion con ALIA-7B-Instruct y validacion humana progresiva. Modelado supervisado: TF-IDF con regresion logistica y SVM lineal (scikit-learn), LightGBM y ajuste eficiente con LoRA/PEFT. Recuperacion: busqueda hibrida BM25 mas embeddings E5, reranker cross-encoder y ALIA-7B-Instruct, con el grafo de citas como senal. Representaciones contextuales: multilingual-e5-base, BETO por documento y por fragmentos, y variantes legales evaluadas (ALIA-MrBERT, BGE-M3, ModernBERT legal). Aplicaciones: resumen y consulta con ALIA-7B-Instruct, contexto jurisprudencial con retrieval y grafo de citas, y diacronia con embeddings alineados. Varias de estas herramientas ya estan implementadas en el avance del proyecto, de modo que cada frente continua sobre componentes ya probados; no se reportan cifras de rendimiento: es trabajo en curso. El sustento es doble: el estado del arte respalda cada frente y los datos del corpus los justifican (99,95 por ciento de los documentos excede los 512 tokens; T concentra el 72,02 por ciento; el 97,17 por ciento de las sentencias tiene marcador tematico).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Cierre: corpus y dataset consolidados, genero formulaico, diversidad decreciente con recambio tematico, unidad validada y representacion definida. El trabajo inmediato es validar etiquetas, comparar modelos y analizar errores por periodo.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iapositiva de título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247815" name="Google Shape;16;p24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0978581" name="Google Shape;17;p24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142794985" name="Google Shape;18;p2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8260698" name="Google Shape;19;p2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3445810" name="Google Shape;20;p2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y objetos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087925" name="Google Shape;22;p2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0778967" name="Google Shape;23;p2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1331597" name="Google Shape;24;p2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7279116" name="Google Shape;25;p2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2005329" name="Google Shape;26;p2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cabezado de sección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360373" name="Google Shape;28;p26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0160291" name="Google Shape;29;p26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94688972" name="Google Shape;30;p2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9589719" name="Google Shape;31;p2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5217382" name="Google Shape;32;p2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os objetos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482899" name="Google Shape;34;p2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9222356" name="Google Shape;35;p27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1355420" name="Google Shape;36;p27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763784" name="Google Shape;37;p2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5376842" name="Google Shape;38;p2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9959029" name="Google Shape;39;p2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ació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148575" name="Google Shape;41;p28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2046195" name="Google Shape;42;p28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95830449" name="Google Shape;43;p28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8118239" name="Google Shape;44;p28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513021191" name="Google Shape;45;p28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6226543" name="Google Shape;46;p2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4095354" name="Google Shape;47;p2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0538512" name="Google Shape;48;p2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olo el título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9596872" name="Google Shape;50;p2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3373840" name="Google Shape;51;p2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7069819" name="Google Shape;52;p2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9489108" name="Google Shape;53;p2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 blanco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00705" name="Google Shape;55;p3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3215058" name="Google Shape;56;p3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5902450" name="Google Shape;57;p3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ido con título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397483" name="Google Shape;59;p31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6810161" name="Google Shape;60;p31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77731381" name="Google Shape;61;p31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766502671" name="Google Shape;62;p3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9657907" name="Google Shape;63;p3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6011046" name="Google Shape;64;p3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n con título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157467" name="Google Shape;66;p32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1835089" name="Google Shape;67;p32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defRPr/>
            </a:pPr>
            <a:endParaRPr lang="es-CO"/>
          </a:p>
        </p:txBody>
      </p:sp>
      <p:sp>
        <p:nvSpPr>
          <p:cNvPr id="1874191071" name="Google Shape;68;p32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013510678" name="Google Shape;69;p3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5089940" name="Google Shape;70;p3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0522454" name="Google Shape;71;p3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y texto vertical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490823" name="Google Shape;73;p3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4130782" name="Google Shape;74;p33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9472093" name="Google Shape;75;p3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8918344" name="Google Shape;76;p3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6366219" name="Google Shape;77;p3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ítulo vertical y texto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107367" name="Google Shape;79;p34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4092205" name="Google Shape;80;p34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5335316" name="Google Shape;81;p3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8076010" name="Google Shape;82;p3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2873014" name="Google Shape;83;p3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4777180" name="Google Shape;10;p2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11276602" name="Google Shape;11;p2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13277534" name="Google Shape;12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9576772" name="Google Shape;13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68338809" name="Google Shape;14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3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3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3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1909786" name="Google Shape;89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76715" name="Google Shape;90;p1"/>
          <p:cNvSpPr txBox="1">
            <a:spLocks noGrp="1"/>
          </p:cNvSpPr>
          <p:nvPr>
            <p:ph type="subTitle" idx="1"/>
          </p:nvPr>
        </p:nvSpPr>
        <p:spPr bwMode="auto">
          <a:xfrm>
            <a:off x="3120836" y="2351525"/>
            <a:ext cx="8843623" cy="260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defRPr/>
            </a:pPr>
            <a:r>
              <a:rPr lang="es-CO" sz="4000" b="1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Análisis y clasificación automática de sentencias de la Corte Constitucional de Colombia</a:t>
            </a:r>
            <a:br>
              <a:rPr lang="es-CO" sz="4000" b="1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</a:br>
            <a:r>
              <a:rPr lang="es-CO" sz="4000" b="1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(1992-2021)</a:t>
            </a:r>
            <a:endParaRPr/>
          </a:p>
          <a:p>
            <a:pPr marL="0" indent="0">
              <a:spcBef>
                <a:spcPts val="0"/>
              </a:spcBef>
              <a:defRPr/>
            </a:pPr>
            <a:r>
              <a:rPr lang="es-CO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Entrega 2: EDA avanzado, representación de textos y propuesta metodológica</a:t>
            </a:r>
            <a:endParaRPr/>
          </a:p>
        </p:txBody>
      </p:sp>
      <p:sp>
        <p:nvSpPr>
          <p:cNvPr id="1167814308" name="Google Shape;91;p1"/>
          <p:cNvSpPr txBox="1"/>
          <p:nvPr/>
        </p:nvSpPr>
        <p:spPr bwMode="auto">
          <a:xfrm>
            <a:off x="5398379" y="5284794"/>
            <a:ext cx="4029086" cy="11800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s-CO" sz="1800">
                <a:solidFill>
                  <a:srgbClr val="002060"/>
                </a:solidFill>
                <a:latin typeface="Arial"/>
                <a:ea typeface="Calibri"/>
                <a:cs typeface="Arial"/>
              </a:rPr>
              <a:t>Erika Valeria Rivera Jiménez</a:t>
            </a:r>
            <a:endParaRPr/>
          </a:p>
          <a:p>
            <a:pPr marL="342900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s-CO" sz="1800">
                <a:solidFill>
                  <a:srgbClr val="002060"/>
                </a:solidFill>
                <a:latin typeface="Arial"/>
                <a:ea typeface="Calibri"/>
                <a:cs typeface="Arial"/>
              </a:rPr>
              <a:t>Julian Guillermo Carrillo Meneses</a:t>
            </a:r>
            <a:endParaRPr/>
          </a:p>
          <a:p>
            <a:pPr marL="342900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s-CO" sz="1800">
                <a:solidFill>
                  <a:srgbClr val="002060"/>
                </a:solidFill>
                <a:latin typeface="Arial"/>
                <a:ea typeface="Calibri"/>
                <a:cs typeface="Arial"/>
              </a:rPr>
              <a:t>Carlos Andrés Garnica Salazar</a:t>
            </a:r>
            <a:endParaRPr/>
          </a:p>
          <a:p>
            <a:pPr marL="342900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s-CO" sz="1800">
                <a:solidFill>
                  <a:srgbClr val="002060"/>
                </a:solidFill>
                <a:latin typeface="Arial"/>
                <a:ea typeface="Calibri"/>
                <a:cs typeface="Arial"/>
              </a:rPr>
              <a:t>Oscar Andrés Prieto Moreno</a:t>
            </a:r>
            <a:endParaRPr lang="en-US" sz="1800">
              <a:solidFill>
                <a:srgbClr val="00206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90000"/>
              </a:lnSpc>
              <a:buFont typeface="Arial"/>
              <a:buChar char="•"/>
              <a:defRPr/>
            </a:pPr>
            <a:r>
              <a:rPr lang="es-CO" sz="1800">
                <a:solidFill>
                  <a:srgbClr val="002060"/>
                </a:solidFill>
                <a:latin typeface="Arial"/>
                <a:ea typeface="Calibri"/>
                <a:cs typeface="Arial"/>
              </a:rPr>
              <a:t>Pontificia Universidad Javeriana · Octubre de 2026</a:t>
            </a:r>
            <a:endParaRPr lang="en-US" sz="1800">
              <a:solidFill>
                <a:srgbClr val="00206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9345526" name="Google Shape;96;p2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0"/>
            <a:ext cx="12192005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584643799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defRPr/>
            </a:pPr>
            <a:r>
              <a:rPr lang="es-CO" sz="3200" b="1" i="0" u="none" strike="noStrike" cap="none">
                <a:solidFill>
                  <a:schemeClr val="bg1"/>
                </a:solidFill>
                <a:latin typeface="Arial"/>
                <a:ea typeface="Calibri"/>
                <a:cs typeface="Arial"/>
              </a:rPr>
              <a:t>Contenido</a:t>
            </a:r>
            <a:endParaRPr lang="es-CO" sz="3200" b="1" i="0" u="none" strike="noStrike" cap="none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57795571" name="CuadroTexto 4"/>
          <p:cNvSpPr txBox="1"/>
          <p:nvPr/>
        </p:nvSpPr>
        <p:spPr bwMode="auto">
          <a:xfrm>
            <a:off x="914400" y="19177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defRPr/>
            </a:pPr>
            <a:r>
              <a:rPr lang="es-CO" sz="1000" b="1">
                <a:solidFill>
                  <a:srgbClr val="2F75B5"/>
                </a:solidFill>
              </a:rPr>
              <a:t>RUTA DE LA PRESENTACIÓN</a:t>
            </a:r>
            <a:endParaRPr/>
          </a:p>
        </p:txBody>
      </p:sp>
      <p:sp>
        <p:nvSpPr>
          <p:cNvPr id="1860038710" name="Rectángulo: esquinas redondeadas 5"/>
          <p:cNvSpPr/>
          <p:nvPr/>
        </p:nvSpPr>
        <p:spPr bwMode="auto">
          <a:xfrm>
            <a:off x="914400" y="2231136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524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16651183" name="Rectángulo: esquinas redondeadas 6"/>
          <p:cNvSpPr/>
          <p:nvPr/>
        </p:nvSpPr>
        <p:spPr bwMode="auto">
          <a:xfrm>
            <a:off x="1066800" y="2276856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2F75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/>
          </a:p>
        </p:txBody>
      </p:sp>
      <p:sp>
        <p:nvSpPr>
          <p:cNvPr id="1735013349" name="CuadroTexto 7"/>
          <p:cNvSpPr txBox="1"/>
          <p:nvPr/>
        </p:nvSpPr>
        <p:spPr bwMode="auto">
          <a:xfrm>
            <a:off x="1905000" y="2240280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Objetivo del proyecto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General y objetivos específicos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451321856" name="CuadroTexto 8"/>
          <p:cNvSpPr txBox="1"/>
          <p:nvPr/>
        </p:nvSpPr>
        <p:spPr bwMode="auto">
          <a:xfrm>
            <a:off x="9906000" y="2286000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2F75B5"/>
                </a:solidFill>
              </a:rPr>
              <a:t>03</a:t>
            </a:r>
            <a:endParaRPr/>
          </a:p>
        </p:txBody>
      </p:sp>
      <p:sp>
        <p:nvSpPr>
          <p:cNvPr id="283016945" name="Rectángulo: esquinas redondeadas 9"/>
          <p:cNvSpPr/>
          <p:nvPr/>
        </p:nvSpPr>
        <p:spPr bwMode="auto">
          <a:xfrm>
            <a:off x="914400" y="2798064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5240" cap="flat" cmpd="sng" algn="ctr">
            <a:solidFill>
              <a:srgbClr val="D99A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1057720322" name="Rectángulo: esquinas redondeadas 10"/>
          <p:cNvSpPr/>
          <p:nvPr/>
        </p:nvSpPr>
        <p:spPr bwMode="auto">
          <a:xfrm>
            <a:off x="1066800" y="2843784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D99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/>
          </a:p>
        </p:txBody>
      </p:sp>
      <p:sp>
        <p:nvSpPr>
          <p:cNvPr id="1235857380" name="CuadroTexto 11"/>
          <p:cNvSpPr txBox="1"/>
          <p:nvPr/>
        </p:nvSpPr>
        <p:spPr bwMode="auto">
          <a:xfrm>
            <a:off x="1905000" y="2807208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Resumen de la Entrega 1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Corpus, limpieza y textometría básica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159974123" name="CuadroTexto 12"/>
          <p:cNvSpPr txBox="1"/>
          <p:nvPr/>
        </p:nvSpPr>
        <p:spPr bwMode="auto">
          <a:xfrm>
            <a:off x="9906000" y="2852928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D99A00"/>
                </a:solidFill>
              </a:rPr>
              <a:t>04–05</a:t>
            </a:r>
            <a:endParaRPr/>
          </a:p>
        </p:txBody>
      </p:sp>
      <p:sp>
        <p:nvSpPr>
          <p:cNvPr id="907583244" name="Rectángulo: esquinas redondeadas 13"/>
          <p:cNvSpPr/>
          <p:nvPr/>
        </p:nvSpPr>
        <p:spPr bwMode="auto">
          <a:xfrm>
            <a:off x="914400" y="3364991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524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1136928843" name="Rectángulo: esquinas redondeadas 14"/>
          <p:cNvSpPr/>
          <p:nvPr/>
        </p:nvSpPr>
        <p:spPr bwMode="auto">
          <a:xfrm>
            <a:off x="1066800" y="3410711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/>
          </a:p>
        </p:txBody>
      </p:sp>
      <p:sp>
        <p:nvSpPr>
          <p:cNvPr id="1988974961" name="CuadroTexto 15"/>
          <p:cNvSpPr txBox="1"/>
          <p:nvPr/>
        </p:nvSpPr>
        <p:spPr bwMode="auto">
          <a:xfrm>
            <a:off x="1905000" y="3374135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Estado del arte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Antecedentes y representación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47125433" name="CuadroTexto 16"/>
          <p:cNvSpPr txBox="1"/>
          <p:nvPr/>
        </p:nvSpPr>
        <p:spPr bwMode="auto">
          <a:xfrm>
            <a:off x="9906000" y="3419856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2E8B57"/>
                </a:solidFill>
              </a:rPr>
              <a:t>06–07</a:t>
            </a:r>
            <a:endParaRPr/>
          </a:p>
        </p:txBody>
      </p:sp>
      <p:sp>
        <p:nvSpPr>
          <p:cNvPr id="388648585" name="Rectángulo: esquinas redondeadas 17"/>
          <p:cNvSpPr/>
          <p:nvPr/>
        </p:nvSpPr>
        <p:spPr bwMode="auto">
          <a:xfrm>
            <a:off x="914400" y="3931920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524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483071233" name="Rectángulo: esquinas redondeadas 18"/>
          <p:cNvSpPr/>
          <p:nvPr/>
        </p:nvSpPr>
        <p:spPr bwMode="auto">
          <a:xfrm>
            <a:off x="1066800" y="3977639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2F75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/>
          </a:p>
        </p:txBody>
      </p:sp>
      <p:sp>
        <p:nvSpPr>
          <p:cNvPr id="279856753" name="CuadroTexto 19"/>
          <p:cNvSpPr txBox="1"/>
          <p:nvPr/>
        </p:nvSpPr>
        <p:spPr bwMode="auto">
          <a:xfrm>
            <a:off x="1905000" y="3941063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Metodología de trabajo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Fases, reproducibilidad y control de calidad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669258529" name="CuadroTexto 20"/>
          <p:cNvSpPr txBox="1"/>
          <p:nvPr/>
        </p:nvSpPr>
        <p:spPr bwMode="auto">
          <a:xfrm>
            <a:off x="9906000" y="3986783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2F75B5"/>
                </a:solidFill>
              </a:rPr>
              <a:t>08</a:t>
            </a:r>
            <a:endParaRPr/>
          </a:p>
        </p:txBody>
      </p:sp>
      <p:sp>
        <p:nvSpPr>
          <p:cNvPr id="1851806784" name="Fusion-G-Fila5-Rectángulo: esquinas redo"/>
          <p:cNvSpPr/>
          <p:nvPr/>
        </p:nvSpPr>
        <p:spPr bwMode="auto">
          <a:xfrm>
            <a:off x="914400" y="4498848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524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1715073770" name="Fusion-G-Fila5-Rectángulo: esquinas redo"/>
          <p:cNvSpPr/>
          <p:nvPr/>
        </p:nvSpPr>
        <p:spPr bwMode="auto">
          <a:xfrm>
            <a:off x="1066800" y="4544568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6554A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/>
          </a:p>
        </p:txBody>
      </p:sp>
      <p:sp>
        <p:nvSpPr>
          <p:cNvPr id="834721718" name="Fusion-G-Fila5-CuadroTexto 19"/>
          <p:cNvSpPr txBox="1"/>
          <p:nvPr/>
        </p:nvSpPr>
        <p:spPr bwMode="auto">
          <a:xfrm>
            <a:off x="1905000" y="4507992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Corpus medido y EDA avanzado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Dataset, n-gramas, diversidad y diacronía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725098802" name="Fusion-G-Fila5-CuadroTexto 20"/>
          <p:cNvSpPr txBox="1"/>
          <p:nvPr/>
        </p:nvSpPr>
        <p:spPr bwMode="auto">
          <a:xfrm>
            <a:off x="9906000" y="4553712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6554A4"/>
                </a:solidFill>
              </a:rPr>
              <a:t>09–14</a:t>
            </a:r>
            <a:endParaRPr/>
          </a:p>
        </p:txBody>
      </p:sp>
      <p:sp>
        <p:nvSpPr>
          <p:cNvPr id="2133676726" name="Fusion-G-Fila6-Rectángulo: esquinas redo"/>
          <p:cNvSpPr/>
          <p:nvPr/>
        </p:nvSpPr>
        <p:spPr bwMode="auto">
          <a:xfrm>
            <a:off x="914400" y="5065776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524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727" name="Fusion-G-Fila6-Rectángulo: esquinas redo"/>
          <p:cNvSpPr/>
          <p:nvPr/>
        </p:nvSpPr>
        <p:spPr bwMode="auto">
          <a:xfrm>
            <a:off x="1066800" y="5111496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6554A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06</a:t>
            </a:r>
            <a:endParaRPr/>
          </a:p>
        </p:txBody>
      </p:sp>
      <p:sp>
        <p:nvSpPr>
          <p:cNvPr id="2133676728" name="Fusion-G-Fila6-CuadroTexto 19"/>
          <p:cNvSpPr txBox="1"/>
          <p:nvPr/>
        </p:nvSpPr>
        <p:spPr bwMode="auto">
          <a:xfrm>
            <a:off x="1905000" y="5074920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Representación y metodología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TF-IDF, embeddings y propuesta de modelado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2133676729" name="Fusion-G-Fila6-CuadroTexto 20"/>
          <p:cNvSpPr txBox="1"/>
          <p:nvPr/>
        </p:nvSpPr>
        <p:spPr bwMode="auto">
          <a:xfrm>
            <a:off x="9906000" y="5120640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6554A4"/>
                </a:solidFill>
              </a:rPr>
              <a:t>15–16</a:t>
            </a:r>
            <a:endParaRPr/>
          </a:p>
        </p:txBody>
      </p:sp>
      <p:sp>
        <p:nvSpPr>
          <p:cNvPr id="2133676730" name="Fusion-G-Fila7-Rectángulo: esquinas redo"/>
          <p:cNvSpPr/>
          <p:nvPr/>
        </p:nvSpPr>
        <p:spPr bwMode="auto">
          <a:xfrm>
            <a:off x="914400" y="5632704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524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731" name="Fusion-G-Fila7-Rectángulo: esquinas redo"/>
          <p:cNvSpPr/>
          <p:nvPr/>
        </p:nvSpPr>
        <p:spPr bwMode="auto">
          <a:xfrm>
            <a:off x="1066800" y="5678424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6554A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07</a:t>
            </a:r>
            <a:endParaRPr/>
          </a:p>
        </p:txBody>
      </p:sp>
      <p:sp>
        <p:nvSpPr>
          <p:cNvPr id="2133676732" name="Fusion-G-Fila7-CuadroTexto 19"/>
          <p:cNvSpPr txBox="1"/>
          <p:nvPr/>
        </p:nvSpPr>
        <p:spPr bwMode="auto">
          <a:xfrm>
            <a:off x="1905000" y="5641848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Trabajos futuros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Validación, modelado y aplicaciones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2133676733" name="Fusion-G-Fila7-CuadroTexto 20"/>
          <p:cNvSpPr txBox="1"/>
          <p:nvPr/>
        </p:nvSpPr>
        <p:spPr bwMode="auto">
          <a:xfrm>
            <a:off x="9906000" y="5687568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6554A4"/>
                </a:solidFill>
              </a:rPr>
              <a:t>17</a:t>
            </a:r>
            <a:endParaRPr/>
          </a:p>
        </p:txBody>
      </p:sp>
      <p:sp>
        <p:nvSpPr>
          <p:cNvPr id="2133676734" name="Fusion-G-Fila8-Rectángulo: esquinas redo"/>
          <p:cNvSpPr/>
          <p:nvPr/>
        </p:nvSpPr>
        <p:spPr bwMode="auto">
          <a:xfrm>
            <a:off x="914400" y="6199631"/>
            <a:ext cx="10363200" cy="512064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524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735" name="Fusion-G-Fila8-Rectángulo: esquinas redo"/>
          <p:cNvSpPr/>
          <p:nvPr/>
        </p:nvSpPr>
        <p:spPr bwMode="auto">
          <a:xfrm>
            <a:off x="1066800" y="6245351"/>
            <a:ext cx="609600" cy="420624"/>
          </a:xfrm>
          <a:prstGeom prst="roundRect">
            <a:avLst>
              <a:gd name="adj" fmla="val 16667"/>
            </a:avLst>
          </a:prstGeom>
          <a:solidFill>
            <a:srgbClr val="6554A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>
              <a:defRPr/>
            </a:pPr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08</a:t>
            </a:r>
            <a:endParaRPr/>
          </a:p>
        </p:txBody>
      </p:sp>
      <p:sp>
        <p:nvSpPr>
          <p:cNvPr id="2133676736" name="Fusion-G-Fila8-CuadroTexto 19"/>
          <p:cNvSpPr txBox="1"/>
          <p:nvPr/>
        </p:nvSpPr>
        <p:spPr bwMode="auto">
          <a:xfrm>
            <a:off x="1905000" y="6208775"/>
            <a:ext cx="7493000" cy="49377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073654"/>
                </a:solidFill>
              </a:rPr>
              <a:t>Conclusiones</a:t>
            </a:r>
            <a:br>
              <a:rPr lang="es-ES" sz="1200">
                <a:solidFill>
                  <a:srgbClr val="425466"/>
                </a:solidFill>
              </a:rPr>
            </a:br>
            <a:r>
              <a:rPr lang="es-ES" sz="1200">
                <a:solidFill>
                  <a:srgbClr val="425466"/>
                </a:solidFill>
              </a:rPr>
              <a:t>Hallazgos principales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2133676737" name="Fusion-G-Fila8-CuadroTexto 20"/>
          <p:cNvSpPr txBox="1"/>
          <p:nvPr/>
        </p:nvSpPr>
        <p:spPr bwMode="auto">
          <a:xfrm>
            <a:off x="9906000" y="6254495"/>
            <a:ext cx="1041400" cy="402336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>
              <a:defRPr/>
            </a:pPr>
            <a:r>
              <a:rPr lang="es-CO" sz="1500" b="1">
                <a:solidFill>
                  <a:srgbClr val="6554A4"/>
                </a:solidFill>
              </a:rPr>
              <a:t>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5819" name=""/>
        <p:cNvGrpSpPr/>
        <p:nvPr/>
      </p:nvGrpSpPr>
      <p:grpSpPr/>
      <p:pic>
        <p:nvPicPr>
          <p:cNvPr id="213367582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582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ES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Resumen de la Entrega 1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582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Corpus: del dato crudo al analizable</a:t>
            </a:r>
            <a:endParaRPr/>
          </a:p>
        </p:txBody>
      </p:sp>
      <p:sp>
        <p:nvSpPr>
          <p:cNvPr id="2133675823" name="Rectángulo: esquinas redondeadas 1"/>
          <p:cNvSpPr/>
          <p:nvPr/>
        </p:nvSpPr>
        <p:spPr bwMode="auto">
          <a:xfrm>
            <a:off x="533400" y="2730500"/>
            <a:ext cx="1905000" cy="19812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1200" b="1">
                <a:solidFill>
                  <a:srgbClr val="2F75B5"/>
                </a:solidFill>
                <a:latin typeface="+mj-lt"/>
                <a:cs typeface="Arial"/>
              </a:rPr>
              <a:t>INGESTA</a:t>
            </a:r>
            <a:endParaRPr/>
          </a:p>
          <a:p>
            <a:pPr algn="l">
              <a:defRPr/>
            </a:pPr>
            <a:br>
              <a:rPr lang="es-CO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CO" sz="1200" b="1">
                <a:solidFill>
                  <a:srgbClr val="162536"/>
                </a:solidFill>
                <a:latin typeface="+mj-lt"/>
                <a:cs typeface="Arial"/>
              </a:rPr>
              <a:t>23.750</a:t>
            </a:r>
            <a:r>
              <a:rPr lang="es-CO" sz="1200">
                <a:solidFill>
                  <a:srgbClr val="162536"/>
                </a:solidFill>
                <a:latin typeface="+mj-lt"/>
                <a:cs typeface="Arial"/>
              </a:rPr>
              <a:t> registros</a:t>
            </a:r>
            <a:br>
              <a:rPr lang="es-CO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CO" sz="1200">
                <a:solidFill>
                  <a:srgbClr val="162536"/>
                </a:solidFill>
                <a:latin typeface="+mj-lt"/>
                <a:cs typeface="Arial"/>
              </a:rPr>
              <a:t>Texto crudo no estructurado</a:t>
            </a:r>
            <a:endParaRPr/>
          </a:p>
        </p:txBody>
      </p:sp>
      <p:sp>
        <p:nvSpPr>
          <p:cNvPr id="2133675824" name="Rectángulo: esquinas redondeadas 2"/>
          <p:cNvSpPr/>
          <p:nvPr/>
        </p:nvSpPr>
        <p:spPr bwMode="auto">
          <a:xfrm>
            <a:off x="2743200" y="2730500"/>
            <a:ext cx="1905000" cy="19812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9050" cap="flat" cmpd="sng" algn="ctr">
            <a:solidFill>
              <a:srgbClr val="F4B41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200" b="1">
                <a:solidFill>
                  <a:srgbClr val="F4B41A"/>
                </a:solidFill>
                <a:latin typeface="+mj-lt"/>
                <a:cs typeface="Arial"/>
              </a:rPr>
              <a:t>EXTRACCIÓN</a:t>
            </a:r>
            <a:endParaRPr/>
          </a:p>
          <a:p>
            <a:pPr algn="l">
              <a:defRPr/>
            </a:pP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Extracción mediante expresiones regulares:</a:t>
            </a: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- ID</a:t>
            </a:r>
            <a:endParaRPr/>
          </a:p>
          <a:p>
            <a:pPr algn="l">
              <a:defRPr/>
            </a:pP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- Tipo</a:t>
            </a:r>
            <a:endParaRPr/>
          </a:p>
          <a:p>
            <a:pPr algn="l">
              <a:defRPr/>
            </a:pP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- Año</a:t>
            </a:r>
            <a:endParaRPr/>
          </a:p>
          <a:p>
            <a:pPr algn="ctr">
              <a:defRPr/>
            </a:pP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0070C0"/>
                </a:solidFill>
                <a:latin typeface="+mj-lt"/>
                <a:cs typeface="Arial"/>
              </a:rPr>
              <a:t>99,97 % eficacia</a:t>
            </a:r>
            <a:endParaRPr lang="es-CO" sz="120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2133675825" name="Rectángulo: esquinas redondeadas 5"/>
          <p:cNvSpPr/>
          <p:nvPr/>
        </p:nvSpPr>
        <p:spPr bwMode="auto">
          <a:xfrm>
            <a:off x="4953000" y="2730500"/>
            <a:ext cx="1905000" cy="1981200"/>
          </a:xfrm>
          <a:prstGeom prst="roundRect">
            <a:avLst>
              <a:gd name="adj" fmla="val 16667"/>
            </a:avLst>
          </a:prstGeom>
          <a:solidFill>
            <a:srgbClr val="FDEBEC"/>
          </a:solidFill>
          <a:ln w="19050" cap="flat" cmpd="sng" algn="ctr">
            <a:solidFill>
              <a:srgbClr val="C94C4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200" b="1">
                <a:solidFill>
                  <a:srgbClr val="C94C4C"/>
                </a:solidFill>
                <a:latin typeface="+mj-lt"/>
                <a:cs typeface="Arial"/>
              </a:rPr>
              <a:t>DEPURACIÓN</a:t>
            </a:r>
            <a:endParaRPr/>
          </a:p>
          <a:p>
            <a:pPr algn="l">
              <a:defRPr/>
            </a:pP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- 8 exclusiones (0,03 %)</a:t>
            </a: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- 6 autos + 2 HTML</a:t>
            </a:r>
            <a:endParaRPr lang="es-CO" sz="120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2133675826" name="Rectángulo: esquinas redondeadas 6"/>
          <p:cNvSpPr/>
          <p:nvPr/>
        </p:nvSpPr>
        <p:spPr bwMode="auto">
          <a:xfrm>
            <a:off x="7162800" y="2730500"/>
            <a:ext cx="1905000" cy="198120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905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200" b="1">
                <a:solidFill>
                  <a:srgbClr val="2E8B57"/>
                </a:solidFill>
                <a:latin typeface="+mj-lt"/>
                <a:cs typeface="Arial"/>
              </a:rPr>
              <a:t>CONSOLIDACIÓN</a:t>
            </a:r>
            <a:endParaRPr/>
          </a:p>
          <a:p>
            <a:pPr algn="l">
              <a:defRPr/>
            </a:pP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 b="1">
                <a:solidFill>
                  <a:srgbClr val="162536"/>
                </a:solidFill>
                <a:latin typeface="+mj-lt"/>
                <a:cs typeface="Arial"/>
              </a:rPr>
              <a:t>23.742 </a:t>
            </a: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sentencias</a:t>
            </a: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Corpus limpio y estructurado</a:t>
            </a:r>
            <a:endParaRPr lang="es-CO" sz="120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2133675827" name="Rectángulo: esquinas redondeadas 7"/>
          <p:cNvSpPr/>
          <p:nvPr/>
        </p:nvSpPr>
        <p:spPr bwMode="auto">
          <a:xfrm>
            <a:off x="9372600" y="2730500"/>
            <a:ext cx="1905000" cy="1981200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905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200" b="1">
                <a:solidFill>
                  <a:srgbClr val="6554A4"/>
                </a:solidFill>
                <a:latin typeface="+mj-lt"/>
                <a:cs typeface="Arial"/>
              </a:rPr>
              <a:t>VALIDACIÓN</a:t>
            </a:r>
            <a:endParaRPr/>
          </a:p>
          <a:p>
            <a:pPr algn="l">
              <a:defRPr/>
            </a:pP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Muestra estratificada de 25 documentos</a:t>
            </a:r>
            <a:br>
              <a:rPr lang="es-ES" sz="1200">
                <a:solidFill>
                  <a:srgbClr val="162536"/>
                </a:solidFill>
                <a:latin typeface="+mj-lt"/>
                <a:cs typeface="Arial"/>
              </a:rPr>
            </a:br>
            <a:r>
              <a:rPr lang="es-ES" sz="1200">
                <a:solidFill>
                  <a:srgbClr val="162536"/>
                </a:solidFill>
                <a:latin typeface="+mj-lt"/>
                <a:cs typeface="Arial"/>
              </a:rPr>
              <a:t>para facilitar la inspección del corpus.</a:t>
            </a:r>
            <a:endParaRPr lang="es-CO" sz="120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2133675828" name="Flecha: cheurón 8"/>
          <p:cNvSpPr/>
          <p:nvPr/>
        </p:nvSpPr>
        <p:spPr bwMode="auto">
          <a:xfrm>
            <a:off x="2463800" y="3492500"/>
            <a:ext cx="228600" cy="431799"/>
          </a:xfrm>
          <a:prstGeom prst="chevron">
            <a:avLst>
              <a:gd name="adj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33675829" name="Flecha: cheurón 9"/>
          <p:cNvSpPr/>
          <p:nvPr/>
        </p:nvSpPr>
        <p:spPr bwMode="auto">
          <a:xfrm>
            <a:off x="4673600" y="3492500"/>
            <a:ext cx="228600" cy="431799"/>
          </a:xfrm>
          <a:prstGeom prst="chevron">
            <a:avLst>
              <a:gd name="adj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33675830" name="Flecha: cheurón 10"/>
          <p:cNvSpPr/>
          <p:nvPr/>
        </p:nvSpPr>
        <p:spPr bwMode="auto">
          <a:xfrm>
            <a:off x="6883400" y="3492500"/>
            <a:ext cx="228600" cy="431799"/>
          </a:xfrm>
          <a:prstGeom prst="chevron">
            <a:avLst>
              <a:gd name="adj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33675831" name="Flecha: cheurón 11"/>
          <p:cNvSpPr/>
          <p:nvPr/>
        </p:nvSpPr>
        <p:spPr bwMode="auto">
          <a:xfrm>
            <a:off x="9093200" y="3492500"/>
            <a:ext cx="228600" cy="431799"/>
          </a:xfrm>
          <a:prstGeom prst="chevron">
            <a:avLst>
              <a:gd name="adj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33675832" name="Rectángulo: esquinas redondeadas 12"/>
          <p:cNvSpPr/>
          <p:nvPr/>
        </p:nvSpPr>
        <p:spPr bwMode="auto">
          <a:xfrm>
            <a:off x="1905000" y="5041900"/>
            <a:ext cx="8382000" cy="6096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FFFFFF"/>
                </a:solidFill>
                <a:latin typeface="Arial"/>
                <a:cs typeface="Arial"/>
              </a:rPr>
              <a:t>RESULTADO  →  corpus analizable, trazable y preparado para vectorización o modelado</a:t>
            </a:r>
            <a:endParaRPr lang="es-CO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2133675833" name="Imagen 14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30395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5879" name=""/>
        <p:cNvGrpSpPr/>
        <p:nvPr/>
      </p:nvGrpSpPr>
      <p:grpSpPr/>
      <p:pic>
        <p:nvPicPr>
          <p:cNvPr id="213367588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588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Resumen de la Entrega 1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588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Limpieza y textometría básica</a:t>
            </a:r>
            <a:endParaRPr/>
          </a:p>
        </p:txBody>
      </p:sp>
      <p:sp>
        <p:nvSpPr>
          <p:cNvPr id="2133675883" name="Rectángulo: esquinas redondeadas 1"/>
          <p:cNvSpPr/>
          <p:nvPr/>
        </p:nvSpPr>
        <p:spPr bwMode="auto">
          <a:xfrm>
            <a:off x="787400" y="2603500"/>
            <a:ext cx="3111500" cy="9906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600" b="1">
                <a:solidFill>
                  <a:srgbClr val="F4B41A"/>
                </a:solidFill>
                <a:latin typeface="Arial"/>
                <a:cs typeface="Arial"/>
              </a:rPr>
              <a:t>23.742</a:t>
            </a:r>
            <a:br>
              <a:rPr lang="es-CO" sz="1600" b="1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s-CO" sz="1600" b="1">
                <a:solidFill>
                  <a:srgbClr val="FFFFFF"/>
                </a:solidFill>
                <a:latin typeface="Arial"/>
                <a:cs typeface="Arial"/>
              </a:rPr>
              <a:t>SENTENCIAS</a:t>
            </a:r>
            <a:endParaRPr lang="es-CO" sz="16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33675884" name="Rectángulo: esquinas redondeadas 2"/>
          <p:cNvSpPr/>
          <p:nvPr/>
        </p:nvSpPr>
        <p:spPr bwMode="auto">
          <a:xfrm>
            <a:off x="4140200" y="2603500"/>
            <a:ext cx="3111500" cy="9906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400" b="1">
                <a:solidFill>
                  <a:srgbClr val="2F75B5"/>
                </a:solidFill>
                <a:latin typeface="Arial"/>
                <a:cs typeface="Arial"/>
              </a:rPr>
              <a:t>≈ 10.993</a:t>
            </a:r>
            <a:br>
              <a:rPr lang="es-CO" sz="1200" b="1">
                <a:solidFill>
                  <a:srgbClr val="17395C"/>
                </a:solidFill>
                <a:latin typeface="Arial"/>
                <a:cs typeface="Arial"/>
              </a:rPr>
            </a:br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PALABRAS POR SENTENCIA</a:t>
            </a:r>
            <a:endParaRPr/>
          </a:p>
        </p:txBody>
      </p:sp>
      <p:sp>
        <p:nvSpPr>
          <p:cNvPr id="2133675885" name="Rectángulo: esquinas redondeadas 5"/>
          <p:cNvSpPr/>
          <p:nvPr/>
        </p:nvSpPr>
        <p:spPr bwMode="auto">
          <a:xfrm>
            <a:off x="7493000" y="2603500"/>
            <a:ext cx="3873500" cy="9906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905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400" b="1">
                <a:solidFill>
                  <a:srgbClr val="D49400"/>
                </a:solidFill>
                <a:latin typeface="Arial"/>
                <a:cs typeface="Arial"/>
              </a:rPr>
              <a:t>≈ 48 %</a:t>
            </a:r>
            <a:br>
              <a:rPr lang="es-CO" sz="1200" b="1">
                <a:solidFill>
                  <a:srgbClr val="5D4700"/>
                </a:solidFill>
                <a:latin typeface="Arial"/>
                <a:cs typeface="Arial"/>
              </a:rPr>
            </a:br>
            <a:r>
              <a:rPr lang="es-CO" sz="1200" b="1">
                <a:solidFill>
                  <a:srgbClr val="5D4700"/>
                </a:solidFill>
                <a:latin typeface="Arial"/>
                <a:cs typeface="Arial"/>
              </a:rPr>
              <a:t>TOKENS FUNCIONALES IDENTIFICADOS</a:t>
            </a:r>
            <a:endParaRPr/>
          </a:p>
        </p:txBody>
      </p:sp>
      <p:sp>
        <p:nvSpPr>
          <p:cNvPr id="2133675886" name="CuadroTexto 6"/>
          <p:cNvSpPr txBox="1"/>
          <p:nvPr/>
        </p:nvSpPr>
        <p:spPr bwMode="auto">
          <a:xfrm>
            <a:off x="787400" y="38989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>
              <a:defRPr/>
            </a:pPr>
            <a:r>
              <a:rPr lang="es-CO" sz="1000" b="1">
                <a:solidFill>
                  <a:srgbClr val="667788"/>
                </a:solidFill>
              </a:rPr>
              <a:t>REDUCCIÓN DEL VOLUMEN TEXTUAL</a:t>
            </a:r>
            <a:endParaRPr/>
          </a:p>
        </p:txBody>
      </p:sp>
      <p:sp>
        <p:nvSpPr>
          <p:cNvPr id="2133675887" name="Rectángulo: esquinas redondeadas 7"/>
          <p:cNvSpPr/>
          <p:nvPr/>
        </p:nvSpPr>
        <p:spPr bwMode="auto">
          <a:xfrm>
            <a:off x="7874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2032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500" b="1">
                <a:solidFill>
                  <a:srgbClr val="2F75B5"/>
                </a:solidFill>
                <a:latin typeface="Arial"/>
                <a:cs typeface="Arial"/>
              </a:rPr>
              <a:t>260,99 M</a:t>
            </a:r>
            <a:br>
              <a:rPr lang="es-CO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PALABRAS CRUDAS</a:t>
            </a:r>
            <a:br>
              <a:rPr lang="es-CO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Volumen de entrada</a:t>
            </a:r>
            <a:endParaRPr/>
          </a:p>
        </p:txBody>
      </p:sp>
      <p:sp>
        <p:nvSpPr>
          <p:cNvPr id="2133675888" name="Rectángulo: esquinas redondeadas 8"/>
          <p:cNvSpPr/>
          <p:nvPr/>
        </p:nvSpPr>
        <p:spPr bwMode="auto">
          <a:xfrm>
            <a:off x="45339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2032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2500" b="1">
                <a:solidFill>
                  <a:srgbClr val="E6A700"/>
                </a:solidFill>
                <a:latin typeface="Arial"/>
                <a:cs typeface="Arial"/>
              </a:rPr>
              <a:t>250,01 M</a:t>
            </a:r>
            <a:br>
              <a:rPr lang="es-ES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es-ES" sz="1200" b="1">
                <a:solidFill>
                  <a:srgbClr val="17395C"/>
                </a:solidFill>
                <a:latin typeface="Arial"/>
                <a:cs typeface="Arial"/>
              </a:rPr>
              <a:t>TOKENS NORMALIZADOS</a:t>
            </a:r>
            <a:br>
              <a:rPr lang="es-ES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Después de limpieza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5889" name="Rectángulo: esquinas redondeadas 9"/>
          <p:cNvSpPr/>
          <p:nvPr/>
        </p:nvSpPr>
        <p:spPr bwMode="auto">
          <a:xfrm>
            <a:off x="82804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2032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sv-SE" sz="2500" b="1">
                <a:solidFill>
                  <a:srgbClr val="2E8B57"/>
                </a:solidFill>
                <a:latin typeface="Arial"/>
                <a:cs typeface="Arial"/>
              </a:rPr>
              <a:t>128,81 M</a:t>
            </a:r>
            <a:br>
              <a:rPr lang="sv-SE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sv-SE" sz="1200" b="1">
                <a:solidFill>
                  <a:srgbClr val="17395C"/>
                </a:solidFill>
                <a:latin typeface="Arial"/>
                <a:cs typeface="Arial"/>
              </a:rPr>
              <a:t>TOKENS SIN STOPWORDS</a:t>
            </a:r>
            <a:br>
              <a:rPr lang="sv-SE" sz="1100">
                <a:solidFill>
                  <a:srgbClr val="314455"/>
                </a:solidFill>
                <a:latin typeface="Arial"/>
                <a:cs typeface="Arial"/>
              </a:rPr>
            </a:br>
            <a:r>
              <a:rPr lang="sv-SE" sz="1100">
                <a:solidFill>
                  <a:srgbClr val="314455"/>
                </a:solidFill>
                <a:latin typeface="Arial"/>
                <a:cs typeface="Arial"/>
              </a:rPr>
              <a:t>Base informativa final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5890" name="Flecha: a la derecha 10"/>
          <p:cNvSpPr/>
          <p:nvPr/>
        </p:nvSpPr>
        <p:spPr bwMode="auto">
          <a:xfrm>
            <a:off x="3975100" y="4762500"/>
            <a:ext cx="4572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5891" name="Flecha: a la derecha 11"/>
          <p:cNvSpPr/>
          <p:nvPr/>
        </p:nvSpPr>
        <p:spPr bwMode="auto">
          <a:xfrm>
            <a:off x="7721600" y="4762500"/>
            <a:ext cx="4572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5892" name="Rectángulo: esquinas redondeadas 12"/>
          <p:cNvSpPr/>
          <p:nvPr/>
        </p:nvSpPr>
        <p:spPr bwMode="auto">
          <a:xfrm>
            <a:off x="787400" y="6019800"/>
            <a:ext cx="10579100" cy="7874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Las sentencias son documentos extraordinariamente extensos y presentan una alta repetición de estructuras lingüísticas.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2133675893" name="Imagen 14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5939" name=""/>
        <p:cNvGrpSpPr/>
        <p:nvPr/>
      </p:nvGrpSpPr>
      <p:grpSpPr/>
      <p:pic>
        <p:nvPicPr>
          <p:cNvPr id="213367594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594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Estado del arte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5942" name="E2-Arte1-Cuerpo"/>
          <p:cNvSpPr txBox="1"/>
          <p:nvPr/>
        </p:nvSpPr>
        <p:spPr bwMode="auto">
          <a:xfrm>
            <a:off x="685800" y="2463393"/>
            <a:ext cx="10442448" cy="4120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Anzola Cortés (2021): </a:t>
            </a:r>
            <a:r>
              <a:rPr lang="es-ES" dirty="0" sz="1800"/>
              <a:t>minería de datos sobre más de 6.000 sentencias de constitucionalidad (1992-2020): el mismo universo documental del corpus.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Barbosa Becerra (2021): </a:t>
            </a:r>
            <a:r>
              <a:rPr lang="es-ES" dirty="0" sz="1800"/>
              <a:t>análisis léxico-discursivo de sentencias de la Corte; evidencia fórmulas estables y léxico especializado.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HaCohen-Kerner et al. (2020): </a:t>
            </a:r>
            <a:r>
              <a:rPr lang="es-ES" dirty="0" sz="1800"/>
              <a:t>el preprocesamiento cambia los resultados según el corpus y la tarea: fundamenta documentar cada paso de limpieza.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Soh et al. (2019): </a:t>
            </a:r>
            <a:r>
              <a:rPr lang="es-ES" dirty="0" sz="1800"/>
              <a:t>corpus de sentencias largas: cautela con las frecuencias globales; comparación de clasificadores clásicos y neuronales.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Aletras et al. (2016) y González-González et al. (2023): </a:t>
            </a:r>
            <a:r>
              <a:rPr lang="es-ES" dirty="0" sz="1800"/>
              <a:t>el poder predictivo varía por secciones de la sentencia (TEDH) y la clasificación de sentencias en español usa diccionarios de dominio.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Löffler et al. (2025): </a:t>
            </a:r>
            <a:r>
              <a:rPr lang="es-ES" dirty="0" sz="1800"/>
              <a:t>escasez de recursos legales anotados en español para América Latina.</a:t>
            </a:r>
          </a:p>
          <a:p>
            <a:pPr lvl="1" marL="457200"/>
            <a:r>
              <a:rPr lang="es-ES" dirty="0" sz="1200" i="1">
                <a:solidFill>
                  <a:srgbClr val="425466"/>
                </a:solidFill>
              </a:rPr>
              <a:t>No hay trabajos indexados que usen el dataset exacto de Hugging Face (verificado 2026-09-05); los antecedentes cubren el corpus subyacente y la metodología.</a:t>
            </a:r>
          </a:p>
        </p:txBody>
      </p:sp>
      <p:sp>
        <p:nvSpPr>
          <p:cNvPr id="213367594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PLN legal en español y preprocesamiento</a:t>
            </a:r>
            <a:endParaRPr/>
          </a:p>
        </p:txBody>
      </p:sp>
      <p:pic>
        <p:nvPicPr>
          <p:cNvPr id="213367594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5999" name=""/>
        <p:cNvGrpSpPr/>
        <p:nvPr/>
      </p:nvGrpSpPr>
      <p:grpSpPr/>
      <p:pic>
        <p:nvPicPr>
          <p:cNvPr id="213367600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00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Estado del arte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002" name="E2-Arte2-Cuerpo"/>
          <p:cNvSpPr txBox="1"/>
          <p:nvPr/>
        </p:nvSpPr>
        <p:spPr bwMode="auto">
          <a:xfrm>
            <a:off x="685800" y="2463393"/>
            <a:ext cx="10442448" cy="3703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Manning et al. (2008): </a:t>
            </a:r>
            <a:r>
              <a:rPr lang="es-ES" dirty="0" sz="1800"/>
              <a:t>fundamentos de recuperación de información y ponderación TF-IDF.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Dunning (1993): </a:t>
            </a:r>
            <a:r>
              <a:rPr lang="es-ES" dirty="0" sz="1800"/>
              <a:t>razón de verosimilitud (LLR) para la estadística de colocaciones.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McCarthy y Jarvis (2010): </a:t>
            </a:r>
            <a:r>
              <a:rPr lang="es-ES" dirty="0" sz="1800"/>
              <a:t>MTLD como medida de diversidad léxica robusta a la longitud del texto.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Hamilton et al. (2016): </a:t>
            </a:r>
            <a:r>
              <a:rPr lang="es-ES" dirty="0" sz="1800"/>
              <a:t>log-odds con suavizado para comparar vocabularios entre periodos.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Chalkidis et al. (2020, 2021): </a:t>
            </a:r>
            <a:r>
              <a:rPr lang="es-ES" dirty="0" sz="1800"/>
              <a:t>LEGAL-BERT y MultiEURLEX: vocabulario jurídico distinto del general y deriva temporal que exige particiones cronológicas.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Reimers y Gurevych (2019), Cañete et al. (2020) y Wang et al. (2022): </a:t>
            </a:r>
            <a:r>
              <a:rPr lang="es-ES" dirty="0" sz="1800"/>
              <a:t>Sentence-BERT, BETO y e5 multilingüe como representaciones densas de comparación.</a:t>
            </a:r>
          </a:p>
          <a:p>
            <a:pPr lvl="1" marL="457200"/>
            <a:r>
              <a:rPr lang="es-ES" dirty="0" sz="1200" i="1">
                <a:solidFill>
                  <a:srgbClr val="425466"/>
                </a:solidFill>
              </a:rPr>
              <a:t>Estas referencias fundamentan la representación (TF-IDF y embeddings), la medida de colocaciones y el análisis diacrónico de esta entrega.</a:t>
            </a:r>
          </a:p>
        </p:txBody>
      </p:sp>
      <p:sp>
        <p:nvSpPr>
          <p:cNvPr id="213367600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Representación, diversidad y diacronía</a:t>
            </a:r>
            <a:endParaRPr/>
          </a:p>
        </p:txBody>
      </p:sp>
      <p:pic>
        <p:nvPicPr>
          <p:cNvPr id="213367600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059" name=""/>
        <p:cNvGrpSpPr/>
        <p:nvPr/>
      </p:nvGrpSpPr>
      <p:grpSpPr/>
      <p:pic>
        <p:nvPicPr>
          <p:cNvPr id="213367606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06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Trabajo de la Entrega 2</a:t>
            </a: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062" name="E2-Correcciones-Cuerpo"/>
          <p:cNvSpPr txBox="1"/>
          <p:nvPr/>
        </p:nvSpPr>
        <p:spPr bwMode="auto">
          <a:xfrm>
            <a:off x="685800" y="2463393"/>
            <a:ext cx="10442448" cy="2971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Dataset medido: </a:t>
            </a:r>
            <a:r>
              <a:rPr lang="es-ES" dirty="0" sz="1800"/>
              <a:t>23.742 filas × 12 columnas con texto, texto limpio y métricas por documento.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EDA extendido: </a:t>
            </a:r>
            <a:r>
              <a:rPr lang="es-ES" dirty="0" sz="1800"/>
              <a:t>n-gramas, colocaciones, lemas/stems/POS, MTLD, granularidad y recursos léxicos.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Visualizaciones: </a:t>
            </a:r>
            <a:r>
              <a:rPr lang="es-ES" dirty="0" sz="1800"/>
              <a:t>siete figuras nuevas; las figuras de la Entrega 1 se conservan.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Unidad validada: </a:t>
            </a:r>
            <a:r>
              <a:rPr lang="es-ES" dirty="0" sz="1800"/>
              <a:t>sentencia 97,17 % vs subsentencia 4,64 % (criterio pre-registrado de +15 pp).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Periodos: </a:t>
            </a:r>
            <a:r>
              <a:rPr lang="es-ES" dirty="0" sz="1800"/>
              <a:t>contraste léxico 1992-2001 / 2002-2011 / 2012-2021 ejecutado (log-odds).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Representación y metodología: </a:t>
            </a:r>
            <a:r>
              <a:rPr lang="es-ES" dirty="0" sz="1800"/>
              <a:t>TF-IDF sobre lemas y propuesta de modelado definidas.</a:t>
            </a:r>
          </a:p>
          <a:p>
            <a:pPr lvl="1" marL="457200"/>
            <a:r>
              <a:rPr lang="es-ES" dirty="0" sz="1200" i="1">
                <a:solidFill>
                  <a:srgbClr val="425466"/>
                </a:solidFill>
              </a:rPr>
              <a:t>Las cifras canónicas de la Entrega 1 (23.742 documentos; 260.988.316 / 250.012.101 palabras) no requirieron corrección.</a:t>
            </a:r>
          </a:p>
        </p:txBody>
      </p:sp>
      <p:sp>
        <p:nvSpPr>
          <p:cNvPr id="213367606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Correcciones respecto a la Entrega 1</a:t>
            </a:r>
            <a:endParaRPr/>
          </a:p>
        </p:txBody>
      </p:sp>
      <p:pic>
        <p:nvPicPr>
          <p:cNvPr id="2133676064" name="Imagen 20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1674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119" name=""/>
        <p:cNvGrpSpPr/>
        <p:nvPr/>
      </p:nvGrpSpPr>
      <p:grpSpPr/>
      <p:pic>
        <p:nvPicPr>
          <p:cNvPr id="213367612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12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Corpus medido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12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Conjunto de datos y verificación</a:t>
            </a:r>
            <a:endParaRPr/>
          </a:p>
        </p:txBody>
      </p:sp>
      <p:sp>
        <p:nvSpPr>
          <p:cNvPr id="2133676123" name="E2-CM-1"/>
          <p:cNvSpPr/>
          <p:nvPr/>
        </p:nvSpPr>
        <p:spPr bwMode="auto">
          <a:xfrm>
            <a:off x="787400" y="2603500"/>
            <a:ext cx="3111500" cy="9906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600" b="1">
                <a:solidFill>
                  <a:srgbClr val="F4B41A"/>
                </a:solidFill>
                <a:latin typeface="Arial"/>
                <a:cs typeface="Arial"/>
              </a:rPr>
              <a:t>23.742</a:t>
            </a:r>
            <a:br/>
            <a:r>
              <a:rPr lang="es-CO" sz="1600" b="1">
                <a:solidFill>
                  <a:srgbClr val="FFFFFF"/>
                </a:solidFill>
                <a:latin typeface="Arial"/>
                <a:cs typeface="Arial"/>
              </a:rPr>
              <a:t>FILAS VERIFICADAS</a:t>
            </a:r>
            <a:endParaRPr lang="es-CO" sz="16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33676124" name="E2-CM-2"/>
          <p:cNvSpPr/>
          <p:nvPr/>
        </p:nvSpPr>
        <p:spPr bwMode="auto">
          <a:xfrm>
            <a:off x="4140200" y="2603500"/>
            <a:ext cx="3111500" cy="9906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400" b="1">
                <a:solidFill>
                  <a:srgbClr val="2F75B5"/>
                </a:solidFill>
                <a:latin typeface="Arial"/>
                <a:cs typeface="Arial"/>
              </a:rPr>
              <a:t>12</a:t>
            </a:r>
            <a:br/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COLUMNAS</a:t>
            </a:r>
            <a:endParaRPr/>
          </a:p>
        </p:txBody>
      </p:sp>
      <p:sp>
        <p:nvSpPr>
          <p:cNvPr id="2133676125" name="E2-CM-5"/>
          <p:cNvSpPr/>
          <p:nvPr/>
        </p:nvSpPr>
        <p:spPr bwMode="auto">
          <a:xfrm>
            <a:off x="7493000" y="2603500"/>
            <a:ext cx="3873500" cy="9906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905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400" b="1">
                <a:solidFill>
                  <a:srgbClr val="D49400"/>
                </a:solidFill>
                <a:latin typeface="Arial"/>
                <a:cs typeface="Arial"/>
              </a:rPr>
              <a:t>1.544,7 MB</a:t>
            </a:r>
            <a:br/>
            <a:r>
              <a:rPr lang="es-CO" sz="1200" b="1">
                <a:solidFill>
                  <a:srgbClr val="5D4700"/>
                </a:solidFill>
                <a:latin typeface="Arial"/>
                <a:cs typeface="Arial"/>
              </a:rPr>
              <a:t>TAMAÑO DEL CONJUNTO</a:t>
            </a:r>
            <a:endParaRPr/>
          </a:p>
        </p:txBody>
      </p:sp>
      <p:sp>
        <p:nvSpPr>
          <p:cNvPr id="2133676126" name="CuadroTexto 6"/>
          <p:cNvSpPr txBox="1"/>
          <p:nvPr/>
        </p:nvSpPr>
        <p:spPr bwMode="auto">
          <a:xfrm>
            <a:off x="787400" y="38989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>
              <a:defRPr/>
            </a:pPr>
            <a:r>
              <a:rPr lang="es-CO" sz="1000" b="1">
                <a:solidFill>
                  <a:srgbClr val="667788"/>
                </a:solidFill>
              </a:rPr>
              <a:t>ESQUEMA DEL CONJUNTO MEDIDO</a:t>
            </a:r>
            <a:endParaRPr/>
          </a:p>
        </p:txBody>
      </p:sp>
      <p:sp>
        <p:nvSpPr>
          <p:cNvPr id="2133676127" name="E2-CM-7"/>
          <p:cNvSpPr/>
          <p:nvPr/>
        </p:nvSpPr>
        <p:spPr bwMode="auto">
          <a:xfrm>
            <a:off x="7874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2032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500" b="1">
                <a:solidFill>
                  <a:srgbClr val="2F75B5"/>
                </a:solidFill>
                <a:latin typeface="Arial"/>
                <a:cs typeface="Arial"/>
              </a:rPr>
              <a:t>260.988.316</a:t>
            </a:r>
            <a:br/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PALABRAS CRUDAS</a:t>
            </a:r>
            <a:br/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Suma verificada sobre las 23.742 filas</a:t>
            </a:r>
            <a:endParaRPr/>
          </a:p>
        </p:txBody>
      </p:sp>
      <p:sp>
        <p:nvSpPr>
          <p:cNvPr id="2133676128" name="E2-CM-8"/>
          <p:cNvSpPr/>
          <p:nvPr/>
        </p:nvSpPr>
        <p:spPr bwMode="auto">
          <a:xfrm>
            <a:off x="45339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2032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2500" b="1">
                <a:solidFill>
                  <a:srgbClr val="E6A700"/>
                </a:solidFill>
                <a:latin typeface="Arial"/>
                <a:cs typeface="Arial"/>
              </a:rPr>
              <a:t>250.012.101</a:t>
            </a:r>
            <a:br/>
            <a:r>
              <a:rPr lang="es-ES" sz="1200" b="1">
                <a:solidFill>
                  <a:srgbClr val="17395C"/>
                </a:solidFill>
                <a:latin typeface="Arial"/>
                <a:cs typeface="Arial"/>
              </a:rPr>
              <a:t>PALABRAS LIMPIAS</a:t>
            </a:r>
            <a:br/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Tras limpieza y filtro de ruido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6129" name="E2-CM-9"/>
          <p:cNvSpPr/>
          <p:nvPr/>
        </p:nvSpPr>
        <p:spPr bwMode="auto">
          <a:xfrm>
            <a:off x="8280400" y="4254500"/>
            <a:ext cx="3086100" cy="142240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2032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sv-SE" sz="2500" b="1">
                <a:solidFill>
                  <a:srgbClr val="2E8B57"/>
                </a:solidFill>
                <a:latin typeface="Arial"/>
                <a:cs typeface="Arial"/>
              </a:rPr>
              <a:t>248.533.344</a:t>
            </a:r>
            <a:br/>
            <a:r>
              <a:rPr lang="sv-SE" sz="1200" b="1">
                <a:solidFill>
                  <a:srgbClr val="17395C"/>
                </a:solidFill>
                <a:latin typeface="Arial"/>
                <a:cs typeface="Arial"/>
              </a:rPr>
              <a:t>LEMAS TOTALES</a:t>
            </a:r>
            <a:br/>
            <a:r>
              <a:rPr lang="sv-SE" sz="1100">
                <a:solidFill>
                  <a:srgbClr val="314455"/>
                </a:solidFill>
                <a:latin typeface="Arial"/>
                <a:cs typeface="Arial"/>
              </a:rPr>
              <a:t>Join verificado; 1.640.749.780 caracteres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6130" name="Flecha: a la derecha 10"/>
          <p:cNvSpPr/>
          <p:nvPr/>
        </p:nvSpPr>
        <p:spPr bwMode="auto">
          <a:xfrm>
            <a:off x="3975100" y="4762500"/>
            <a:ext cx="4572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131" name="Flecha: a la derecha 11"/>
          <p:cNvSpPr/>
          <p:nvPr/>
        </p:nvSpPr>
        <p:spPr bwMode="auto">
          <a:xfrm>
            <a:off x="7721600" y="4762500"/>
            <a:ext cx="4572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132" name="E2-CM-Hallazgo"/>
          <p:cNvSpPr/>
          <p:nvPr/>
        </p:nvSpPr>
        <p:spPr bwMode="auto">
          <a:xfrm>
            <a:off x="787400" y="6019800"/>
            <a:ext cx="10579100" cy="7874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VERIFICACIÓN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23.742 ids únicos, sin nulos en claves; sumas reconciliadas; muestra de 100 filas + diccionario de datos.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2133676133" name="Imagen 14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179" name=""/>
        <p:cNvGrpSpPr/>
        <p:nvPr/>
      </p:nvGrpSpPr>
      <p:grpSpPr/>
      <p:pic>
        <p:nvPicPr>
          <p:cNvPr id="213367618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18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EDA avanzado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18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ES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N-gramas y espectro de frecuencias</a:t>
            </a:r>
            <a:endParaRPr/>
          </a:p>
        </p:txBody>
      </p:sp>
      <p:pic>
        <p:nvPicPr>
          <p:cNvPr id="2133676185" name="Imagen 8"/>
          <p:cNvPicPr>
            <a:picLocks noChangeAspect="1"/>
          </p:cNvPicPr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pic>
        <p:nvPicPr>
          <p:cNvPr id="2133676186" name="E2-Fig-Ngramas" descr="fig_ngramas_bi_tr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715457"/>
            <a:ext cx="5532120" cy="2250044"/>
          </a:xfrm>
          <a:prstGeom prst="rect">
            <a:avLst/>
          </a:prstGeom>
        </p:spPr>
      </p:pic>
      <p:pic>
        <p:nvPicPr>
          <p:cNvPr id="2133676187" name="E2-Fig-Espectro" descr="fig_espectro_frecuenc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2713636"/>
            <a:ext cx="5532120" cy="2253686"/>
          </a:xfrm>
          <a:prstGeom prst="rect">
            <a:avLst/>
          </a:prstGeom>
        </p:spPr>
      </p:pic>
      <p:sp>
        <p:nvSpPr>
          <p:cNvPr id="2133676188" name="E2-Nota"/>
          <p:cNvSpPr txBox="1"/>
          <p:nvPr/>
        </p:nvSpPr>
        <p:spPr>
          <a:xfrm>
            <a:off x="502920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Top-15 de bigramas y trigramas más frecuentes.</a:t>
            </a:r>
          </a:p>
        </p:txBody>
      </p:sp>
      <p:sp>
        <p:nvSpPr>
          <p:cNvPr id="2133676189" name="E2-Nota"/>
          <p:cNvSpPr txBox="1"/>
          <p:nvPr/>
        </p:nvSpPr>
        <p:spPr>
          <a:xfrm>
            <a:off x="6153912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Espectro de frecuencias: 33,0 % de hápax; el 4,4 % de los tipos concentra el 93,5 % de los tokens.</a:t>
            </a:r>
          </a:p>
        </p:txBody>
      </p:sp>
      <p:sp>
        <p:nvSpPr>
          <p:cNvPr id="1631093514" name="E2-Hallazgo"/>
          <p:cNvSpPr/>
          <p:nvPr/>
        </p:nvSpPr>
        <p:spPr bwMode="auto">
          <a:xfrm>
            <a:off x="786384" y="5806440"/>
            <a:ext cx="10579608" cy="786384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accion de tutela (344.893) es el trigrama más frecuente; el 82,7 % de los trigramas guardados responde al patrón con palabra intermedia vacía.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239" name=""/>
        <p:cNvGrpSpPr/>
        <p:nvPr/>
      </p:nvGrpSpPr>
      <p:grpSpPr/>
      <p:pic>
        <p:nvPicPr>
          <p:cNvPr id="213367624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24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EDA avanzado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24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ES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Diversidad léxica y morfología</a:t>
            </a:r>
            <a:endParaRPr/>
          </a:p>
        </p:txBody>
      </p:sp>
      <p:pic>
        <p:nvPicPr>
          <p:cNvPr id="2133676245" name="Imagen 8"/>
          <p:cNvPicPr>
            <a:picLocks noChangeAspect="1"/>
          </p:cNvPicPr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pic>
        <p:nvPicPr>
          <p:cNvPr id="2133676246" name="E2-Fig-MTLD" descr="fig_mtld_distribuc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03969"/>
            <a:ext cx="5532120" cy="2073020"/>
          </a:xfrm>
          <a:prstGeom prst="rect">
            <a:avLst/>
          </a:prstGeom>
        </p:spPr>
      </p:pic>
      <p:pic>
        <p:nvPicPr>
          <p:cNvPr id="2133676247" name="E2-Fig-LemmaStem" descr="fig_lemma_vs_st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2673897"/>
            <a:ext cx="5532120" cy="2333164"/>
          </a:xfrm>
          <a:prstGeom prst="rect">
            <a:avLst/>
          </a:prstGeom>
        </p:spPr>
      </p:pic>
      <p:sp>
        <p:nvSpPr>
          <p:cNvPr id="2133676248" name="E2-Nota"/>
          <p:cNvSpPr txBox="1"/>
          <p:nvPr/>
        </p:nvSpPr>
        <p:spPr>
          <a:xfrm>
            <a:off x="502920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MTLD por tipo de providencia y evolución anual.</a:t>
            </a:r>
          </a:p>
        </p:txBody>
      </p:sp>
      <p:sp>
        <p:nvSpPr>
          <p:cNvPr id="2133676249" name="E2-Nota"/>
          <p:cNvSpPr txBox="1"/>
          <p:nvPr/>
        </p:nvSpPr>
        <p:spPr>
          <a:xfrm>
            <a:off x="6153912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Compresión del vocabulario: formas, lemas y stems.</a:t>
            </a:r>
          </a:p>
        </p:txBody>
      </p:sp>
      <p:sp>
        <p:nvSpPr>
          <p:cNvPr id="1631093514" name="E2-Hallazgo"/>
          <p:cNvSpPr/>
          <p:nvPr/>
        </p:nvSpPr>
        <p:spPr bwMode="auto">
          <a:xfrm>
            <a:off x="786384" y="5806440"/>
            <a:ext cx="10579608" cy="786384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MTLD 61,03 (T 61,63 &gt; C 59,54 &gt; SU 58,88); descenso sostenido de 64,32 a 58,53 entre periodos; lemas 87,3 % y stems 54,2 % del vocabulario de formas.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299" name=""/>
        <p:cNvGrpSpPr/>
        <p:nvPr/>
      </p:nvGrpSpPr>
      <p:grpSpPr/>
      <p:pic>
        <p:nvPicPr>
          <p:cNvPr id="213367630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30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EDA avanzado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30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ES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Evolución léxica por periodos</a:t>
            </a:r>
            <a:endParaRPr/>
          </a:p>
        </p:txBody>
      </p:sp>
      <p:pic>
        <p:nvPicPr>
          <p:cNvPr id="2133676304" name="Imagen 7"/>
          <p:cNvPicPr>
            <a:picLocks noChangeAspect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pic>
        <p:nvPicPr>
          <p:cNvPr id="2133676305" name="E2-Fig-Logodds" descr="fig_logodds_period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451" y="2331720"/>
            <a:ext cx="7310048" cy="3291840"/>
          </a:xfrm>
          <a:prstGeom prst="rect">
            <a:avLst/>
          </a:prstGeom>
        </p:spPr>
      </p:pic>
      <p:sp>
        <p:nvSpPr>
          <p:cNvPr id="2133676306" name="E2-Nota"/>
          <p:cNvSpPr txBox="1"/>
          <p:nvPr/>
        </p:nvSpPr>
        <p:spPr>
          <a:xfrm>
            <a:off x="850392" y="5650992"/>
            <a:ext cx="10488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Log-odds con suavizado add-0,5 (2002-2011 → 2012-2021): top-10 que sube y top-10 que baja.</a:t>
            </a:r>
          </a:p>
        </p:txBody>
      </p:sp>
      <p:sp>
        <p:nvSpPr>
          <p:cNvPr id="1631093514" name="E2-Hallazgo"/>
          <p:cNvSpPr/>
          <p:nvPr/>
        </p:nvSpPr>
        <p:spPr bwMode="auto">
          <a:xfrm>
            <a:off x="786384" y="5943600"/>
            <a:ext cx="10579608" cy="786384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Suben uariv, jep y coronavirus; bajan nilser y fomin. El método replica la referencia interna (solapamiento del top-10: 7/10 a 9/10); siglas y ruido OCR se conservan como límite documentado.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359" name=""/>
        <p:cNvGrpSpPr/>
        <p:nvPr/>
      </p:nvGrpSpPr>
      <p:grpSpPr/>
      <p:pic>
        <p:nvPicPr>
          <p:cNvPr id="213367636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36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EDA avanzado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362" name="E2-Recursos-Cuerpo"/>
          <p:cNvSpPr txBox="1"/>
          <p:nvPr/>
        </p:nvSpPr>
        <p:spPr bwMode="auto">
          <a:xfrm>
            <a:off x="685800" y="2463393"/>
            <a:ext cx="10442448" cy="34290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EuroVoc / MultiEURLEX: </a:t>
            </a:r>
            <a:r>
              <a:rPr lang="es-ES" dirty="0" sz="1800"/>
              <a:t>tesauro multilingüe (español) de derecho de la UE; multietiqueta; aplicabilidad parcial (no mapea la Constitución ni la tutela).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LKIF: </a:t>
            </a:r>
            <a:r>
              <a:rPr lang="es-ES" dirty="0" sz="1800"/>
              <a:t>ontología formal OWL de conceptos jurídicos; aplicabilidad baja; útil como patrón de modelado.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ELI / ECLI: </a:t>
            </a:r>
            <a:r>
              <a:rPr lang="es-ES" dirty="0" sz="1800"/>
              <a:t>esquemas de identificación y metadatos; no son vocabularios temáticos.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LegalRuleML / Akoma Ntoso: </a:t>
            </a:r>
            <a:r>
              <a:rPr lang="es-ES" dirty="0" sz="1800"/>
              <a:t>marcado de reglas y estructura; baja a corto plazo (anotación manual costosa).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Decisión: </a:t>
            </a:r>
            <a:r>
              <a:rPr lang="es-ES" dirty="0" sz="1800"/>
              <a:t>taxonomía ligera desde la Constitución Política: títulos y capítulos como bloques temáticos, artículos 1-380 como etiquetas finas y respaldo “derecho a X” para tutelas.</a:t>
            </a:r>
          </a:p>
          <a:p>
            <a:pPr lvl="1" marL="457200"/>
            <a:r>
              <a:rPr lang="es-ES" dirty="0" sz="1200" i="1">
                <a:solidFill>
                  <a:srgbClr val="425466"/>
                </a:solidFill>
              </a:rPr>
              <a:t>EuroVoc en español se conserva solo como referencia de comparación; la decisión condiciona el diseño de etiquetas de la propuesta metodológica.</a:t>
            </a:r>
          </a:p>
        </p:txBody>
      </p:sp>
      <p:sp>
        <p:nvSpPr>
          <p:cNvPr id="213367636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Recursos léxicos y ontologías</a:t>
            </a:r>
            <a:endParaRPr/>
          </a:p>
        </p:txBody>
      </p:sp>
      <p:pic>
        <p:nvPicPr>
          <p:cNvPr id="213367636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419" name=""/>
        <p:cNvGrpSpPr/>
        <p:nvPr/>
      </p:nvGrpSpPr>
      <p:grpSpPr/>
      <p:pic>
        <p:nvPicPr>
          <p:cNvPr id="213367642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42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Representación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422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ES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TF-IDF sobre lemas y ventana de 512 tokens</a:t>
            </a:r>
            <a:endParaRPr/>
          </a:p>
        </p:txBody>
      </p:sp>
      <p:pic>
        <p:nvPicPr>
          <p:cNvPr id="2133676425" name="Imagen 8"/>
          <p:cNvPicPr>
            <a:picLocks noChangeAspect="1"/>
          </p:cNvPicPr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pic>
        <p:nvPicPr>
          <p:cNvPr id="2133676426" name="E2-Fig-TFIDF" descr="fig_representacion_tfi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750154"/>
            <a:ext cx="5532120" cy="2180650"/>
          </a:xfrm>
          <a:prstGeom prst="rect">
            <a:avLst/>
          </a:prstGeom>
        </p:spPr>
      </p:pic>
      <p:pic>
        <p:nvPicPr>
          <p:cNvPr id="2133676427" name="E2-Fig-Ventana" descr="fig_longitud_vs_venta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2775277"/>
            <a:ext cx="5532120" cy="2130405"/>
          </a:xfrm>
          <a:prstGeom prst="rect">
            <a:avLst/>
          </a:prstGeom>
        </p:spPr>
      </p:pic>
      <p:sp>
        <p:nvSpPr>
          <p:cNvPr id="2133676428" name="E2-Nota"/>
          <p:cNvSpPr txBox="1"/>
          <p:nvPr/>
        </p:nvSpPr>
        <p:spPr>
          <a:xfrm>
            <a:off x="502920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TF-IDF: cola larga del vocabulario y top-15 rasgos de T-001/2021.</a:t>
            </a:r>
          </a:p>
        </p:txBody>
      </p:sp>
      <p:sp>
        <p:nvSpPr>
          <p:cNvPr id="2133676429" name="E2-Nota"/>
          <p:cNvSpPr txBox="1"/>
          <p:nvPr/>
        </p:nvSpPr>
        <p:spPr>
          <a:xfrm>
            <a:off x="6153912" y="50749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b="0">
                <a:solidFill>
                  <a:srgbClr val="425466"/>
                </a:solidFill>
                <a:latin typeface="Arial"/>
              </a:rPr>
              <a:t>Ventana de 512 tokens: 99,95 % de los documentos la excede (T 99,94 · C 99,95 · SU 100).</a:t>
            </a:r>
          </a:p>
        </p:txBody>
      </p:sp>
      <p:sp>
        <p:nvSpPr>
          <p:cNvPr id="1631093514" name="E2-Hallazgo"/>
          <p:cNvSpPr/>
          <p:nvPr/>
        </p:nvSpPr>
        <p:spPr bwMode="auto">
          <a:xfrm>
            <a:off x="786384" y="5806440"/>
            <a:ext cx="10579608" cy="786384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TF-IDF sobre lemas: 23.742 × 100.000, 95,66 % de esparsidad (ajuste en ≈ 200 s); el 99,95 % de los documentos excede la ventana de 512 tokens de los modelos contextuales.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479" name=""/>
        <p:cNvGrpSpPr/>
        <p:nvPr/>
      </p:nvGrpSpPr>
      <p:grpSpPr/>
      <p:pic>
        <p:nvPicPr>
          <p:cNvPr id="213367648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48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Propuesta metodológica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482" name="E2-Propuesta-Cuerpo"/>
          <p:cNvSpPr txBox="1"/>
          <p:nvPr/>
        </p:nvSpPr>
        <p:spPr bwMode="auto">
          <a:xfrm>
            <a:off x="685800" y="2463393"/>
            <a:ext cx="10442448" cy="32461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Tarea: </a:t>
            </a:r>
            <a:r>
              <a:rPr lang="es-ES" dirty="0" sz="1800"/>
              <a:t>clasificación supervisada multi-clase; tipo de providencia (T/C/SU) como categoría inicial y área temática derivada de la Constitución como objetivo principal (etiquetas a validar).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Particiones: </a:t>
            </a:r>
            <a:r>
              <a:rPr lang="es-ES" dirty="0" sz="1800"/>
              <a:t>70/15/15 estratificado (semilla 42, prueba intocable); vectorizador ajustado solo con entrenamiento; evaluación cronológica complementaria.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Modelos a comparar: </a:t>
            </a:r>
            <a:r>
              <a:rPr lang="es-ES" dirty="0" sz="1800"/>
              <a:t>línea base mayoritaria; TF-IDF sobre lemas con modelos lineales; transformer en español con segmentación y agregación.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Criterios: </a:t>
            </a:r>
            <a:r>
              <a:rPr lang="es-ES" dirty="0" sz="1800"/>
              <a:t>macro-F1 (principal, por el desbalance T 72,02 %); F1 por clase; matriz de confusión; análisis de errores; robustez por periodo; costo (tiempo, memoria, GPU).</a:t>
            </a:r>
          </a:p>
          <a:p>
            <a:pPr lvl="1" marL="457200"/>
            <a:r>
              <a:rPr lang="es-ES" dirty="0" sz="1200" i="1">
                <a:solidFill>
                  <a:srgbClr val="425466"/>
                </a:solidFill>
              </a:rPr>
              <a:t>El protocolo fija desde ya las reglas del juego: particiones selladas, anti-leakage y métricas robustas al desbalance.</a:t>
            </a:r>
          </a:p>
        </p:txBody>
      </p:sp>
      <p:sp>
        <p:nvSpPr>
          <p:cNvPr id="213367648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Modelos y criterios de evaluación</a:t>
            </a:r>
            <a:endParaRPr/>
          </a:p>
        </p:txBody>
      </p:sp>
      <p:pic>
        <p:nvPicPr>
          <p:cNvPr id="213367648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539" name=""/>
        <p:cNvGrpSpPr/>
        <p:nvPr/>
      </p:nvGrpSpPr>
      <p:grpSpPr/>
      <p:pic>
        <p:nvPicPr>
          <p:cNvPr id="213367654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54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Conclusiones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542" name="CuadroTexto 1"/>
          <p:cNvSpPr txBox="1"/>
          <p:nvPr/>
        </p:nvSpPr>
        <p:spPr bwMode="auto">
          <a:xfrm>
            <a:off x="787400" y="1730441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>
              <a:defRPr/>
            </a:pPr>
            <a:r>
              <a:rPr lang="es-ES" sz="1000" b="1">
                <a:solidFill>
                  <a:srgbClr val="2F75B5"/>
                </a:solidFill>
              </a:rPr>
              <a:t>RESULTADOS DE LA SEGUNDA ENTREGA</a:t>
            </a:r>
            <a:endParaRPr lang="es-CO" sz="1000" b="1">
              <a:solidFill>
                <a:srgbClr val="2F75B5"/>
              </a:solidFill>
            </a:endParaRPr>
          </a:p>
        </p:txBody>
      </p:sp>
      <p:sp>
        <p:nvSpPr>
          <p:cNvPr id="2133676543" name="E2-FIN-2"/>
          <p:cNvSpPr/>
          <p:nvPr/>
        </p:nvSpPr>
        <p:spPr bwMode="auto">
          <a:xfrm>
            <a:off x="787400" y="2086041"/>
            <a:ext cx="2184400" cy="1803400"/>
          </a:xfrm>
          <a:prstGeom prst="roundRect">
            <a:avLst>
              <a:gd name="adj" fmla="val 16667"/>
            </a:avLst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2200" b="1">
                <a:solidFill>
                  <a:srgbClr val="2F75B5"/>
                </a:solidFill>
                <a:latin typeface="Arial"/>
                <a:cs typeface="Arial"/>
              </a:rPr>
              <a:t>23.742</a:t>
            </a:r>
            <a:br/>
            <a:r>
              <a:rPr lang="es-ES" sz="1100" b="1">
                <a:solidFill>
                  <a:srgbClr val="073654"/>
                </a:solidFill>
                <a:latin typeface="Arial"/>
                <a:cs typeface="Arial"/>
              </a:rPr>
              <a:t>SENTENCIAS</a:t>
            </a:r>
            <a:br/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Dataset medido verificado; cifras de la E1 sin corrección.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6544" name="E2-FIN-5"/>
          <p:cNvSpPr/>
          <p:nvPr/>
        </p:nvSpPr>
        <p:spPr bwMode="auto">
          <a:xfrm>
            <a:off x="3200400" y="2086041"/>
            <a:ext cx="2184400" cy="18034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19050" cap="flat" cmpd="sng" algn="ctr">
            <a:solidFill>
              <a:srgbClr val="D99A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2200" b="1">
                <a:solidFill>
                  <a:srgbClr val="D99A00"/>
                </a:solidFill>
                <a:latin typeface="Arial"/>
                <a:cs typeface="Arial"/>
              </a:rPr>
              <a:t>95,66 %</a:t>
            </a:r>
            <a:br/>
            <a:r>
              <a:rPr lang="es-ES" sz="1100" b="1">
                <a:solidFill>
                  <a:srgbClr val="073654"/>
                </a:solidFill>
                <a:latin typeface="Arial"/>
                <a:cs typeface="Arial"/>
              </a:rPr>
              <a:t>ESPARSIDAD TF-IDF</a:t>
            </a:r>
            <a:br/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Representación calculada sobre el corpus completo.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2133676545" name="E2-FIN-6"/>
          <p:cNvSpPr/>
          <p:nvPr/>
        </p:nvSpPr>
        <p:spPr bwMode="auto">
          <a:xfrm>
            <a:off x="5613400" y="2086041"/>
            <a:ext cx="2184400" cy="1803400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905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CO" sz="2200" b="1">
                <a:solidFill>
                  <a:srgbClr val="2E8B57"/>
                </a:solidFill>
                <a:latin typeface="Arial"/>
                <a:cs typeface="Arial"/>
              </a:rPr>
              <a:t>64,32→58,53</a:t>
            </a:r>
            <a:br/>
            <a:r>
              <a:rPr lang="es-CO" sz="1100" b="1">
                <a:solidFill>
                  <a:srgbClr val="073654"/>
                </a:solidFill>
                <a:latin typeface="Arial"/>
                <a:cs typeface="Arial"/>
              </a:rPr>
              <a:t>MTLD (1992-2021)</a:t>
            </a:r>
            <a:br/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Diversidad léxica en descenso sostenido.</a:t>
            </a:r>
            <a:endParaRPr/>
          </a:p>
        </p:txBody>
      </p:sp>
      <p:sp>
        <p:nvSpPr>
          <p:cNvPr id="2133676546" name="E2-FIN-7"/>
          <p:cNvSpPr/>
          <p:nvPr/>
        </p:nvSpPr>
        <p:spPr bwMode="auto">
          <a:xfrm>
            <a:off x="787400" y="4143441"/>
            <a:ext cx="7010399" cy="1320800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100" b="1">
                <a:solidFill>
                  <a:srgbClr val="F4B41A"/>
                </a:solidFill>
                <a:latin typeface="Arial"/>
                <a:cs typeface="Arial"/>
              </a:rPr>
              <a:t>CONCLUSIÓN PRINCIPAL</a:t>
            </a:r>
            <a:br/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El género es formulaico (accion de tutela domina el vocabulario) y su léxico evoluciona; el corpus medido y la representación TF-IDF dejan lista la fase de modelado.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33676547" name="E2-FIN-8"/>
          <p:cNvSpPr/>
          <p:nvPr/>
        </p:nvSpPr>
        <p:spPr bwMode="auto">
          <a:xfrm>
            <a:off x="8128000" y="1730441"/>
            <a:ext cx="3238500" cy="373380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 w="15240" cap="flat" cmpd="sng" algn="ctr">
            <a:solidFill>
              <a:srgbClr val="C9D2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b="1">
                <a:solidFill>
                  <a:srgbClr val="073654"/>
                </a:solidFill>
                <a:latin typeface="Arial"/>
                <a:cs typeface="Arial"/>
              </a:rPr>
              <a:t>SIGUIENTE ETAPA</a:t>
            </a:r>
            <a:br/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01  Validar etiquetas temáticas con expertos</a:t>
            </a:r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02  Comparar modelos con macro-F1</a:t>
            </a:r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03  Análisis de errores por periodo</a:t>
            </a:r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04  Embeddings de dominio y recuperación</a:t>
            </a:r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05  Resúmenes para sentencias extensas</a:t>
            </a:r>
            <a:br/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06  Documentar y publicar el corpus medido</a:t>
            </a:r>
            <a:endParaRPr lang="es-CO" sz="1200">
              <a:solidFill>
                <a:srgbClr val="223547"/>
              </a:solidFill>
              <a:latin typeface="Arial"/>
              <a:cs typeface="Arial"/>
            </a:endParaRPr>
          </a:p>
        </p:txBody>
      </p:sp>
      <p:sp>
        <p:nvSpPr>
          <p:cNvPr id="2133676548" name="Flecha: a la derecha 9"/>
          <p:cNvSpPr/>
          <p:nvPr/>
        </p:nvSpPr>
        <p:spPr bwMode="auto">
          <a:xfrm>
            <a:off x="7835900" y="3279841"/>
            <a:ext cx="254000" cy="4317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defRPr/>
            </a:pPr>
            <a:endParaRPr lang="es-CO"/>
          </a:p>
        </p:txBody>
      </p:sp>
      <p:sp>
        <p:nvSpPr>
          <p:cNvPr id="2133676549" name="E2-FIN-10"/>
          <p:cNvSpPr/>
          <p:nvPr/>
        </p:nvSpPr>
        <p:spPr bwMode="auto">
          <a:xfrm>
            <a:off x="2413000" y="5591241"/>
            <a:ext cx="7366000" cy="381000"/>
          </a:xfrm>
          <a:prstGeom prst="roundRect">
            <a:avLst>
              <a:gd name="adj" fmla="val 16667"/>
            </a:avLst>
          </a:prstGeom>
          <a:solidFill>
            <a:srgbClr val="FFF4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>
              <a:defRPr/>
            </a:pPr>
            <a:r>
              <a:rPr lang="es-ES" sz="1200" b="1">
                <a:solidFill>
                  <a:srgbClr val="7A5700"/>
                </a:solidFill>
                <a:latin typeface="Arial"/>
                <a:cs typeface="Arial"/>
              </a:rPr>
              <a:t>DEL CORPUS MEDIDO  →  A LA FASE DE MODELADO</a:t>
            </a:r>
            <a:endParaRPr lang="es-CO" sz="1200" b="1">
              <a:solidFill>
                <a:srgbClr val="7A57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599" name=""/>
        <p:cNvGrpSpPr/>
        <p:nvPr/>
      </p:nvGrpSpPr>
      <p:grpSpPr/>
      <p:pic>
        <p:nvPicPr>
          <p:cNvPr id="213367660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60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Metodología de trabajo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602" name="E2-Met-Cuerpo"/>
          <p:cNvSpPr txBox="1"/>
          <p:nvPr/>
        </p:nvSpPr>
        <p:spPr bwMode="auto">
          <a:xfrm>
            <a:off x="685800" y="2463393"/>
            <a:ext cx="10442448" cy="3297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Proceso por fases con puertas de calidad: </a:t>
            </a:r>
            <a:r>
              <a:rPr lang="es-ES" dirty="0" sz="1800"/>
              <a:t>comprensión de datos → preparación → análisis → representación; el modelado es la siguiente fase.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Reproducibilidad y trazabilidad: </a:t>
            </a:r>
            <a:r>
              <a:rPr lang="es-ES" dirty="0" sz="1800"/>
              <a:t>limpieza documentada por etapas; semilla fija (42); análisis ejecutado de punta a punta y sellado (huella digital); cada cifra trazable a su fuente.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Decisiones con evidencia: </a:t>
            </a:r>
            <a:r>
              <a:rPr lang="es-ES" dirty="0" sz="1800"/>
              <a:t>criterios pre-registrados (p. ej., granularidad), validación manual de colocaciones y alternativas evaluadas y registradas.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Control de calidad: </a:t>
            </a:r>
            <a:r>
              <a:rPr lang="es-ES" dirty="0" sz="1800"/>
              <a:t>revisión de código independiente y auditorías que recomputan las cifras desde los datos.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Herramientas: </a:t>
            </a:r>
            <a:r>
              <a:rPr lang="es-ES" dirty="0" sz="1800"/>
              <a:t>Python (pandas, NumPy, spaCy, scikit-learn, pyarrow, NLTK, matplotlib), Jupyter y LaTeX.</a:t>
            </a:r>
          </a:p>
        </p:txBody>
      </p:sp>
      <p:sp>
        <p:nvSpPr>
          <p:cNvPr id="213367660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Fases, reproducibilidad y control de calidad</a:t>
            </a:r>
            <a:endParaRPr/>
          </a:p>
        </p:txBody>
      </p:sp>
      <p:pic>
        <p:nvPicPr>
          <p:cNvPr id="213367660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sp>
        <p:nvSpPr>
          <p:cNvPr id="1231742581" name="E2-Flujo"/>
          <p:cNvSpPr/>
          <p:nvPr/>
        </p:nvSpPr>
        <p:spPr bwMode="auto">
          <a:xfrm>
            <a:off x="786384" y="5897880"/>
            <a:ext cx="10579608" cy="786384"/>
          </a:xfrm>
          <a:prstGeom prst="roundRect">
            <a:avLst>
              <a:gd name="adj" fmla="val 16667"/>
            </a:avLst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>
              <a:defRPr/>
            </a:pPr>
            <a:r>
              <a:rPr lang="es-ES" sz="1800" b="1">
                <a:solidFill>
                  <a:srgbClr val="FFFFFF"/>
                </a:solidFill>
                <a:latin typeface="Arial"/>
                <a:cs typeface="Arial"/>
              </a:rPr>
              <a:t>FLUJO  →  Corpus (23.742 sentencias)  →  Limpieza  →  Dataset medido</a:t>
            </a:r>
            <a:br>
              <a:rPr lang="es-ES" sz="1800" b="1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s-ES" sz="1800" b="1">
                <a:solidFill>
                  <a:srgbClr val="FFFFFF"/>
                </a:solidFill>
                <a:latin typeface="Arial"/>
                <a:cs typeface="Arial"/>
              </a:rPr>
              <a:t>→  EDA avanzado  →  Representación  →  Modelado (siguiente fase)</a:t>
            </a:r>
            <a:endParaRPr lang="es-CO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659" name=""/>
        <p:cNvGrpSpPr/>
        <p:nvPr/>
      </p:nvGrpSpPr>
      <p:grpSpPr/>
      <p:pic>
        <p:nvPicPr>
          <p:cNvPr id="213367666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66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Objetivo del proyecto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662" name="E2-Obj-Cuerpo"/>
          <p:cNvSpPr txBox="1"/>
          <p:nvPr/>
        </p:nvSpPr>
        <p:spPr bwMode="auto">
          <a:xfrm>
            <a:off x="685800" y="2463393"/>
            <a:ext cx="10442448" cy="4120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Objetivo general: </a:t>
            </a:r>
            <a:r>
              <a:rPr lang="es-ES" dirty="0" sz="1800"/>
              <a:t>desarrollar un sistema de PLN que apoye el análisis y la consulta de las sentencias de la Corte Constitucional de Colombia (1992-2021), con cuatro componentes: validar la providencia, clasificar su área temática constitucional, identificar los artículos de la Constitución que la sustentan y situarla en su contexto jurisprudencial.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Caracterizar el corpus: </a:t>
            </a:r>
            <a:r>
              <a:rPr lang="es-ES" dirty="0" sz="1800"/>
              <a:t>textometría, morfología, diversidad léxica y evolución temporal.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Construir un conjunto de datos medido: </a:t>
            </a:r>
            <a:r>
              <a:rPr lang="es-ES" dirty="0" sz="1800"/>
              <a:t>23.742 sentencias con métricas por documento, reproducible y documentado.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Definir y justificar la representación: </a:t>
            </a:r>
            <a:r>
              <a:rPr lang="es-ES" dirty="0" sz="1800"/>
              <a:t>TF-IDF sobre lemas como representación principal; embeddings como línea comparativa.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Proponer la metodología: </a:t>
            </a:r>
            <a:r>
              <a:rPr lang="es-ES" dirty="0" sz="1800"/>
              <a:t>clasificación por área temática y tipo de providencia como primera etapa del sistema, con criterios de evaluación y anti-leakage; el vínculo con los artículos de la Constitución y el contexto jurisprudencial se abordan como trabajo futuro.</a:t>
            </a:r>
          </a:p>
        </p:txBody>
      </p:sp>
      <p:sp>
        <p:nvSpPr>
          <p:cNvPr id="213367666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General y objetivos específicos</a:t>
            </a:r>
            <a:endParaRPr/>
          </a:p>
        </p:txBody>
      </p:sp>
      <p:pic>
        <p:nvPicPr>
          <p:cNvPr id="213367666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33676719" name=""/>
        <p:cNvGrpSpPr/>
        <p:nvPr/>
      </p:nvGrpSpPr>
      <p:grpSpPr/>
      <p:pic>
        <p:nvPicPr>
          <p:cNvPr id="2133676720" name="Google Shape;104;g393f66bba02_1_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2133676721" name="Google Shape;105;g393f66bba02_1_6"/>
          <p:cNvSpPr/>
          <p:nvPr/>
        </p:nvSpPr>
        <p:spPr bwMode="auto"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noAutofit/>
          </a:bodyPr>
          <a:lstStyle/>
          <a:p>
            <a:pPr lvl="0">
              <a:defRPr/>
            </a:pPr>
            <a:r>
              <a:rPr lang="es-CO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Trabajos futuros</a:t>
            </a:r>
            <a:endParaRPr lang="es-CO" sz="3200" b="1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3676722" name="E2-Fut-Cuerpo"/>
          <p:cNvSpPr txBox="1"/>
          <p:nvPr/>
        </p:nvSpPr>
        <p:spPr bwMode="auto">
          <a:xfrm>
            <a:off x="685800" y="2463393"/>
            <a:ext cx="10442448" cy="4120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Etiquetas de referencia: </a:t>
            </a:r>
            <a:r>
              <a:rPr lang="es-ES" dirty="0" sz="1800"/>
              <a:t>validación humana progresiva de las etiquetas automáticas mediante anotación experta, hasta consolidar un estándar de referencia.</a:t>
            </a:r>
          </a:p>
          <a:p>
            <a:pPr lvl="1" marL="1028700"/>
            <a:r>
              <a:rPr lang="es-ES" dirty="0" sz="1100" i="1">
                <a:solidFill>
                  <a:srgbClr val="425466"/>
                </a:solidFill>
              </a:rPr>
              <a:t>Herramientas: etiquetado débil por citas a la Constitución y EuroVoc; auditoría con cleanlab; preanotación con ALIA-7B-Instruct.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Modelado supervisado: </a:t>
            </a:r>
            <a:r>
              <a:rPr lang="es-ES" dirty="0" sz="1800"/>
              <a:t>modelos lineales frente a transformer con segmentación por fragmentos, calibración de umbrales y análisis de errores por periodo y tipo.</a:t>
            </a:r>
          </a:p>
          <a:p>
            <a:pPr lvl="1" marL="1028700"/>
            <a:r>
              <a:rPr lang="es-ES" dirty="0" sz="1100" i="1">
                <a:solidFill>
                  <a:srgbClr val="425466"/>
                </a:solidFill>
              </a:rPr>
              <a:t>Herramientas: TF-IDF con regresión logística y SVM lineal (scikit-learn), LightGBM; ajuste eficiente con LoRA/PEFT.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Recuperación con modelos de lenguaje: </a:t>
            </a:r>
            <a:r>
              <a:rPr lang="es-ES" dirty="0" sz="1800"/>
              <a:t>búsqueda híbrida (léxica y densa) y reordenamiento de candidatos para vincular sentencia y artículos de la Constitución; evaluación con referencia graduada.</a:t>
            </a:r>
          </a:p>
          <a:p>
            <a:pPr lvl="1" marL="1028700"/>
            <a:r>
              <a:rPr lang="es-ES" dirty="0" sz="1100" i="1">
                <a:solidFill>
                  <a:srgbClr val="425466"/>
                </a:solidFill>
              </a:rPr>
              <a:t>Herramientas: híbrida BM25 + embeddings E5, reranker cross-encoder y ALIA-7B-Instruct; grafo de citas como señal.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Representaciones contextuales: </a:t>
            </a:r>
            <a:r>
              <a:rPr lang="es-ES" dirty="0" sz="1800"/>
              <a:t>embeddings de dominio legal y agregación por fragmentos como complemento de TF-IDF.</a:t>
            </a:r>
          </a:p>
          <a:p>
            <a:pPr lvl="1" marL="1028700"/>
            <a:r>
              <a:rPr lang="es-ES" dirty="0" sz="1100" i="1">
                <a:solidFill>
                  <a:srgbClr val="425466"/>
                </a:solidFill>
              </a:rPr>
              <a:t>Herramientas: multilingual-e5-base, BETO por documento y por fragmentos; variantes legales (ALIA-MrBERT, BGE-M3, ModernBERT legal).</a:t>
            </a:r>
          </a:p>
          <a:p>
            <a:pPr lvl="1" marL="742950" indent="-285750">
              <a:buFont typeface="Courier New"/>
              <a:buChar char="o"/>
            </a:pPr>
            <a:r>
              <a:rPr lang="es-ES" dirty="0" sz="1800" b="1"/>
              <a:t>Aplicaciones: </a:t>
            </a:r>
            <a:r>
              <a:rPr lang="es-ES" dirty="0" sz="1800"/>
              <a:t>resumen de sentencias extensas, contexto jurisprudencial (red de precedentes) y análisis diacrónico del vocabulario.</a:t>
            </a:r>
          </a:p>
          <a:p>
            <a:pPr lvl="1" marL="1028700"/>
            <a:r>
              <a:rPr lang="es-ES" dirty="0" sz="1100" i="1">
                <a:solidFill>
                  <a:srgbClr val="425466"/>
                </a:solidFill>
              </a:rPr>
              <a:t>Herramientas: resumen y consulta con ALIA-7B-Instruct; contexto jurisprudencial con retrieval y grafo de citas; diacronía con embeddings.</a:t>
            </a:r>
          </a:p>
        </p:txBody>
      </p:sp>
      <p:sp>
        <p:nvSpPr>
          <p:cNvPr id="2133676723" name="TextBox 7"/>
          <p:cNvSpPr txBox="1"/>
          <p:nvPr/>
        </p:nvSpPr>
        <p:spPr bwMode="auto"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s-CO" sz="2800" b="1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</a:rPr>
              <a:t>Del corpus medido a las aplicaciones</a:t>
            </a:r>
            <a:endParaRPr/>
          </a:p>
        </p:txBody>
      </p:sp>
      <p:pic>
        <p:nvPicPr>
          <p:cNvPr id="2133676724" name="Imagen 2"/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227647" y="1426521"/>
            <a:ext cx="900000" cy="900000"/>
          </a:xfrm>
          <a:prstGeom prst="rect">
            <a:avLst/>
          </a:prstGeom>
        </p:spPr>
      </p:pic>
      <p:sp>
        <p:nvSpPr>
          <p:cNvPr id="2133676725" name="E2-Nota"/>
          <p:cNvSpPr txBox="1"/>
          <p:nvPr/>
        </p:nvSpPr>
        <p:spPr>
          <a:xfrm>
            <a:off x="786384" y="6492240"/>
            <a:ext cx="10579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 b="0">
                <a:solidFill>
                  <a:srgbClr val="425466"/>
                </a:solidFill>
                <a:latin typeface="Arial"/>
              </a:rPr>
              <a:t>Nota: varias de estas herramientas ya están implementadas en el avance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wilperiodista86@gmail.com</dc:creator>
  <cp:lastModifiedBy/>
  <cp:revision>18</cp:revision>
  <dcterms:created xsi:type="dcterms:W3CDTF">2017-03-01T15:55:36Z</dcterms:created>
  <dcterms:modified xsi:type="dcterms:W3CDTF">2026-09-07T05:14:10Z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0x010100A17391D12170B6429D211C2FD773B5B7</vt:lpwstr>
  </property>
</Properties>
</file>