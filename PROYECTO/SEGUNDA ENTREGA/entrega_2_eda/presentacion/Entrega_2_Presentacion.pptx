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</p:sldMasterIdLst>
  <p:notesMasterIdLst>
    <p:notesMasterId r:id="rId26"/>
  </p:notesMasterIdLst>
  <p:sldIdLst>
    <p:sldId id="256" r:id="rId4"/>
    <p:sldId id="257" r:id="rId5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98" d="100"/>
          <a:sy n="98" d="100"/>
        </p:scale>
        <p:origin x="1038" y="78"/>
      </p:cViewPr>
      <p:guideLst>
        <p:guide pos="2257" orient="horz"/>
        <p:guide pos="3840"/>
        <p:guide orient="horz"/>
        <p:guide pos="5443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tableStyles" Target="tableStyles.xml"/><Relationship Id="rId29" Type="http://schemas.openxmlformats.org/officeDocument/2006/relationships/viewProps" Target="viewProps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855475" name="Google Shape;3;n"/>
          <p:cNvSpPr txBox="1">
            <a:spLocks noGrp="1"/>
          </p:cNvSpPr>
          <p:nvPr>
            <p:ph type="hdr" idx="2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441775432" name="Google Shape;4;n"/>
          <p:cNvSpPr txBox="1">
            <a:spLocks noGrp="1"/>
          </p:cNvSpPr>
          <p:nvPr>
            <p:ph type="dt" idx="10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6018968" name="Google Shape;5;n"/>
          <p:cNvSpPr>
            <a:spLocks noChangeAspect="1" noGrp="1" noRot="1"/>
          </p:cNvSpPr>
          <p:nvPr>
            <p:ph type="sldImg" idx="3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s-CO"/>
          </a:p>
        </p:txBody>
      </p:sp>
      <p:sp>
        <p:nvSpPr>
          <p:cNvPr id="2031427153" name="Google Shape;6;n"/>
          <p:cNvSpPr txBox="1">
            <a:spLocks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86750658" name="Google Shape;7;n"/>
          <p:cNvSpPr txBox="1">
            <a:spLocks noGrp="1"/>
          </p:cNvSpPr>
          <p:nvPr>
            <p:ph type="ftr" idx="11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88081559" name="Google Shape;8;n"/>
          <p:cNvSpPr txBox="1">
            <a:spLocks noGrp="1"/>
          </p:cNvSpPr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2596975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s-CO"/>
          </a:p>
        </p:txBody>
      </p:sp>
      <p:sp>
        <p:nvSpPr>
          <p:cNvPr id="732337601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Presentamos la Entrega 2: EDA avanzado, representacion de textos y propuesta metodologica del proyecto de PLN sobre jurisprudencia constitucional colombiana.</a:t>
            </a:r>
          </a:p>
        </p:txBody>
      </p:sp>
      <p:sp>
        <p:nvSpPr>
          <p:cNvPr id="1436613924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s-E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271199" name="Google Shape;93;p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La ruta de la presentacion: resumen de la Entrega 1, estado del arte, el trabajo de la Entrega 2 y las conclusiones con el trabajo futuro.</a:t>
            </a:r>
          </a:p>
        </p:txBody>
      </p:sp>
      <p:sp>
        <p:nvSpPr>
          <p:cNvPr id="966946621" name="Google Shape;94;p2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pPr>
              <a:defRPr/>
            </a:pPr>
            <a:endParaRPr lang="es-CO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Sintesis de la Entrega 1: el corpus se depuro desde 23.750 registros crudos; la extraccion por expresiones regulares logro 99,97 % de eficacia; se excluyeron 8 filas (6 autos y 2 HTML) y quedaron 23.742 sentencias con una muestra estratificada de 25 documentos para inspeccion.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limpieza en ocho pasos normalizo el texto (minusculas, NFD, preservacion de la ene, filtro de ruido y 306 stopwords normalizadas). La textometria basica midio 260,99 millones de palabras crudas, 250,01 millones de tokens normalizados y 128,81 millones de tokens sin stopwords: las sentencias son documentos muy extensos y formulaicos.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estado del arte de esta entrega se apoya en el trabajo sobre el mismo corpus, la evidencia de que el preprocesamiento importa y los antecedentes de clasificacion de sentencias largas y en espanol.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Para la representacion y la diacronia nos apoyamos en los fundamentos de recuperacion de informacion, la razon de verosimilitud, la MTLD, el log-odds y los modelos contextuales en espanol y de dominio legal.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Respecto a la Entrega 1 no hay rectificaciones de cifras: los cambios son extensiones verificadas, del dataset medido al EDA extendido, la unidad validada, la diacronia y la representacion con la propuesta metodologica.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requisito 3 se cumple con un parquet de 23.742 filas por 12 columnas, verificado con aserciones duras: sin nulos, ids unicos y sumas reconciliadas con las cifras canonicas. Se adjuntan muestra estratificada, diccionario de datos y lemas por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corpus es fuertemente formulaico: accion de tutela domina y la validacion manual de 20 colocaciones da 75 por ciento de formulas validas con la razon de verosimilitud, frente a 55 por ciento de la frecuencia y 0 por ciento del PMI.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diversidad lexica desciende de forma sostenida en las tres decadas y la lematizacion reduce el vocabulario conservando la legibilidad: es la base de la representacion TF-IDF.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contraste por periodos cumple la promesa de la Entrega 1: en la ultima decada gana peso el vocabulario del conflicto armado y la pandemia. Los extremos incluyen siglas y ruido de OCR; el metodo es fiel a la referencia interna y se reporta el limite.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Ninguna ontologia internacional cubre el espanol juridico colombiano: se evaluaron cuatro candidatas y se decidio derivar una taxonomia ligera de la propia Constitucion Politica.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representacion principal es TF-IDF sobre lemas: interpretable, de bajo costo y con 95,66 por ciento de esparsidad. Los embeddings contextuales se evaluaron como comparacion: capturan cercania semantica con mayor costo.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propuesta define la tarea, las particiones con prueba intocable, los modelos a comparar y los criterios: macro-F1, analisis de errores y costo. Sin resultados de modelos: es una propuesta metodologica.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Cierre: corpus y dataset consolidados, genero formulaico, diversidad decreciente con recambio tematico, unidad validada y representacion definida. El trabajo inmediato es validar etiquetas, comparar modelos y analizar errores por periodo.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Diapositiva de título" preserve="0" showMasterPhAnim="0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3247815" name="Google Shape;16;p24"/>
          <p:cNvSpPr txBox="1"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70978581" name="Google Shape;17;p24"/>
          <p:cNvSpPr txBox="1"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pPr>
              <a:defRPr/>
            </a:pPr>
            <a:endParaRPr/>
          </a:p>
        </p:txBody>
      </p:sp>
      <p:sp>
        <p:nvSpPr>
          <p:cNvPr id="1142794985" name="Google Shape;18;p24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48260698" name="Google Shape;19;p24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33445810" name="Google Shape;20;p24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ítulo y objetos" preserve="0" showMasterPhAnim="0" showMasterSp="1" type="obj" userDrawn="1">
  <p:cSld name="OBJEC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087925" name="Google Shape;22;p25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10778967" name="Google Shape;23;p25"/>
          <p:cNvSpPr txBox="1"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81331597" name="Google Shape;24;p25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77279116" name="Google Shape;25;p25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42005329" name="Google Shape;26;p25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Encabezado de sección" preserve="0" showMasterPhAnim="0" showMasterSp="1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360373" name="Google Shape;28;p26"/>
          <p:cNvSpPr txBox="1"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60160291" name="Google Shape;29;p26"/>
          <p:cNvSpPr txBox="1"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494688972" name="Google Shape;30;p26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49589719" name="Google Shape;31;p26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75217382" name="Google Shape;32;p26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Dos objetos" preserve="0" showMasterPhAnim="0" showMasterSp="1" type="twoObj" userDrawn="1">
  <p:cSld name="TWO_OBJEC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482899" name="Google Shape;34;p27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79222356" name="Google Shape;35;p27"/>
          <p:cNvSpPr txBox="1">
            <a:spLocks noGrp="1"/>
          </p:cNvSpPr>
          <p:nvPr>
            <p:ph type="body" idx="1"/>
          </p:nvPr>
        </p:nvSpPr>
        <p:spPr bwMode="auto"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11355420" name="Google Shape;36;p27"/>
          <p:cNvSpPr txBox="1">
            <a:spLocks noGrp="1"/>
          </p:cNvSpPr>
          <p:nvPr>
            <p:ph type="body" idx="2"/>
          </p:nvPr>
        </p:nvSpPr>
        <p:spPr bwMode="auto"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8763784" name="Google Shape;37;p27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85376842" name="Google Shape;38;p27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79959029" name="Google Shape;39;p27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mparación" preserve="0" showMasterPhAnim="0" showMasterSp="1" type="twoTxTwoObj" userDrawn="1">
  <p:cSld name="TWO_OBJECTS_WITH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148575" name="Google Shape;41;p28"/>
          <p:cNvSpPr txBox="1"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32046195" name="Google Shape;42;p28"/>
          <p:cNvSpPr txBox="1"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>
              <a:defRPr/>
            </a:pPr>
            <a:endParaRPr/>
          </a:p>
        </p:txBody>
      </p:sp>
      <p:sp>
        <p:nvSpPr>
          <p:cNvPr id="2095830449" name="Google Shape;43;p28"/>
          <p:cNvSpPr txBox="1">
            <a:spLocks noGrp="1"/>
          </p:cNvSpPr>
          <p:nvPr>
            <p:ph type="body" idx="2"/>
          </p:nvPr>
        </p:nvSpPr>
        <p:spPr bwMode="auto">
          <a:xfrm>
            <a:off x="839788" y="2505074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48118239" name="Google Shape;44;p28"/>
          <p:cNvSpPr txBox="1">
            <a:spLocks noGrp="1"/>
          </p:cNvSpPr>
          <p:nvPr>
            <p:ph type="body" idx="3"/>
          </p:nvPr>
        </p:nvSpPr>
        <p:spPr bwMode="auto"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>
              <a:defRPr/>
            </a:pPr>
            <a:endParaRPr/>
          </a:p>
        </p:txBody>
      </p:sp>
      <p:sp>
        <p:nvSpPr>
          <p:cNvPr id="1513021191" name="Google Shape;45;p28"/>
          <p:cNvSpPr txBox="1">
            <a:spLocks noGrp="1"/>
          </p:cNvSpPr>
          <p:nvPr>
            <p:ph type="body" idx="4"/>
          </p:nvPr>
        </p:nvSpPr>
        <p:spPr bwMode="auto">
          <a:xfrm>
            <a:off x="6172200" y="2505074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56226543" name="Google Shape;46;p28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94095354" name="Google Shape;47;p28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90538512" name="Google Shape;48;p28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olo el título" preserve="0" showMasterPhAnim="0" showMasterSp="1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9596872" name="Google Shape;50;p29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63373840" name="Google Shape;51;p29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07069819" name="Google Shape;52;p29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39489108" name="Google Shape;53;p29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En blanco" preserve="0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800705" name="Google Shape;55;p30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93215058" name="Google Shape;56;p30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85902450" name="Google Shape;57;p30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ntenido con título" preserve="0" showMasterPhAnim="0" showMasterSp="1" type="objTx" userDrawn="1">
  <p:cSld name="OBJECT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9397483" name="Google Shape;59;p31"/>
          <p:cNvSpPr txBox="1"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56810161" name="Google Shape;60;p31"/>
          <p:cNvSpPr txBox="1">
            <a:spLocks noGrp="1"/>
          </p:cNvSpPr>
          <p:nvPr>
            <p:ph type="body" idx="1"/>
          </p:nvPr>
        </p:nvSpPr>
        <p:spPr bwMode="auto"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799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477731381" name="Google Shape;61;p31"/>
          <p:cNvSpPr txBox="1">
            <a:spLocks noGrp="1"/>
          </p:cNvSpPr>
          <p:nvPr>
            <p:ph type="body" idx="2"/>
          </p:nvPr>
        </p:nvSpPr>
        <p:spPr bwMode="auto"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>
              <a:defRPr/>
            </a:pPr>
            <a:endParaRPr/>
          </a:p>
        </p:txBody>
      </p:sp>
      <p:sp>
        <p:nvSpPr>
          <p:cNvPr id="766502671" name="Google Shape;62;p31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99657907" name="Google Shape;63;p31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66011046" name="Google Shape;64;p31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Imagen con título" preserve="0" showMasterPhAnim="0" showMasterSp="1" type="picTx" userDrawn="1">
  <p:cSld name="PICTURE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157467" name="Google Shape;66;p32"/>
          <p:cNvSpPr txBox="1"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61835089" name="Google Shape;67;p32"/>
          <p:cNvSpPr>
            <a:spLocks noGrp="1"/>
          </p:cNvSpPr>
          <p:nvPr>
            <p:ph type="pic" idx="2"/>
          </p:nvPr>
        </p:nvSpPr>
        <p:spPr bwMode="auto"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s-CO"/>
          </a:p>
        </p:txBody>
      </p:sp>
      <p:sp>
        <p:nvSpPr>
          <p:cNvPr id="1874191071" name="Google Shape;68;p32"/>
          <p:cNvSpPr txBox="1">
            <a:spLocks noGrp="1"/>
          </p:cNvSpPr>
          <p:nvPr>
            <p:ph type="body" idx="1"/>
          </p:nvPr>
        </p:nvSpPr>
        <p:spPr bwMode="auto"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>
              <a:defRPr/>
            </a:pPr>
            <a:endParaRPr/>
          </a:p>
        </p:txBody>
      </p:sp>
      <p:sp>
        <p:nvSpPr>
          <p:cNvPr id="1013510678" name="Google Shape;69;p32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25089940" name="Google Shape;70;p32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40522454" name="Google Shape;71;p32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ítulo y texto vertical" preserve="0" showMasterPhAnim="0" showMasterSp="1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490823" name="Google Shape;73;p33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84130782" name="Google Shape;74;p33"/>
          <p:cNvSpPr txBox="1">
            <a:spLocks noGrp="1"/>
          </p:cNvSpPr>
          <p:nvPr>
            <p:ph type="body" idx="1"/>
          </p:nvPr>
        </p:nvSpPr>
        <p:spPr bwMode="auto"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99472093" name="Google Shape;75;p33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78918344" name="Google Shape;76;p33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36366219" name="Google Shape;77;p33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ítulo vertical y texto" preserve="0" showMasterPhAnim="0" showMasterSp="1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7107367" name="Google Shape;79;p34"/>
          <p:cNvSpPr txBox="1">
            <a:spLocks noGrp="1"/>
          </p:cNvSpPr>
          <p:nvPr>
            <p:ph type="title"/>
          </p:nvPr>
        </p:nvSpPr>
        <p:spPr bwMode="auto"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14092205" name="Google Shape;80;p34"/>
          <p:cNvSpPr txBox="1">
            <a:spLocks noGrp="1"/>
          </p:cNvSpPr>
          <p:nvPr>
            <p:ph type="body" idx="1"/>
          </p:nvPr>
        </p:nvSpPr>
        <p:spPr bwMode="auto"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15335316" name="Google Shape;81;p34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08076010" name="Google Shape;82;p34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82873014" name="Google Shape;83;p34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4777180" name="Google Shape;10;p23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pPr>
              <a:defRPr/>
            </a:pPr>
            <a:endParaRPr/>
          </a:p>
        </p:txBody>
      </p:sp>
      <p:sp>
        <p:nvSpPr>
          <p:cNvPr id="711276602" name="Google Shape;11;p23"/>
          <p:cNvSpPr txBox="1"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913277534" name="Google Shape;12;p23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79576772" name="Google Shape;13;p23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568338809" name="Google Shape;14;p23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21909786" name="Google Shape;89;p1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0" y="-14295"/>
            <a:ext cx="12192000" cy="6105540"/>
          </a:xfrm>
          <a:prstGeom prst="rect">
            <a:avLst/>
          </a:prstGeom>
          <a:noFill/>
          <a:ln>
            <a:noFill/>
          </a:ln>
        </p:spPr>
      </p:pic>
      <p:sp>
        <p:nvSpPr>
          <p:cNvPr id="29876715" name="Google Shape;90;p1"/>
          <p:cNvSpPr txBox="1">
            <a:spLocks noGrp="1"/>
          </p:cNvSpPr>
          <p:nvPr>
            <p:ph type="subTitle" idx="1"/>
          </p:nvPr>
        </p:nvSpPr>
        <p:spPr bwMode="auto">
          <a:xfrm>
            <a:off x="3120836" y="2351525"/>
            <a:ext cx="8843623" cy="26058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defRPr/>
            </a:pPr>
            <a:r>
              <a:rPr lang="es-CO" sz="4800" b="1">
                <a:solidFill>
                  <a:schemeClr val="accent4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Análisis de sentencias de la Corte Constitucional de Colombia (1992-2021)</a:t>
            </a:r>
            <a:endParaRPr/>
          </a:p>
          <a:p>
            <a:pPr marL="0" indent="0">
              <a:spcBef>
                <a:spcPts val="0"/>
              </a:spcBef>
              <a:defRPr/>
            </a:pPr>
            <a:r>
              <a:rPr lang="es-CO" sz="2000" b="1">
                <a:solidFill>
                  <a:schemeClr val="accent4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Entrega 2: EDA avanzado, representación de textos y propuesta metodológica</a:t>
            </a:r>
            <a:endParaRPr/>
          </a:p>
        </p:txBody>
      </p:sp>
      <p:sp>
        <p:nvSpPr>
          <p:cNvPr id="1167814308" name="Google Shape;91;p1"/>
          <p:cNvSpPr txBox="1"/>
          <p:nvPr/>
        </p:nvSpPr>
        <p:spPr bwMode="auto">
          <a:xfrm>
            <a:off x="5398379" y="5284794"/>
            <a:ext cx="4029086" cy="118001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90000"/>
              </a:lnSpc>
              <a:buFont typeface="Arial"/>
              <a:buChar char="•"/>
              <a:defRPr/>
            </a:pPr>
            <a:r>
              <a:rPr lang="es-CO" sz="1800">
                <a:solidFill>
                  <a:srgbClr val="002060"/>
                </a:solidFill>
                <a:latin typeface="Arial"/>
                <a:ea typeface="Calibri"/>
                <a:cs typeface="Arial"/>
              </a:rPr>
              <a:t>Erika Valeria Rivera Jiménez</a:t>
            </a:r>
            <a:endParaRPr/>
          </a:p>
          <a:p>
            <a:pPr marL="342900" indent="-342900">
              <a:lnSpc>
                <a:spcPct val="90000"/>
              </a:lnSpc>
              <a:buFont typeface="Arial"/>
              <a:buChar char="•"/>
              <a:defRPr/>
            </a:pPr>
            <a:r>
              <a:rPr lang="es-CO" sz="1800">
                <a:solidFill>
                  <a:srgbClr val="002060"/>
                </a:solidFill>
                <a:latin typeface="Arial"/>
                <a:ea typeface="Calibri"/>
                <a:cs typeface="Arial"/>
              </a:rPr>
              <a:t>Julian Guillermo Carrillo Meneses</a:t>
            </a:r>
            <a:endParaRPr/>
          </a:p>
          <a:p>
            <a:pPr marL="342900" indent="-342900">
              <a:lnSpc>
                <a:spcPct val="90000"/>
              </a:lnSpc>
              <a:buFont typeface="Arial"/>
              <a:buChar char="•"/>
              <a:defRPr/>
            </a:pPr>
            <a:r>
              <a:rPr lang="es-CO" sz="1800">
                <a:solidFill>
                  <a:srgbClr val="002060"/>
                </a:solidFill>
                <a:latin typeface="Arial"/>
                <a:ea typeface="Calibri"/>
                <a:cs typeface="Arial"/>
              </a:rPr>
              <a:t>Carlos Andrés Garnica Salazar</a:t>
            </a:r>
            <a:endParaRPr/>
          </a:p>
          <a:p>
            <a:pPr marL="342900" indent="-342900">
              <a:lnSpc>
                <a:spcPct val="90000"/>
              </a:lnSpc>
              <a:buFont typeface="Arial"/>
              <a:buChar char="•"/>
              <a:defRPr/>
            </a:pPr>
            <a:r>
              <a:rPr lang="es-CO" sz="1800">
                <a:solidFill>
                  <a:srgbClr val="002060"/>
                </a:solidFill>
                <a:latin typeface="Arial"/>
                <a:ea typeface="Calibri"/>
                <a:cs typeface="Arial"/>
              </a:rPr>
              <a:t>Oscar Andrés Prieto Moreno</a:t>
            </a:r>
            <a:endParaRPr lang="en-US" sz="1800">
              <a:solidFill>
                <a:srgbClr val="002060"/>
              </a:solidFill>
              <a:latin typeface="Arial"/>
              <a:cs typeface="Arial"/>
            </a:endParaRPr>
          </a:p>
          <a:p>
            <a:pPr marL="342900" indent="-342900">
              <a:lnSpc>
                <a:spcPct val="90000"/>
              </a:lnSpc>
              <a:buFont typeface="Arial"/>
              <a:buChar char="•"/>
              <a:defRPr/>
            </a:pPr>
            <a:r>
              <a:rPr lang="es-CO" sz="1800">
                <a:solidFill>
                  <a:srgbClr val="002060"/>
                </a:solidFill>
                <a:latin typeface="Arial"/>
                <a:ea typeface="Calibri"/>
                <a:cs typeface="Arial"/>
              </a:rPr>
              <a:t>Pontificia Universidad Javeriana · Octubre de 2026</a:t>
            </a:r>
            <a:endParaRPr lang="en-US" sz="1800">
              <a:solidFill>
                <a:srgbClr val="002060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99345526" name="Google Shape;96;p2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0" y="0"/>
            <a:ext cx="12192005" cy="1623060"/>
          </a:xfrm>
          <a:prstGeom prst="rect">
            <a:avLst/>
          </a:prstGeom>
          <a:noFill/>
          <a:ln>
            <a:noFill/>
          </a:ln>
        </p:spPr>
      </p:pic>
      <p:sp>
        <p:nvSpPr>
          <p:cNvPr id="584643799" name="Google Shape;105;g393f66bba02_1_6"/>
          <p:cNvSpPr/>
          <p:nvPr/>
        </p:nvSpPr>
        <p:spPr bwMode="auto">
          <a:xfrm>
            <a:off x="1496965" y="324857"/>
            <a:ext cx="6824075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defRPr/>
            </a:pPr>
            <a:r>
              <a:rPr lang="es-CO" sz="3200" b="1" i="0" u="none" strike="noStrike" cap="none">
                <a:solidFill>
                  <a:schemeClr val="bg1"/>
                </a:solidFill>
                <a:latin typeface="Arial"/>
                <a:ea typeface="Calibri"/>
                <a:cs typeface="Arial"/>
              </a:rPr>
              <a:t>Contenido</a:t>
            </a:r>
            <a:endParaRPr lang="es-CO" sz="3200" b="1" i="0" u="none" strike="noStrike" cap="none">
              <a:solidFill>
                <a:schemeClr val="bg1"/>
              </a:solidFill>
              <a:latin typeface="Arial"/>
              <a:ea typeface="Calibri"/>
              <a:cs typeface="Arial"/>
            </a:endParaRPr>
          </a:p>
        </p:txBody>
      </p:sp>
      <p:sp>
        <p:nvSpPr>
          <p:cNvPr id="757795571" name="CuadroTexto 4"/>
          <p:cNvSpPr txBox="1"/>
          <p:nvPr/>
        </p:nvSpPr>
        <p:spPr bwMode="auto">
          <a:xfrm>
            <a:off x="914400" y="1917700"/>
            <a:ext cx="508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defRPr/>
            </a:pPr>
            <a:r>
              <a:rPr lang="es-CO" sz="1000" b="1">
                <a:solidFill>
                  <a:srgbClr val="2F75B5"/>
                </a:solidFill>
              </a:rPr>
              <a:t>RUTA DE LA PRESENTACIÓN</a:t>
            </a:r>
            <a:endParaRPr/>
          </a:p>
        </p:txBody>
      </p:sp>
      <p:sp>
        <p:nvSpPr>
          <p:cNvPr id="1860038710" name="Rectángulo: esquinas redondeadas 5"/>
          <p:cNvSpPr/>
          <p:nvPr/>
        </p:nvSpPr>
        <p:spPr bwMode="auto">
          <a:xfrm>
            <a:off x="914400" y="2260600"/>
            <a:ext cx="10363200" cy="812800"/>
          </a:xfrm>
          <a:prstGeom prst="roundRect">
            <a:avLst>
              <a:gd name="adj" fmla="val 16667"/>
            </a:avLst>
          </a:prstGeom>
          <a:solidFill>
            <a:srgbClr val="EAF2F8"/>
          </a:solidFill>
          <a:ln w="15240" cap="flat" cmpd="sng" algn="ctr">
            <a:solidFill>
              <a:srgbClr val="2F75B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>
              <a:defRPr/>
            </a:pPr>
            <a:endParaRPr lang="es-CO"/>
          </a:p>
        </p:txBody>
      </p:sp>
      <p:sp>
        <p:nvSpPr>
          <p:cNvPr id="16651183" name="Rectángulo: esquinas redondeadas 6"/>
          <p:cNvSpPr/>
          <p:nvPr/>
        </p:nvSpPr>
        <p:spPr bwMode="auto">
          <a:xfrm>
            <a:off x="1066800" y="2387600"/>
            <a:ext cx="609600" cy="558800"/>
          </a:xfrm>
          <a:prstGeom prst="roundRect">
            <a:avLst>
              <a:gd name="adj" fmla="val 16667"/>
            </a:avLst>
          </a:prstGeom>
          <a:solidFill>
            <a:srgbClr val="2F75B5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>
              <a:defRPr/>
            </a:pPr>
            <a:r>
              <a:rPr lang="es-CO" sz="1700" b="1">
                <a:solidFill>
                  <a:srgbClr val="FFFFFF"/>
                </a:solidFill>
                <a:latin typeface="Arial"/>
                <a:cs typeface="Arial"/>
              </a:rPr>
              <a:t>01</a:t>
            </a:r>
            <a:endParaRPr/>
          </a:p>
        </p:txBody>
      </p:sp>
      <p:sp>
        <p:nvSpPr>
          <p:cNvPr id="1735013349" name="CuadroTexto 7"/>
          <p:cNvSpPr txBox="1"/>
          <p:nvPr/>
        </p:nvSpPr>
        <p:spPr bwMode="auto">
          <a:xfrm>
            <a:off x="1905000" y="2362199"/>
            <a:ext cx="7493000" cy="609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>
              <a:defRPr/>
            </a:pPr>
            <a:r>
              <a:rPr lang="es-ES" sz="1800" b="1">
                <a:solidFill>
                  <a:srgbClr val="073654"/>
                </a:solidFill>
              </a:rPr>
              <a:t>Resumen de la Entrega 1</a:t>
            </a:r>
            <a:br>
              <a:rPr lang="es-ES" sz="1200">
                <a:solidFill>
                  <a:srgbClr val="425466"/>
                </a:solidFill>
              </a:rPr>
            </a:br>
            <a:r>
              <a:rPr lang="es-ES" sz="1200">
                <a:solidFill>
                  <a:srgbClr val="425466"/>
                </a:solidFill>
              </a:rPr>
              <a:t>Corpus, limpieza y textometría básica</a:t>
            </a:r>
            <a:endParaRPr lang="es-CO" sz="1200">
              <a:solidFill>
                <a:srgbClr val="425466"/>
              </a:solidFill>
            </a:endParaRPr>
          </a:p>
        </p:txBody>
      </p:sp>
      <p:sp>
        <p:nvSpPr>
          <p:cNvPr id="451321856" name="CuadroTexto 8"/>
          <p:cNvSpPr txBox="1"/>
          <p:nvPr/>
        </p:nvSpPr>
        <p:spPr bwMode="auto">
          <a:xfrm>
            <a:off x="9906000" y="2413000"/>
            <a:ext cx="1041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>
              <a:defRPr/>
            </a:pPr>
            <a:r>
              <a:rPr lang="es-CO" sz="1500" b="1">
                <a:solidFill>
                  <a:srgbClr val="2F75B5"/>
                </a:solidFill>
              </a:rPr>
              <a:t>03–04</a:t>
            </a:r>
            <a:endParaRPr/>
          </a:p>
        </p:txBody>
      </p:sp>
      <p:sp>
        <p:nvSpPr>
          <p:cNvPr id="283016945" name="Rectángulo: esquinas redondeadas 9"/>
          <p:cNvSpPr/>
          <p:nvPr/>
        </p:nvSpPr>
        <p:spPr bwMode="auto">
          <a:xfrm>
            <a:off x="914400" y="3174390"/>
            <a:ext cx="10363200" cy="812800"/>
          </a:xfrm>
          <a:prstGeom prst="roundRect">
            <a:avLst>
              <a:gd name="adj" fmla="val 16667"/>
            </a:avLst>
          </a:prstGeom>
          <a:solidFill>
            <a:srgbClr val="FFF4D6"/>
          </a:solidFill>
          <a:ln w="15240" cap="flat" cmpd="sng" algn="ctr">
            <a:solidFill>
              <a:srgbClr val="D99A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>
              <a:defRPr/>
            </a:pPr>
            <a:endParaRPr lang="es-CO"/>
          </a:p>
        </p:txBody>
      </p:sp>
      <p:sp>
        <p:nvSpPr>
          <p:cNvPr id="1057720322" name="Rectángulo: esquinas redondeadas 10"/>
          <p:cNvSpPr/>
          <p:nvPr/>
        </p:nvSpPr>
        <p:spPr bwMode="auto">
          <a:xfrm>
            <a:off x="1066800" y="3301390"/>
            <a:ext cx="609600" cy="558800"/>
          </a:xfrm>
          <a:prstGeom prst="roundRect">
            <a:avLst>
              <a:gd name="adj" fmla="val 16667"/>
            </a:avLst>
          </a:prstGeom>
          <a:solidFill>
            <a:srgbClr val="D99A0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>
              <a:defRPr/>
            </a:pPr>
            <a:r>
              <a:rPr lang="es-CO" sz="1700" b="1">
                <a:solidFill>
                  <a:srgbClr val="FFFFFF"/>
                </a:solidFill>
                <a:latin typeface="Arial"/>
                <a:cs typeface="Arial"/>
              </a:rPr>
              <a:t>02</a:t>
            </a:r>
            <a:endParaRPr/>
          </a:p>
        </p:txBody>
      </p:sp>
      <p:sp>
        <p:nvSpPr>
          <p:cNvPr id="1235857380" name="CuadroTexto 11"/>
          <p:cNvSpPr txBox="1"/>
          <p:nvPr/>
        </p:nvSpPr>
        <p:spPr bwMode="auto">
          <a:xfrm>
            <a:off x="1905000" y="3275990"/>
            <a:ext cx="7493000" cy="609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>
              <a:defRPr/>
            </a:pPr>
            <a:r>
              <a:rPr lang="es-ES" sz="1800" b="1">
                <a:solidFill>
                  <a:srgbClr val="073654"/>
                </a:solidFill>
              </a:rPr>
              <a:t>Estado del arte</a:t>
            </a:r>
            <a:br>
              <a:rPr lang="es-ES" sz="1200">
                <a:solidFill>
                  <a:srgbClr val="425466"/>
                </a:solidFill>
              </a:rPr>
            </a:br>
            <a:r>
              <a:rPr lang="es-ES" sz="1200">
                <a:solidFill>
                  <a:srgbClr val="425466"/>
                </a:solidFill>
              </a:rPr>
              <a:t>Antecedentes y representación</a:t>
            </a:r>
            <a:endParaRPr lang="es-CO" sz="1200">
              <a:solidFill>
                <a:srgbClr val="425466"/>
              </a:solidFill>
            </a:endParaRPr>
          </a:p>
        </p:txBody>
      </p:sp>
      <p:sp>
        <p:nvSpPr>
          <p:cNvPr id="159974123" name="CuadroTexto 12"/>
          <p:cNvSpPr txBox="1"/>
          <p:nvPr/>
        </p:nvSpPr>
        <p:spPr bwMode="auto">
          <a:xfrm>
            <a:off x="9906000" y="3326790"/>
            <a:ext cx="1041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>
              <a:defRPr/>
            </a:pPr>
            <a:r>
              <a:rPr lang="es-CO" sz="1500" b="1">
                <a:solidFill>
                  <a:srgbClr val="D99A00"/>
                </a:solidFill>
              </a:rPr>
              <a:t>05–06</a:t>
            </a:r>
            <a:endParaRPr/>
          </a:p>
        </p:txBody>
      </p:sp>
      <p:sp>
        <p:nvSpPr>
          <p:cNvPr id="907583244" name="Rectángulo: esquinas redondeadas 13"/>
          <p:cNvSpPr/>
          <p:nvPr/>
        </p:nvSpPr>
        <p:spPr bwMode="auto">
          <a:xfrm>
            <a:off x="914400" y="4089095"/>
            <a:ext cx="10363200" cy="812800"/>
          </a:xfrm>
          <a:prstGeom prst="roundRect">
            <a:avLst>
              <a:gd name="adj" fmla="val 16667"/>
            </a:avLst>
          </a:prstGeom>
          <a:solidFill>
            <a:srgbClr val="E8F5EE"/>
          </a:solidFill>
          <a:ln w="15240" cap="flat" cmpd="sng" algn="ctr">
            <a:solidFill>
              <a:srgbClr val="2E8B57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>
              <a:defRPr/>
            </a:pPr>
            <a:endParaRPr lang="es-CO"/>
          </a:p>
        </p:txBody>
      </p:sp>
      <p:sp>
        <p:nvSpPr>
          <p:cNvPr id="1136928843" name="Rectángulo: esquinas redondeadas 14"/>
          <p:cNvSpPr/>
          <p:nvPr/>
        </p:nvSpPr>
        <p:spPr bwMode="auto">
          <a:xfrm>
            <a:off x="1066800" y="4216095"/>
            <a:ext cx="609600" cy="558800"/>
          </a:xfrm>
          <a:prstGeom prst="roundRect">
            <a:avLst>
              <a:gd name="adj" fmla="val 16667"/>
            </a:avLst>
          </a:prstGeom>
          <a:solidFill>
            <a:srgbClr val="2E8B5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>
              <a:defRPr/>
            </a:pPr>
            <a:r>
              <a:rPr lang="es-CO" sz="1700" b="1">
                <a:solidFill>
                  <a:srgbClr val="FFFFFF"/>
                </a:solidFill>
                <a:latin typeface="Arial"/>
                <a:cs typeface="Arial"/>
              </a:rPr>
              <a:t>03</a:t>
            </a:r>
            <a:endParaRPr/>
          </a:p>
        </p:txBody>
      </p:sp>
      <p:sp>
        <p:nvSpPr>
          <p:cNvPr id="1988974961" name="CuadroTexto 15"/>
          <p:cNvSpPr txBox="1"/>
          <p:nvPr/>
        </p:nvSpPr>
        <p:spPr bwMode="auto">
          <a:xfrm>
            <a:off x="1905000" y="4190695"/>
            <a:ext cx="7493000" cy="609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>
              <a:defRPr/>
            </a:pPr>
            <a:r>
              <a:rPr lang="es-ES" sz="1800" b="1">
                <a:solidFill>
                  <a:srgbClr val="073654"/>
                </a:solidFill>
              </a:rPr>
              <a:t>Corpus medido y EDA avanzado</a:t>
            </a:r>
            <a:br>
              <a:rPr lang="es-ES" sz="1200">
                <a:solidFill>
                  <a:srgbClr val="425466"/>
                </a:solidFill>
              </a:rPr>
            </a:br>
            <a:r>
              <a:rPr lang="es-ES" sz="1200">
                <a:solidFill>
                  <a:srgbClr val="425466"/>
                </a:solidFill>
              </a:rPr>
              <a:t>Dataset, n-gramas, diversidad y diacronía</a:t>
            </a:r>
            <a:endParaRPr lang="es-CO" sz="1200">
              <a:solidFill>
                <a:srgbClr val="425466"/>
              </a:solidFill>
            </a:endParaRPr>
          </a:p>
        </p:txBody>
      </p:sp>
      <p:sp>
        <p:nvSpPr>
          <p:cNvPr id="47125433" name="CuadroTexto 16"/>
          <p:cNvSpPr txBox="1"/>
          <p:nvPr/>
        </p:nvSpPr>
        <p:spPr bwMode="auto">
          <a:xfrm>
            <a:off x="9906000" y="4241495"/>
            <a:ext cx="1041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>
              <a:defRPr/>
            </a:pPr>
            <a:r>
              <a:rPr lang="es-CO" sz="1500" b="1">
                <a:solidFill>
                  <a:srgbClr val="2E8B57"/>
                </a:solidFill>
              </a:rPr>
              <a:t>07–12</a:t>
            </a:r>
            <a:endParaRPr/>
          </a:p>
        </p:txBody>
      </p:sp>
      <p:sp>
        <p:nvSpPr>
          <p:cNvPr id="388648585" name="Rectángulo: esquinas redondeadas 17"/>
          <p:cNvSpPr/>
          <p:nvPr/>
        </p:nvSpPr>
        <p:spPr bwMode="auto">
          <a:xfrm>
            <a:off x="914400" y="5003800"/>
            <a:ext cx="10363200" cy="812800"/>
          </a:xfrm>
          <a:prstGeom prst="roundRect">
            <a:avLst>
              <a:gd name="adj" fmla="val 16667"/>
            </a:avLst>
          </a:prstGeom>
          <a:solidFill>
            <a:srgbClr val="EAF2F8"/>
          </a:solidFill>
          <a:ln w="15240" cap="flat" cmpd="sng" algn="ctr">
            <a:solidFill>
              <a:srgbClr val="2F75B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>
              <a:defRPr/>
            </a:pPr>
            <a:endParaRPr lang="es-CO"/>
          </a:p>
        </p:txBody>
      </p:sp>
      <p:sp>
        <p:nvSpPr>
          <p:cNvPr id="483071233" name="Rectángulo: esquinas redondeadas 18"/>
          <p:cNvSpPr/>
          <p:nvPr/>
        </p:nvSpPr>
        <p:spPr bwMode="auto">
          <a:xfrm>
            <a:off x="1066800" y="5130800"/>
            <a:ext cx="609600" cy="558800"/>
          </a:xfrm>
          <a:prstGeom prst="roundRect">
            <a:avLst>
              <a:gd name="adj" fmla="val 16667"/>
            </a:avLst>
          </a:prstGeom>
          <a:solidFill>
            <a:srgbClr val="2F75B5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>
              <a:defRPr/>
            </a:pPr>
            <a:r>
              <a:rPr lang="es-CO" sz="1700" b="1">
                <a:solidFill>
                  <a:srgbClr val="FFFFFF"/>
                </a:solidFill>
                <a:latin typeface="Arial"/>
                <a:cs typeface="Arial"/>
              </a:rPr>
              <a:t>04</a:t>
            </a:r>
            <a:endParaRPr/>
          </a:p>
        </p:txBody>
      </p:sp>
      <p:sp>
        <p:nvSpPr>
          <p:cNvPr id="279856753" name="CuadroTexto 19"/>
          <p:cNvSpPr txBox="1"/>
          <p:nvPr/>
        </p:nvSpPr>
        <p:spPr bwMode="auto">
          <a:xfrm>
            <a:off x="1905000" y="5105400"/>
            <a:ext cx="7493000" cy="609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>
              <a:defRPr/>
            </a:pPr>
            <a:r>
              <a:rPr lang="es-ES" sz="1800" b="1">
                <a:solidFill>
                  <a:srgbClr val="073654"/>
                </a:solidFill>
              </a:rPr>
              <a:t>Representación y metodología</a:t>
            </a:r>
            <a:br>
              <a:rPr lang="es-ES" sz="1200">
                <a:solidFill>
                  <a:srgbClr val="425466"/>
                </a:solidFill>
              </a:rPr>
            </a:br>
            <a:r>
              <a:rPr lang="es-ES" sz="1200">
                <a:solidFill>
                  <a:srgbClr val="425466"/>
                </a:solidFill>
              </a:rPr>
              <a:t>TF-IDF, embeddings y propuesta de modelado</a:t>
            </a:r>
            <a:endParaRPr lang="es-CO" sz="1200">
              <a:solidFill>
                <a:srgbClr val="425466"/>
              </a:solidFill>
            </a:endParaRPr>
          </a:p>
        </p:txBody>
      </p:sp>
      <p:sp>
        <p:nvSpPr>
          <p:cNvPr id="669258529" name="CuadroTexto 20"/>
          <p:cNvSpPr txBox="1"/>
          <p:nvPr/>
        </p:nvSpPr>
        <p:spPr bwMode="auto">
          <a:xfrm>
            <a:off x="9906000" y="5156200"/>
            <a:ext cx="1041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>
              <a:defRPr/>
            </a:pPr>
            <a:r>
              <a:rPr lang="es-CO" sz="1500" b="1">
                <a:solidFill>
                  <a:srgbClr val="2F75B5"/>
                </a:solidFill>
              </a:rPr>
              <a:t>13–14</a:t>
            </a:r>
            <a:endParaRPr/>
          </a:p>
        </p:txBody>
      </p:sp>
      <p:sp>
        <p:nvSpPr>
          <p:cNvPr id="1851806784" name="Fusion-G-Fila5-Rectángulo: esquinas redo"/>
          <p:cNvSpPr/>
          <p:nvPr/>
        </p:nvSpPr>
        <p:spPr bwMode="auto">
          <a:xfrm>
            <a:off x="914400" y="5918200"/>
            <a:ext cx="10363200" cy="812800"/>
          </a:xfrm>
          <a:prstGeom prst="roundRect">
            <a:avLst>
              <a:gd name="adj" fmla="val 16667"/>
            </a:avLst>
          </a:prstGeom>
          <a:solidFill>
            <a:srgbClr val="EEEAF8"/>
          </a:solidFill>
          <a:ln w="15240" cap="flat" cmpd="sng" algn="ctr">
            <a:solidFill>
              <a:srgbClr val="6554A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>
              <a:defRPr/>
            </a:pPr>
            <a:endParaRPr lang="es-CO"/>
          </a:p>
        </p:txBody>
      </p:sp>
      <p:sp>
        <p:nvSpPr>
          <p:cNvPr id="1715073770" name="Fusion-G-Fila5-Rectángulo: esquinas redo"/>
          <p:cNvSpPr/>
          <p:nvPr/>
        </p:nvSpPr>
        <p:spPr bwMode="auto">
          <a:xfrm>
            <a:off x="1066800" y="6045200"/>
            <a:ext cx="609600" cy="558800"/>
          </a:xfrm>
          <a:prstGeom prst="roundRect">
            <a:avLst>
              <a:gd name="adj" fmla="val 16667"/>
            </a:avLst>
          </a:prstGeom>
          <a:solidFill>
            <a:srgbClr val="6554A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>
              <a:defRPr/>
            </a:pPr>
            <a:r>
              <a:rPr lang="es-CO" sz="1700" b="1">
                <a:solidFill>
                  <a:srgbClr val="FFFFFF"/>
                </a:solidFill>
                <a:latin typeface="Arial"/>
                <a:cs typeface="Arial"/>
              </a:rPr>
              <a:t>05</a:t>
            </a:r>
            <a:endParaRPr/>
          </a:p>
        </p:txBody>
      </p:sp>
      <p:sp>
        <p:nvSpPr>
          <p:cNvPr id="834721718" name="Fusion-G-Fila5-CuadroTexto 19"/>
          <p:cNvSpPr txBox="1"/>
          <p:nvPr/>
        </p:nvSpPr>
        <p:spPr bwMode="auto">
          <a:xfrm>
            <a:off x="1905000" y="6019800"/>
            <a:ext cx="7493000" cy="609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>
              <a:defRPr/>
            </a:pPr>
            <a:r>
              <a:rPr lang="es-ES" sz="1800" b="1">
                <a:solidFill>
                  <a:srgbClr val="073654"/>
                </a:solidFill>
              </a:rPr>
              <a:t>Conclusiones</a:t>
            </a:r>
            <a:br>
              <a:rPr lang="es-ES" sz="1200">
                <a:solidFill>
                  <a:srgbClr val="425466"/>
                </a:solidFill>
              </a:rPr>
            </a:br>
            <a:r>
              <a:rPr lang="es-ES" sz="1200">
                <a:solidFill>
                  <a:srgbClr val="425466"/>
                </a:solidFill>
              </a:rPr>
              <a:t>Hallazgos y trabajo futuro</a:t>
            </a:r>
            <a:endParaRPr lang="es-CO" sz="1200">
              <a:solidFill>
                <a:srgbClr val="425466"/>
              </a:solidFill>
            </a:endParaRPr>
          </a:p>
        </p:txBody>
      </p:sp>
      <p:sp>
        <p:nvSpPr>
          <p:cNvPr id="725098802" name="Fusion-G-Fila5-CuadroTexto 20"/>
          <p:cNvSpPr txBox="1"/>
          <p:nvPr/>
        </p:nvSpPr>
        <p:spPr bwMode="auto">
          <a:xfrm>
            <a:off x="9906000" y="6070600"/>
            <a:ext cx="1041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>
              <a:defRPr/>
            </a:pPr>
            <a:r>
              <a:rPr lang="es-CO" sz="1500" b="1">
                <a:solidFill>
                  <a:srgbClr val="6554A4"/>
                </a:solidFill>
              </a:rPr>
              <a:t>15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133675819" name=""/>
        <p:cNvGrpSpPr/>
        <p:nvPr/>
      </p:nvGrpSpPr>
      <p:grpSpPr/>
      <p:pic>
        <p:nvPicPr>
          <p:cNvPr id="2133675820" name="Google Shape;104;g393f66bba02_1_6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-1" y="0"/>
            <a:ext cx="12192004" cy="1623060"/>
          </a:xfrm>
          <a:prstGeom prst="rect">
            <a:avLst/>
          </a:prstGeom>
          <a:noFill/>
          <a:ln>
            <a:noFill/>
          </a:ln>
        </p:spPr>
      </p:pic>
      <p:sp>
        <p:nvSpPr>
          <p:cNvPr id="2133675821" name="Google Shape;105;g393f66bba02_1_6"/>
          <p:cNvSpPr/>
          <p:nvPr/>
        </p:nvSpPr>
        <p:spPr bwMode="auto">
          <a:xfrm>
            <a:off x="1496965" y="324857"/>
            <a:ext cx="6824075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  <a:noAutofit/>
          </a:bodyPr>
          <a:lstStyle/>
          <a:p>
            <a:pPr lvl="0">
              <a:defRPr/>
            </a:pPr>
            <a:r>
              <a:rPr lang="es-ES" sz="32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Resumen de la Entrega 1</a:t>
            </a:r>
            <a:endParaRPr lang="es-CO" sz="3200" b="1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33675822" name="TextBox 7"/>
          <p:cNvSpPr txBox="1"/>
          <p:nvPr/>
        </p:nvSpPr>
        <p:spPr bwMode="auto">
          <a:xfrm>
            <a:off x="2127647" y="1609925"/>
            <a:ext cx="889690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s-CO" sz="2800" b="1">
                <a:solidFill>
                  <a:schemeClr val="accent4">
                    <a:lumMod val="60000"/>
                    <a:lumOff val="40000"/>
                  </a:schemeClr>
                </a:solidFill>
                <a:ea typeface="Calibri"/>
              </a:rPr>
              <a:t>Corpus: del dato crudo al analizable</a:t>
            </a:r>
            <a:endParaRPr/>
          </a:p>
        </p:txBody>
      </p:sp>
      <p:sp>
        <p:nvSpPr>
          <p:cNvPr id="2133675823" name="Rectángulo: esquinas redondeadas 1"/>
          <p:cNvSpPr/>
          <p:nvPr/>
        </p:nvSpPr>
        <p:spPr bwMode="auto">
          <a:xfrm>
            <a:off x="533400" y="2730500"/>
            <a:ext cx="1905000" cy="1981200"/>
          </a:xfrm>
          <a:prstGeom prst="roundRect">
            <a:avLst>
              <a:gd name="adj" fmla="val 16667"/>
            </a:avLst>
          </a:prstGeom>
          <a:solidFill>
            <a:srgbClr val="EAF2F8"/>
          </a:solidFill>
          <a:ln w="19050" cap="flat" cmpd="sng" algn="ctr">
            <a:solidFill>
              <a:srgbClr val="2F75B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CO" sz="1200" b="1">
                <a:solidFill>
                  <a:srgbClr val="2F75B5"/>
                </a:solidFill>
                <a:latin typeface="+mj-lt"/>
                <a:cs typeface="Arial"/>
              </a:rPr>
              <a:t>INGESTA</a:t>
            </a:r>
            <a:endParaRPr/>
          </a:p>
          <a:p>
            <a:pPr algn="l">
              <a:defRPr/>
            </a:pPr>
            <a:br>
              <a:rPr lang="es-CO" sz="1200">
                <a:solidFill>
                  <a:srgbClr val="162536"/>
                </a:solidFill>
                <a:latin typeface="+mj-lt"/>
                <a:cs typeface="Arial"/>
              </a:rPr>
            </a:br>
            <a:r>
              <a:rPr lang="es-CO" sz="1200" b="1">
                <a:solidFill>
                  <a:srgbClr val="162536"/>
                </a:solidFill>
                <a:latin typeface="+mj-lt"/>
                <a:cs typeface="Arial"/>
              </a:rPr>
              <a:t>23.750</a:t>
            </a:r>
            <a:r>
              <a:rPr lang="es-CO" sz="1200">
                <a:solidFill>
                  <a:srgbClr val="162536"/>
                </a:solidFill>
                <a:latin typeface="+mj-lt"/>
                <a:cs typeface="Arial"/>
              </a:rPr>
              <a:t> registros</a:t>
            </a:r>
            <a:br>
              <a:rPr lang="es-CO" sz="1200">
                <a:solidFill>
                  <a:srgbClr val="162536"/>
                </a:solidFill>
                <a:latin typeface="+mj-lt"/>
                <a:cs typeface="Arial"/>
              </a:rPr>
            </a:br>
            <a:r>
              <a:rPr lang="es-CO" sz="1200">
                <a:solidFill>
                  <a:srgbClr val="162536"/>
                </a:solidFill>
                <a:latin typeface="+mj-lt"/>
                <a:cs typeface="Arial"/>
              </a:rPr>
              <a:t>Texto crudo no estructurado</a:t>
            </a:r>
            <a:endParaRPr/>
          </a:p>
        </p:txBody>
      </p:sp>
      <p:sp>
        <p:nvSpPr>
          <p:cNvPr id="2133675824" name="Rectángulo: esquinas redondeadas 2"/>
          <p:cNvSpPr/>
          <p:nvPr/>
        </p:nvSpPr>
        <p:spPr bwMode="auto">
          <a:xfrm>
            <a:off x="2743200" y="2730500"/>
            <a:ext cx="1905000" cy="1981200"/>
          </a:xfrm>
          <a:prstGeom prst="roundRect">
            <a:avLst>
              <a:gd name="adj" fmla="val 16667"/>
            </a:avLst>
          </a:prstGeom>
          <a:solidFill>
            <a:srgbClr val="FFF4D6"/>
          </a:solidFill>
          <a:ln w="19050" cap="flat" cmpd="sng" algn="ctr">
            <a:solidFill>
              <a:srgbClr val="F4B41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sz="1200" b="1">
                <a:solidFill>
                  <a:srgbClr val="F4B41A"/>
                </a:solidFill>
                <a:latin typeface="+mj-lt"/>
                <a:cs typeface="Arial"/>
              </a:rPr>
              <a:t>EXTRACCIÓN</a:t>
            </a:r>
            <a:endParaRPr/>
          </a:p>
          <a:p>
            <a:pPr algn="l">
              <a:defRPr/>
            </a:pPr>
            <a:br>
              <a:rPr lang="es-ES" sz="1200">
                <a:solidFill>
                  <a:srgbClr val="162536"/>
                </a:solidFill>
                <a:latin typeface="+mj-lt"/>
                <a:cs typeface="Arial"/>
              </a:rPr>
            </a:br>
            <a:r>
              <a:rPr lang="es-ES" sz="1200">
                <a:solidFill>
                  <a:srgbClr val="162536"/>
                </a:solidFill>
                <a:latin typeface="+mj-lt"/>
                <a:cs typeface="Arial"/>
              </a:rPr>
              <a:t>Extracción mediante expresiones regulares:</a:t>
            </a:r>
            <a:br>
              <a:rPr lang="es-ES" sz="1200">
                <a:solidFill>
                  <a:srgbClr val="162536"/>
                </a:solidFill>
                <a:latin typeface="+mj-lt"/>
                <a:cs typeface="Arial"/>
              </a:rPr>
            </a:br>
            <a:r>
              <a:rPr lang="es-ES" sz="1200">
                <a:solidFill>
                  <a:srgbClr val="162536"/>
                </a:solidFill>
                <a:latin typeface="+mj-lt"/>
                <a:cs typeface="Arial"/>
              </a:rPr>
              <a:t>- ID</a:t>
            </a:r>
            <a:endParaRPr/>
          </a:p>
          <a:p>
            <a:pPr algn="l">
              <a:defRPr/>
            </a:pPr>
            <a:r>
              <a:rPr lang="es-ES" sz="1200">
                <a:solidFill>
                  <a:srgbClr val="162536"/>
                </a:solidFill>
                <a:latin typeface="+mj-lt"/>
                <a:cs typeface="Arial"/>
              </a:rPr>
              <a:t>- Tipo</a:t>
            </a:r>
            <a:endParaRPr/>
          </a:p>
          <a:p>
            <a:pPr algn="l">
              <a:defRPr/>
            </a:pPr>
            <a:r>
              <a:rPr lang="es-ES" sz="1200">
                <a:solidFill>
                  <a:srgbClr val="162536"/>
                </a:solidFill>
                <a:latin typeface="+mj-lt"/>
                <a:cs typeface="Arial"/>
              </a:rPr>
              <a:t>- Año</a:t>
            </a:r>
            <a:endParaRPr/>
          </a:p>
          <a:p>
            <a:pPr algn="ctr">
              <a:defRPr/>
            </a:pPr>
            <a:br>
              <a:rPr lang="es-ES" sz="1200">
                <a:solidFill>
                  <a:srgbClr val="162536"/>
                </a:solidFill>
                <a:latin typeface="+mj-lt"/>
                <a:cs typeface="Arial"/>
              </a:rPr>
            </a:br>
            <a:r>
              <a:rPr lang="es-ES" sz="1200">
                <a:solidFill>
                  <a:srgbClr val="0070C0"/>
                </a:solidFill>
                <a:latin typeface="+mj-lt"/>
                <a:cs typeface="Arial"/>
              </a:rPr>
              <a:t>99,97 % eficacia</a:t>
            </a:r>
            <a:endParaRPr lang="es-CO" sz="1200">
              <a:solidFill>
                <a:srgbClr val="0070C0"/>
              </a:solidFill>
              <a:latin typeface="+mj-lt"/>
              <a:cs typeface="Arial"/>
            </a:endParaRPr>
          </a:p>
        </p:txBody>
      </p:sp>
      <p:sp>
        <p:nvSpPr>
          <p:cNvPr id="2133675825" name="Rectángulo: esquinas redondeadas 5"/>
          <p:cNvSpPr/>
          <p:nvPr/>
        </p:nvSpPr>
        <p:spPr bwMode="auto">
          <a:xfrm>
            <a:off x="4953000" y="2730500"/>
            <a:ext cx="1905000" cy="1981200"/>
          </a:xfrm>
          <a:prstGeom prst="roundRect">
            <a:avLst>
              <a:gd name="adj" fmla="val 16667"/>
            </a:avLst>
          </a:prstGeom>
          <a:solidFill>
            <a:srgbClr val="FDEBEC"/>
          </a:solidFill>
          <a:ln w="19050" cap="flat" cmpd="sng" algn="ctr">
            <a:solidFill>
              <a:srgbClr val="C94C4C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sz="1200" b="1">
                <a:solidFill>
                  <a:srgbClr val="C94C4C"/>
                </a:solidFill>
                <a:latin typeface="+mj-lt"/>
                <a:cs typeface="Arial"/>
              </a:rPr>
              <a:t>DEPURACIÓN</a:t>
            </a:r>
            <a:endParaRPr/>
          </a:p>
          <a:p>
            <a:pPr algn="l">
              <a:defRPr/>
            </a:pPr>
            <a:br>
              <a:rPr lang="es-ES" sz="1200">
                <a:solidFill>
                  <a:srgbClr val="162536"/>
                </a:solidFill>
                <a:latin typeface="+mj-lt"/>
                <a:cs typeface="Arial"/>
              </a:rPr>
            </a:br>
            <a:r>
              <a:rPr lang="es-ES" sz="1200">
                <a:solidFill>
                  <a:srgbClr val="162536"/>
                </a:solidFill>
                <a:latin typeface="+mj-lt"/>
                <a:cs typeface="Arial"/>
              </a:rPr>
              <a:t>- 8 exclusiones (0,03 %)</a:t>
            </a:r>
            <a:br>
              <a:rPr lang="es-ES" sz="1200">
                <a:solidFill>
                  <a:srgbClr val="162536"/>
                </a:solidFill>
                <a:latin typeface="+mj-lt"/>
                <a:cs typeface="Arial"/>
              </a:rPr>
            </a:br>
            <a:r>
              <a:rPr lang="es-ES" sz="1200">
                <a:solidFill>
                  <a:srgbClr val="162536"/>
                </a:solidFill>
                <a:latin typeface="+mj-lt"/>
                <a:cs typeface="Arial"/>
              </a:rPr>
              <a:t>- 6 autos + 2 HTML</a:t>
            </a:r>
            <a:endParaRPr lang="es-CO" sz="1200">
              <a:solidFill>
                <a:srgbClr val="162536"/>
              </a:solidFill>
              <a:latin typeface="+mj-lt"/>
              <a:cs typeface="Arial"/>
            </a:endParaRPr>
          </a:p>
        </p:txBody>
      </p:sp>
      <p:sp>
        <p:nvSpPr>
          <p:cNvPr id="2133675826" name="Rectángulo: esquinas redondeadas 6"/>
          <p:cNvSpPr/>
          <p:nvPr/>
        </p:nvSpPr>
        <p:spPr bwMode="auto">
          <a:xfrm>
            <a:off x="7162800" y="2730500"/>
            <a:ext cx="1905000" cy="1981200"/>
          </a:xfrm>
          <a:prstGeom prst="roundRect">
            <a:avLst>
              <a:gd name="adj" fmla="val 16667"/>
            </a:avLst>
          </a:prstGeom>
          <a:solidFill>
            <a:srgbClr val="E8F5EE"/>
          </a:solidFill>
          <a:ln w="19050" cap="flat" cmpd="sng" algn="ctr">
            <a:solidFill>
              <a:srgbClr val="2E8B57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sz="1200" b="1">
                <a:solidFill>
                  <a:srgbClr val="2E8B57"/>
                </a:solidFill>
                <a:latin typeface="+mj-lt"/>
                <a:cs typeface="Arial"/>
              </a:rPr>
              <a:t>CONSOLIDACIÓN</a:t>
            </a:r>
            <a:endParaRPr/>
          </a:p>
          <a:p>
            <a:pPr algn="l">
              <a:defRPr/>
            </a:pPr>
            <a:br>
              <a:rPr lang="es-ES" sz="1200">
                <a:solidFill>
                  <a:srgbClr val="162536"/>
                </a:solidFill>
                <a:latin typeface="+mj-lt"/>
                <a:cs typeface="Arial"/>
              </a:rPr>
            </a:br>
            <a:r>
              <a:rPr lang="es-ES" sz="1200" b="1">
                <a:solidFill>
                  <a:srgbClr val="162536"/>
                </a:solidFill>
                <a:latin typeface="+mj-lt"/>
                <a:cs typeface="Arial"/>
              </a:rPr>
              <a:t>23.742 </a:t>
            </a:r>
            <a:r>
              <a:rPr lang="es-ES" sz="1200">
                <a:solidFill>
                  <a:srgbClr val="162536"/>
                </a:solidFill>
                <a:latin typeface="+mj-lt"/>
                <a:cs typeface="Arial"/>
              </a:rPr>
              <a:t>sentencias</a:t>
            </a:r>
            <a:br>
              <a:rPr lang="es-ES" sz="1200">
                <a:solidFill>
                  <a:srgbClr val="162536"/>
                </a:solidFill>
                <a:latin typeface="+mj-lt"/>
                <a:cs typeface="Arial"/>
              </a:rPr>
            </a:br>
            <a:r>
              <a:rPr lang="es-ES" sz="1200">
                <a:solidFill>
                  <a:srgbClr val="162536"/>
                </a:solidFill>
                <a:latin typeface="+mj-lt"/>
                <a:cs typeface="Arial"/>
              </a:rPr>
              <a:t>Corpus limpio y estructurado</a:t>
            </a:r>
            <a:endParaRPr lang="es-CO" sz="1200">
              <a:solidFill>
                <a:srgbClr val="162536"/>
              </a:solidFill>
              <a:latin typeface="+mj-lt"/>
              <a:cs typeface="Arial"/>
            </a:endParaRPr>
          </a:p>
        </p:txBody>
      </p:sp>
      <p:sp>
        <p:nvSpPr>
          <p:cNvPr id="2133675827" name="Rectángulo: esquinas redondeadas 7"/>
          <p:cNvSpPr/>
          <p:nvPr/>
        </p:nvSpPr>
        <p:spPr bwMode="auto">
          <a:xfrm>
            <a:off x="9372600" y="2730500"/>
            <a:ext cx="1905000" cy="1981200"/>
          </a:xfrm>
          <a:prstGeom prst="roundRect">
            <a:avLst>
              <a:gd name="adj" fmla="val 16667"/>
            </a:avLst>
          </a:prstGeom>
          <a:solidFill>
            <a:srgbClr val="EEEAF8"/>
          </a:solidFill>
          <a:ln w="19050" cap="flat" cmpd="sng" algn="ctr">
            <a:solidFill>
              <a:srgbClr val="6554A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sz="1200" b="1">
                <a:solidFill>
                  <a:srgbClr val="6554A4"/>
                </a:solidFill>
                <a:latin typeface="+mj-lt"/>
                <a:cs typeface="Arial"/>
              </a:rPr>
              <a:t>VALIDACIÓN</a:t>
            </a:r>
            <a:endParaRPr/>
          </a:p>
          <a:p>
            <a:pPr algn="l">
              <a:defRPr/>
            </a:pPr>
            <a:br>
              <a:rPr lang="es-ES" sz="1200">
                <a:solidFill>
                  <a:srgbClr val="162536"/>
                </a:solidFill>
                <a:latin typeface="+mj-lt"/>
                <a:cs typeface="Arial"/>
              </a:rPr>
            </a:br>
            <a:r>
              <a:rPr lang="es-ES" sz="1200">
                <a:solidFill>
                  <a:srgbClr val="162536"/>
                </a:solidFill>
                <a:latin typeface="+mj-lt"/>
                <a:cs typeface="Arial"/>
              </a:rPr>
              <a:t>Muestra estratificada de 25 documentos</a:t>
            </a:r>
            <a:br>
              <a:rPr lang="es-ES" sz="1200">
                <a:solidFill>
                  <a:srgbClr val="162536"/>
                </a:solidFill>
                <a:latin typeface="+mj-lt"/>
                <a:cs typeface="Arial"/>
              </a:rPr>
            </a:br>
            <a:r>
              <a:rPr lang="es-ES" sz="1200">
                <a:solidFill>
                  <a:srgbClr val="162536"/>
                </a:solidFill>
                <a:latin typeface="+mj-lt"/>
                <a:cs typeface="Arial"/>
              </a:rPr>
              <a:t>para facilitar la inspección del corpus.</a:t>
            </a:r>
            <a:endParaRPr lang="es-CO" sz="1200">
              <a:solidFill>
                <a:srgbClr val="162536"/>
              </a:solidFill>
              <a:latin typeface="+mj-lt"/>
              <a:cs typeface="Arial"/>
            </a:endParaRPr>
          </a:p>
        </p:txBody>
      </p:sp>
      <p:sp>
        <p:nvSpPr>
          <p:cNvPr id="2133675828" name="Flecha: cheurón 8"/>
          <p:cNvSpPr/>
          <p:nvPr/>
        </p:nvSpPr>
        <p:spPr bwMode="auto">
          <a:xfrm>
            <a:off x="2463800" y="3492500"/>
            <a:ext cx="228600" cy="431799"/>
          </a:xfrm>
          <a:prstGeom prst="chevron">
            <a:avLst>
              <a:gd name="adj" fmla="val 50000"/>
            </a:avLst>
          </a:prstGeom>
          <a:solidFill>
            <a:srgbClr val="F4B41A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>
              <a:defRPr/>
            </a:pPr>
            <a:endParaRPr lang="es-CO" sz="12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133675829" name="Flecha: cheurón 9"/>
          <p:cNvSpPr/>
          <p:nvPr/>
        </p:nvSpPr>
        <p:spPr bwMode="auto">
          <a:xfrm>
            <a:off x="4673600" y="3492500"/>
            <a:ext cx="228600" cy="431799"/>
          </a:xfrm>
          <a:prstGeom prst="chevron">
            <a:avLst>
              <a:gd name="adj" fmla="val 50000"/>
            </a:avLst>
          </a:prstGeom>
          <a:solidFill>
            <a:srgbClr val="F4B41A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>
              <a:defRPr/>
            </a:pPr>
            <a:endParaRPr lang="es-CO" sz="12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133675830" name="Flecha: cheurón 10"/>
          <p:cNvSpPr/>
          <p:nvPr/>
        </p:nvSpPr>
        <p:spPr bwMode="auto">
          <a:xfrm>
            <a:off x="6883400" y="3492500"/>
            <a:ext cx="228600" cy="431799"/>
          </a:xfrm>
          <a:prstGeom prst="chevron">
            <a:avLst>
              <a:gd name="adj" fmla="val 50000"/>
            </a:avLst>
          </a:prstGeom>
          <a:solidFill>
            <a:srgbClr val="F4B41A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>
              <a:defRPr/>
            </a:pPr>
            <a:endParaRPr lang="es-CO" sz="12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133675831" name="Flecha: cheurón 11"/>
          <p:cNvSpPr/>
          <p:nvPr/>
        </p:nvSpPr>
        <p:spPr bwMode="auto">
          <a:xfrm>
            <a:off x="9093200" y="3492500"/>
            <a:ext cx="228600" cy="431799"/>
          </a:xfrm>
          <a:prstGeom prst="chevron">
            <a:avLst>
              <a:gd name="adj" fmla="val 50000"/>
            </a:avLst>
          </a:prstGeom>
          <a:solidFill>
            <a:srgbClr val="F4B41A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>
              <a:defRPr/>
            </a:pPr>
            <a:endParaRPr lang="es-CO" sz="12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133675832" name="Rectángulo: esquinas redondeadas 12"/>
          <p:cNvSpPr/>
          <p:nvPr/>
        </p:nvSpPr>
        <p:spPr bwMode="auto">
          <a:xfrm>
            <a:off x="1905000" y="5041900"/>
            <a:ext cx="8382000" cy="609600"/>
          </a:xfrm>
          <a:prstGeom prst="roundRect">
            <a:avLst>
              <a:gd name="adj" fmla="val 16667"/>
            </a:avLst>
          </a:prstGeom>
          <a:solidFill>
            <a:srgbClr val="07365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rmAutofit/>
          </a:bodyPr>
          <a:lstStyle/>
          <a:p>
            <a:pPr algn="l">
              <a:defRPr/>
            </a:pPr>
            <a:r>
              <a:rPr lang="es-ES" sz="1800" b="1">
                <a:solidFill>
                  <a:srgbClr val="FFFFFF"/>
                </a:solidFill>
                <a:latin typeface="Arial"/>
                <a:cs typeface="Arial"/>
              </a:rPr>
              <a:t>RESULTADO  →  corpus analizable, trazable y preparado para vectorización o modelado</a:t>
            </a:r>
            <a:endParaRPr lang="es-CO" sz="1800" b="1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2133675833" name="Imagen 14"/>
          <p:cNvPicPr>
            <a:picLocks noChangeAspect="1"/>
          </p:cNvPicPr>
          <p:nvPr/>
        </p:nvPicPr>
        <p:blipFill rotWithShape="1"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1230395" y="1426521"/>
            <a:ext cx="900000" cy="9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133675879" name=""/>
        <p:cNvGrpSpPr/>
        <p:nvPr/>
      </p:nvGrpSpPr>
      <p:grpSpPr/>
      <p:pic>
        <p:nvPicPr>
          <p:cNvPr id="2133675880" name="Google Shape;104;g393f66bba02_1_6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-1" y="0"/>
            <a:ext cx="12192004" cy="1623060"/>
          </a:xfrm>
          <a:prstGeom prst="rect">
            <a:avLst/>
          </a:prstGeom>
          <a:noFill/>
          <a:ln>
            <a:noFill/>
          </a:ln>
        </p:spPr>
      </p:pic>
      <p:sp>
        <p:nvSpPr>
          <p:cNvPr id="2133675881" name="Google Shape;105;g393f66bba02_1_6"/>
          <p:cNvSpPr/>
          <p:nvPr/>
        </p:nvSpPr>
        <p:spPr bwMode="auto">
          <a:xfrm>
            <a:off x="1496965" y="324857"/>
            <a:ext cx="6824075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  <a:noAutofit/>
          </a:bodyPr>
          <a:lstStyle/>
          <a:p>
            <a:pPr lvl="0">
              <a:defRPr/>
            </a:pPr>
            <a:r>
              <a:rPr lang="es-CO" sz="32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Resumen de la Entrega 1</a:t>
            </a:r>
            <a:endParaRPr lang="es-CO" sz="3200" b="1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33675882" name="TextBox 7"/>
          <p:cNvSpPr txBox="1"/>
          <p:nvPr/>
        </p:nvSpPr>
        <p:spPr bwMode="auto">
          <a:xfrm>
            <a:off x="2127647" y="1609925"/>
            <a:ext cx="889690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s-CO" sz="2800" b="1">
                <a:solidFill>
                  <a:schemeClr val="accent4">
                    <a:lumMod val="60000"/>
                    <a:lumOff val="40000"/>
                  </a:schemeClr>
                </a:solidFill>
                <a:ea typeface="Calibri"/>
              </a:rPr>
              <a:t>Limpieza y textometría básica</a:t>
            </a:r>
            <a:endParaRPr/>
          </a:p>
        </p:txBody>
      </p:sp>
      <p:sp>
        <p:nvSpPr>
          <p:cNvPr id="2133675883" name="Rectángulo: esquinas redondeadas 1"/>
          <p:cNvSpPr/>
          <p:nvPr/>
        </p:nvSpPr>
        <p:spPr bwMode="auto">
          <a:xfrm>
            <a:off x="787400" y="2603500"/>
            <a:ext cx="3111500" cy="990600"/>
          </a:xfrm>
          <a:prstGeom prst="roundRect">
            <a:avLst>
              <a:gd name="adj" fmla="val 16667"/>
            </a:avLst>
          </a:prstGeom>
          <a:solidFill>
            <a:srgbClr val="07365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CO" sz="2600" b="1">
                <a:solidFill>
                  <a:srgbClr val="F4B41A"/>
                </a:solidFill>
                <a:latin typeface="Arial"/>
                <a:cs typeface="Arial"/>
              </a:rPr>
              <a:t>23.742</a:t>
            </a:r>
            <a:br>
              <a:rPr lang="es-CO" sz="1600" b="1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s-CO" sz="1600" b="1">
                <a:solidFill>
                  <a:srgbClr val="FFFFFF"/>
                </a:solidFill>
                <a:latin typeface="Arial"/>
                <a:cs typeface="Arial"/>
              </a:rPr>
              <a:t>SENTENCIAS</a:t>
            </a:r>
            <a:endParaRPr lang="es-CO" sz="1600" b="1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133675884" name="Rectángulo: esquinas redondeadas 2"/>
          <p:cNvSpPr/>
          <p:nvPr/>
        </p:nvSpPr>
        <p:spPr bwMode="auto">
          <a:xfrm>
            <a:off x="4140200" y="2603500"/>
            <a:ext cx="3111500" cy="990600"/>
          </a:xfrm>
          <a:prstGeom prst="roundRect">
            <a:avLst>
              <a:gd name="adj" fmla="val 16667"/>
            </a:avLst>
          </a:prstGeom>
          <a:solidFill>
            <a:srgbClr val="EAF2F8"/>
          </a:solidFill>
          <a:ln w="19050" cap="flat" cmpd="sng" algn="ctr">
            <a:solidFill>
              <a:srgbClr val="2F75B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CO" sz="2400" b="1">
                <a:solidFill>
                  <a:srgbClr val="2F75B5"/>
                </a:solidFill>
                <a:latin typeface="Arial"/>
                <a:cs typeface="Arial"/>
              </a:rPr>
              <a:t>≈ 10.993</a:t>
            </a:r>
            <a:br>
              <a:rPr lang="es-CO" sz="1200" b="1">
                <a:solidFill>
                  <a:srgbClr val="17395C"/>
                </a:solidFill>
                <a:latin typeface="Arial"/>
                <a:cs typeface="Arial"/>
              </a:rPr>
            </a:br>
            <a:r>
              <a:rPr lang="es-CO" sz="1200" b="1">
                <a:solidFill>
                  <a:srgbClr val="17395C"/>
                </a:solidFill>
                <a:latin typeface="Arial"/>
                <a:cs typeface="Arial"/>
              </a:rPr>
              <a:t>PALABRAS POR SENTENCIA</a:t>
            </a:r>
            <a:endParaRPr/>
          </a:p>
        </p:txBody>
      </p:sp>
      <p:sp>
        <p:nvSpPr>
          <p:cNvPr id="2133675885" name="Rectángulo: esquinas redondeadas 5"/>
          <p:cNvSpPr/>
          <p:nvPr/>
        </p:nvSpPr>
        <p:spPr bwMode="auto">
          <a:xfrm>
            <a:off x="7493000" y="2603500"/>
            <a:ext cx="3873500" cy="990600"/>
          </a:xfrm>
          <a:prstGeom prst="roundRect">
            <a:avLst>
              <a:gd name="adj" fmla="val 16667"/>
            </a:avLst>
          </a:prstGeom>
          <a:solidFill>
            <a:srgbClr val="FFF4D6"/>
          </a:solidFill>
          <a:ln w="19050" cap="flat" cmpd="sng" algn="ctr">
            <a:solidFill>
              <a:srgbClr val="E6A7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CO" sz="2400" b="1">
                <a:solidFill>
                  <a:srgbClr val="D49400"/>
                </a:solidFill>
                <a:latin typeface="Arial"/>
                <a:cs typeface="Arial"/>
              </a:rPr>
              <a:t>≈ 48 %</a:t>
            </a:r>
            <a:br>
              <a:rPr lang="es-CO" sz="1200" b="1">
                <a:solidFill>
                  <a:srgbClr val="5D4700"/>
                </a:solidFill>
                <a:latin typeface="Arial"/>
                <a:cs typeface="Arial"/>
              </a:rPr>
            </a:br>
            <a:r>
              <a:rPr lang="es-CO" sz="1200" b="1">
                <a:solidFill>
                  <a:srgbClr val="5D4700"/>
                </a:solidFill>
                <a:latin typeface="Arial"/>
                <a:cs typeface="Arial"/>
              </a:rPr>
              <a:t>TOKENS FUNCIONALES IDENTIFICADOS</a:t>
            </a:r>
            <a:endParaRPr/>
          </a:p>
        </p:txBody>
      </p:sp>
      <p:sp>
        <p:nvSpPr>
          <p:cNvPr id="2133675886" name="CuadroTexto 6"/>
          <p:cNvSpPr txBox="1"/>
          <p:nvPr/>
        </p:nvSpPr>
        <p:spPr bwMode="auto">
          <a:xfrm>
            <a:off x="787400" y="3898900"/>
            <a:ext cx="4445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>
              <a:defRPr/>
            </a:pPr>
            <a:r>
              <a:rPr lang="es-CO" sz="1000" b="1">
                <a:solidFill>
                  <a:srgbClr val="667788"/>
                </a:solidFill>
              </a:rPr>
              <a:t>REDUCCIÓN DEL VOLUMEN TEXTUAL</a:t>
            </a:r>
            <a:endParaRPr/>
          </a:p>
        </p:txBody>
      </p:sp>
      <p:sp>
        <p:nvSpPr>
          <p:cNvPr id="2133675887" name="Rectángulo: esquinas redondeadas 7"/>
          <p:cNvSpPr/>
          <p:nvPr/>
        </p:nvSpPr>
        <p:spPr bwMode="auto">
          <a:xfrm>
            <a:off x="787400" y="4254500"/>
            <a:ext cx="3086100" cy="1422400"/>
          </a:xfrm>
          <a:prstGeom prst="roundRect">
            <a:avLst>
              <a:gd name="adj" fmla="val 16667"/>
            </a:avLst>
          </a:prstGeom>
          <a:solidFill>
            <a:srgbClr val="EAF2F8"/>
          </a:solidFill>
          <a:ln w="20320" cap="flat" cmpd="sng" algn="ctr">
            <a:solidFill>
              <a:srgbClr val="2F75B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CO" sz="2500" b="1">
                <a:solidFill>
                  <a:srgbClr val="2F75B5"/>
                </a:solidFill>
                <a:latin typeface="Arial"/>
                <a:cs typeface="Arial"/>
              </a:rPr>
              <a:t>260,99 M</a:t>
            </a:r>
            <a:br>
              <a:rPr lang="es-CO" sz="1100">
                <a:solidFill>
                  <a:srgbClr val="314455"/>
                </a:solidFill>
                <a:latin typeface="Arial"/>
                <a:cs typeface="Arial"/>
              </a:rPr>
            </a:br>
            <a:r>
              <a:rPr lang="es-CO" sz="1200" b="1">
                <a:solidFill>
                  <a:srgbClr val="17395C"/>
                </a:solidFill>
                <a:latin typeface="Arial"/>
                <a:cs typeface="Arial"/>
              </a:rPr>
              <a:t>PALABRAS CRUDAS</a:t>
            </a:r>
            <a:br>
              <a:rPr lang="es-CO" sz="1100">
                <a:solidFill>
                  <a:srgbClr val="314455"/>
                </a:solidFill>
                <a:latin typeface="Arial"/>
                <a:cs typeface="Arial"/>
              </a:rPr>
            </a:br>
            <a:r>
              <a:rPr lang="es-CO" sz="1100">
                <a:solidFill>
                  <a:srgbClr val="314455"/>
                </a:solidFill>
                <a:latin typeface="Arial"/>
                <a:cs typeface="Arial"/>
              </a:rPr>
              <a:t>Volumen de entrada</a:t>
            </a:r>
            <a:endParaRPr/>
          </a:p>
        </p:txBody>
      </p:sp>
      <p:sp>
        <p:nvSpPr>
          <p:cNvPr id="2133675888" name="Rectángulo: esquinas redondeadas 8"/>
          <p:cNvSpPr/>
          <p:nvPr/>
        </p:nvSpPr>
        <p:spPr bwMode="auto">
          <a:xfrm>
            <a:off x="4533900" y="4254500"/>
            <a:ext cx="3086100" cy="1422400"/>
          </a:xfrm>
          <a:prstGeom prst="roundRect">
            <a:avLst>
              <a:gd name="adj" fmla="val 16667"/>
            </a:avLst>
          </a:prstGeom>
          <a:solidFill>
            <a:srgbClr val="FFF4D6"/>
          </a:solidFill>
          <a:ln w="20320" cap="flat" cmpd="sng" algn="ctr">
            <a:solidFill>
              <a:srgbClr val="E6A7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sz="2500" b="1">
                <a:solidFill>
                  <a:srgbClr val="E6A700"/>
                </a:solidFill>
                <a:latin typeface="Arial"/>
                <a:cs typeface="Arial"/>
              </a:rPr>
              <a:t>250,01 M</a:t>
            </a:r>
            <a:br>
              <a:rPr lang="es-ES" sz="1100">
                <a:solidFill>
                  <a:srgbClr val="314455"/>
                </a:solidFill>
                <a:latin typeface="Arial"/>
                <a:cs typeface="Arial"/>
              </a:rPr>
            </a:br>
            <a:r>
              <a:rPr lang="es-ES" sz="1200" b="1">
                <a:solidFill>
                  <a:srgbClr val="17395C"/>
                </a:solidFill>
                <a:latin typeface="Arial"/>
                <a:cs typeface="Arial"/>
              </a:rPr>
              <a:t>TOKENS NORMALIZADOS</a:t>
            </a:r>
            <a:br>
              <a:rPr lang="es-ES" sz="1100">
                <a:solidFill>
                  <a:srgbClr val="314455"/>
                </a:solidFill>
                <a:latin typeface="Arial"/>
                <a:cs typeface="Arial"/>
              </a:rPr>
            </a:br>
            <a:r>
              <a:rPr lang="es-ES" sz="1100">
                <a:solidFill>
                  <a:srgbClr val="314455"/>
                </a:solidFill>
                <a:latin typeface="Arial"/>
                <a:cs typeface="Arial"/>
              </a:rPr>
              <a:t>Después de limpieza</a:t>
            </a:r>
            <a:endParaRPr lang="es-CO" sz="1100">
              <a:solidFill>
                <a:srgbClr val="314455"/>
              </a:solidFill>
              <a:latin typeface="Arial"/>
              <a:cs typeface="Arial"/>
            </a:endParaRPr>
          </a:p>
        </p:txBody>
      </p:sp>
      <p:sp>
        <p:nvSpPr>
          <p:cNvPr id="2133675889" name="Rectángulo: esquinas redondeadas 9"/>
          <p:cNvSpPr/>
          <p:nvPr/>
        </p:nvSpPr>
        <p:spPr bwMode="auto">
          <a:xfrm>
            <a:off x="8280400" y="4254500"/>
            <a:ext cx="3086100" cy="1422400"/>
          </a:xfrm>
          <a:prstGeom prst="roundRect">
            <a:avLst>
              <a:gd name="adj" fmla="val 16667"/>
            </a:avLst>
          </a:prstGeom>
          <a:solidFill>
            <a:srgbClr val="E8F5EE"/>
          </a:solidFill>
          <a:ln w="20320" cap="flat" cmpd="sng" algn="ctr">
            <a:solidFill>
              <a:srgbClr val="2E8B57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sv-SE" sz="2500" b="1">
                <a:solidFill>
                  <a:srgbClr val="2E8B57"/>
                </a:solidFill>
                <a:latin typeface="Arial"/>
                <a:cs typeface="Arial"/>
              </a:rPr>
              <a:t>128,81 M</a:t>
            </a:r>
            <a:br>
              <a:rPr lang="sv-SE" sz="1100">
                <a:solidFill>
                  <a:srgbClr val="314455"/>
                </a:solidFill>
                <a:latin typeface="Arial"/>
                <a:cs typeface="Arial"/>
              </a:rPr>
            </a:br>
            <a:r>
              <a:rPr lang="sv-SE" sz="1200" b="1">
                <a:solidFill>
                  <a:srgbClr val="17395C"/>
                </a:solidFill>
                <a:latin typeface="Arial"/>
                <a:cs typeface="Arial"/>
              </a:rPr>
              <a:t>TOKENS SIN STOPWORDS</a:t>
            </a:r>
            <a:br>
              <a:rPr lang="sv-SE" sz="1100">
                <a:solidFill>
                  <a:srgbClr val="314455"/>
                </a:solidFill>
                <a:latin typeface="Arial"/>
                <a:cs typeface="Arial"/>
              </a:rPr>
            </a:br>
            <a:r>
              <a:rPr lang="sv-SE" sz="1100">
                <a:solidFill>
                  <a:srgbClr val="314455"/>
                </a:solidFill>
                <a:latin typeface="Arial"/>
                <a:cs typeface="Arial"/>
              </a:rPr>
              <a:t>Base informativa final</a:t>
            </a:r>
            <a:endParaRPr lang="es-CO" sz="1100">
              <a:solidFill>
                <a:srgbClr val="314455"/>
              </a:solidFill>
              <a:latin typeface="Arial"/>
              <a:cs typeface="Arial"/>
            </a:endParaRPr>
          </a:p>
        </p:txBody>
      </p:sp>
      <p:sp>
        <p:nvSpPr>
          <p:cNvPr id="2133675890" name="Flecha: a la derecha 10"/>
          <p:cNvSpPr/>
          <p:nvPr/>
        </p:nvSpPr>
        <p:spPr bwMode="auto">
          <a:xfrm>
            <a:off x="3975100" y="4762500"/>
            <a:ext cx="457200" cy="355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4B41A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>
              <a:defRPr/>
            </a:pPr>
            <a:endParaRPr lang="es-CO"/>
          </a:p>
        </p:txBody>
      </p:sp>
      <p:sp>
        <p:nvSpPr>
          <p:cNvPr id="2133675891" name="Flecha: a la derecha 11"/>
          <p:cNvSpPr/>
          <p:nvPr/>
        </p:nvSpPr>
        <p:spPr bwMode="auto">
          <a:xfrm>
            <a:off x="7721600" y="4762500"/>
            <a:ext cx="457200" cy="355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4B41A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>
              <a:defRPr/>
            </a:pPr>
            <a:endParaRPr lang="es-CO"/>
          </a:p>
        </p:txBody>
      </p:sp>
      <p:sp>
        <p:nvSpPr>
          <p:cNvPr id="2133675892" name="Rectángulo: esquinas redondeadas 12"/>
          <p:cNvSpPr/>
          <p:nvPr/>
        </p:nvSpPr>
        <p:spPr bwMode="auto">
          <a:xfrm>
            <a:off x="787400" y="6019800"/>
            <a:ext cx="10579100" cy="787400"/>
          </a:xfrm>
          <a:prstGeom prst="roundRect">
            <a:avLst>
              <a:gd name="adj" fmla="val 16667"/>
            </a:avLst>
          </a:prstGeom>
          <a:solidFill>
            <a:srgbClr val="07365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sz="1300" b="1">
                <a:solidFill>
                  <a:srgbClr val="F4B41A"/>
                </a:solidFill>
                <a:latin typeface="Arial"/>
                <a:cs typeface="Arial"/>
              </a:rPr>
              <a:t>HALLAZGO</a:t>
            </a:r>
            <a:r>
              <a:rPr lang="es-ES" sz="1300">
                <a:solidFill>
                  <a:srgbClr val="FFFFFF"/>
                </a:solidFill>
                <a:latin typeface="Arial"/>
                <a:cs typeface="Arial"/>
              </a:rPr>
              <a:t>  |  Las sentencias son documentos extraordinariamente extensos y presentan una alta repetición de estructuras lingüísticas.</a:t>
            </a:r>
            <a:endParaRPr lang="es-CO" sz="130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2133675893" name="Imagen 14"/>
          <p:cNvPicPr>
            <a:picLocks noChangeAspect="1"/>
          </p:cNvPicPr>
          <p:nvPr/>
        </p:nvPicPr>
        <p:blipFill rotWithShape="1"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1227647" y="1426521"/>
            <a:ext cx="900000" cy="9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133675939" name=""/>
        <p:cNvGrpSpPr/>
        <p:nvPr/>
      </p:nvGrpSpPr>
      <p:grpSpPr/>
      <p:pic>
        <p:nvPicPr>
          <p:cNvPr id="2133675940" name="Google Shape;104;g393f66bba02_1_6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-1" y="0"/>
            <a:ext cx="12192004" cy="1623060"/>
          </a:xfrm>
          <a:prstGeom prst="rect">
            <a:avLst/>
          </a:prstGeom>
          <a:noFill/>
          <a:ln>
            <a:noFill/>
          </a:ln>
        </p:spPr>
      </p:pic>
      <p:sp>
        <p:nvSpPr>
          <p:cNvPr id="2133675941" name="Google Shape;105;g393f66bba02_1_6"/>
          <p:cNvSpPr/>
          <p:nvPr/>
        </p:nvSpPr>
        <p:spPr bwMode="auto">
          <a:xfrm>
            <a:off x="1496965" y="324857"/>
            <a:ext cx="6824075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  <a:noAutofit/>
          </a:bodyPr>
          <a:lstStyle/>
          <a:p>
            <a:pPr lvl="0">
              <a:defRPr/>
            </a:pPr>
            <a:r>
              <a:rPr lang="es-CO" sz="32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Estado del arte</a:t>
            </a:r>
            <a:endParaRPr lang="es-CO" sz="3200" b="1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33675942" name="E2-Arte1-Cuerpo"/>
          <p:cNvSpPr txBox="1"/>
          <p:nvPr/>
        </p:nvSpPr>
        <p:spPr bwMode="auto">
          <a:xfrm>
            <a:off x="685800" y="2463393"/>
            <a:ext cx="10442448" cy="41202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Anzola Cortés (2021): </a:t>
            </a:r>
            <a:r>
              <a:rPr lang="es-ES" dirty="0" sz="1800"/>
              <a:t>minería de datos sobre más de 6.000 sentencias de constitucionalidad (1992-2020): el mismo universo documental del corpus.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Barbosa Becerra (2021): </a:t>
            </a:r>
            <a:r>
              <a:rPr lang="es-ES" dirty="0" sz="1800"/>
              <a:t>análisis léxico-discursivo de sentencias de la Corte; evidencia fórmulas estables y léxico especializado.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HaCohen-Kerner et al. (2020): </a:t>
            </a:r>
            <a:r>
              <a:rPr lang="es-ES" dirty="0" sz="1800"/>
              <a:t>el preprocesamiento cambia los resultados según el corpus y la tarea: fundamenta documentar cada paso de limpieza.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Soh et al. (2019): </a:t>
            </a:r>
            <a:r>
              <a:rPr lang="es-ES" dirty="0" sz="1800"/>
              <a:t>corpus de sentencias largas: cautela con las frecuencias globales; comparación de clasificadores clásicos y neuronales.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Aletras et al. (2016) y González-González et al. (2023): </a:t>
            </a:r>
            <a:r>
              <a:rPr lang="es-ES" dirty="0" sz="1800"/>
              <a:t>el poder predictivo varía por secciones de la sentencia (TEDH) y la clasificación de sentencias en español usa diccionarios de dominio.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Löffler et al. (2025): </a:t>
            </a:r>
            <a:r>
              <a:rPr lang="es-ES" dirty="0" sz="1800"/>
              <a:t>escasez de recursos legales anotados en español para América Latina.</a:t>
            </a:r>
          </a:p>
          <a:p>
            <a:pPr lvl="1" marL="457200"/>
            <a:r>
              <a:rPr lang="es-ES" dirty="0" sz="1200" i="1">
                <a:solidFill>
                  <a:srgbClr val="425466"/>
                </a:solidFill>
              </a:rPr>
              <a:t>No hay trabajos indexados que usen el dataset exacto de Hugging Face (verificado 2026-09-05); los antecedentes cubren el corpus subyacente y la metodología.</a:t>
            </a:r>
          </a:p>
        </p:txBody>
      </p:sp>
      <p:sp>
        <p:nvSpPr>
          <p:cNvPr id="2133675943" name="TextBox 7"/>
          <p:cNvSpPr txBox="1"/>
          <p:nvPr/>
        </p:nvSpPr>
        <p:spPr bwMode="auto">
          <a:xfrm>
            <a:off x="2127647" y="1609925"/>
            <a:ext cx="889690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s-CO" sz="2800" b="1">
                <a:solidFill>
                  <a:schemeClr val="accent4">
                    <a:lumMod val="60000"/>
                    <a:lumOff val="40000"/>
                  </a:schemeClr>
                </a:solidFill>
                <a:ea typeface="Calibri"/>
              </a:rPr>
              <a:t>PLN legal en español y preprocesamiento</a:t>
            </a:r>
            <a:endParaRPr/>
          </a:p>
        </p:txBody>
      </p:sp>
      <p:pic>
        <p:nvPicPr>
          <p:cNvPr id="2133675944" name="Imagen 2"/>
          <p:cNvPicPr>
            <a:picLocks noChangeAspect="1"/>
          </p:cNvPicPr>
          <p:nvPr/>
        </p:nvPicPr>
        <p:blipFill rotWithShape="1"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1227647" y="1426521"/>
            <a:ext cx="900000" cy="9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133675999" name=""/>
        <p:cNvGrpSpPr/>
        <p:nvPr/>
      </p:nvGrpSpPr>
      <p:grpSpPr/>
      <p:pic>
        <p:nvPicPr>
          <p:cNvPr id="2133676000" name="Google Shape;104;g393f66bba02_1_6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-1" y="0"/>
            <a:ext cx="12192004" cy="1623060"/>
          </a:xfrm>
          <a:prstGeom prst="rect">
            <a:avLst/>
          </a:prstGeom>
          <a:noFill/>
          <a:ln>
            <a:noFill/>
          </a:ln>
        </p:spPr>
      </p:pic>
      <p:sp>
        <p:nvSpPr>
          <p:cNvPr id="2133676001" name="Google Shape;105;g393f66bba02_1_6"/>
          <p:cNvSpPr/>
          <p:nvPr/>
        </p:nvSpPr>
        <p:spPr bwMode="auto">
          <a:xfrm>
            <a:off x="1496965" y="324857"/>
            <a:ext cx="6824075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  <a:noAutofit/>
          </a:bodyPr>
          <a:lstStyle/>
          <a:p>
            <a:pPr lvl="0">
              <a:defRPr/>
            </a:pPr>
            <a:r>
              <a:rPr lang="es-CO" sz="32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Estado del arte</a:t>
            </a:r>
            <a:endParaRPr lang="es-CO" sz="3200" b="1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33676002" name="E2-Arte2-Cuerpo"/>
          <p:cNvSpPr txBox="1"/>
          <p:nvPr/>
        </p:nvSpPr>
        <p:spPr bwMode="auto">
          <a:xfrm>
            <a:off x="685800" y="2463393"/>
            <a:ext cx="10442448" cy="3703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Manning et al. (2008): </a:t>
            </a:r>
            <a:r>
              <a:rPr lang="es-ES" dirty="0" sz="1800"/>
              <a:t>fundamentos de recuperación de información y ponderación TF-IDF.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Dunning (1993): </a:t>
            </a:r>
            <a:r>
              <a:rPr lang="es-ES" dirty="0" sz="1800"/>
              <a:t>razón de verosimilitud (LLR) para la estadística de colocaciones.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McCarthy y Jarvis (2010): </a:t>
            </a:r>
            <a:r>
              <a:rPr lang="es-ES" dirty="0" sz="1800"/>
              <a:t>MTLD como medida de diversidad léxica robusta a la longitud del texto.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Hamilton et al. (2016): </a:t>
            </a:r>
            <a:r>
              <a:rPr lang="es-ES" dirty="0" sz="1800"/>
              <a:t>log-odds con suavizado para comparar vocabularios entre periodos.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Chalkidis et al. (2020, 2021): </a:t>
            </a:r>
            <a:r>
              <a:rPr lang="es-ES" dirty="0" sz="1800"/>
              <a:t>LEGAL-BERT y MultiEURLEX: vocabulario jurídico distinto del general y deriva temporal que exige particiones cronológicas.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Reimers y Gurevych (2019), Cañete et al. (2020) y Wang et al. (2022): </a:t>
            </a:r>
            <a:r>
              <a:rPr lang="es-ES" dirty="0" sz="1800"/>
              <a:t>Sentence-BERT, BETO y e5 multilingüe como representaciones densas de comparación.</a:t>
            </a:r>
          </a:p>
          <a:p>
            <a:pPr lvl="1" marL="457200"/>
            <a:r>
              <a:rPr lang="es-ES" dirty="0" sz="1200" i="1">
                <a:solidFill>
                  <a:srgbClr val="425466"/>
                </a:solidFill>
              </a:rPr>
              <a:t>Estas referencias fundamentan la representación (TF-IDF y embeddings), la medida de colocaciones y el análisis diacrónico de esta entrega.</a:t>
            </a:r>
          </a:p>
        </p:txBody>
      </p:sp>
      <p:sp>
        <p:nvSpPr>
          <p:cNvPr id="2133676003" name="TextBox 7"/>
          <p:cNvSpPr txBox="1"/>
          <p:nvPr/>
        </p:nvSpPr>
        <p:spPr bwMode="auto">
          <a:xfrm>
            <a:off x="2127647" y="1609925"/>
            <a:ext cx="889690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s-CO" sz="2800" b="1">
                <a:solidFill>
                  <a:schemeClr val="accent4">
                    <a:lumMod val="60000"/>
                    <a:lumOff val="40000"/>
                  </a:schemeClr>
                </a:solidFill>
                <a:ea typeface="Calibri"/>
              </a:rPr>
              <a:t>Representación, diversidad y diacronía</a:t>
            </a:r>
            <a:endParaRPr/>
          </a:p>
        </p:txBody>
      </p:sp>
      <p:pic>
        <p:nvPicPr>
          <p:cNvPr id="2133676004" name="Imagen 2"/>
          <p:cNvPicPr>
            <a:picLocks noChangeAspect="1"/>
          </p:cNvPicPr>
          <p:nvPr/>
        </p:nvPicPr>
        <p:blipFill rotWithShape="1"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1227647" y="1426521"/>
            <a:ext cx="900000" cy="9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133676059" name=""/>
        <p:cNvGrpSpPr/>
        <p:nvPr/>
      </p:nvGrpSpPr>
      <p:grpSpPr/>
      <p:pic>
        <p:nvPicPr>
          <p:cNvPr id="2133676060" name="Google Shape;104;g393f66bba02_1_6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-1" y="0"/>
            <a:ext cx="12192004" cy="1623060"/>
          </a:xfrm>
          <a:prstGeom prst="rect">
            <a:avLst/>
          </a:prstGeom>
          <a:noFill/>
          <a:ln>
            <a:noFill/>
          </a:ln>
        </p:spPr>
      </p:pic>
      <p:sp>
        <p:nvSpPr>
          <p:cNvPr id="2133676061" name="Google Shape;105;g393f66bba02_1_6"/>
          <p:cNvSpPr/>
          <p:nvPr/>
        </p:nvSpPr>
        <p:spPr bwMode="auto">
          <a:xfrm>
            <a:off x="1496965" y="324857"/>
            <a:ext cx="6824075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  <a:noAutofit/>
          </a:bodyPr>
          <a:lstStyle/>
          <a:p>
            <a:pPr lvl="0">
              <a:defRPr/>
            </a:pPr>
            <a:r>
              <a:rPr lang="es-CO" sz="3200" b="1">
                <a:solidFill>
                  <a:schemeClr val="bg1"/>
                </a:solidFill>
                <a:latin typeface="Arial"/>
                <a:ea typeface="Calibri"/>
                <a:cs typeface="Arial"/>
              </a:rPr>
              <a:t>Trabajo de la Entrega 2</a:t>
            </a:r>
            <a:r>
              <a:rPr lang="es-CO" sz="32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</a:t>
            </a:r>
            <a:endParaRPr lang="es-CO" sz="3200" b="1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33676062" name="E2-Correcciones-Cuerpo"/>
          <p:cNvSpPr txBox="1"/>
          <p:nvPr/>
        </p:nvSpPr>
        <p:spPr bwMode="auto">
          <a:xfrm>
            <a:off x="685800" y="2463393"/>
            <a:ext cx="10442448" cy="29718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Dataset medido: </a:t>
            </a:r>
            <a:r>
              <a:rPr lang="es-ES" dirty="0" sz="1800"/>
              <a:t>parquet de 23.742 filas × 12 columnas con texto, texto limpio y métricas por documento.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EDA extendido: </a:t>
            </a:r>
            <a:r>
              <a:rPr lang="es-ES" dirty="0" sz="1800"/>
              <a:t>n-gramas, colocaciones, lemas/stems/POS, MTLD, granularidad y recursos léxicos.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Visualizaciones: </a:t>
            </a:r>
            <a:r>
              <a:rPr lang="es-ES" dirty="0" sz="1800"/>
              <a:t>siete figuras nuevas; las figuras de la Entrega 1 se conservan.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Unidad validada: </a:t>
            </a:r>
            <a:r>
              <a:rPr lang="es-ES" dirty="0" sz="1800"/>
              <a:t>sentencia 97,17 % vs subsentencia 4,64 % (criterio pre-registrado de +15 pp).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Periodos: </a:t>
            </a:r>
            <a:r>
              <a:rPr lang="es-ES" dirty="0" sz="1800"/>
              <a:t>contraste léxico 1992-2001 / 2002-2011 / 2012-2021 ejecutado (log-odds).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Representación y metodología: </a:t>
            </a:r>
            <a:r>
              <a:rPr lang="es-ES" dirty="0" sz="1800"/>
              <a:t>TF-IDF sobre lemas y propuesta de modelado definidas.</a:t>
            </a:r>
          </a:p>
          <a:p>
            <a:pPr lvl="1" marL="457200"/>
            <a:r>
              <a:rPr lang="es-ES" dirty="0" sz="1200" i="1">
                <a:solidFill>
                  <a:srgbClr val="425466"/>
                </a:solidFill>
              </a:rPr>
              <a:t>Las cifras canónicas de la Entrega 1 (23.742 documentos; 260.988.316 / 250.012.101 palabras) no requirieron corrección.</a:t>
            </a:r>
          </a:p>
        </p:txBody>
      </p:sp>
      <p:sp>
        <p:nvSpPr>
          <p:cNvPr id="2133676063" name="TextBox 7"/>
          <p:cNvSpPr txBox="1"/>
          <p:nvPr/>
        </p:nvSpPr>
        <p:spPr bwMode="auto">
          <a:xfrm>
            <a:off x="2127647" y="1609925"/>
            <a:ext cx="889690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s-CO" sz="2800" b="1">
                <a:solidFill>
                  <a:schemeClr val="accent4">
                    <a:lumMod val="60000"/>
                    <a:lumOff val="40000"/>
                  </a:schemeClr>
                </a:solidFill>
                <a:ea typeface="Calibri"/>
              </a:rPr>
              <a:t>Correcciones respecto a la Entrega 1</a:t>
            </a:r>
            <a:endParaRPr/>
          </a:p>
        </p:txBody>
      </p:sp>
      <p:pic>
        <p:nvPicPr>
          <p:cNvPr id="2133676064" name="Imagen 20"/>
          <p:cNvPicPr>
            <a:picLocks noChangeAspect="1"/>
          </p:cNvPicPr>
          <p:nvPr/>
        </p:nvPicPr>
        <p:blipFill rotWithShape="1"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1167447" y="1426521"/>
            <a:ext cx="900000" cy="90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133676119" name=""/>
        <p:cNvGrpSpPr/>
        <p:nvPr/>
      </p:nvGrpSpPr>
      <p:grpSpPr/>
      <p:pic>
        <p:nvPicPr>
          <p:cNvPr id="2133676120" name="Google Shape;104;g393f66bba02_1_6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-1" y="0"/>
            <a:ext cx="12192004" cy="1623060"/>
          </a:xfrm>
          <a:prstGeom prst="rect">
            <a:avLst/>
          </a:prstGeom>
          <a:noFill/>
          <a:ln>
            <a:noFill/>
          </a:ln>
        </p:spPr>
      </p:pic>
      <p:sp>
        <p:nvSpPr>
          <p:cNvPr id="2133676121" name="Google Shape;105;g393f66bba02_1_6"/>
          <p:cNvSpPr/>
          <p:nvPr/>
        </p:nvSpPr>
        <p:spPr bwMode="auto">
          <a:xfrm>
            <a:off x="1496965" y="324857"/>
            <a:ext cx="6824075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  <a:noAutofit/>
          </a:bodyPr>
          <a:lstStyle/>
          <a:p>
            <a:pPr lvl="0">
              <a:defRPr/>
            </a:pPr>
            <a:r>
              <a:rPr lang="es-CO" sz="32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Corpus medido</a:t>
            </a:r>
            <a:endParaRPr lang="es-CO" sz="3200" b="1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33676122" name="TextBox 7"/>
          <p:cNvSpPr txBox="1"/>
          <p:nvPr/>
        </p:nvSpPr>
        <p:spPr bwMode="auto">
          <a:xfrm>
            <a:off x="2127647" y="1609925"/>
            <a:ext cx="889690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s-CO" sz="2800" b="1">
                <a:solidFill>
                  <a:schemeClr val="accent4">
                    <a:lumMod val="60000"/>
                    <a:lumOff val="40000"/>
                  </a:schemeClr>
                </a:solidFill>
                <a:ea typeface="Calibri"/>
              </a:rPr>
              <a:t>Conjunto de datos y verificación</a:t>
            </a:r>
            <a:endParaRPr/>
          </a:p>
        </p:txBody>
      </p:sp>
      <p:sp>
        <p:nvSpPr>
          <p:cNvPr id="2133676123" name="E2-CM-1"/>
          <p:cNvSpPr/>
          <p:nvPr/>
        </p:nvSpPr>
        <p:spPr bwMode="auto">
          <a:xfrm>
            <a:off x="787400" y="2603500"/>
            <a:ext cx="3111500" cy="990600"/>
          </a:xfrm>
          <a:prstGeom prst="roundRect">
            <a:avLst>
              <a:gd name="adj" fmla="val 16667"/>
            </a:avLst>
          </a:prstGeom>
          <a:solidFill>
            <a:srgbClr val="07365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CO" sz="2600" b="1">
                <a:solidFill>
                  <a:srgbClr val="F4B41A"/>
                </a:solidFill>
                <a:latin typeface="Arial"/>
                <a:cs typeface="Arial"/>
              </a:rPr>
              <a:t>23.742</a:t>
            </a:r>
            <a:br/>
            <a:r>
              <a:rPr lang="es-CO" sz="1600" b="1">
                <a:solidFill>
                  <a:srgbClr val="FFFFFF"/>
                </a:solidFill>
                <a:latin typeface="Arial"/>
                <a:cs typeface="Arial"/>
              </a:rPr>
              <a:t>FILAS VERIFICADAS</a:t>
            </a:r>
            <a:endParaRPr lang="es-CO" sz="1600" b="1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133676124" name="E2-CM-2"/>
          <p:cNvSpPr/>
          <p:nvPr/>
        </p:nvSpPr>
        <p:spPr bwMode="auto">
          <a:xfrm>
            <a:off x="4140200" y="2603500"/>
            <a:ext cx="3111500" cy="990600"/>
          </a:xfrm>
          <a:prstGeom prst="roundRect">
            <a:avLst>
              <a:gd name="adj" fmla="val 16667"/>
            </a:avLst>
          </a:prstGeom>
          <a:solidFill>
            <a:srgbClr val="EAF2F8"/>
          </a:solidFill>
          <a:ln w="19050" cap="flat" cmpd="sng" algn="ctr">
            <a:solidFill>
              <a:srgbClr val="2F75B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CO" sz="2400" b="1">
                <a:solidFill>
                  <a:srgbClr val="2F75B5"/>
                </a:solidFill>
                <a:latin typeface="Arial"/>
                <a:cs typeface="Arial"/>
              </a:rPr>
              <a:t>12</a:t>
            </a:r>
            <a:br/>
            <a:r>
              <a:rPr lang="es-CO" sz="1200" b="1">
                <a:solidFill>
                  <a:srgbClr val="17395C"/>
                </a:solidFill>
                <a:latin typeface="Arial"/>
                <a:cs typeface="Arial"/>
              </a:rPr>
              <a:t>COLUMNAS</a:t>
            </a:r>
            <a:endParaRPr/>
          </a:p>
        </p:txBody>
      </p:sp>
      <p:sp>
        <p:nvSpPr>
          <p:cNvPr id="2133676125" name="E2-CM-5"/>
          <p:cNvSpPr/>
          <p:nvPr/>
        </p:nvSpPr>
        <p:spPr bwMode="auto">
          <a:xfrm>
            <a:off x="7493000" y="2603500"/>
            <a:ext cx="3873500" cy="990600"/>
          </a:xfrm>
          <a:prstGeom prst="roundRect">
            <a:avLst>
              <a:gd name="adj" fmla="val 16667"/>
            </a:avLst>
          </a:prstGeom>
          <a:solidFill>
            <a:srgbClr val="FFF4D6"/>
          </a:solidFill>
          <a:ln w="19050" cap="flat" cmpd="sng" algn="ctr">
            <a:solidFill>
              <a:srgbClr val="E6A7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CO" sz="2400" b="1">
                <a:solidFill>
                  <a:srgbClr val="D49400"/>
                </a:solidFill>
                <a:latin typeface="Arial"/>
                <a:cs typeface="Arial"/>
              </a:rPr>
              <a:t>1.544,7 MB</a:t>
            </a:r>
            <a:br/>
            <a:r>
              <a:rPr lang="es-CO" sz="1200" b="1">
                <a:solidFill>
                  <a:srgbClr val="5D4700"/>
                </a:solidFill>
                <a:latin typeface="Arial"/>
                <a:cs typeface="Arial"/>
              </a:rPr>
              <a:t>TAMAÑO DEL PARQUET</a:t>
            </a:r>
            <a:endParaRPr/>
          </a:p>
        </p:txBody>
      </p:sp>
      <p:sp>
        <p:nvSpPr>
          <p:cNvPr id="2133676126" name="CuadroTexto 6"/>
          <p:cNvSpPr txBox="1"/>
          <p:nvPr/>
        </p:nvSpPr>
        <p:spPr bwMode="auto">
          <a:xfrm>
            <a:off x="787400" y="3898900"/>
            <a:ext cx="4445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>
              <a:defRPr/>
            </a:pPr>
            <a:r>
              <a:rPr lang="es-CO" sz="1000" b="1">
                <a:solidFill>
                  <a:srgbClr val="667788"/>
                </a:solidFill>
              </a:rPr>
              <a:t>ESQUEMA DEL CONJUNTO MEDIDO</a:t>
            </a:r>
            <a:endParaRPr/>
          </a:p>
        </p:txBody>
      </p:sp>
      <p:sp>
        <p:nvSpPr>
          <p:cNvPr id="2133676127" name="E2-CM-7"/>
          <p:cNvSpPr/>
          <p:nvPr/>
        </p:nvSpPr>
        <p:spPr bwMode="auto">
          <a:xfrm>
            <a:off x="787400" y="4254500"/>
            <a:ext cx="3086100" cy="1422400"/>
          </a:xfrm>
          <a:prstGeom prst="roundRect">
            <a:avLst>
              <a:gd name="adj" fmla="val 16667"/>
            </a:avLst>
          </a:prstGeom>
          <a:solidFill>
            <a:srgbClr val="EAF2F8"/>
          </a:solidFill>
          <a:ln w="20320" cap="flat" cmpd="sng" algn="ctr">
            <a:solidFill>
              <a:srgbClr val="2F75B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CO" sz="2500" b="1">
                <a:solidFill>
                  <a:srgbClr val="2F75B5"/>
                </a:solidFill>
                <a:latin typeface="Arial"/>
                <a:cs typeface="Arial"/>
              </a:rPr>
              <a:t>260.988.316</a:t>
            </a:r>
            <a:br/>
            <a:r>
              <a:rPr lang="es-CO" sz="1200" b="1">
                <a:solidFill>
                  <a:srgbClr val="17395C"/>
                </a:solidFill>
                <a:latin typeface="Arial"/>
                <a:cs typeface="Arial"/>
              </a:rPr>
              <a:t>PALABRAS CRUDAS</a:t>
            </a:r>
            <a:br/>
            <a:r>
              <a:rPr lang="es-CO" sz="1100">
                <a:solidFill>
                  <a:srgbClr val="314455"/>
                </a:solidFill>
                <a:latin typeface="Arial"/>
                <a:cs typeface="Arial"/>
              </a:rPr>
              <a:t>Suma verificada sobre las 23.742 filas</a:t>
            </a:r>
            <a:endParaRPr/>
          </a:p>
        </p:txBody>
      </p:sp>
      <p:sp>
        <p:nvSpPr>
          <p:cNvPr id="2133676128" name="E2-CM-8"/>
          <p:cNvSpPr/>
          <p:nvPr/>
        </p:nvSpPr>
        <p:spPr bwMode="auto">
          <a:xfrm>
            <a:off x="4533900" y="4254500"/>
            <a:ext cx="3086100" cy="1422400"/>
          </a:xfrm>
          <a:prstGeom prst="roundRect">
            <a:avLst>
              <a:gd name="adj" fmla="val 16667"/>
            </a:avLst>
          </a:prstGeom>
          <a:solidFill>
            <a:srgbClr val="FFF4D6"/>
          </a:solidFill>
          <a:ln w="20320" cap="flat" cmpd="sng" algn="ctr">
            <a:solidFill>
              <a:srgbClr val="E6A7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sz="2500" b="1">
                <a:solidFill>
                  <a:srgbClr val="E6A700"/>
                </a:solidFill>
                <a:latin typeface="Arial"/>
                <a:cs typeface="Arial"/>
              </a:rPr>
              <a:t>250.012.101</a:t>
            </a:r>
            <a:br/>
            <a:r>
              <a:rPr lang="es-ES" sz="1200" b="1">
                <a:solidFill>
                  <a:srgbClr val="17395C"/>
                </a:solidFill>
                <a:latin typeface="Arial"/>
                <a:cs typeface="Arial"/>
              </a:rPr>
              <a:t>PALABRAS LIMPIAS</a:t>
            </a:r>
            <a:br/>
            <a:r>
              <a:rPr lang="es-ES" sz="1100">
                <a:solidFill>
                  <a:srgbClr val="314455"/>
                </a:solidFill>
                <a:latin typeface="Arial"/>
                <a:cs typeface="Arial"/>
              </a:rPr>
              <a:t>Tras limpieza y filtro de ruido</a:t>
            </a:r>
            <a:endParaRPr lang="es-CO" sz="1100">
              <a:solidFill>
                <a:srgbClr val="314455"/>
              </a:solidFill>
              <a:latin typeface="Arial"/>
              <a:cs typeface="Arial"/>
            </a:endParaRPr>
          </a:p>
        </p:txBody>
      </p:sp>
      <p:sp>
        <p:nvSpPr>
          <p:cNvPr id="2133676129" name="E2-CM-9"/>
          <p:cNvSpPr/>
          <p:nvPr/>
        </p:nvSpPr>
        <p:spPr bwMode="auto">
          <a:xfrm>
            <a:off x="8280400" y="4254500"/>
            <a:ext cx="3086100" cy="1422400"/>
          </a:xfrm>
          <a:prstGeom prst="roundRect">
            <a:avLst>
              <a:gd name="adj" fmla="val 16667"/>
            </a:avLst>
          </a:prstGeom>
          <a:solidFill>
            <a:srgbClr val="E8F5EE"/>
          </a:solidFill>
          <a:ln w="20320" cap="flat" cmpd="sng" algn="ctr">
            <a:solidFill>
              <a:srgbClr val="2E8B57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sv-SE" sz="2500" b="1">
                <a:solidFill>
                  <a:srgbClr val="2E8B57"/>
                </a:solidFill>
                <a:latin typeface="Arial"/>
                <a:cs typeface="Arial"/>
              </a:rPr>
              <a:t>248.533.344</a:t>
            </a:r>
            <a:br/>
            <a:r>
              <a:rPr lang="sv-SE" sz="1200" b="1">
                <a:solidFill>
                  <a:srgbClr val="17395C"/>
                </a:solidFill>
                <a:latin typeface="Arial"/>
                <a:cs typeface="Arial"/>
              </a:rPr>
              <a:t>LEMAS TOTALES</a:t>
            </a:r>
            <a:br/>
            <a:r>
              <a:rPr lang="sv-SE" sz="1100">
                <a:solidFill>
                  <a:srgbClr val="314455"/>
                </a:solidFill>
                <a:latin typeface="Arial"/>
                <a:cs typeface="Arial"/>
              </a:rPr>
              <a:t>Join verificado; 1.640.749.780 caracteres</a:t>
            </a:r>
            <a:endParaRPr lang="es-CO" sz="1100">
              <a:solidFill>
                <a:srgbClr val="314455"/>
              </a:solidFill>
              <a:latin typeface="Arial"/>
              <a:cs typeface="Arial"/>
            </a:endParaRPr>
          </a:p>
        </p:txBody>
      </p:sp>
      <p:sp>
        <p:nvSpPr>
          <p:cNvPr id="2133676130" name="Flecha: a la derecha 10"/>
          <p:cNvSpPr/>
          <p:nvPr/>
        </p:nvSpPr>
        <p:spPr bwMode="auto">
          <a:xfrm>
            <a:off x="3975100" y="4762500"/>
            <a:ext cx="457200" cy="355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4B41A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>
              <a:defRPr/>
            </a:pPr>
            <a:endParaRPr lang="es-CO"/>
          </a:p>
        </p:txBody>
      </p:sp>
      <p:sp>
        <p:nvSpPr>
          <p:cNvPr id="2133676131" name="Flecha: a la derecha 11"/>
          <p:cNvSpPr/>
          <p:nvPr/>
        </p:nvSpPr>
        <p:spPr bwMode="auto">
          <a:xfrm>
            <a:off x="7721600" y="4762500"/>
            <a:ext cx="457200" cy="355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4B41A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>
              <a:defRPr/>
            </a:pPr>
            <a:endParaRPr lang="es-CO"/>
          </a:p>
        </p:txBody>
      </p:sp>
      <p:sp>
        <p:nvSpPr>
          <p:cNvPr id="2133676132" name="E2-CM-Hallazgo"/>
          <p:cNvSpPr/>
          <p:nvPr/>
        </p:nvSpPr>
        <p:spPr bwMode="auto">
          <a:xfrm>
            <a:off x="787400" y="6019800"/>
            <a:ext cx="10579100" cy="787400"/>
          </a:xfrm>
          <a:prstGeom prst="roundRect">
            <a:avLst>
              <a:gd name="adj" fmla="val 16667"/>
            </a:avLst>
          </a:prstGeom>
          <a:solidFill>
            <a:srgbClr val="07365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sz="1300" b="1">
                <a:solidFill>
                  <a:srgbClr val="F4B41A"/>
                </a:solidFill>
                <a:latin typeface="Arial"/>
                <a:cs typeface="Arial"/>
              </a:rPr>
              <a:t>VERIFICACIÓN</a:t>
            </a:r>
            <a:r>
              <a:rPr lang="es-ES" sz="1300">
                <a:solidFill>
                  <a:srgbClr val="FFFFFF"/>
                </a:solidFill>
                <a:latin typeface="Arial"/>
                <a:cs typeface="Arial"/>
              </a:rPr>
              <a:t>  |  23.742 ids únicos, sin nulos en claves; sumas reconciliadas; muestra de 100 filas + diccionario de datos.</a:t>
            </a:r>
            <a:endParaRPr lang="es-CO" sz="130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2133676133" name="Imagen 14"/>
          <p:cNvPicPr>
            <a:picLocks noChangeAspect="1"/>
          </p:cNvPicPr>
          <p:nvPr/>
        </p:nvPicPr>
        <p:blipFill rotWithShape="1"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1227647" y="1426521"/>
            <a:ext cx="900000" cy="900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133676179" name=""/>
        <p:cNvGrpSpPr/>
        <p:nvPr/>
      </p:nvGrpSpPr>
      <p:grpSpPr/>
      <p:pic>
        <p:nvPicPr>
          <p:cNvPr id="2133676180" name="Google Shape;104;g393f66bba02_1_6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-1" y="0"/>
            <a:ext cx="12192004" cy="1623060"/>
          </a:xfrm>
          <a:prstGeom prst="rect">
            <a:avLst/>
          </a:prstGeom>
          <a:noFill/>
          <a:ln>
            <a:noFill/>
          </a:ln>
        </p:spPr>
      </p:pic>
      <p:sp>
        <p:nvSpPr>
          <p:cNvPr id="2133676181" name="Google Shape;105;g393f66bba02_1_6"/>
          <p:cNvSpPr/>
          <p:nvPr/>
        </p:nvSpPr>
        <p:spPr bwMode="auto">
          <a:xfrm>
            <a:off x="1496965" y="324857"/>
            <a:ext cx="6824075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  <a:noAutofit/>
          </a:bodyPr>
          <a:lstStyle/>
          <a:p>
            <a:pPr lvl="0">
              <a:defRPr/>
            </a:pPr>
            <a:r>
              <a:rPr lang="es-CO" sz="32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EDA avanzado</a:t>
            </a:r>
            <a:endParaRPr lang="es-CO" sz="3200" b="1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33676182" name="TextBox 7"/>
          <p:cNvSpPr txBox="1"/>
          <p:nvPr/>
        </p:nvSpPr>
        <p:spPr bwMode="auto">
          <a:xfrm>
            <a:off x="2127647" y="1609925"/>
            <a:ext cx="889690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s-ES" sz="2800" b="1">
                <a:solidFill>
                  <a:schemeClr val="accent4">
                    <a:lumMod val="60000"/>
                    <a:lumOff val="40000"/>
                  </a:schemeClr>
                </a:solidFill>
                <a:ea typeface="Calibri"/>
              </a:rPr>
              <a:t>N-gramas y colocaciones</a:t>
            </a:r>
            <a:endParaRPr/>
          </a:p>
        </p:txBody>
      </p:sp>
      <p:pic>
        <p:nvPicPr>
          <p:cNvPr id="2133676185" name="Imagen 8"/>
          <p:cNvPicPr>
            <a:picLocks noChangeAspect="1"/>
          </p:cNvPicPr>
          <p:nvPr/>
        </p:nvPicPr>
        <p:blipFill rotWithShape="1">
          <a:blip r:embed="rId5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1227647" y="1426521"/>
            <a:ext cx="900000" cy="900000"/>
          </a:xfrm>
          <a:prstGeom prst="rect">
            <a:avLst/>
          </a:prstGeom>
        </p:spPr>
      </p:pic>
      <p:pic>
        <p:nvPicPr>
          <p:cNvPr id="2133676186" name="E2-Fig-Ngramas" descr="fig_ngramas_bi_tr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2693810"/>
            <a:ext cx="5038344" cy="2156178"/>
          </a:xfrm>
          <a:prstGeom prst="rect">
            <a:avLst/>
          </a:prstGeom>
        </p:spPr>
      </p:pic>
      <p:pic>
        <p:nvPicPr>
          <p:cNvPr id="2133676187" name="E2-Fig-Colocaciones" descr="fig_colocacion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3096" y="2694328"/>
            <a:ext cx="5038344" cy="2155143"/>
          </a:xfrm>
          <a:prstGeom prst="rect">
            <a:avLst/>
          </a:prstGeom>
        </p:spPr>
      </p:pic>
      <p:sp>
        <p:nvSpPr>
          <p:cNvPr id="2133676188" name="E2-Nota"/>
          <p:cNvSpPr txBox="1"/>
          <p:nvPr/>
        </p:nvSpPr>
        <p:spPr>
          <a:xfrm>
            <a:off x="722376" y="4956048"/>
            <a:ext cx="5038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 b="0">
                <a:solidFill>
                  <a:srgbClr val="425466"/>
                </a:solidFill>
                <a:latin typeface="Arial"/>
              </a:rPr>
              <a:t>Top-15 de bigramas y trigramas más frecuentes.</a:t>
            </a:r>
          </a:p>
        </p:txBody>
      </p:sp>
      <p:sp>
        <p:nvSpPr>
          <p:cNvPr id="2133676189" name="E2-Nota"/>
          <p:cNvSpPr txBox="1"/>
          <p:nvPr/>
        </p:nvSpPr>
        <p:spPr>
          <a:xfrm>
            <a:off x="6483096" y="4956048"/>
            <a:ext cx="5038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 b="0">
                <a:solidFill>
                  <a:srgbClr val="425466"/>
                </a:solidFill>
                <a:latin typeface="Arial"/>
              </a:rPr>
              <a:t>Colocaciones por LLR (top-10): LLR 75 % vs frecuencia 55 % y PMI 0 %.</a:t>
            </a:r>
          </a:p>
        </p:txBody>
      </p:sp>
      <p:sp>
        <p:nvSpPr>
          <p:cNvPr id="1631093514" name="E2-Hallazgo"/>
          <p:cNvSpPr/>
          <p:nvPr/>
        </p:nvSpPr>
        <p:spPr bwMode="auto">
          <a:xfrm>
            <a:off x="786384" y="5806440"/>
            <a:ext cx="10579608" cy="786384"/>
          </a:xfrm>
          <a:prstGeom prst="roundRect">
            <a:avLst>
              <a:gd name="adj" fmla="val 16667"/>
            </a:avLst>
          </a:prstGeom>
          <a:solidFill>
            <a:srgbClr val="07365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sz="1300" b="1">
                <a:solidFill>
                  <a:srgbClr val="F4B41A"/>
                </a:solidFill>
                <a:latin typeface="Arial"/>
                <a:cs typeface="Arial"/>
              </a:rPr>
              <a:t>HALLAZGO</a:t>
            </a:r>
            <a:r>
              <a:rPr lang="es-ES" sz="1300">
                <a:solidFill>
                  <a:srgbClr val="FFFFFF"/>
                </a:solidFill>
                <a:latin typeface="Arial"/>
                <a:cs typeface="Arial"/>
              </a:rPr>
              <a:t>  |  accion de tutela (344.893) es el trigrama más frecuente; el 82,7 % de los trigramas guardados responde al patrón con palabra intermedia vacía.</a:t>
            </a:r>
            <a:endParaRPr lang="es-CO" sz="130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133676239" name=""/>
        <p:cNvGrpSpPr/>
        <p:nvPr/>
      </p:nvGrpSpPr>
      <p:grpSpPr/>
      <p:pic>
        <p:nvPicPr>
          <p:cNvPr id="2133676240" name="Google Shape;104;g393f66bba02_1_6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-1" y="0"/>
            <a:ext cx="12192004" cy="1623060"/>
          </a:xfrm>
          <a:prstGeom prst="rect">
            <a:avLst/>
          </a:prstGeom>
          <a:noFill/>
          <a:ln>
            <a:noFill/>
          </a:ln>
        </p:spPr>
      </p:pic>
      <p:sp>
        <p:nvSpPr>
          <p:cNvPr id="2133676241" name="Google Shape;105;g393f66bba02_1_6"/>
          <p:cNvSpPr/>
          <p:nvPr/>
        </p:nvSpPr>
        <p:spPr bwMode="auto">
          <a:xfrm>
            <a:off x="1496965" y="324857"/>
            <a:ext cx="6824075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  <a:noAutofit/>
          </a:bodyPr>
          <a:lstStyle/>
          <a:p>
            <a:pPr lvl="0">
              <a:defRPr/>
            </a:pPr>
            <a:r>
              <a:rPr lang="es-CO" sz="32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EDA avanzado</a:t>
            </a:r>
            <a:endParaRPr lang="es-CO" sz="3200" b="1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33676242" name="TextBox 7"/>
          <p:cNvSpPr txBox="1"/>
          <p:nvPr/>
        </p:nvSpPr>
        <p:spPr bwMode="auto">
          <a:xfrm>
            <a:off x="2127647" y="1609925"/>
            <a:ext cx="889690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s-ES" sz="2800" b="1">
                <a:solidFill>
                  <a:schemeClr val="accent4">
                    <a:lumMod val="60000"/>
                    <a:lumOff val="40000"/>
                  </a:schemeClr>
                </a:solidFill>
                <a:ea typeface="Calibri"/>
              </a:rPr>
              <a:t>Diversidad léxica y morfología</a:t>
            </a:r>
            <a:endParaRPr/>
          </a:p>
        </p:txBody>
      </p:sp>
      <p:pic>
        <p:nvPicPr>
          <p:cNvPr id="2133676245" name="Imagen 8"/>
          <p:cNvPicPr>
            <a:picLocks noChangeAspect="1"/>
          </p:cNvPicPr>
          <p:nvPr/>
        </p:nvPicPr>
        <p:blipFill rotWithShape="1">
          <a:blip r:embed="rId5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1227647" y="1426521"/>
            <a:ext cx="900000" cy="900000"/>
          </a:xfrm>
          <a:prstGeom prst="rect">
            <a:avLst/>
          </a:prstGeom>
        </p:spPr>
      </p:pic>
      <p:pic>
        <p:nvPicPr>
          <p:cNvPr id="2133676246" name="E2-Fig-MTLD" descr="fig_mtld_distribuc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2877376"/>
            <a:ext cx="5038344" cy="1789047"/>
          </a:xfrm>
          <a:prstGeom prst="rect">
            <a:avLst/>
          </a:prstGeom>
        </p:spPr>
      </p:pic>
      <p:pic>
        <p:nvPicPr>
          <p:cNvPr id="2133676247" name="E2-Fig-LemmaStem" descr="fig_lemma_vs_ste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3096" y="2725539"/>
            <a:ext cx="5038344" cy="2092720"/>
          </a:xfrm>
          <a:prstGeom prst="rect">
            <a:avLst/>
          </a:prstGeom>
        </p:spPr>
      </p:pic>
      <p:sp>
        <p:nvSpPr>
          <p:cNvPr id="2133676248" name="E2-Nota"/>
          <p:cNvSpPr txBox="1"/>
          <p:nvPr/>
        </p:nvSpPr>
        <p:spPr>
          <a:xfrm>
            <a:off x="722376" y="4956048"/>
            <a:ext cx="5038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 b="0">
                <a:solidFill>
                  <a:srgbClr val="425466"/>
                </a:solidFill>
                <a:latin typeface="Arial"/>
              </a:rPr>
              <a:t>MTLD por tipo de providencia y evolución anual.</a:t>
            </a:r>
          </a:p>
        </p:txBody>
      </p:sp>
      <p:sp>
        <p:nvSpPr>
          <p:cNvPr id="2133676249" name="E2-Nota"/>
          <p:cNvSpPr txBox="1"/>
          <p:nvPr/>
        </p:nvSpPr>
        <p:spPr>
          <a:xfrm>
            <a:off x="6483096" y="4956048"/>
            <a:ext cx="5038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 b="0">
                <a:solidFill>
                  <a:srgbClr val="425466"/>
                </a:solidFill>
                <a:latin typeface="Arial"/>
              </a:rPr>
              <a:t>Compresión del vocabulario: formas, lemas y stems.</a:t>
            </a:r>
          </a:p>
        </p:txBody>
      </p:sp>
      <p:sp>
        <p:nvSpPr>
          <p:cNvPr id="1631093514" name="E2-Hallazgo"/>
          <p:cNvSpPr/>
          <p:nvPr/>
        </p:nvSpPr>
        <p:spPr bwMode="auto">
          <a:xfrm>
            <a:off x="786384" y="5806440"/>
            <a:ext cx="10579608" cy="786384"/>
          </a:xfrm>
          <a:prstGeom prst="roundRect">
            <a:avLst>
              <a:gd name="adj" fmla="val 16667"/>
            </a:avLst>
          </a:prstGeom>
          <a:solidFill>
            <a:srgbClr val="07365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sz="1300" b="1">
                <a:solidFill>
                  <a:srgbClr val="F4B41A"/>
                </a:solidFill>
                <a:latin typeface="Arial"/>
                <a:cs typeface="Arial"/>
              </a:rPr>
              <a:t>HALLAZGO</a:t>
            </a:r>
            <a:r>
              <a:rPr lang="es-ES" sz="1300">
                <a:solidFill>
                  <a:srgbClr val="FFFFFF"/>
                </a:solidFill>
                <a:latin typeface="Arial"/>
                <a:cs typeface="Arial"/>
              </a:rPr>
              <a:t>  |  MTLD 61,03 (T 61,63 &gt; C 59,54 &gt; SU 58,88); descenso sostenido de 64,32 a 58,53 entre periodos; lemas 87,3 % y stems 54,2 % del vocabulario de formas.</a:t>
            </a:r>
            <a:endParaRPr lang="es-CO" sz="130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133676299" name=""/>
        <p:cNvGrpSpPr/>
        <p:nvPr/>
      </p:nvGrpSpPr>
      <p:grpSpPr/>
      <p:pic>
        <p:nvPicPr>
          <p:cNvPr id="2133676300" name="Google Shape;104;g393f66bba02_1_6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-1" y="0"/>
            <a:ext cx="12192004" cy="1623060"/>
          </a:xfrm>
          <a:prstGeom prst="rect">
            <a:avLst/>
          </a:prstGeom>
          <a:noFill/>
          <a:ln>
            <a:noFill/>
          </a:ln>
        </p:spPr>
      </p:pic>
      <p:sp>
        <p:nvSpPr>
          <p:cNvPr id="2133676301" name="Google Shape;105;g393f66bba02_1_6"/>
          <p:cNvSpPr/>
          <p:nvPr/>
        </p:nvSpPr>
        <p:spPr bwMode="auto">
          <a:xfrm>
            <a:off x="1496965" y="324857"/>
            <a:ext cx="6824075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  <a:noAutofit/>
          </a:bodyPr>
          <a:lstStyle/>
          <a:p>
            <a:pPr lvl="0">
              <a:defRPr/>
            </a:pPr>
            <a:r>
              <a:rPr lang="es-CO" sz="32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EDA avanzado</a:t>
            </a:r>
            <a:endParaRPr lang="es-CO" sz="3200" b="1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33676302" name="TextBox 7"/>
          <p:cNvSpPr txBox="1"/>
          <p:nvPr/>
        </p:nvSpPr>
        <p:spPr bwMode="auto">
          <a:xfrm>
            <a:off x="2127647" y="1609925"/>
            <a:ext cx="889690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s-ES" sz="2800" b="1">
                <a:solidFill>
                  <a:schemeClr val="accent4">
                    <a:lumMod val="60000"/>
                    <a:lumOff val="40000"/>
                  </a:schemeClr>
                </a:solidFill>
                <a:ea typeface="Calibri"/>
              </a:rPr>
              <a:t>Evolución léxica por periodos</a:t>
            </a:r>
            <a:endParaRPr/>
          </a:p>
        </p:txBody>
      </p:sp>
      <p:pic>
        <p:nvPicPr>
          <p:cNvPr id="2133676304" name="Imagen 7"/>
          <p:cNvPicPr>
            <a:picLocks noChangeAspect="1"/>
          </p:cNvPicPr>
          <p:nvPr/>
        </p:nvPicPr>
        <p:blipFill rotWithShape="1"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1227647" y="1426521"/>
            <a:ext cx="900000" cy="900000"/>
          </a:xfrm>
          <a:prstGeom prst="rect">
            <a:avLst/>
          </a:prstGeom>
        </p:spPr>
      </p:pic>
      <p:pic>
        <p:nvPicPr>
          <p:cNvPr id="2133676305" name="E2-Fig-Logodds" descr="fig_logodds_period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7399" y="2331720"/>
            <a:ext cx="7734153" cy="3291840"/>
          </a:xfrm>
          <a:prstGeom prst="rect">
            <a:avLst/>
          </a:prstGeom>
        </p:spPr>
      </p:pic>
      <p:sp>
        <p:nvSpPr>
          <p:cNvPr id="2133676306" name="E2-Nota"/>
          <p:cNvSpPr txBox="1"/>
          <p:nvPr/>
        </p:nvSpPr>
        <p:spPr>
          <a:xfrm>
            <a:off x="850392" y="5650992"/>
            <a:ext cx="10488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 b="0">
                <a:solidFill>
                  <a:srgbClr val="425466"/>
                </a:solidFill>
                <a:latin typeface="Arial"/>
              </a:rPr>
              <a:t>Log-odds con suavizado add-0,5 (2002-2011 → 2012-2021): top-10 que sube y top-10 que baja.</a:t>
            </a:r>
          </a:p>
        </p:txBody>
      </p:sp>
      <p:sp>
        <p:nvSpPr>
          <p:cNvPr id="1631093514" name="E2-Hallazgo"/>
          <p:cNvSpPr/>
          <p:nvPr/>
        </p:nvSpPr>
        <p:spPr bwMode="auto">
          <a:xfrm>
            <a:off x="786384" y="5943600"/>
            <a:ext cx="10579608" cy="786384"/>
          </a:xfrm>
          <a:prstGeom prst="roundRect">
            <a:avLst>
              <a:gd name="adj" fmla="val 16667"/>
            </a:avLst>
          </a:prstGeom>
          <a:solidFill>
            <a:srgbClr val="07365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sz="1300" b="1">
                <a:solidFill>
                  <a:srgbClr val="F4B41A"/>
                </a:solidFill>
                <a:latin typeface="Arial"/>
                <a:cs typeface="Arial"/>
              </a:rPr>
              <a:t>HALLAZGO</a:t>
            </a:r>
            <a:r>
              <a:rPr lang="es-ES" sz="1300">
                <a:solidFill>
                  <a:srgbClr val="FFFFFF"/>
                </a:solidFill>
                <a:latin typeface="Arial"/>
                <a:cs typeface="Arial"/>
              </a:rPr>
              <a:t>  |  Suben uariv, jep y coronavirus; bajan nilser y fomin. El método replica la referencia interna (solapamiento del top-10: 7/10 a 9/10); siglas y ruido OCR se conservan como límite documentado.</a:t>
            </a:r>
            <a:endParaRPr lang="es-CO" sz="130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133676359" name=""/>
        <p:cNvGrpSpPr/>
        <p:nvPr/>
      </p:nvGrpSpPr>
      <p:grpSpPr/>
      <p:pic>
        <p:nvPicPr>
          <p:cNvPr id="2133676360" name="Google Shape;104;g393f66bba02_1_6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-1" y="0"/>
            <a:ext cx="12192004" cy="1623060"/>
          </a:xfrm>
          <a:prstGeom prst="rect">
            <a:avLst/>
          </a:prstGeom>
          <a:noFill/>
          <a:ln>
            <a:noFill/>
          </a:ln>
        </p:spPr>
      </p:pic>
      <p:sp>
        <p:nvSpPr>
          <p:cNvPr id="2133676361" name="Google Shape;105;g393f66bba02_1_6"/>
          <p:cNvSpPr/>
          <p:nvPr/>
        </p:nvSpPr>
        <p:spPr bwMode="auto">
          <a:xfrm>
            <a:off x="1496965" y="324857"/>
            <a:ext cx="6824075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  <a:noAutofit/>
          </a:bodyPr>
          <a:lstStyle/>
          <a:p>
            <a:pPr lvl="0">
              <a:defRPr/>
            </a:pPr>
            <a:r>
              <a:rPr lang="es-CO" sz="32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EDA avanzado</a:t>
            </a:r>
            <a:endParaRPr lang="es-CO" sz="3200" b="1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33676362" name="E2-Recursos-Cuerpo"/>
          <p:cNvSpPr txBox="1"/>
          <p:nvPr/>
        </p:nvSpPr>
        <p:spPr bwMode="auto">
          <a:xfrm>
            <a:off x="685800" y="2463393"/>
            <a:ext cx="10442448" cy="34290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EuroVoc / MultiEURLEX: </a:t>
            </a:r>
            <a:r>
              <a:rPr lang="es-ES" dirty="0" sz="1800"/>
              <a:t>tesauro multilingüe (español) de derecho de la UE; multietiqueta; aplicabilidad parcial (no mapea la Constitución ni la tutela).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LKIF: </a:t>
            </a:r>
            <a:r>
              <a:rPr lang="es-ES" dirty="0" sz="1800"/>
              <a:t>ontología formal OWL de conceptos jurídicos; aplicabilidad baja; útil como patrón de modelado.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ELI / ECLI: </a:t>
            </a:r>
            <a:r>
              <a:rPr lang="es-ES" dirty="0" sz="1800"/>
              <a:t>esquemas de identificación y metadatos; no son vocabularios temáticos.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LegalRuleML / Akoma Ntoso: </a:t>
            </a:r>
            <a:r>
              <a:rPr lang="es-ES" dirty="0" sz="1800"/>
              <a:t>marcado de reglas y estructura; baja a corto plazo (anotación manual costosa).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Decisión: </a:t>
            </a:r>
            <a:r>
              <a:rPr lang="es-ES" dirty="0" sz="1800"/>
              <a:t>taxonomía ligera desde la Constitución Política: títulos y capítulos como bloques temáticos, artículos 1-380 como etiquetas finas y respaldo “derecho a X” para tutelas.</a:t>
            </a:r>
          </a:p>
          <a:p>
            <a:pPr lvl="1" marL="457200"/>
            <a:r>
              <a:rPr lang="es-ES" dirty="0" sz="1200" i="1">
                <a:solidFill>
                  <a:srgbClr val="425466"/>
                </a:solidFill>
              </a:rPr>
              <a:t>EuroVoc en español se conserva solo como referencia de comparación; la decisión condiciona el diseño de etiquetas de la propuesta metodológica.</a:t>
            </a:r>
          </a:p>
        </p:txBody>
      </p:sp>
      <p:sp>
        <p:nvSpPr>
          <p:cNvPr id="2133676363" name="TextBox 7"/>
          <p:cNvSpPr txBox="1"/>
          <p:nvPr/>
        </p:nvSpPr>
        <p:spPr bwMode="auto">
          <a:xfrm>
            <a:off x="2127647" y="1609925"/>
            <a:ext cx="889690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s-CO" sz="2800" b="1">
                <a:solidFill>
                  <a:schemeClr val="accent4">
                    <a:lumMod val="60000"/>
                    <a:lumOff val="40000"/>
                  </a:schemeClr>
                </a:solidFill>
                <a:ea typeface="Calibri"/>
              </a:rPr>
              <a:t>Recursos léxicos y ontologías</a:t>
            </a:r>
            <a:endParaRPr/>
          </a:p>
        </p:txBody>
      </p:sp>
      <p:pic>
        <p:nvPicPr>
          <p:cNvPr id="2133676364" name="Imagen 2"/>
          <p:cNvPicPr>
            <a:picLocks noChangeAspect="1"/>
          </p:cNvPicPr>
          <p:nvPr/>
        </p:nvPicPr>
        <p:blipFill rotWithShape="1"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1227647" y="1426521"/>
            <a:ext cx="900000" cy="900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133676419" name=""/>
        <p:cNvGrpSpPr/>
        <p:nvPr/>
      </p:nvGrpSpPr>
      <p:grpSpPr/>
      <p:pic>
        <p:nvPicPr>
          <p:cNvPr id="2133676420" name="Google Shape;104;g393f66bba02_1_6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-1" y="0"/>
            <a:ext cx="12192004" cy="1623060"/>
          </a:xfrm>
          <a:prstGeom prst="rect">
            <a:avLst/>
          </a:prstGeom>
          <a:noFill/>
          <a:ln>
            <a:noFill/>
          </a:ln>
        </p:spPr>
      </p:pic>
      <p:sp>
        <p:nvSpPr>
          <p:cNvPr id="2133676421" name="Google Shape;105;g393f66bba02_1_6"/>
          <p:cNvSpPr/>
          <p:nvPr/>
        </p:nvSpPr>
        <p:spPr bwMode="auto">
          <a:xfrm>
            <a:off x="1496965" y="324857"/>
            <a:ext cx="6824075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  <a:noAutofit/>
          </a:bodyPr>
          <a:lstStyle/>
          <a:p>
            <a:pPr lvl="0">
              <a:defRPr/>
            </a:pPr>
            <a:r>
              <a:rPr lang="es-CO" sz="32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Representación</a:t>
            </a:r>
            <a:endParaRPr lang="es-CO" sz="3200" b="1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33676422" name="TextBox 7"/>
          <p:cNvSpPr txBox="1"/>
          <p:nvPr/>
        </p:nvSpPr>
        <p:spPr bwMode="auto">
          <a:xfrm>
            <a:off x="2127647" y="1609925"/>
            <a:ext cx="889690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s-ES" sz="2800" b="1">
                <a:solidFill>
                  <a:schemeClr val="accent4">
                    <a:lumMod val="60000"/>
                    <a:lumOff val="40000"/>
                  </a:schemeClr>
                </a:solidFill>
                <a:ea typeface="Calibri"/>
              </a:rPr>
              <a:t>TF-IDF sobre lemas y embeddings</a:t>
            </a:r>
            <a:endParaRPr/>
          </a:p>
        </p:txBody>
      </p:sp>
      <p:pic>
        <p:nvPicPr>
          <p:cNvPr id="2133676425" name="Imagen 8"/>
          <p:cNvPicPr>
            <a:picLocks noChangeAspect="1"/>
          </p:cNvPicPr>
          <p:nvPr/>
        </p:nvPicPr>
        <p:blipFill rotWithShape="1">
          <a:blip r:embed="rId5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1227647" y="1426521"/>
            <a:ext cx="900000" cy="900000"/>
          </a:xfrm>
          <a:prstGeom prst="rect">
            <a:avLst/>
          </a:prstGeom>
        </p:spPr>
      </p:pic>
      <p:pic>
        <p:nvPicPr>
          <p:cNvPr id="2133676426" name="E2-Fig-TFIDF" descr="fig_representacion_tfi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2796788"/>
            <a:ext cx="5038344" cy="1995942"/>
          </a:xfrm>
          <a:prstGeom prst="rect">
            <a:avLst/>
          </a:prstGeom>
        </p:spPr>
      </p:pic>
      <p:pic>
        <p:nvPicPr>
          <p:cNvPr id="2133676427" name="E2-Fig-Embeddings" descr="fig_embeddings_ejempl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6090" y="2651760"/>
            <a:ext cx="2532355" cy="2286000"/>
          </a:xfrm>
          <a:prstGeom prst="rect">
            <a:avLst/>
          </a:prstGeom>
        </p:spPr>
      </p:pic>
      <p:sp>
        <p:nvSpPr>
          <p:cNvPr id="2133676428" name="E2-Nota"/>
          <p:cNvSpPr txBox="1"/>
          <p:nvPr/>
        </p:nvSpPr>
        <p:spPr>
          <a:xfrm>
            <a:off x="722376" y="5029200"/>
            <a:ext cx="5038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 b="0">
                <a:solidFill>
                  <a:srgbClr val="425466"/>
                </a:solidFill>
                <a:latin typeface="Arial"/>
              </a:rPr>
              <a:t>TF-IDF: cola larga del vocabulario y top-15 rasgos de T-001/2021.</a:t>
            </a:r>
          </a:p>
        </p:txBody>
      </p:sp>
      <p:sp>
        <p:nvSpPr>
          <p:cNvPr id="2133676429" name="E2-Nota"/>
          <p:cNvSpPr txBox="1"/>
          <p:nvPr/>
        </p:nvSpPr>
        <p:spPr>
          <a:xfrm>
            <a:off x="6483096" y="5029200"/>
            <a:ext cx="5038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 b="0">
                <a:solidFill>
                  <a:srgbClr val="425466"/>
                </a:solidFill>
                <a:latin typeface="Arial"/>
              </a:rPr>
              <a:t>e5-base: similitud coseno entre cinco documentos (768 dimensiones).</a:t>
            </a:r>
          </a:p>
        </p:txBody>
      </p:sp>
      <p:sp>
        <p:nvSpPr>
          <p:cNvPr id="1631093514" name="E2-Hallazgo"/>
          <p:cNvSpPr/>
          <p:nvPr/>
        </p:nvSpPr>
        <p:spPr bwMode="auto">
          <a:xfrm>
            <a:off x="786384" y="5806440"/>
            <a:ext cx="10579608" cy="786384"/>
          </a:xfrm>
          <a:prstGeom prst="roundRect">
            <a:avLst>
              <a:gd name="adj" fmla="val 16667"/>
            </a:avLst>
          </a:prstGeom>
          <a:solidFill>
            <a:srgbClr val="07365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sz="1300" b="1">
                <a:solidFill>
                  <a:srgbClr val="F4B41A"/>
                </a:solidFill>
                <a:latin typeface="Arial"/>
                <a:cs typeface="Arial"/>
              </a:rPr>
              <a:t>HALLAZGO</a:t>
            </a:r>
            <a:r>
              <a:rPr lang="es-ES" sz="1300">
                <a:solidFill>
                  <a:srgbClr val="FFFFFF"/>
                </a:solidFill>
                <a:latin typeface="Arial"/>
                <a:cs typeface="Arial"/>
              </a:rPr>
              <a:t>  |  TF-IDF sobre lemas: 23.742 × 100.000, 95,66 % de esparsidad, ajuste en ≈ 212 s; embeddings e5: similitud media 0,899 (0,91-0,92 entre los documentos representativos).</a:t>
            </a:r>
            <a:endParaRPr lang="es-CO" sz="130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133676479" name=""/>
        <p:cNvGrpSpPr/>
        <p:nvPr/>
      </p:nvGrpSpPr>
      <p:grpSpPr/>
      <p:pic>
        <p:nvPicPr>
          <p:cNvPr id="2133676480" name="Google Shape;104;g393f66bba02_1_6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-1" y="0"/>
            <a:ext cx="12192004" cy="1623060"/>
          </a:xfrm>
          <a:prstGeom prst="rect">
            <a:avLst/>
          </a:prstGeom>
          <a:noFill/>
          <a:ln>
            <a:noFill/>
          </a:ln>
        </p:spPr>
      </p:pic>
      <p:sp>
        <p:nvSpPr>
          <p:cNvPr id="2133676481" name="Google Shape;105;g393f66bba02_1_6"/>
          <p:cNvSpPr/>
          <p:nvPr/>
        </p:nvSpPr>
        <p:spPr bwMode="auto">
          <a:xfrm>
            <a:off x="1496965" y="324857"/>
            <a:ext cx="6824075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  <a:noAutofit/>
          </a:bodyPr>
          <a:lstStyle/>
          <a:p>
            <a:pPr lvl="0">
              <a:defRPr/>
            </a:pPr>
            <a:r>
              <a:rPr lang="es-CO" sz="32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Propuesta metodológica</a:t>
            </a:r>
            <a:endParaRPr lang="es-CO" sz="3200" b="1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33676482" name="E2-Propuesta-Cuerpo"/>
          <p:cNvSpPr txBox="1"/>
          <p:nvPr/>
        </p:nvSpPr>
        <p:spPr bwMode="auto">
          <a:xfrm>
            <a:off x="685800" y="2463393"/>
            <a:ext cx="10442448" cy="32461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Tarea: </a:t>
            </a:r>
            <a:r>
              <a:rPr lang="es-ES" dirty="0" sz="1800"/>
              <a:t>clasificación supervisada multi-clase; tipo de providencia (T/C/SU) como categoría inicial y área temática derivada de la Constitución como objetivo principal (etiquetas a validar).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Particiones: </a:t>
            </a:r>
            <a:r>
              <a:rPr lang="es-ES" dirty="0" sz="1800"/>
              <a:t>70/15/15 estratificado (semilla 42, prueba intocable); vectorizador ajustado solo con entrenamiento; evaluación cronológica complementaria.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Modelos a comparar: </a:t>
            </a:r>
            <a:r>
              <a:rPr lang="es-ES" dirty="0" sz="1800"/>
              <a:t>línea base mayoritaria; TF-IDF sobre lemas con modelos lineales; transformer en español con segmentación y agregación.</a:t>
            </a:r>
          </a:p>
          <a:p>
            <a:pPr lvl="1" marL="742950" indent="-285750">
              <a:buFont typeface="Courier New"/>
              <a:buChar char="o"/>
            </a:pPr>
            <a:r>
              <a:rPr lang="es-ES" dirty="0" sz="1800" b="1"/>
              <a:t>Criterios: </a:t>
            </a:r>
            <a:r>
              <a:rPr lang="es-ES" dirty="0" sz="1800"/>
              <a:t>macro-F1 (principal, por el desbalance T 72,02 %); F1 por clase; matriz de confusión; análisis de errores; robustez por periodo; costo (tiempo, memoria, GPU).</a:t>
            </a:r>
          </a:p>
          <a:p>
            <a:pPr lvl="1" marL="457200"/>
            <a:r>
              <a:rPr lang="es-ES" dirty="0" sz="1200" i="1">
                <a:solidFill>
                  <a:srgbClr val="425466"/>
                </a:solidFill>
              </a:rPr>
              <a:t>El protocolo fija desde ya las reglas del juego: particiones selladas, anti-leakage y métricas robustas al desbalance.</a:t>
            </a:r>
          </a:p>
        </p:txBody>
      </p:sp>
      <p:sp>
        <p:nvSpPr>
          <p:cNvPr id="2133676483" name="TextBox 7"/>
          <p:cNvSpPr txBox="1"/>
          <p:nvPr/>
        </p:nvSpPr>
        <p:spPr bwMode="auto">
          <a:xfrm>
            <a:off x="2127647" y="1609925"/>
            <a:ext cx="889690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s-CO" sz="2800" b="1">
                <a:solidFill>
                  <a:schemeClr val="accent4">
                    <a:lumMod val="60000"/>
                    <a:lumOff val="40000"/>
                  </a:schemeClr>
                </a:solidFill>
                <a:ea typeface="Calibri"/>
              </a:rPr>
              <a:t>Modelos y criterios de evaluación</a:t>
            </a:r>
            <a:endParaRPr/>
          </a:p>
        </p:txBody>
      </p:sp>
      <p:pic>
        <p:nvPicPr>
          <p:cNvPr id="2133676484" name="Imagen 2"/>
          <p:cNvPicPr>
            <a:picLocks noChangeAspect="1"/>
          </p:cNvPicPr>
          <p:nvPr/>
        </p:nvPicPr>
        <p:blipFill rotWithShape="1"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1227647" y="1426521"/>
            <a:ext cx="900000" cy="900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133676539" name=""/>
        <p:cNvGrpSpPr/>
        <p:nvPr/>
      </p:nvGrpSpPr>
      <p:grpSpPr/>
      <p:pic>
        <p:nvPicPr>
          <p:cNvPr id="2133676540" name="Google Shape;104;g393f66bba02_1_6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-1" y="0"/>
            <a:ext cx="12192004" cy="1623060"/>
          </a:xfrm>
          <a:prstGeom prst="rect">
            <a:avLst/>
          </a:prstGeom>
          <a:noFill/>
          <a:ln>
            <a:noFill/>
          </a:ln>
        </p:spPr>
      </p:pic>
      <p:sp>
        <p:nvSpPr>
          <p:cNvPr id="2133676541" name="Google Shape;105;g393f66bba02_1_6"/>
          <p:cNvSpPr/>
          <p:nvPr/>
        </p:nvSpPr>
        <p:spPr bwMode="auto">
          <a:xfrm>
            <a:off x="1496965" y="324857"/>
            <a:ext cx="6824075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defRPr/>
            </a:pPr>
            <a:r>
              <a:rPr lang="es-CO" sz="32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Conclusiones</a:t>
            </a:r>
            <a:endParaRPr lang="es-CO" sz="3200" b="1" i="0" u="none" strike="noStrike" cap="none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33676542" name="CuadroTexto 1"/>
          <p:cNvSpPr txBox="1"/>
          <p:nvPr/>
        </p:nvSpPr>
        <p:spPr bwMode="auto">
          <a:xfrm>
            <a:off x="787400" y="1730441"/>
            <a:ext cx="635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>
              <a:defRPr/>
            </a:pPr>
            <a:r>
              <a:rPr lang="es-ES" sz="1000" b="1">
                <a:solidFill>
                  <a:srgbClr val="2F75B5"/>
                </a:solidFill>
              </a:rPr>
              <a:t>RESULTADOS DE LA SEGUNDA ENTREGA</a:t>
            </a:r>
            <a:endParaRPr lang="es-CO" sz="1000" b="1">
              <a:solidFill>
                <a:srgbClr val="2F75B5"/>
              </a:solidFill>
            </a:endParaRPr>
          </a:p>
        </p:txBody>
      </p:sp>
      <p:sp>
        <p:nvSpPr>
          <p:cNvPr id="2133676543" name="E2-FIN-2"/>
          <p:cNvSpPr/>
          <p:nvPr/>
        </p:nvSpPr>
        <p:spPr bwMode="auto">
          <a:xfrm>
            <a:off x="787400" y="2086041"/>
            <a:ext cx="2184400" cy="1803400"/>
          </a:xfrm>
          <a:prstGeom prst="roundRect">
            <a:avLst>
              <a:gd name="adj" fmla="val 16667"/>
            </a:avLst>
          </a:prstGeom>
          <a:solidFill>
            <a:srgbClr val="EAF2F8"/>
          </a:solidFill>
          <a:ln w="19050" cap="flat" cmpd="sng" algn="ctr">
            <a:solidFill>
              <a:srgbClr val="2F75B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sz="2200" b="1">
                <a:solidFill>
                  <a:srgbClr val="2F75B5"/>
                </a:solidFill>
                <a:latin typeface="Arial"/>
                <a:cs typeface="Arial"/>
              </a:rPr>
              <a:t>23.742</a:t>
            </a:r>
            <a:br/>
            <a:r>
              <a:rPr lang="es-ES" sz="1100" b="1">
                <a:solidFill>
                  <a:srgbClr val="073654"/>
                </a:solidFill>
                <a:latin typeface="Arial"/>
                <a:cs typeface="Arial"/>
              </a:rPr>
              <a:t>SENTENCIAS</a:t>
            </a:r>
            <a:br/>
            <a:r>
              <a:rPr lang="es-ES" sz="1100">
                <a:solidFill>
                  <a:srgbClr val="314455"/>
                </a:solidFill>
                <a:latin typeface="Arial"/>
                <a:cs typeface="Arial"/>
              </a:rPr>
              <a:t>Dataset medido verificado; cifras de la E1 sin corrección.</a:t>
            </a:r>
            <a:endParaRPr lang="es-CO" sz="1100">
              <a:solidFill>
                <a:srgbClr val="314455"/>
              </a:solidFill>
              <a:latin typeface="Arial"/>
              <a:cs typeface="Arial"/>
            </a:endParaRPr>
          </a:p>
        </p:txBody>
      </p:sp>
      <p:sp>
        <p:nvSpPr>
          <p:cNvPr id="2133676544" name="E2-FIN-5"/>
          <p:cNvSpPr/>
          <p:nvPr/>
        </p:nvSpPr>
        <p:spPr bwMode="auto">
          <a:xfrm>
            <a:off x="3200400" y="2086041"/>
            <a:ext cx="2184400" cy="1803400"/>
          </a:xfrm>
          <a:prstGeom prst="roundRect">
            <a:avLst>
              <a:gd name="adj" fmla="val 16667"/>
            </a:avLst>
          </a:prstGeom>
          <a:solidFill>
            <a:srgbClr val="FFF4D6"/>
          </a:solidFill>
          <a:ln w="19050" cap="flat" cmpd="sng" algn="ctr">
            <a:solidFill>
              <a:srgbClr val="D99A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sz="2200" b="1">
                <a:solidFill>
                  <a:srgbClr val="D99A00"/>
                </a:solidFill>
                <a:latin typeface="Arial"/>
                <a:cs typeface="Arial"/>
              </a:rPr>
              <a:t>95,66 %</a:t>
            </a:r>
            <a:br/>
            <a:r>
              <a:rPr lang="es-ES" sz="1100" b="1">
                <a:solidFill>
                  <a:srgbClr val="073654"/>
                </a:solidFill>
                <a:latin typeface="Arial"/>
                <a:cs typeface="Arial"/>
              </a:rPr>
              <a:t>ESPARSIDAD TF-IDF</a:t>
            </a:r>
            <a:br/>
            <a:r>
              <a:rPr lang="es-ES" sz="1100">
                <a:solidFill>
                  <a:srgbClr val="314455"/>
                </a:solidFill>
                <a:latin typeface="Arial"/>
                <a:cs typeface="Arial"/>
              </a:rPr>
              <a:t>Representación calculada sobre el corpus completo.</a:t>
            </a:r>
            <a:endParaRPr lang="es-CO" sz="1100">
              <a:solidFill>
                <a:srgbClr val="314455"/>
              </a:solidFill>
              <a:latin typeface="Arial"/>
              <a:cs typeface="Arial"/>
            </a:endParaRPr>
          </a:p>
        </p:txBody>
      </p:sp>
      <p:sp>
        <p:nvSpPr>
          <p:cNvPr id="2133676545" name="E2-FIN-6"/>
          <p:cNvSpPr/>
          <p:nvPr/>
        </p:nvSpPr>
        <p:spPr bwMode="auto">
          <a:xfrm>
            <a:off x="5613400" y="2086041"/>
            <a:ext cx="2184400" cy="1803400"/>
          </a:xfrm>
          <a:prstGeom prst="roundRect">
            <a:avLst>
              <a:gd name="adj" fmla="val 16667"/>
            </a:avLst>
          </a:prstGeom>
          <a:solidFill>
            <a:srgbClr val="E8F5EE"/>
          </a:solidFill>
          <a:ln w="19050" cap="flat" cmpd="sng" algn="ctr">
            <a:solidFill>
              <a:srgbClr val="2E8B57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CO" sz="2200" b="1">
                <a:solidFill>
                  <a:srgbClr val="2E8B57"/>
                </a:solidFill>
                <a:latin typeface="Arial"/>
                <a:cs typeface="Arial"/>
              </a:rPr>
              <a:t>64,32→58,53</a:t>
            </a:r>
            <a:br/>
            <a:r>
              <a:rPr lang="es-CO" sz="1100" b="1">
                <a:solidFill>
                  <a:srgbClr val="073654"/>
                </a:solidFill>
                <a:latin typeface="Arial"/>
                <a:cs typeface="Arial"/>
              </a:rPr>
              <a:t>MTLD (1992-2021)</a:t>
            </a:r>
            <a:br/>
            <a:r>
              <a:rPr lang="es-CO" sz="1100">
                <a:solidFill>
                  <a:srgbClr val="314455"/>
                </a:solidFill>
                <a:latin typeface="Arial"/>
                <a:cs typeface="Arial"/>
              </a:rPr>
              <a:t>Diversidad léxica en descenso sostenido.</a:t>
            </a:r>
            <a:endParaRPr/>
          </a:p>
        </p:txBody>
      </p:sp>
      <p:sp>
        <p:nvSpPr>
          <p:cNvPr id="2133676546" name="E2-FIN-7"/>
          <p:cNvSpPr/>
          <p:nvPr/>
        </p:nvSpPr>
        <p:spPr bwMode="auto">
          <a:xfrm>
            <a:off x="787400" y="4143441"/>
            <a:ext cx="7010399" cy="1320800"/>
          </a:xfrm>
          <a:prstGeom prst="roundRect">
            <a:avLst>
              <a:gd name="adj" fmla="val 16667"/>
            </a:avLst>
          </a:prstGeom>
          <a:solidFill>
            <a:srgbClr val="073654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sz="1100" b="1">
                <a:solidFill>
                  <a:srgbClr val="F4B41A"/>
                </a:solidFill>
                <a:latin typeface="Arial"/>
                <a:cs typeface="Arial"/>
              </a:rPr>
              <a:t>CONCLUSIÓN PRINCIPAL</a:t>
            </a:r>
            <a:br/>
            <a:r>
              <a:rPr lang="es-ES" sz="1300">
                <a:solidFill>
                  <a:srgbClr val="FFFFFF"/>
                </a:solidFill>
                <a:latin typeface="Arial"/>
                <a:cs typeface="Arial"/>
              </a:rPr>
              <a:t>El género es formulaico (accion de tutela domina el vocabulario) y su léxico evoluciona; el corpus medido y la representación TF-IDF dejan lista la fase de modelado.</a:t>
            </a:r>
            <a:endParaRPr lang="es-CO" sz="130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133676547" name="E2-FIN-8"/>
          <p:cNvSpPr/>
          <p:nvPr/>
        </p:nvSpPr>
        <p:spPr bwMode="auto">
          <a:xfrm>
            <a:off x="8128000" y="1730441"/>
            <a:ext cx="3238500" cy="37338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 w="15240" cap="flat" cmpd="sng" algn="ctr">
            <a:solidFill>
              <a:srgbClr val="C9D2D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b="1">
                <a:solidFill>
                  <a:srgbClr val="073654"/>
                </a:solidFill>
                <a:latin typeface="Arial"/>
                <a:cs typeface="Arial"/>
              </a:rPr>
              <a:t>SIGUIENTE ETAPA</a:t>
            </a:r>
            <a:br/>
            <a:br/>
            <a:r>
              <a:rPr lang="es-ES" sz="1200">
                <a:solidFill>
                  <a:srgbClr val="223547"/>
                </a:solidFill>
                <a:latin typeface="Arial"/>
                <a:cs typeface="Arial"/>
              </a:rPr>
              <a:t>01  Validar etiquetas temáticas con expertos</a:t>
            </a:r>
            <a:br/>
            <a:r>
              <a:rPr lang="es-ES" sz="1200">
                <a:solidFill>
                  <a:srgbClr val="223547"/>
                </a:solidFill>
                <a:latin typeface="Arial"/>
                <a:cs typeface="Arial"/>
              </a:rPr>
              <a:t>02  Comparar modelos con macro-F1</a:t>
            </a:r>
            <a:br/>
            <a:r>
              <a:rPr lang="es-ES" sz="1200">
                <a:solidFill>
                  <a:srgbClr val="223547"/>
                </a:solidFill>
                <a:latin typeface="Arial"/>
                <a:cs typeface="Arial"/>
              </a:rPr>
              <a:t>03  Análisis de errores por periodo</a:t>
            </a:r>
            <a:br/>
            <a:r>
              <a:rPr lang="es-ES" sz="1200">
                <a:solidFill>
                  <a:srgbClr val="223547"/>
                </a:solidFill>
                <a:latin typeface="Arial"/>
                <a:cs typeface="Arial"/>
              </a:rPr>
              <a:t>04  Embeddings de dominio y recuperación</a:t>
            </a:r>
            <a:br/>
            <a:r>
              <a:rPr lang="es-ES" sz="1200">
                <a:solidFill>
                  <a:srgbClr val="223547"/>
                </a:solidFill>
                <a:latin typeface="Arial"/>
                <a:cs typeface="Arial"/>
              </a:rPr>
              <a:t>05  Resúmenes para sentencias extensas</a:t>
            </a:r>
            <a:br/>
            <a:r>
              <a:rPr lang="es-ES" sz="1200">
                <a:solidFill>
                  <a:srgbClr val="223547"/>
                </a:solidFill>
                <a:latin typeface="Arial"/>
                <a:cs typeface="Arial"/>
              </a:rPr>
              <a:t>06  Documentar y publicar el corpus medido</a:t>
            </a:r>
            <a:endParaRPr lang="es-CO" sz="1200">
              <a:solidFill>
                <a:srgbClr val="223547"/>
              </a:solidFill>
              <a:latin typeface="Arial"/>
              <a:cs typeface="Arial"/>
            </a:endParaRPr>
          </a:p>
        </p:txBody>
      </p:sp>
      <p:sp>
        <p:nvSpPr>
          <p:cNvPr id="2133676548" name="Flecha: a la derecha 9"/>
          <p:cNvSpPr/>
          <p:nvPr/>
        </p:nvSpPr>
        <p:spPr bwMode="auto">
          <a:xfrm>
            <a:off x="7835900" y="3279841"/>
            <a:ext cx="254000" cy="4317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4B41A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>
              <a:defRPr/>
            </a:pPr>
            <a:endParaRPr lang="es-CO"/>
          </a:p>
        </p:txBody>
      </p:sp>
      <p:sp>
        <p:nvSpPr>
          <p:cNvPr id="2133676549" name="E2-FIN-10"/>
          <p:cNvSpPr/>
          <p:nvPr/>
        </p:nvSpPr>
        <p:spPr bwMode="auto">
          <a:xfrm>
            <a:off x="2413000" y="5591241"/>
            <a:ext cx="7366000" cy="381000"/>
          </a:xfrm>
          <a:prstGeom prst="roundRect">
            <a:avLst>
              <a:gd name="adj" fmla="val 16667"/>
            </a:avLst>
          </a:prstGeom>
          <a:solidFill>
            <a:srgbClr val="FFF4D6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>
              <a:defRPr/>
            </a:pPr>
            <a:r>
              <a:rPr lang="es-ES" sz="1200" b="1">
                <a:solidFill>
                  <a:srgbClr val="7A5700"/>
                </a:solidFill>
                <a:latin typeface="Arial"/>
                <a:cs typeface="Arial"/>
              </a:rPr>
              <a:t>DEL CORPUS MEDIDO  →  A LA FASE DE MODELADO</a:t>
            </a:r>
            <a:endParaRPr lang="es-CO" sz="1200" b="1">
              <a:solidFill>
                <a:srgbClr val="7A5700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22</Slides>
  <Notes>22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wilperiodista86@gmail.com</dc:creator>
  <cp:lastModifiedBy/>
  <cp:revision>18</cp:revision>
  <dcterms:created xsi:type="dcterms:W3CDTF">2017-03-01T15:55:36Z</dcterms:created>
  <dcterms:modified xsi:type="dcterms:W3CDTF">2026-09-07T05:14:10Z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0x010100A17391D12170B6429D211C2FD773B5B7</vt:lpwstr>
  </property>
</Properties>
</file>